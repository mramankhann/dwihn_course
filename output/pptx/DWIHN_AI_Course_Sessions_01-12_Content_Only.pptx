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faea2dcf84f4554" /><Relationship Type="http://schemas.openxmlformats.org/officeDocument/2006/relationships/extended-properties" Target="/docProps/app.xml" Id="Rd82c626d09c5410a" /><Relationship Type="http://schemas.openxmlformats.org/officeDocument/2006/relationships/officeDocument" Target="/ppt/presentation.xml" Id="R62c9085ed3a34062" /></Relationships>
</file>

<file path=ppt/presentation.xml><?xml version="1.0" encoding="utf-8"?>
<p:presentation xmlns:p="http://schemas.openxmlformats.org/presentationml/2006/main">
  <p:sldMasterIdLst>
    <p:sldMasterId xmlns:r="http://schemas.openxmlformats.org/officeDocument/2006/relationships" id="2147483648" r:id="R399956185c0a4410"/>
  </p:sldMasterIdLst>
  <p:notesMasterIdLst>
    <p:notesMasterId xmlns:r="http://schemas.openxmlformats.org/officeDocument/2006/relationships" r:id="Ra56136848a4942d0"/>
  </p:notesMasterIdLst>
  <p:sldIdLst>
    <p:sldId xmlns:r="http://schemas.openxmlformats.org/officeDocument/2006/relationships" id="256" r:id="Ree87488b0a454b6b"/>
    <p:sldId xmlns:r="http://schemas.openxmlformats.org/officeDocument/2006/relationships" id="257" r:id="R92ecdbe371bb44b2"/>
    <p:sldId xmlns:r="http://schemas.openxmlformats.org/officeDocument/2006/relationships" id="258" r:id="Rbde309149e114412"/>
    <p:sldId xmlns:r="http://schemas.openxmlformats.org/officeDocument/2006/relationships" id="259" r:id="R3655fa80b7f74a5d"/>
    <p:sldId xmlns:r="http://schemas.openxmlformats.org/officeDocument/2006/relationships" id="260" r:id="R9c31e9802a484c5c"/>
    <p:sldId xmlns:r="http://schemas.openxmlformats.org/officeDocument/2006/relationships" id="261" r:id="Ra667af0aab614d91"/>
    <p:sldId xmlns:r="http://schemas.openxmlformats.org/officeDocument/2006/relationships" id="262" r:id="R703778ff0482436a"/>
    <p:sldId xmlns:r="http://schemas.openxmlformats.org/officeDocument/2006/relationships" id="263" r:id="R2203625ad3ca4abf"/>
    <p:sldId xmlns:r="http://schemas.openxmlformats.org/officeDocument/2006/relationships" id="264" r:id="R13896a15f5544c05"/>
    <p:sldId xmlns:r="http://schemas.openxmlformats.org/officeDocument/2006/relationships" id="265" r:id="Rc15716c5baa94a1b"/>
    <p:sldId xmlns:r="http://schemas.openxmlformats.org/officeDocument/2006/relationships" id="266" r:id="R80575eae3d5c43ee"/>
    <p:sldId xmlns:r="http://schemas.openxmlformats.org/officeDocument/2006/relationships" id="267" r:id="R004bd9d574854eb2"/>
    <p:sldId xmlns:r="http://schemas.openxmlformats.org/officeDocument/2006/relationships" id="268" r:id="R4d6b7546537a4526"/>
    <p:sldId xmlns:r="http://schemas.openxmlformats.org/officeDocument/2006/relationships" id="269" r:id="R6a5efe6a074d40f2"/>
    <p:sldId xmlns:r="http://schemas.openxmlformats.org/officeDocument/2006/relationships" id="270" r:id="Re05ffeb63f0e4264"/>
    <p:sldId xmlns:r="http://schemas.openxmlformats.org/officeDocument/2006/relationships" id="271" r:id="R9686c2e4f0e54e88"/>
    <p:sldId xmlns:r="http://schemas.openxmlformats.org/officeDocument/2006/relationships" id="272" r:id="Rff9cbfa1a4b94eaf"/>
    <p:sldId xmlns:r="http://schemas.openxmlformats.org/officeDocument/2006/relationships" id="273" r:id="R73bab360009a448f"/>
    <p:sldId xmlns:r="http://schemas.openxmlformats.org/officeDocument/2006/relationships" id="274" r:id="Rf6937534a7bd4f2f"/>
    <p:sldId xmlns:r="http://schemas.openxmlformats.org/officeDocument/2006/relationships" id="275" r:id="Rfc17a4776de54105"/>
    <p:sldId xmlns:r="http://schemas.openxmlformats.org/officeDocument/2006/relationships" id="276" r:id="R789c99b9635240a9"/>
    <p:sldId xmlns:r="http://schemas.openxmlformats.org/officeDocument/2006/relationships" id="277" r:id="R6711d050367a4275"/>
    <p:sldId xmlns:r="http://schemas.openxmlformats.org/officeDocument/2006/relationships" id="278" r:id="R2a21a9b7033d4a8e"/>
    <p:sldId xmlns:r="http://schemas.openxmlformats.org/officeDocument/2006/relationships" id="279" r:id="R030a1075dad04b75"/>
    <p:sldId xmlns:r="http://schemas.openxmlformats.org/officeDocument/2006/relationships" id="280" r:id="Refbb1189df754e70"/>
    <p:sldId xmlns:r="http://schemas.openxmlformats.org/officeDocument/2006/relationships" id="281" r:id="R5c08da3069d44afa"/>
    <p:sldId xmlns:r="http://schemas.openxmlformats.org/officeDocument/2006/relationships" id="282" r:id="R4f0c9d0f9ffc4466"/>
    <p:sldId xmlns:r="http://schemas.openxmlformats.org/officeDocument/2006/relationships" id="283" r:id="R37c93d5f737d4fe9"/>
    <p:sldId xmlns:r="http://schemas.openxmlformats.org/officeDocument/2006/relationships" id="284" r:id="R3d685738c9494a7f"/>
    <p:sldId xmlns:r="http://schemas.openxmlformats.org/officeDocument/2006/relationships" id="285" r:id="R35cb1cf417dd4c2a"/>
    <p:sldId xmlns:r="http://schemas.openxmlformats.org/officeDocument/2006/relationships" id="286" r:id="Rd1c0af12acc747d4"/>
    <p:sldId xmlns:r="http://schemas.openxmlformats.org/officeDocument/2006/relationships" id="287" r:id="R4fbe274f28a44c63"/>
    <p:sldId xmlns:r="http://schemas.openxmlformats.org/officeDocument/2006/relationships" id="288" r:id="R75364b7744244649"/>
    <p:sldId xmlns:r="http://schemas.openxmlformats.org/officeDocument/2006/relationships" id="289" r:id="R1c43e8aba96e4843"/>
    <p:sldId xmlns:r="http://schemas.openxmlformats.org/officeDocument/2006/relationships" id="290" r:id="R7447ac24aa974505"/>
    <p:sldId xmlns:r="http://schemas.openxmlformats.org/officeDocument/2006/relationships" id="291" r:id="Ra6ad0f43838e41de"/>
    <p:sldId xmlns:r="http://schemas.openxmlformats.org/officeDocument/2006/relationships" id="292" r:id="R718afbb559214b74"/>
    <p:sldId xmlns:r="http://schemas.openxmlformats.org/officeDocument/2006/relationships" id="293" r:id="R07109e2a19e44946"/>
    <p:sldId xmlns:r="http://schemas.openxmlformats.org/officeDocument/2006/relationships" id="294" r:id="R4d02a95da5824560"/>
    <p:sldId xmlns:r="http://schemas.openxmlformats.org/officeDocument/2006/relationships" id="295" r:id="Rb34b4c78f3644bd7"/>
    <p:sldId xmlns:r="http://schemas.openxmlformats.org/officeDocument/2006/relationships" id="296" r:id="R1d26eab5e14b443f"/>
    <p:sldId xmlns:r="http://schemas.openxmlformats.org/officeDocument/2006/relationships" id="297" r:id="Rb8e8792ecae246c8"/>
    <p:sldId xmlns:r="http://schemas.openxmlformats.org/officeDocument/2006/relationships" id="298" r:id="R19c69a6ec54f4f61"/>
    <p:sldId xmlns:r="http://schemas.openxmlformats.org/officeDocument/2006/relationships" id="299" r:id="R3eec44060f53409d"/>
    <p:sldId xmlns:r="http://schemas.openxmlformats.org/officeDocument/2006/relationships" id="300" r:id="Rc583a627c160414a"/>
    <p:sldId xmlns:r="http://schemas.openxmlformats.org/officeDocument/2006/relationships" id="301" r:id="R4e5aab3618994da4"/>
    <p:sldId xmlns:r="http://schemas.openxmlformats.org/officeDocument/2006/relationships" id="302" r:id="R8948bc6f2ddd4842"/>
    <p:sldId xmlns:r="http://schemas.openxmlformats.org/officeDocument/2006/relationships" id="303" r:id="Rf3325bd917f246b7"/>
    <p:sldId xmlns:r="http://schemas.openxmlformats.org/officeDocument/2006/relationships" id="304" r:id="R33aea1733ea2450c"/>
    <p:sldId xmlns:r="http://schemas.openxmlformats.org/officeDocument/2006/relationships" id="305" r:id="R738b9b40d7134146"/>
    <p:sldId xmlns:r="http://schemas.openxmlformats.org/officeDocument/2006/relationships" id="306" r:id="R199ce8d1d9d843a8"/>
    <p:sldId xmlns:r="http://schemas.openxmlformats.org/officeDocument/2006/relationships" id="307" r:id="Rf85e33cb7eea4e66"/>
    <p:sldId xmlns:r="http://schemas.openxmlformats.org/officeDocument/2006/relationships" id="308" r:id="Rdb1e0f51b40245bc"/>
    <p:sldId xmlns:r="http://schemas.openxmlformats.org/officeDocument/2006/relationships" id="309" r:id="Rfcfd9f01c271450d"/>
    <p:sldId xmlns:r="http://schemas.openxmlformats.org/officeDocument/2006/relationships" id="310" r:id="Refad02f39bce4594"/>
    <p:sldId xmlns:r="http://schemas.openxmlformats.org/officeDocument/2006/relationships" id="311" r:id="R00c7436c86464b81"/>
    <p:sldId xmlns:r="http://schemas.openxmlformats.org/officeDocument/2006/relationships" id="312" r:id="R2b993e6977294ae8"/>
    <p:sldId xmlns:r="http://schemas.openxmlformats.org/officeDocument/2006/relationships" id="313" r:id="R816129778a0f48ad"/>
    <p:sldId xmlns:r="http://schemas.openxmlformats.org/officeDocument/2006/relationships" id="314" r:id="Rdca822255a34497d"/>
    <p:sldId xmlns:r="http://schemas.openxmlformats.org/officeDocument/2006/relationships" id="315" r:id="R80b22156623442e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bb978f6e28f4323" /><Relationship Type="http://schemas.openxmlformats.org/officeDocument/2006/relationships/slideMaster" Target="/ppt/slideMasters/slideMaster1.xml" Id="R399956185c0a4410" /><Relationship Type="http://schemas.openxmlformats.org/officeDocument/2006/relationships/notesMaster" Target="/ppt/notesMasters/notesMaster1.xml" Id="Ra56136848a4942d0" /><Relationship Type="http://schemas.openxmlformats.org/officeDocument/2006/relationships/presProps" Target="/ppt/presProps.xml" Id="R3167cff988aa4dc3" /><Relationship Type="http://schemas.openxmlformats.org/officeDocument/2006/relationships/tableStyles" Target="/ppt/tableStyles.xml" Id="R092ae514530c4e04" /><Relationship Type="http://schemas.openxmlformats.org/officeDocument/2006/relationships/slide" Target="/ppt/slides/slide1.xml" Id="Ree87488b0a454b6b" /><Relationship Type="http://schemas.openxmlformats.org/officeDocument/2006/relationships/slide" Target="/ppt/slides/slide2.xml" Id="R92ecdbe371bb44b2" /><Relationship Type="http://schemas.openxmlformats.org/officeDocument/2006/relationships/slide" Target="/ppt/slides/slide3.xml" Id="Rbde309149e114412" /><Relationship Type="http://schemas.openxmlformats.org/officeDocument/2006/relationships/slide" Target="/ppt/slides/slide4.xml" Id="R3655fa80b7f74a5d" /><Relationship Type="http://schemas.openxmlformats.org/officeDocument/2006/relationships/slide" Target="/ppt/slides/slide5.xml" Id="R9c31e9802a484c5c" /><Relationship Type="http://schemas.openxmlformats.org/officeDocument/2006/relationships/slide" Target="/ppt/slides/slide6.xml" Id="Ra667af0aab614d91" /><Relationship Type="http://schemas.openxmlformats.org/officeDocument/2006/relationships/slide" Target="/ppt/slides/slide7.xml" Id="R703778ff0482436a" /><Relationship Type="http://schemas.openxmlformats.org/officeDocument/2006/relationships/slide" Target="/ppt/slides/slide8.xml" Id="R2203625ad3ca4abf" /><Relationship Type="http://schemas.openxmlformats.org/officeDocument/2006/relationships/slide" Target="/ppt/slides/slide9.xml" Id="R13896a15f5544c05" /><Relationship Type="http://schemas.openxmlformats.org/officeDocument/2006/relationships/slide" Target="/ppt/slides/slide10.xml" Id="Rc15716c5baa94a1b" /><Relationship Type="http://schemas.openxmlformats.org/officeDocument/2006/relationships/slide" Target="/ppt/slides/slide11.xml" Id="R80575eae3d5c43ee" /><Relationship Type="http://schemas.openxmlformats.org/officeDocument/2006/relationships/slide" Target="/ppt/slides/slide12.xml" Id="R004bd9d574854eb2" /><Relationship Type="http://schemas.openxmlformats.org/officeDocument/2006/relationships/slide" Target="/ppt/slides/slide13.xml" Id="R4d6b7546537a4526" /><Relationship Type="http://schemas.openxmlformats.org/officeDocument/2006/relationships/slide" Target="/ppt/slides/slide14.xml" Id="R6a5efe6a074d40f2" /><Relationship Type="http://schemas.openxmlformats.org/officeDocument/2006/relationships/slide" Target="/ppt/slides/slide15.xml" Id="Re05ffeb63f0e4264" /><Relationship Type="http://schemas.openxmlformats.org/officeDocument/2006/relationships/slide" Target="/ppt/slides/slide16.xml" Id="R9686c2e4f0e54e88" /><Relationship Type="http://schemas.openxmlformats.org/officeDocument/2006/relationships/slide" Target="/ppt/slides/slide17.xml" Id="Rff9cbfa1a4b94eaf" /><Relationship Type="http://schemas.openxmlformats.org/officeDocument/2006/relationships/slide" Target="/ppt/slides/slide18.xml" Id="R73bab360009a448f" /><Relationship Type="http://schemas.openxmlformats.org/officeDocument/2006/relationships/slide" Target="/ppt/slides/slide19.xml" Id="Rf6937534a7bd4f2f" /><Relationship Type="http://schemas.openxmlformats.org/officeDocument/2006/relationships/slide" Target="/ppt/slides/slide20.xml" Id="Rfc17a4776de54105" /><Relationship Type="http://schemas.openxmlformats.org/officeDocument/2006/relationships/slide" Target="/ppt/slides/slide21.xml" Id="R789c99b9635240a9" /><Relationship Type="http://schemas.openxmlformats.org/officeDocument/2006/relationships/slide" Target="/ppt/slides/slide22.xml" Id="R6711d050367a4275" /><Relationship Type="http://schemas.openxmlformats.org/officeDocument/2006/relationships/slide" Target="/ppt/slides/slide23.xml" Id="R2a21a9b7033d4a8e" /><Relationship Type="http://schemas.openxmlformats.org/officeDocument/2006/relationships/slide" Target="/ppt/slides/slide24.xml" Id="R030a1075dad04b75" /><Relationship Type="http://schemas.openxmlformats.org/officeDocument/2006/relationships/slide" Target="/ppt/slides/slide25.xml" Id="Refbb1189df754e70" /><Relationship Type="http://schemas.openxmlformats.org/officeDocument/2006/relationships/slide" Target="/ppt/slides/slide26.xml" Id="R5c08da3069d44afa" /><Relationship Type="http://schemas.openxmlformats.org/officeDocument/2006/relationships/slide" Target="/ppt/slides/slide27.xml" Id="R4f0c9d0f9ffc4466" /><Relationship Type="http://schemas.openxmlformats.org/officeDocument/2006/relationships/slide" Target="/ppt/slides/slide28.xml" Id="R37c93d5f737d4fe9" /><Relationship Type="http://schemas.openxmlformats.org/officeDocument/2006/relationships/slide" Target="/ppt/slides/slide29.xml" Id="R3d685738c9494a7f" /><Relationship Type="http://schemas.openxmlformats.org/officeDocument/2006/relationships/slide" Target="/ppt/slides/slide30.xml" Id="R35cb1cf417dd4c2a" /><Relationship Type="http://schemas.openxmlformats.org/officeDocument/2006/relationships/slide" Target="/ppt/slides/slide31.xml" Id="Rd1c0af12acc747d4" /><Relationship Type="http://schemas.openxmlformats.org/officeDocument/2006/relationships/slide" Target="/ppt/slides/slide32.xml" Id="R4fbe274f28a44c63" /><Relationship Type="http://schemas.openxmlformats.org/officeDocument/2006/relationships/slide" Target="/ppt/slides/slide33.xml" Id="R75364b7744244649" /><Relationship Type="http://schemas.openxmlformats.org/officeDocument/2006/relationships/slide" Target="/ppt/slides/slide34.xml" Id="R1c43e8aba96e4843" /><Relationship Type="http://schemas.openxmlformats.org/officeDocument/2006/relationships/slide" Target="/ppt/slides/slide35.xml" Id="R7447ac24aa974505" /><Relationship Type="http://schemas.openxmlformats.org/officeDocument/2006/relationships/slide" Target="/ppt/slides/slide36.xml" Id="Ra6ad0f43838e41de" /><Relationship Type="http://schemas.openxmlformats.org/officeDocument/2006/relationships/slide" Target="/ppt/slides/slide37.xml" Id="R718afbb559214b74" /><Relationship Type="http://schemas.openxmlformats.org/officeDocument/2006/relationships/slide" Target="/ppt/slides/slide38.xml" Id="R07109e2a19e44946" /><Relationship Type="http://schemas.openxmlformats.org/officeDocument/2006/relationships/slide" Target="/ppt/slides/slide39.xml" Id="R4d02a95da5824560" /><Relationship Type="http://schemas.openxmlformats.org/officeDocument/2006/relationships/slide" Target="/ppt/slides/slide40.xml" Id="Rb34b4c78f3644bd7" /><Relationship Type="http://schemas.openxmlformats.org/officeDocument/2006/relationships/slide" Target="/ppt/slides/slide41.xml" Id="R1d26eab5e14b443f" /><Relationship Type="http://schemas.openxmlformats.org/officeDocument/2006/relationships/slide" Target="/ppt/slides/slide42.xml" Id="Rb8e8792ecae246c8" /><Relationship Type="http://schemas.openxmlformats.org/officeDocument/2006/relationships/slide" Target="/ppt/slides/slide43.xml" Id="R19c69a6ec54f4f61" /><Relationship Type="http://schemas.openxmlformats.org/officeDocument/2006/relationships/slide" Target="/ppt/slides/slide44.xml" Id="R3eec44060f53409d" /><Relationship Type="http://schemas.openxmlformats.org/officeDocument/2006/relationships/slide" Target="/ppt/slides/slide45.xml" Id="Rc583a627c160414a" /><Relationship Type="http://schemas.openxmlformats.org/officeDocument/2006/relationships/slide" Target="/ppt/slides/slide46.xml" Id="R4e5aab3618994da4" /><Relationship Type="http://schemas.openxmlformats.org/officeDocument/2006/relationships/slide" Target="/ppt/slides/slide47.xml" Id="R8948bc6f2ddd4842" /><Relationship Type="http://schemas.openxmlformats.org/officeDocument/2006/relationships/slide" Target="/ppt/slides/slide48.xml" Id="Rf3325bd917f246b7" /><Relationship Type="http://schemas.openxmlformats.org/officeDocument/2006/relationships/slide" Target="/ppt/slides/slide49.xml" Id="R33aea1733ea2450c" /><Relationship Type="http://schemas.openxmlformats.org/officeDocument/2006/relationships/slide" Target="/ppt/slides/slide50.xml" Id="R738b9b40d7134146" /><Relationship Type="http://schemas.openxmlformats.org/officeDocument/2006/relationships/slide" Target="/ppt/slides/slide51.xml" Id="R199ce8d1d9d843a8" /><Relationship Type="http://schemas.openxmlformats.org/officeDocument/2006/relationships/slide" Target="/ppt/slides/slide52.xml" Id="Rf85e33cb7eea4e66" /><Relationship Type="http://schemas.openxmlformats.org/officeDocument/2006/relationships/slide" Target="/ppt/slides/slide53.xml" Id="Rdb1e0f51b40245bc" /><Relationship Type="http://schemas.openxmlformats.org/officeDocument/2006/relationships/slide" Target="/ppt/slides/slide54.xml" Id="Rfcfd9f01c271450d" /><Relationship Type="http://schemas.openxmlformats.org/officeDocument/2006/relationships/slide" Target="/ppt/slides/slide55.xml" Id="Refad02f39bce4594" /><Relationship Type="http://schemas.openxmlformats.org/officeDocument/2006/relationships/slide" Target="/ppt/slides/slide56.xml" Id="R00c7436c86464b81" /><Relationship Type="http://schemas.openxmlformats.org/officeDocument/2006/relationships/slide" Target="/ppt/slides/slide57.xml" Id="R2b993e6977294ae8" /><Relationship Type="http://schemas.openxmlformats.org/officeDocument/2006/relationships/slide" Target="/ppt/slides/slide58.xml" Id="R816129778a0f48ad" /><Relationship Type="http://schemas.openxmlformats.org/officeDocument/2006/relationships/slide" Target="/ppt/slides/slide59.xml" Id="Rdca822255a34497d" /><Relationship Type="http://schemas.openxmlformats.org/officeDocument/2006/relationships/slide" Target="/ppt/slides/slide60.xml" Id="R80b22156623442e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7f0e648f0974ca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e717e678c234c03" /><Relationship Type="http://schemas.openxmlformats.org/officeDocument/2006/relationships/notesMaster" Target="/ppt/notesMasters/notesMaster1.xml" Id="R23c8552a87bf492b" /></Relationships>
</file>

<file path=ppt/notesSlides/_rels/notesSlide2.xml.rels>&#65279;<?xml version="1.0" encoding="utf-8"?><Relationships xmlns="http://schemas.openxmlformats.org/package/2006/relationships"><Relationship Type="http://schemas.openxmlformats.org/officeDocument/2006/relationships/slide" Target="/ppt/slides/slide2.xml" Id="Ra5f121cfabad4f68" /><Relationship Type="http://schemas.openxmlformats.org/officeDocument/2006/relationships/notesMaster" Target="/ppt/notesMasters/notesMaster1.xml" Id="R36a4d1923a794199" /></Relationships>
</file>

<file path=ppt/notesSlides/_rels/notesSlide3.xml.rels>&#65279;<?xml version="1.0" encoding="utf-8"?><Relationships xmlns="http://schemas.openxmlformats.org/package/2006/relationships"><Relationship Type="http://schemas.openxmlformats.org/officeDocument/2006/relationships/slide" Target="/ppt/slides/slide3.xml" Id="R5a9935f91cdd4fa9" /><Relationship Type="http://schemas.openxmlformats.org/officeDocument/2006/relationships/notesMaster" Target="/ppt/notesMasters/notesMaster1.xml" Id="R1ade262329f74b9f" /></Relationships>
</file>

<file path=ppt/notesSlides/_rels/notesSlide4.xml.rels>&#65279;<?xml version="1.0" encoding="utf-8"?><Relationships xmlns="http://schemas.openxmlformats.org/package/2006/relationships"><Relationship Type="http://schemas.openxmlformats.org/officeDocument/2006/relationships/slide" Target="/ppt/slides/slide4.xml" Id="R720039c11ddc4ca0" /><Relationship Type="http://schemas.openxmlformats.org/officeDocument/2006/relationships/notesMaster" Target="/ppt/notesMasters/notesMaster1.xml" Id="R5bfe2b81bd584482" /></Relationships>
</file>

<file path=ppt/notesSlides/_rels/notesSlide5.xml.rels>&#65279;<?xml version="1.0" encoding="utf-8"?><Relationships xmlns="http://schemas.openxmlformats.org/package/2006/relationships"><Relationship Type="http://schemas.openxmlformats.org/officeDocument/2006/relationships/slide" Target="/ppt/slides/slide5.xml" Id="Rb9d2370d4aaf4dc7" /><Relationship Type="http://schemas.openxmlformats.org/officeDocument/2006/relationships/notesMaster" Target="/ppt/notesMasters/notesMaster1.xml" Id="R588716bad66643eb" /></Relationships>
</file>

<file path=ppt/notesSlides/_rels/notesSlide6.xml.rels>&#65279;<?xml version="1.0" encoding="utf-8"?><Relationships xmlns="http://schemas.openxmlformats.org/package/2006/relationships"><Relationship Type="http://schemas.openxmlformats.org/officeDocument/2006/relationships/slide" Target="/ppt/slides/slide6.xml" Id="R326b392e63cb4318" /><Relationship Type="http://schemas.openxmlformats.org/officeDocument/2006/relationships/notesMaster" Target="/ppt/notesMasters/notesMaster1.xml" Id="Rb120ff90a3f64579" /></Relationships>
</file>

<file path=ppt/notesSlides/_rels/notesSlide7.xml.rels>&#65279;<?xml version="1.0" encoding="utf-8"?><Relationships xmlns="http://schemas.openxmlformats.org/package/2006/relationships"><Relationship Type="http://schemas.openxmlformats.org/officeDocument/2006/relationships/slide" Target="/ppt/slides/slide7.xml" Id="Rfdaff97ae1354dbb" /><Relationship Type="http://schemas.openxmlformats.org/officeDocument/2006/relationships/notesMaster" Target="/ppt/notesMasters/notesMaster1.xml" Id="R6b80f0d72f8643d1" /></Relationships>
</file>

<file path=ppt/notesSlides/_rels/notesSlide8.xml.rels>&#65279;<?xml version="1.0" encoding="utf-8"?><Relationships xmlns="http://schemas.openxmlformats.org/package/2006/relationships"><Relationship Type="http://schemas.openxmlformats.org/officeDocument/2006/relationships/slide" Target="/ppt/slides/slide8.xml" Id="Rdc2456b552664e00" /><Relationship Type="http://schemas.openxmlformats.org/officeDocument/2006/relationships/notesMaster" Target="/ppt/notesMasters/notesMaster1.xml" Id="R9a6a88b6a2b1431d" /></Relationships>
</file>

<file path=ppt/notesSlides/_rels/notesSlide9.xml.rels>&#65279;<?xml version="1.0" encoding="utf-8"?><Relationships xmlns="http://schemas.openxmlformats.org/package/2006/relationships"><Relationship Type="http://schemas.openxmlformats.org/officeDocument/2006/relationships/slide" Target="/ppt/slides/slide9.xml" Id="Rf8deaed327004514" /><Relationship Type="http://schemas.openxmlformats.org/officeDocument/2006/relationships/notesMaster" Target="/ppt/notesMasters/notesMaster1.xml" Id="Rf2bb396fe1a74ab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6d87cbb6c9b4d14" /><Relationship Type="http://schemas.openxmlformats.org/officeDocument/2006/relationships/notesMaster" Target="/ppt/notesMasters/notesMaster1.xml" Id="R4543e26b9d4843c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6c6f800ff024ec6" /><Relationship Type="http://schemas.openxmlformats.org/officeDocument/2006/relationships/notesMaster" Target="/ppt/notesMasters/notesMaster1.xml" Id="R91379233bcb844a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ac846a71f414332" /><Relationship Type="http://schemas.openxmlformats.org/officeDocument/2006/relationships/notesMaster" Target="/ppt/notesMasters/notesMaster1.xml" Id="R83c653911f694f9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99b3566478f4dc8" /><Relationship Type="http://schemas.openxmlformats.org/officeDocument/2006/relationships/notesMaster" Target="/ppt/notesMasters/notesMaster1.xml" Id="R55a812e3f6a6491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c40c1bbae4945e9" /><Relationship Type="http://schemas.openxmlformats.org/officeDocument/2006/relationships/notesMaster" Target="/ppt/notesMasters/notesMaster1.xml" Id="R12be9134c476407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6b47faaf15a4337" /><Relationship Type="http://schemas.openxmlformats.org/officeDocument/2006/relationships/notesMaster" Target="/ppt/notesMasters/notesMaster1.xml" Id="R72a2d1db6ac1482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0094c9e6b654994" /><Relationship Type="http://schemas.openxmlformats.org/officeDocument/2006/relationships/notesMaster" Target="/ppt/notesMasters/notesMaster1.xml" Id="R6b821edfaa4f495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6247a1bd90647db" /><Relationship Type="http://schemas.openxmlformats.org/officeDocument/2006/relationships/notesMaster" Target="/ppt/notesMasters/notesMaster1.xml" Id="R172d466c35284bb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32ba1cdf8284405" /><Relationship Type="http://schemas.openxmlformats.org/officeDocument/2006/relationships/notesMaster" Target="/ppt/notesMasters/notesMaster1.xml" Id="R5f735a5a678e4a3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a00523e2be94bb8" /><Relationship Type="http://schemas.openxmlformats.org/officeDocument/2006/relationships/notesMaster" Target="/ppt/notesMasters/notesMaster1.xml" Id="R55dc68156ad64ca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70e566ba5e740c1" /><Relationship Type="http://schemas.openxmlformats.org/officeDocument/2006/relationships/notesMaster" Target="/ppt/notesMasters/notesMaster1.xml" Id="Red81396b43e140a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a76d97c8650452d" /><Relationship Type="http://schemas.openxmlformats.org/officeDocument/2006/relationships/notesMaster" Target="/ppt/notesMasters/notesMaster1.xml" Id="R9dce778606534cc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a59754d4ec24ea1" /><Relationship Type="http://schemas.openxmlformats.org/officeDocument/2006/relationships/notesMaster" Target="/ppt/notesMasters/notesMaster1.xml" Id="Rb47208321265451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f55992c9acf4345" /><Relationship Type="http://schemas.openxmlformats.org/officeDocument/2006/relationships/notesMaster" Target="/ppt/notesMasters/notesMaster1.xml" Id="R9981cf9ba61444b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b1074e7348e4ff4" /><Relationship Type="http://schemas.openxmlformats.org/officeDocument/2006/relationships/notesMaster" Target="/ppt/notesMasters/notesMaster1.xml" Id="R5ddb0b45565a4bb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c2472d89fd94519" /><Relationship Type="http://schemas.openxmlformats.org/officeDocument/2006/relationships/notesMaster" Target="/ppt/notesMasters/notesMaster1.xml" Id="R269bc284d07f4df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3f42f88477049d6" /><Relationship Type="http://schemas.openxmlformats.org/officeDocument/2006/relationships/notesMaster" Target="/ppt/notesMasters/notesMaster1.xml" Id="R365ca34ccf96461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bbc9c755fa345ed" /><Relationship Type="http://schemas.openxmlformats.org/officeDocument/2006/relationships/notesMaster" Target="/ppt/notesMasters/notesMaster1.xml" Id="Rcfa6c576d6c94df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fd3a6f9def24bcd" /><Relationship Type="http://schemas.openxmlformats.org/officeDocument/2006/relationships/notesMaster" Target="/ppt/notesMasters/notesMaster1.xml" Id="R684457f1b300420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40f60d07a09438f" /><Relationship Type="http://schemas.openxmlformats.org/officeDocument/2006/relationships/notesMaster" Target="/ppt/notesMasters/notesMaster1.xml" Id="R1c2600e3985a4ea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322c1d6923d4f36" /><Relationship Type="http://schemas.openxmlformats.org/officeDocument/2006/relationships/notesMaster" Target="/ppt/notesMasters/notesMaster1.xml" Id="R0f23ed90ea2e401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1b3147fc6e84bbe" /><Relationship Type="http://schemas.openxmlformats.org/officeDocument/2006/relationships/notesMaster" Target="/ppt/notesMasters/notesMaster1.xml" Id="Re4a51ba961834dd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7c507f6d25d48ec" /><Relationship Type="http://schemas.openxmlformats.org/officeDocument/2006/relationships/notesMaster" Target="/ppt/notesMasters/notesMaster1.xml" Id="R2a0b2c3d1462490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cae647e2a70497a" /><Relationship Type="http://schemas.openxmlformats.org/officeDocument/2006/relationships/notesMaster" Target="/ppt/notesMasters/notesMaster1.xml" Id="R611adf8f0e2a42f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96efdde2eee4476" /><Relationship Type="http://schemas.openxmlformats.org/officeDocument/2006/relationships/notesMaster" Target="/ppt/notesMasters/notesMaster1.xml" Id="R521ba6c1ba0b48a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8402835acc24f61" /><Relationship Type="http://schemas.openxmlformats.org/officeDocument/2006/relationships/notesMaster" Target="/ppt/notesMasters/notesMaster1.xml" Id="Rad14335a1dd44b1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610396c23f24264" /><Relationship Type="http://schemas.openxmlformats.org/officeDocument/2006/relationships/notesMaster" Target="/ppt/notesMasters/notesMaster1.xml" Id="R01fa692a042b48c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f12d624ab4c4cac" /><Relationship Type="http://schemas.openxmlformats.org/officeDocument/2006/relationships/notesMaster" Target="/ppt/notesMasters/notesMaster1.xml" Id="R0d1a61f6fcf846e8"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66bb73e91a64304" /><Relationship Type="http://schemas.openxmlformats.org/officeDocument/2006/relationships/notesMaster" Target="/ppt/notesMasters/notesMaster1.xml" Id="R3ff96210cffa4b6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5787ee2cfc44c58" /><Relationship Type="http://schemas.openxmlformats.org/officeDocument/2006/relationships/notesMaster" Target="/ppt/notesMasters/notesMaster1.xml" Id="Rfc64a0021ad4470e"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8fa0cb00e124538" /><Relationship Type="http://schemas.openxmlformats.org/officeDocument/2006/relationships/notesMaster" Target="/ppt/notesMasters/notesMaster1.xml" Id="R9497f353bcaf462f"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a69f4e12d5cd4d81" /><Relationship Type="http://schemas.openxmlformats.org/officeDocument/2006/relationships/notesMaster" Target="/ppt/notesMasters/notesMaster1.xml" Id="R18d54678abf14e1b"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b917034b277d4547" /><Relationship Type="http://schemas.openxmlformats.org/officeDocument/2006/relationships/notesMaster" Target="/ppt/notesMasters/notesMaster1.xml" Id="R86a6fe23fd034f73"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716a543589814c50" /><Relationship Type="http://schemas.openxmlformats.org/officeDocument/2006/relationships/notesMaster" Target="/ppt/notesMasters/notesMaster1.xml" Id="R7c44cd6b441f4538"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f5bfd7f5fbbb4f2c" /><Relationship Type="http://schemas.openxmlformats.org/officeDocument/2006/relationships/notesMaster" Target="/ppt/notesMasters/notesMaster1.xml" Id="Rff0698210e0a48bc"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b1fdbe88780849bf" /><Relationship Type="http://schemas.openxmlformats.org/officeDocument/2006/relationships/notesMaster" Target="/ppt/notesMasters/notesMaster1.xml" Id="R3e8d205030174855"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042ccc05d2e9494b" /><Relationship Type="http://schemas.openxmlformats.org/officeDocument/2006/relationships/notesMaster" Target="/ppt/notesMasters/notesMaster1.xml" Id="R34115e354fe44e48"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1b41182e535340d9" /><Relationship Type="http://schemas.openxmlformats.org/officeDocument/2006/relationships/notesMaster" Target="/ppt/notesMasters/notesMaster1.xml" Id="R2f8791a2de4e4bd3"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d74ab9163d3741ab" /><Relationship Type="http://schemas.openxmlformats.org/officeDocument/2006/relationships/notesMaster" Target="/ppt/notesMasters/notesMaster1.xml" Id="R00146b8e716f4de9"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4d74cf7f669445bf" /><Relationship Type="http://schemas.openxmlformats.org/officeDocument/2006/relationships/notesMaster" Target="/ppt/notesMasters/notesMaster1.xml" Id="R81332a1c43f440a2"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23c114c6f4214a34" /><Relationship Type="http://schemas.openxmlformats.org/officeDocument/2006/relationships/notesMaster" Target="/ppt/notesMasters/notesMaster1.xml" Id="Rad8fe77efbd0403d"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9fc4e317f2a04998" /><Relationship Type="http://schemas.openxmlformats.org/officeDocument/2006/relationships/notesMaster" Target="/ppt/notesMasters/notesMaster1.xml" Id="Ra089b398d1c24590"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740c00e660b74d50" /><Relationship Type="http://schemas.openxmlformats.org/officeDocument/2006/relationships/notesMaster" Target="/ppt/notesMasters/notesMaster1.xml" Id="R0ee9d831ead84f2b"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96e4f1939e5741bf" /><Relationship Type="http://schemas.openxmlformats.org/officeDocument/2006/relationships/notesMaster" Target="/ppt/notesMasters/notesMaster1.xml" Id="R3ee0b4fc0b614d7f"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2686977b077e4623" /><Relationship Type="http://schemas.openxmlformats.org/officeDocument/2006/relationships/notesMaster" Target="/ppt/notesMasters/notesMaster1.xml" Id="Rc9e30625f88c4131"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e2d195ae71e64f81" /><Relationship Type="http://schemas.openxmlformats.org/officeDocument/2006/relationships/notesMaster" Target="/ppt/notesMasters/notesMaster1.xml" Id="R552f8bbd6e5b46cf"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4af12d094ab049fb" /><Relationship Type="http://schemas.openxmlformats.org/officeDocument/2006/relationships/notesMaster" Target="/ppt/notesMasters/notesMaster1.xml" Id="R1fa3d6db75564c4e"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2d16f473f3dd4bae" /><Relationship Type="http://schemas.openxmlformats.org/officeDocument/2006/relationships/notesMaster" Target="/ppt/notesMasters/notesMaster1.xml" Id="R0323256b8a6944a8"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a7828135502e4c02" /><Relationship Type="http://schemas.openxmlformats.org/officeDocument/2006/relationships/notesMaster" Target="/ppt/notesMasters/notesMaster1.xml" Id="R9500afc7b9c040db"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2ebc81adc37c43f7" /><Relationship Type="http://schemas.openxmlformats.org/officeDocument/2006/relationships/notesMaster" Target="/ppt/notesMasters/notesMaster1.xml" Id="R4aad6176c94742a2"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2f8dde1101124444" /><Relationship Type="http://schemas.openxmlformats.org/officeDocument/2006/relationships/notesMaster" Target="/ppt/notesMasters/notesMaster1.xml" Id="R060c15d8637a462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 · Week 1 · Module 1 · What AI Is — and Isn’t</a:t>
            </a:r>
          </a:p>
          <a:p xmlns:a="http://schemas.openxmlformats.org/drawingml/2006/main">
            <a:r>
              <a:t/>
            </a:r>
          </a:p>
          <a:p xmlns:a="http://schemas.openxmlformats.org/drawingml/2006/main">
            <a:r>
              <a:t>Open with this question and invite participants to connect it to their role before introducing the lesson.</a:t>
            </a:r>
          </a:p>
          <a:p xmlns:a="http://schemas.openxmlformats.org/drawingml/2006/main">
            <a:r>
              <a:t/>
            </a:r>
          </a:p>
          <a:p xmlns:a="http://schemas.openxmlformats.org/drawingml/2006/main">
            <a:r>
              <a:t>Opening question: Where would a first draft save you time, and what would you still need to verify before using it?</a:t>
            </a:r>
          </a:p>
          <a:p xmlns:a="http://schemas.openxmlformats.org/drawingml/2006/main">
            <a:r>
              <a:t/>
            </a:r>
          </a:p>
          <a:p xmlns:a="http://schemas.openxmlformats.org/drawingml/2006/main">
            <a:r>
              <a:t>Explain the goal in plain language, review each outcome, then ask learners where they expect the hardest judgment call to occur. Use a fictional example if no approved work example is available.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1, Practice Lab and Knowledge Check; proposal p.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 · Week 1 · Module 1 · What AI Is — and Isn’t</a:t>
            </a:r>
          </a:p>
          <a:p xmlns:a="http://schemas.openxmlformats.org/drawingml/2006/main">
            <a:r>
              <a:t/>
            </a:r>
          </a:p>
          <a:p xmlns:a="http://schemas.openxmlformats.org/drawingml/2006/main">
            <a:r>
              <a:t>Teach the four ideas separately. After each, ask a learner to restate the idea and give a role-specific example. Correct the distinction between what a system can generate and what a person is authorized to decide.</a:t>
            </a:r>
          </a:p>
          <a:p xmlns:a="http://schemas.openxmlformats.org/drawingml/2006/main">
            <a:r>
              <a:t/>
            </a:r>
          </a:p>
          <a:p xmlns:a="http://schemas.openxmlformats.org/drawingml/2006/main">
            <a:r>
              <a:t>1. AI recognizes patterns: AI systems process examples and input patterns to produce classifications, predictions or text. A language model generates a likely response from its prompt and learned patterns. It does not know DWIHN policy unless that information is supplied through a trusted, approved workflow.</a:t>
            </a:r>
          </a:p>
          <a:p xmlns:a="http://schemas.openxmlformats.org/drawingml/2006/main">
            <a:r>
              <a:t>2. Fluent output can still be wrong: A polished answer can omit a key fact, make an unsupported inference or invent a reference. A useful review compares important claims with the source, checks names and dates, and tests whether the output answers the actual request.</a:t>
            </a:r>
          </a:p>
          <a:p xmlns:a="http://schemas.openxmlformats.org/drawingml/2006/main">
            <a:r>
              <a:t>3. Good fit depends on reviewability: Drafting a neutral internal outline is easier to check than making a consequential service decision. Favor tasks with clear inputs, limited stakes and a reviewer who can compare the result with the source.</a:t>
            </a:r>
          </a:p>
          <a:p xmlns:a="http://schemas.openxmlformats.org/drawingml/2006/main">
            <a:r>
              <a:t>4. People retain accountability: The employee owns the final message, decision and escalation. AI can organize or suggest language, but cannot assume professional responsibility, understand a person’s complete circumstances or approve an action.</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1, Practice Lab and Knowledge Check; proposal p.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 · Week 1 · Module 1 · What AI Is — and Isn’t</a:t>
            </a:r>
          </a:p>
          <a:p xmlns:a="http://schemas.openxmlformats.org/drawingml/2006/main">
            <a:r>
              <a:t/>
            </a:r>
          </a:p>
          <a:p xmlns:a="http://schemas.openxmlformats.org/drawingml/2006/main">
            <a:r>
              <a:t>Walk through each stage and make the decision visible: what question is being asked, what source is being checked and when a person takes responsibility. Ask participants to predict the next step before revealing it.</a:t>
            </a:r>
          </a:p>
          <a:p xmlns:a="http://schemas.openxmlformats.org/drawingml/2006/main">
            <a:r>
              <a:t/>
            </a:r>
          </a:p>
          <a:p xmlns:a="http://schemas.openxmlformats.org/drawingml/2006/main">
            <a:r>
              <a:t>1. Define the task: Use fictional meeting notes and ask for a structured summary of topics, decisions and open questions.</a:t>
            </a:r>
          </a:p>
          <a:p xmlns:a="http://schemas.openxmlformats.org/drawingml/2006/main">
            <a:r>
              <a:t>2. Constrain the response: Ask the tool to use only the supplied notes, preserve uncertainty and leave missing owners blank.</a:t>
            </a:r>
          </a:p>
          <a:p xmlns:a="http://schemas.openxmlformats.org/drawingml/2006/main">
            <a:r>
              <a:t>3. Compare with source: Check whether “discussed” became “approved,” whether names and dates are accurate, and whether anything was added.</a:t>
            </a:r>
          </a:p>
          <a:p xmlns:a="http://schemas.openxmlformats.org/drawingml/2006/main">
            <a:r>
              <a:t>4. Finalize as a person: Correct the wording, remove unsupported statements and decide whether the draft is suitable for its audience.</a:t>
            </a:r>
          </a:p>
          <a:p xmlns:a="http://schemas.openxmlformats.org/drawingml/2006/main">
            <a:r>
              <a:t/>
            </a:r>
          </a:p>
          <a:p xmlns:a="http://schemas.openxmlformats.org/drawingml/2006/main">
            <a:r>
              <a:t>Worked example: Hypothetical example: notes say a team discussed a referral workflow, but no decision was recorded. An AI summary calls it “the new approved workflow.” The employee changes that statement to “the team discussed a possible workflow” and confirms the next review owner from the source notes.</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1, Practice Lab and Knowledge Check; proposal p. 6.</a:t>
            </a:r>
          </a:p>
          <a:p xmlns:a="http://schemas.openxmlformats.org/drawingml/2006/main">
            <a:r>
              <a:t/>
            </a:r>
          </a:p>
          <a:p xmlns:a="http://schemas.openxmlformats.org/drawingml/2006/main">
            <a:r>
              <a:t>Any photograph in the lesson section comes from the proposal and is not a DWIHN session or product 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 · Week 1 · Module 1 · What AI Is — and Isn’t</a:t>
            </a:r>
          </a:p>
          <a:p xmlns:a="http://schemas.openxmlformats.org/drawingml/2006/main">
            <a:r>
              <a:t/>
            </a:r>
          </a:p>
          <a:p xmlns:a="http://schemas.openxmlformats.org/drawingml/2006/main">
            <a:r>
              <a:t>Let learners attempt the scenario individually before comparing reasoning in pairs or groups. The scenario is hypothetical. Do not substitute real member, staff or vendor data.</a:t>
            </a:r>
          </a:p>
          <a:p xmlns:a="http://schemas.openxmlformats.org/drawingml/2006/main">
            <a:r>
              <a:t/>
            </a:r>
          </a:p>
          <a:p xmlns:a="http://schemas.openxmlformats.org/drawingml/2006/main">
            <a:r>
              <a:t>Scenario: A care coordinator has a long set of approved internal meeting notes and needs a clear team summary. The first generated draft is organized well, but it converts one unresolved question into a decision and leaves out a follow-up item.</a:t>
            </a:r>
          </a:p>
          <a:p xmlns:a="http://schemas.openxmlformats.org/drawingml/2006/main">
            <a:r>
              <a:t/>
            </a:r>
          </a:p>
          <a:p xmlns:a="http://schemas.openxmlformats.org/drawingml/2006/main">
            <a:r>
              <a:t>Exercise:</a:t>
            </a:r>
          </a:p>
          <a:p xmlns:a="http://schemas.openxmlformats.org/drawingml/2006/main">
            <a:r>
              <a:t>1. Mark each sentence as supported, missing context or unsupported.</a:t>
            </a:r>
          </a:p>
          <a:p xmlns:a="http://schemas.openxmlformats.org/drawingml/2006/main">
            <a:r>
              <a:t>2. Rewrite the decision and follow-up sections using only the notes.</a:t>
            </a:r>
          </a:p>
          <a:p xmlns:a="http://schemas.openxmlformats.org/drawingml/2006/main">
            <a:r>
              <a:t>3. Explain which details need a human owner before the summary is shared.</a:t>
            </a:r>
          </a:p>
          <a:p xmlns:a="http://schemas.openxmlformats.org/drawingml/2006/main">
            <a:r>
              <a:t/>
            </a:r>
          </a:p>
          <a:p xmlns:a="http://schemas.openxmlformats.org/drawingml/2006/main">
            <a:r>
              <a:t>Expected deliverable: A corrected summary with an explicit “open questions” section and a short verification checklist.</a:t>
            </a:r>
          </a:p>
          <a:p xmlns:a="http://schemas.openxmlformats.org/drawingml/2006/main">
            <a:r>
              <a:t/>
            </a:r>
          </a:p>
          <a:p xmlns:a="http://schemas.openxmlformats.org/drawingml/2006/main">
            <a:r>
              <a:t>Debrief against these criteria:</a:t>
            </a:r>
          </a:p>
          <a:p xmlns:a="http://schemas.openxmlformats.org/drawingml/2006/main">
            <a:r>
              <a:t>• Every retained statement can be traced to the notes.</a:t>
            </a:r>
          </a:p>
          <a:p xmlns:a="http://schemas.openxmlformats.org/drawingml/2006/main">
            <a:r>
              <a:t>• Unresolved matters remain unresolved in the wording.</a:t>
            </a:r>
          </a:p>
          <a:p xmlns:a="http://schemas.openxmlformats.org/drawingml/2006/main">
            <a:r>
              <a:t>• The learner identifies a reviewer and a safe sharing route.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1, Practice Lab and Knowledge Check; proposal p.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 · Week 1 · Module 1 · What AI Is — and Isn’t</a:t>
            </a:r>
          </a:p>
          <a:p xmlns:a="http://schemas.openxmlformats.org/drawingml/2006/main">
            <a:r>
              <a:t/>
            </a:r>
          </a:p>
          <a:p xmlns:a="http://schemas.openxmlformats.org/drawingml/2006/main">
            <a:r>
              <a:t>Close with open Q&amp;A. Acknowledge when a question is outside the supplied policy or system details and capture an owner for follow-up.</a:t>
            </a:r>
          </a:p>
          <a:p xmlns:a="http://schemas.openxmlformats.org/drawingml/2006/main">
            <a:r>
              <a:t/>
            </a:r>
          </a:p>
          <a:p xmlns:a="http://schemas.openxmlformats.org/drawingml/2006/main">
            <a:r>
              <a:t>Questions and suggested responses:</a:t>
            </a:r>
          </a:p>
          <a:p xmlns:a="http://schemas.openxmlformats.org/drawingml/2006/main">
            <a:r>
              <a:t>Q1: If AI sounds confident, should I trust it?</a:t>
            </a:r>
          </a:p>
          <a:p xmlns:a="http://schemas.openxmlformats.org/drawingml/2006/main">
            <a:r>
              <a:t>Answer cue: Confidence in wording is not evidence. Check the claim against a trusted source.</a:t>
            </a:r>
          </a:p>
          <a:p xmlns:a="http://schemas.openxmlformats.org/drawingml/2006/main">
            <a:r>
              <a:t/>
            </a:r>
          </a:p>
          <a:p xmlns:a="http://schemas.openxmlformats.org/drawingml/2006/main">
            <a:r>
              <a:t>Q2: Can AI decide what a client needs?</a:t>
            </a:r>
          </a:p>
          <a:p xmlns:a="http://schemas.openxmlformats.org/drawingml/2006/main">
            <a:r>
              <a:t>Answer cue: It may assist a bounded administrative task, but a qualified person follows the applicable process and makes any consequential decision.</a:t>
            </a:r>
          </a:p>
          <a:p xmlns:a="http://schemas.openxmlformats.org/drawingml/2006/main">
            <a:r>
              <a:t/>
            </a:r>
          </a:p>
          <a:p xmlns:a="http://schemas.openxmlformats.org/drawingml/2006/main">
            <a:r>
              <a:t>Q3: What should I do when I cannot verify a claim?</a:t>
            </a:r>
          </a:p>
          <a:p xmlns:a="http://schemas.openxmlformats.org/drawingml/2006/main">
            <a:r>
              <a:t>Answer cue: Remove it, qualify it or stop and ask the appropriate policy or subject-matter owner.</a:t>
            </a:r>
          </a:p>
          <a:p xmlns:a="http://schemas.openxmlformats.org/drawingml/2006/main">
            <a:r>
              <a:t/>
            </a:r>
          </a:p>
          <a:p xmlns:a="http://schemas.openxmlformats.org/drawingml/2006/main">
            <a:r>
              <a:t>Recap:</a:t>
            </a:r>
          </a:p>
          <a:p xmlns:a="http://schemas.openxmlformats.org/drawingml/2006/main">
            <a:r>
              <a:t>• Use AI for a bounded, reviewable task.</a:t>
            </a:r>
          </a:p>
          <a:p xmlns:a="http://schemas.openxmlformats.org/drawingml/2006/main">
            <a:r>
              <a:t>• Check important details against their source.</a:t>
            </a:r>
          </a:p>
          <a:p xmlns:a="http://schemas.openxmlformats.org/drawingml/2006/main">
            <a:r>
              <a:t>• Keep human judgment and responsibility in the workflow.</a:t>
            </a:r>
          </a:p>
          <a:p xmlns:a="http://schemas.openxmlformats.org/drawingml/2006/main">
            <a:r>
              <a:t/>
            </a:r>
          </a:p>
          <a:p xmlns:a="http://schemas.openxmlformats.org/drawingml/2006/main">
            <a:r>
              <a:t>Allow learners to apply the same reasoning to another fictional example if the group needs more practice. Ask what they would do differently in their own role and address any remaining questions before moving forward.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1, Practice Lab and Knowledge Check; proposal p.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S2 · Week 2 · Modules 2–3 · Approved Tools, HIPAA Safety &amp; Data Classification</a:t>
            </a:r>
          </a:p>
          <a:p xmlns:a="http://schemas.openxmlformats.org/drawingml/2006/main">
            <a:r>
              <a:t/>
            </a:r>
          </a:p>
          <a:p xmlns:a="http://schemas.openxmlformats.org/drawingml/2006/main">
            <a:r>
              <a:t>Open with this question and invite participants to connect it to their role before introducing the lesson.</a:t>
            </a:r>
          </a:p>
          <a:p xmlns:a="http://schemas.openxmlformats.org/drawingml/2006/main">
            <a:r>
              <a:t/>
            </a:r>
          </a:p>
          <a:p xmlns:a="http://schemas.openxmlformats.org/drawingml/2006/main">
            <a:r>
              <a:t>Opening question: A colleague says, “I use this chatbot at home, so it should be fine for a work draft.” What information is still missing before you can answer?</a:t>
            </a:r>
          </a:p>
          <a:p xmlns:a="http://schemas.openxmlformats.org/drawingml/2006/main">
            <a:r>
              <a:t/>
            </a:r>
          </a:p>
          <a:p xmlns:a="http://schemas.openxmlformats.org/drawingml/2006/main">
            <a:r>
              <a:t>Explain the goal in plain language, review each outcome, then ask learners where they expect the hardest judgment call to occur. Use a fictional example if no approved work example is available.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Modules 2–3, Practice Labs and Knowledge Checks; proposal pp. 6, 10. Confirm local policy and approved-tool catalog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S2 · Week 2 · Modules 2–3 · Approved Tools, HIPAA Safety &amp; Data Classification</a:t>
            </a:r>
          </a:p>
          <a:p xmlns:a="http://schemas.openxmlformats.org/drawingml/2006/main">
            <a:r>
              <a:t/>
            </a:r>
          </a:p>
          <a:p xmlns:a="http://schemas.openxmlformats.org/drawingml/2006/main">
            <a:r>
              <a:t>Teach the four ideas separately. After each, ask a learner to restate the idea and give a role-specific example. Correct the distinction between what a system can generate and what a person is authorized to decide.</a:t>
            </a:r>
          </a:p>
          <a:p xmlns:a="http://schemas.openxmlformats.org/drawingml/2006/main">
            <a:r>
              <a:t/>
            </a:r>
          </a:p>
          <a:p xmlns:a="http://schemas.openxmlformats.org/drawingml/2006/main">
            <a:r>
              <a:t>1. Approval has a scope: An approval should identify the tool, account, permitted task, information type and required safeguards. A tool that is acceptable for a public draft may not be approved for a restricted record or a different workflow. Check the current DWIHN catalog.</a:t>
            </a:r>
          </a:p>
          <a:p xmlns:a="http://schemas.openxmlformats.org/drawingml/2006/main">
            <a:r>
              <a:t>2. Privacy rules follow the information: PHI and other sensitive details require the controls specified by DWIHN policy and the approved service arrangement. Do not paste identifying information into a public or unapproved tool, even if the requested output is “only a summary.”</a:t>
            </a:r>
          </a:p>
          <a:p xmlns:a="http://schemas.openxmlformats.org/drawingml/2006/main">
            <a:r>
              <a:t>3. Use the proposal’s four tiers: Public is cleared for broad release. Internal supports organizational work. Confidential covers sensitive personal or business details. Restricted includes highly sensitive information such as PHI or credentials. DWIHN policy supplies the controlling definitions.</a:t>
            </a:r>
          </a:p>
          <a:p xmlns:a="http://schemas.openxmlformats.org/drawingml/2006/main">
            <a:r>
              <a:t>4. Mixed files take extra care: A report can contain aggregate totals beside identifiable notes. Treat the task according to the most sensitive relevant information unless an authorized process separates and clears the content. Do not assume that removing a name makes a record safe.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Modules 2–3, Practice Labs and Knowledge Checks; proposal pp. 6, 10. Confirm local policy and approved-tool catalog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S2 · Week 2 · Modules 2–3 · Approved Tools, HIPAA Safety &amp; Data Classification</a:t>
            </a:r>
          </a:p>
          <a:p xmlns:a="http://schemas.openxmlformats.org/drawingml/2006/main">
            <a:r>
              <a:t/>
            </a:r>
          </a:p>
          <a:p xmlns:a="http://schemas.openxmlformats.org/drawingml/2006/main">
            <a:r>
              <a:t>Walk through each stage and make the decision visible: what question is being asked, what source is being checked and when a person takes responsibility. Ask participants to predict the next step before revealing it.</a:t>
            </a:r>
          </a:p>
          <a:p xmlns:a="http://schemas.openxmlformats.org/drawingml/2006/main">
            <a:r>
              <a:t/>
            </a:r>
          </a:p>
          <a:p xmlns:a="http://schemas.openxmlformats.org/drawingml/2006/main">
            <a:r>
              <a:t>1. Name the task: Describe the intended output without sharing the underlying sensitive content.</a:t>
            </a:r>
          </a:p>
          <a:p xmlns:a="http://schemas.openxmlformats.org/drawingml/2006/main">
            <a:r>
              <a:t>2. Classify the input: Identify whether it is Public, Internal, Confidential or Restricted under DWIHN policy.</a:t>
            </a:r>
          </a:p>
          <a:p xmlns:a="http://schemas.openxmlformats.org/drawingml/2006/main">
            <a:r>
              <a:t>3. Check the catalog: Verify the exact tool, account and use case, plus any conditions on data, retention or review.</a:t>
            </a:r>
          </a:p>
          <a:p xmlns:a="http://schemas.openxmlformats.org/drawingml/2006/main">
            <a:r>
              <a:t>4. Choose a safe path: Proceed only through an approved workflow. Otherwise stop and consult the designated owner.</a:t>
            </a:r>
          </a:p>
          <a:p xmlns:a="http://schemas.openxmlformats.org/drawingml/2006/main">
            <a:r>
              <a:t/>
            </a:r>
          </a:p>
          <a:p xmlns:a="http://schemas.openxmlformats.org/drawingml/2006/main">
            <a:r>
              <a:t>Worked example: Hypothetical example: a staff member wants help simplifying a letter that contains a member’s name, appointment details and care context. The safe first step is not to paste the letter into a consumer chatbot. The employee checks the approved catalog and follows the permitted workflow, or seeks guidance if no approved option is listed.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Modules 2–3, Practice Labs and Knowledge Checks; proposal pp. 6, 10. Confirm local policy and approved-tool catalog before delivery.</a:t>
            </a:r>
          </a:p>
          <a:p xmlns:a="http://schemas.openxmlformats.org/drawingml/2006/main">
            <a:r>
              <a:t/>
            </a:r>
          </a:p>
          <a:p xmlns:a="http://schemas.openxmlformats.org/drawingml/2006/main">
            <a:r>
              <a:t>Any photograph in the lesson section comes from the proposal and is not a DWIHN session or product 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S2 · Week 2 · Modules 2–3 · Approved Tools, HIPAA Safety &amp; Data Classification</a:t>
            </a:r>
          </a:p>
          <a:p xmlns:a="http://schemas.openxmlformats.org/drawingml/2006/main">
            <a:r>
              <a:t/>
            </a:r>
          </a:p>
          <a:p xmlns:a="http://schemas.openxmlformats.org/drawingml/2006/main">
            <a:r>
              <a:t>Let learners attempt the scenario individually before comparing reasoning in pairs or groups. The scenario is hypothetical. Do not substitute real member, staff or vendor data.</a:t>
            </a:r>
          </a:p>
          <a:p xmlns:a="http://schemas.openxmlformats.org/drawingml/2006/main">
            <a:r>
              <a:t/>
            </a:r>
          </a:p>
          <a:p xmlns:a="http://schemas.openxmlformats.org/drawingml/2006/main">
            <a:r>
              <a:t>Scenario: A program analyst shares an internal dashboard export with aggregated counts. A hidden worksheet also contains row-level notes with names and service details. The analyst wants a one-paragraph summary.</a:t>
            </a:r>
          </a:p>
          <a:p xmlns:a="http://schemas.openxmlformats.org/drawingml/2006/main">
            <a:r>
              <a:t/>
            </a:r>
          </a:p>
          <a:p xmlns:a="http://schemas.openxmlformats.org/drawingml/2006/main">
            <a:r>
              <a:t>Exercise:</a:t>
            </a:r>
          </a:p>
          <a:p xmlns:a="http://schemas.openxmlformats.org/drawingml/2006/main">
            <a:r>
              <a:t>1. Identify the highest applicable data tier and why.</a:t>
            </a:r>
          </a:p>
          <a:p xmlns:a="http://schemas.openxmlformats.org/drawingml/2006/main">
            <a:r>
              <a:t>2. List what must be checked in the DWIHN catalog before any AI use.</a:t>
            </a:r>
          </a:p>
          <a:p xmlns:a="http://schemas.openxmlformats.org/drawingml/2006/main">
            <a:r>
              <a:t>3. Describe a safer alternative if this export cannot be used in the available tool.</a:t>
            </a:r>
          </a:p>
          <a:p xmlns:a="http://schemas.openxmlformats.org/drawingml/2006/main">
            <a:r>
              <a:t/>
            </a:r>
          </a:p>
          <a:p xmlns:a="http://schemas.openxmlformats.org/drawingml/2006/main">
            <a:r>
              <a:t>Expected deliverable: A tool-selection decision with the classification, approval evidence and next step recorded.</a:t>
            </a:r>
          </a:p>
          <a:p xmlns:a="http://schemas.openxmlformats.org/drawingml/2006/main">
            <a:r>
              <a:t/>
            </a:r>
          </a:p>
          <a:p xmlns:a="http://schemas.openxmlformats.org/drawingml/2006/main">
            <a:r>
              <a:t>Debrief against these criteria:</a:t>
            </a:r>
          </a:p>
          <a:p xmlns:a="http://schemas.openxmlformats.org/drawingml/2006/main">
            <a:r>
              <a:t>• The choice follows DWIHN policy rather than personal preference.</a:t>
            </a:r>
          </a:p>
          <a:p xmlns:a="http://schemas.openxmlformats.org/drawingml/2006/main">
            <a:r>
              <a:t>• The learner notices sensitive content in the hidden worksheet.</a:t>
            </a:r>
          </a:p>
          <a:p xmlns:a="http://schemas.openxmlformats.org/drawingml/2006/main">
            <a:r>
              <a:t>• Uncertainty is escalated instead of guessed away.</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Modules 2–3, Practice Labs and Knowledge Checks; proposal pp. 6, 10. Confirm local policy and approved-tool catalog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S2 · Week 2 · Modules 2–3 · Approved Tools, HIPAA Safety &amp; Data Classification</a:t>
            </a:r>
          </a:p>
          <a:p xmlns:a="http://schemas.openxmlformats.org/drawingml/2006/main">
            <a:r>
              <a:t/>
            </a:r>
          </a:p>
          <a:p xmlns:a="http://schemas.openxmlformats.org/drawingml/2006/main">
            <a:r>
              <a:t>Close with open Q&amp;A. Acknowledge when a question is outside the supplied policy or system details and capture an owner for follow-up.</a:t>
            </a:r>
          </a:p>
          <a:p xmlns:a="http://schemas.openxmlformats.org/drawingml/2006/main">
            <a:r>
              <a:t/>
            </a:r>
          </a:p>
          <a:p xmlns:a="http://schemas.openxmlformats.org/drawingml/2006/main">
            <a:r>
              <a:t>Questions and suggested responses:</a:t>
            </a:r>
          </a:p>
          <a:p xmlns:a="http://schemas.openxmlformats.org/drawingml/2006/main">
            <a:r>
              <a:t>Q1: Is a Public document always safe to paste into any tool?</a:t>
            </a:r>
          </a:p>
          <a:p xmlns:a="http://schemas.openxmlformats.org/drawingml/2006/main">
            <a:r>
              <a:t>Answer cue: No. Tool approval, purpose, account and other restrictions still apply.</a:t>
            </a:r>
          </a:p>
          <a:p xmlns:a="http://schemas.openxmlformats.org/drawingml/2006/main">
            <a:r>
              <a:t/>
            </a:r>
          </a:p>
          <a:p xmlns:a="http://schemas.openxmlformats.org/drawingml/2006/main">
            <a:r>
              <a:t>Q2: Can I remove a name and assume the record is de-identified?</a:t>
            </a:r>
          </a:p>
          <a:p xmlns:a="http://schemas.openxmlformats.org/drawingml/2006/main">
            <a:r>
              <a:t>Answer cue: No. Other details may identify a person, and policy defines acceptable de-identification.</a:t>
            </a:r>
          </a:p>
          <a:p xmlns:a="http://schemas.openxmlformats.org/drawingml/2006/main">
            <a:r>
              <a:t/>
            </a:r>
          </a:p>
          <a:p xmlns:a="http://schemas.openxmlformats.org/drawingml/2006/main">
            <a:r>
              <a:t>Q3: What if the catalog does not answer my question?</a:t>
            </a:r>
          </a:p>
          <a:p xmlns:a="http://schemas.openxmlformats.org/drawingml/2006/main">
            <a:r>
              <a:t>Answer cue: Pause and route the question to the designated privacy, security or governance contact.</a:t>
            </a:r>
          </a:p>
          <a:p xmlns:a="http://schemas.openxmlformats.org/drawingml/2006/main">
            <a:r>
              <a:t/>
            </a:r>
          </a:p>
          <a:p xmlns:a="http://schemas.openxmlformats.org/drawingml/2006/main">
            <a:r>
              <a:t>Recap:</a:t>
            </a:r>
          </a:p>
          <a:p xmlns:a="http://schemas.openxmlformats.org/drawingml/2006/main">
            <a:r>
              <a:t>• Classify before selecting the AI tool.</a:t>
            </a:r>
          </a:p>
          <a:p xmlns:a="http://schemas.openxmlformats.org/drawingml/2006/main">
            <a:r>
              <a:t>• Check the approved catalog for the specific use.</a:t>
            </a:r>
          </a:p>
          <a:p xmlns:a="http://schemas.openxmlformats.org/drawingml/2006/main">
            <a:r>
              <a:t>• Treat uncertainty and mixed information conservatively.</a:t>
            </a:r>
          </a:p>
          <a:p xmlns:a="http://schemas.openxmlformats.org/drawingml/2006/main">
            <a:r>
              <a:t/>
            </a:r>
          </a:p>
          <a:p xmlns:a="http://schemas.openxmlformats.org/drawingml/2006/main">
            <a:r>
              <a:t>Allow learners to apply the same reasoning to another fictional example if the group needs more practice. Ask what they would do differently in their own role and address any remaining questions before moving forward.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Modules 2–3, Practice Labs and Knowledge Checks; proposal pp. 6, 10. Confirm local policy and approved-tool catalog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S3 · Week 3 · Module 4 · Prompting Skills for DWIHN Roles</a:t>
            </a:r>
          </a:p>
          <a:p xmlns:a="http://schemas.openxmlformats.org/drawingml/2006/main">
            <a:r>
              <a:t/>
            </a:r>
          </a:p>
          <a:p xmlns:a="http://schemas.openxmlformats.org/drawingml/2006/main">
            <a:r>
              <a:t>Open with this question and invite participants to connect it to their role before introducing the lesson.</a:t>
            </a:r>
          </a:p>
          <a:p xmlns:a="http://schemas.openxmlformats.org/drawingml/2006/main">
            <a:r>
              <a:t/>
            </a:r>
          </a:p>
          <a:p xmlns:a="http://schemas.openxmlformats.org/drawingml/2006/main">
            <a:r>
              <a:t>Opening question: What goes wrong when you ask a tool to “summarize this” without saying who the summary is for or what to preserve?</a:t>
            </a:r>
          </a:p>
          <a:p xmlns:a="http://schemas.openxmlformats.org/drawingml/2006/main">
            <a:r>
              <a:t/>
            </a:r>
          </a:p>
          <a:p xmlns:a="http://schemas.openxmlformats.org/drawingml/2006/main">
            <a:r>
              <a:t>Explain the goal in plain language, review each outcome, then ask learners where they expect the hardest judgment call to occur. Use a fictional example if no approved work example is available.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4 and proposal p. 7. The example prompt is instructional and uses no real DWIHN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S3 · Week 3 · Module 4 · Prompting Skills for DWIHN Roles</a:t>
            </a:r>
          </a:p>
          <a:p xmlns:a="http://schemas.openxmlformats.org/drawingml/2006/main">
            <a:r>
              <a:t/>
            </a:r>
          </a:p>
          <a:p xmlns:a="http://schemas.openxmlformats.org/drawingml/2006/main">
            <a:r>
              <a:t>Teach the four ideas separately. After each, ask a learner to restate the idea and give a role-specific example. Correct the distinction between what a system can generate and what a person is authorized to decide.</a:t>
            </a:r>
          </a:p>
          <a:p xmlns:a="http://schemas.openxmlformats.org/drawingml/2006/main">
            <a:r>
              <a:t/>
            </a:r>
          </a:p>
          <a:p xmlns:a="http://schemas.openxmlformats.org/drawingml/2006/main">
            <a:r>
              <a:t>1. Role sets perspective: A role can frame the kind of assistance, such as “plain-language editor for an internal staff notice.” It does not grant professional authority or permission to decide policy.</a:t>
            </a:r>
          </a:p>
          <a:p xmlns:a="http://schemas.openxmlformats.org/drawingml/2006/main">
            <a:r>
              <a:t>2. Task names the action: Use a concrete verb and outcome: organize, summarize, compare or draft. “Analyze our performance” is too broad until the measure, period and question are defined.</a:t>
            </a:r>
          </a:p>
          <a:p xmlns:a="http://schemas.openxmlformats.org/drawingml/2006/main">
            <a:r>
              <a:t>3. Context defines audience and source: Provide only approved context needed for the task. Tell the tool which supplied material is authoritative and who will read the result. Never use prompt detail to bypass data-handling rules.</a:t>
            </a:r>
          </a:p>
          <a:p xmlns:a="http://schemas.openxmlformats.org/drawingml/2006/main">
            <a:r>
              <a:t>4. Format and constraint shape review: Specify headings, length or structure. Add limits such as “use only supplied text,” “flag missing facts,” and “do not add deadlines or commitments.” Then verify the result anyway.</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4 and proposal p. 7. The example prompt is instructional and uses no real DWIHN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S3 · Week 3 · Module 4 · Prompting Skills for DWIHN Roles</a:t>
            </a:r>
          </a:p>
          <a:p xmlns:a="http://schemas.openxmlformats.org/drawingml/2006/main">
            <a:r>
              <a:t/>
            </a:r>
          </a:p>
          <a:p xmlns:a="http://schemas.openxmlformats.org/drawingml/2006/main">
            <a:r>
              <a:t>Walk through each stage and make the decision visible: what question is being asked, what source is being checked and when a person takes responsibility. Ask participants to predict the next step before revealing it.</a:t>
            </a:r>
          </a:p>
          <a:p xmlns:a="http://schemas.openxmlformats.org/drawingml/2006/main">
            <a:r>
              <a:t/>
            </a:r>
          </a:p>
          <a:p xmlns:a="http://schemas.openxmlformats.org/drawingml/2006/main">
            <a:r>
              <a:t>1. Vague request: “Write an update.” The system has no audience, source, purpose or review standard.</a:t>
            </a:r>
          </a:p>
          <a:p xmlns:a="http://schemas.openxmlformats.org/drawingml/2006/main">
            <a:r>
              <a:t>2. Add role and task: Ask for help as an internal communications editor and name the specific draft needed.</a:t>
            </a:r>
          </a:p>
          <a:p xmlns:a="http://schemas.openxmlformats.org/drawingml/2006/main">
            <a:r>
              <a:t>3. Add context and format: Identify the audience and authorized source. Request a short heading, decisions, owners and open questions.</a:t>
            </a:r>
          </a:p>
          <a:p xmlns:a="http://schemas.openxmlformats.org/drawingml/2006/main">
            <a:r>
              <a:t>4. Add constraints and review: Preserve uncertainty, invent no details and mark gaps. Compare the draft with the source before use.</a:t>
            </a:r>
          </a:p>
          <a:p xmlns:a="http://schemas.openxmlformats.org/drawingml/2006/main">
            <a:r>
              <a:t/>
            </a:r>
          </a:p>
          <a:p xmlns:a="http://schemas.openxmlformats.org/drawingml/2006/main">
            <a:r>
              <a:t>Worked example: Hypothetical improved prompt: “Act as a plain-language editor. Draft an internal staff update from the approved notes below. Keep the policy meaning unchanged. Return a heading, confirmed decisions, owners and open questions. Use only those notes. Flag missing owners and add no dates, commitments or recommendations.”</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4 and proposal p. 7. The example prompt is instructional and uses no real DWIHN record.</a:t>
            </a:r>
          </a:p>
          <a:p xmlns:a="http://schemas.openxmlformats.org/drawingml/2006/main">
            <a:r>
              <a:t/>
            </a:r>
          </a:p>
          <a:p xmlns:a="http://schemas.openxmlformats.org/drawingml/2006/main">
            <a:r>
              <a:t>Any photograph in the lesson section comes from the proposal and is not a DWIHN session or product 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S3 · Week 3 · Module 4 · Prompting Skills for DWIHN Roles</a:t>
            </a:r>
          </a:p>
          <a:p xmlns:a="http://schemas.openxmlformats.org/drawingml/2006/main">
            <a:r>
              <a:t/>
            </a:r>
          </a:p>
          <a:p xmlns:a="http://schemas.openxmlformats.org/drawingml/2006/main">
            <a:r>
              <a:t>Let learners attempt the scenario individually before comparing reasoning in pairs or groups. The scenario is hypothetical. Do not substitute real member, staff or vendor data.</a:t>
            </a:r>
          </a:p>
          <a:p xmlns:a="http://schemas.openxmlformats.org/drawingml/2006/main">
            <a:r>
              <a:t/>
            </a:r>
          </a:p>
          <a:p xmlns:a="http://schemas.openxmlformats.org/drawingml/2006/main">
            <a:r>
              <a:t>Scenario: A manager wants a weekly program update for leadership. The source notes include accomplishments, two risks and one pending decision. The first prompt says only “summarize this.”</a:t>
            </a:r>
          </a:p>
          <a:p xmlns:a="http://schemas.openxmlformats.org/drawingml/2006/main">
            <a:r>
              <a:t/>
            </a:r>
          </a:p>
          <a:p xmlns:a="http://schemas.openxmlformats.org/drawingml/2006/main">
            <a:r>
              <a:t>Exercise:</a:t>
            </a:r>
          </a:p>
          <a:p xmlns:a="http://schemas.openxmlformats.org/drawingml/2006/main">
            <a:r>
              <a:t>1. Write a five-part prompt for this task using approved, fictional notes.</a:t>
            </a:r>
          </a:p>
          <a:p xmlns:a="http://schemas.openxmlformats.org/drawingml/2006/main">
            <a:r>
              <a:t>2. Ask the tool to preserve the pending decision as unresolved.</a:t>
            </a:r>
          </a:p>
          <a:p xmlns:a="http://schemas.openxmlformats.org/drawingml/2006/main">
            <a:r>
              <a:t>3. Review the draft for added claims, omitted risks and audience-appropriate tone.</a:t>
            </a:r>
          </a:p>
          <a:p xmlns:a="http://schemas.openxmlformats.org/drawingml/2006/main">
            <a:r>
              <a:t/>
            </a:r>
          </a:p>
          <a:p xmlns:a="http://schemas.openxmlformats.org/drawingml/2006/main">
            <a:r>
              <a:t>Expected deliverable: Three improved prompts: one for an email, one for a meeting summary and one for a structured status update.</a:t>
            </a:r>
          </a:p>
          <a:p xmlns:a="http://schemas.openxmlformats.org/drawingml/2006/main">
            <a:r>
              <a:t/>
            </a:r>
          </a:p>
          <a:p xmlns:a="http://schemas.openxmlformats.org/drawingml/2006/main">
            <a:r>
              <a:t>Debrief against these criteria:</a:t>
            </a:r>
          </a:p>
          <a:p xmlns:a="http://schemas.openxmlformats.org/drawingml/2006/main">
            <a:r>
              <a:t>• All five prompt parts are present where useful.</a:t>
            </a:r>
          </a:p>
          <a:p xmlns:a="http://schemas.openxmlformats.org/drawingml/2006/main">
            <a:r>
              <a:t>• The prompt limits the output to authorized source material.</a:t>
            </a:r>
          </a:p>
          <a:p xmlns:a="http://schemas.openxmlformats.org/drawingml/2006/main">
            <a:r>
              <a:t>• The learner defines how to check accuracy and missing information.</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4 and proposal p. 7. The example prompt is instructional and uses no real DWIHN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S3 · Week 3 · Module 4 · Prompting Skills for DWIHN Roles</a:t>
            </a:r>
          </a:p>
          <a:p xmlns:a="http://schemas.openxmlformats.org/drawingml/2006/main">
            <a:r>
              <a:t/>
            </a:r>
          </a:p>
          <a:p xmlns:a="http://schemas.openxmlformats.org/drawingml/2006/main">
            <a:r>
              <a:t>Close with open Q&amp;A. Acknowledge when a question is outside the supplied policy or system details and capture an owner for follow-up.</a:t>
            </a:r>
          </a:p>
          <a:p xmlns:a="http://schemas.openxmlformats.org/drawingml/2006/main">
            <a:r>
              <a:t/>
            </a:r>
          </a:p>
          <a:p xmlns:a="http://schemas.openxmlformats.org/drawingml/2006/main">
            <a:r>
              <a:t>Questions and suggested responses:</a:t>
            </a:r>
          </a:p>
          <a:p xmlns:a="http://schemas.openxmlformats.org/drawingml/2006/main">
            <a:r>
              <a:t>Q1: Does a detailed prompt guarantee a correct answer?</a:t>
            </a:r>
          </a:p>
          <a:p xmlns:a="http://schemas.openxmlformats.org/drawingml/2006/main">
            <a:r>
              <a:t>Answer cue: No. It reduces ambiguity, but the user must still validate facts and policy fit.</a:t>
            </a:r>
          </a:p>
          <a:p xmlns:a="http://schemas.openxmlformats.org/drawingml/2006/main">
            <a:r>
              <a:t/>
            </a:r>
          </a:p>
          <a:p xmlns:a="http://schemas.openxmlformats.org/drawingml/2006/main">
            <a:r>
              <a:t>Q2: Should I include a client record to give better context?</a:t>
            </a:r>
          </a:p>
          <a:p xmlns:a="http://schemas.openxmlformats.org/drawingml/2006/main">
            <a:r>
              <a:t>Answer cue: Only if the specific approved workflow permits it. Prompting does not change data permissions.</a:t>
            </a:r>
          </a:p>
          <a:p xmlns:a="http://schemas.openxmlformats.org/drawingml/2006/main">
            <a:r>
              <a:t/>
            </a:r>
          </a:p>
          <a:p xmlns:a="http://schemas.openxmlformats.org/drawingml/2006/main">
            <a:r>
              <a:t>Q3: What is a useful constraint for meeting notes?</a:t>
            </a:r>
          </a:p>
          <a:p xmlns:a="http://schemas.openxmlformats.org/drawingml/2006/main">
            <a:r>
              <a:t>Answer cue: Use only the notes, distinguish decisions from discussion and flag missing owners instead of guessing.</a:t>
            </a:r>
          </a:p>
          <a:p xmlns:a="http://schemas.openxmlformats.org/drawingml/2006/main">
            <a:r>
              <a:t/>
            </a:r>
          </a:p>
          <a:p xmlns:a="http://schemas.openxmlformats.org/drawingml/2006/main">
            <a:r>
              <a:t>Recap:</a:t>
            </a:r>
          </a:p>
          <a:p xmlns:a="http://schemas.openxmlformats.org/drawingml/2006/main">
            <a:r>
              <a:t>• Specific instructions improve relevance.</a:t>
            </a:r>
          </a:p>
          <a:p xmlns:a="http://schemas.openxmlformats.org/drawingml/2006/main">
            <a:r>
              <a:t>• Use only approved context.</a:t>
            </a:r>
          </a:p>
          <a:p xmlns:a="http://schemas.openxmlformats.org/drawingml/2006/main">
            <a:r>
              <a:t>• Make review criteria explicit and check the result.</a:t>
            </a:r>
          </a:p>
          <a:p xmlns:a="http://schemas.openxmlformats.org/drawingml/2006/main">
            <a:r>
              <a:t/>
            </a:r>
          </a:p>
          <a:p xmlns:a="http://schemas.openxmlformats.org/drawingml/2006/main">
            <a:r>
              <a:t>Allow learners to apply the same reasoning to another fictional example if the group needs more practice. Ask what they would do differently in their own role and address any remaining questions before moving forward.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4 and proposal p. 7. The example prompt is instructional and uses no real DWIHN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S4 · Week 3 · Module 5 · AI in Your Daily DWIHN Work</a:t>
            </a:r>
          </a:p>
          <a:p xmlns:a="http://schemas.openxmlformats.org/drawingml/2006/main">
            <a:r>
              <a:t/>
            </a:r>
          </a:p>
          <a:p xmlns:a="http://schemas.openxmlformats.org/drawingml/2006/main">
            <a:r>
              <a:t>Open with this question and invite participants to connect it to their role before introducing the lesson.</a:t>
            </a:r>
          </a:p>
          <a:p xmlns:a="http://schemas.openxmlformats.org/drawingml/2006/main">
            <a:r>
              <a:t/>
            </a:r>
          </a:p>
          <a:p xmlns:a="http://schemas.openxmlformats.org/drawingml/2006/main">
            <a:r>
              <a:t>Opening question: Which recurring task takes preparation time but still needs a knowledgeable person to make the final call?</a:t>
            </a:r>
          </a:p>
          <a:p xmlns:a="http://schemas.openxmlformats.org/drawingml/2006/main">
            <a:r>
              <a:t/>
            </a:r>
          </a:p>
          <a:p xmlns:a="http://schemas.openxmlformats.org/drawingml/2006/main">
            <a:r>
              <a:t>Explain the goal in plain language, review each outcome, then ask learners where they expect the hardest judgment call to occur. Use a fictional example if no approved work example is available.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5, Daily AI Checklist and Practice Lab; proposal p.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S4 · Week 3 · Module 5 · AI in Your Daily DWIHN Work</a:t>
            </a:r>
          </a:p>
          <a:p xmlns:a="http://schemas.openxmlformats.org/drawingml/2006/main">
            <a:r>
              <a:t/>
            </a:r>
          </a:p>
          <a:p xmlns:a="http://schemas.openxmlformats.org/drawingml/2006/main">
            <a:r>
              <a:t>Teach the four ideas separately. After each, ask a learner to restate the idea and give a role-specific example. Correct the distinction between what a system can generate and what a person is authorized to decide.</a:t>
            </a:r>
          </a:p>
          <a:p xmlns:a="http://schemas.openxmlformats.org/drawingml/2006/main">
            <a:r>
              <a:t/>
            </a:r>
          </a:p>
          <a:p xmlns:a="http://schemas.openxmlformats.org/drawingml/2006/main">
            <a:r>
              <a:t>1. Start with the work, not the tool: Describe the task, audience, information and final destination first. A tool feature is not a reason to automate a step that needs professional judgment or a required approval.</a:t>
            </a:r>
          </a:p>
          <a:p xmlns:a="http://schemas.openxmlformats.org/drawingml/2006/main">
            <a:r>
              <a:t>2. Low-risk drafts can still create risk: A routine email can include a promise, sensitive detail or misleading statement. The sender checks names, dates, commitments, tone and audience before sending.</a:t>
            </a:r>
          </a:p>
          <a:p xmlns:a="http://schemas.openxmlformats.org/drawingml/2006/main">
            <a:r>
              <a:t>3. Build review into the workflow: Keep the original source nearby. Compare important facts and meaning, identify missing points, edit the response and record or disclose AI assistance if policy requires it.</a:t>
            </a:r>
          </a:p>
          <a:p xmlns:a="http://schemas.openxmlformats.org/drawingml/2006/main">
            <a:r>
              <a:t>4. Use a daily safety check: Before: define the task, classify the information and confirm the tool. After: verify facts, remove unsupported content, consider privacy and keep the human owner clear.</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5, Daily AI Checklist and Practice Lab; proposal p.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S4 · Week 3 · Module 5 · AI in Your Daily DWIHN Work</a:t>
            </a:r>
          </a:p>
          <a:p xmlns:a="http://schemas.openxmlformats.org/drawingml/2006/main">
            <a:r>
              <a:t/>
            </a:r>
          </a:p>
          <a:p xmlns:a="http://schemas.openxmlformats.org/drawingml/2006/main">
            <a:r>
              <a:t>Walk through each stage and make the decision visible: what question is being asked, what source is being checked and when a person takes responsibility. Ask participants to predict the next step before revealing it.</a:t>
            </a:r>
          </a:p>
          <a:p xmlns:a="http://schemas.openxmlformats.org/drawingml/2006/main">
            <a:r>
              <a:t/>
            </a:r>
          </a:p>
          <a:p xmlns:a="http://schemas.openxmlformats.org/drawingml/2006/main">
            <a:r>
              <a:t>1. Choose a repeatable task: Use a fictional internal meeting recap, not client data. Define the requested output.</a:t>
            </a:r>
          </a:p>
          <a:p xmlns:a="http://schemas.openxmlformats.org/drawingml/2006/main">
            <a:r>
              <a:t>2. Check suitability: Confirm that the input and use are allowed and that errors can be caught by a reviewer.</a:t>
            </a:r>
          </a:p>
          <a:p xmlns:a="http://schemas.openxmlformats.org/drawingml/2006/main">
            <a:r>
              <a:t>3. Generate a first draft: Request actions, owners and open questions, with unknown details left blank.</a:t>
            </a:r>
          </a:p>
          <a:p xmlns:a="http://schemas.openxmlformats.org/drawingml/2006/main">
            <a:r>
              <a:t>4. Review before release: Compare every action and commitment with the notes, then edit for tone and intended audience.</a:t>
            </a:r>
          </a:p>
          <a:p xmlns:a="http://schemas.openxmlformats.org/drawingml/2006/main">
            <a:r>
              <a:t/>
            </a:r>
          </a:p>
          <a:p xmlns:a="http://schemas.openxmlformats.org/drawingml/2006/main">
            <a:r>
              <a:t>Worked example: Hypothetical example: meeting notes say a new process was proposed, not approved. The generated email says “starting Monday.” The reviewer removes the date, clarifies that the team is still reviewing the proposal and asks the authorized owner to confirm next steps.</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5, Daily AI Checklist and Practice Lab; proposal p. 7.</a:t>
            </a:r>
          </a:p>
          <a:p xmlns:a="http://schemas.openxmlformats.org/drawingml/2006/main">
            <a:r>
              <a:t/>
            </a:r>
          </a:p>
          <a:p xmlns:a="http://schemas.openxmlformats.org/drawingml/2006/main">
            <a:r>
              <a:t>Any photograph in the lesson section comes from the proposal and is not a DWIHN session or product 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S4 · Week 3 · Module 5 · AI in Your Daily DWIHN Work</a:t>
            </a:r>
          </a:p>
          <a:p xmlns:a="http://schemas.openxmlformats.org/drawingml/2006/main">
            <a:r>
              <a:t/>
            </a:r>
          </a:p>
          <a:p xmlns:a="http://schemas.openxmlformats.org/drawingml/2006/main">
            <a:r>
              <a:t>Let learners attempt the scenario individually before comparing reasoning in pairs or groups. The scenario is hypothetical. Do not substitute real member, staff or vendor data.</a:t>
            </a:r>
          </a:p>
          <a:p xmlns:a="http://schemas.openxmlformats.org/drawingml/2006/main">
            <a:r>
              <a:t/>
            </a:r>
          </a:p>
          <a:p xmlns:a="http://schemas.openxmlformats.org/drawingml/2006/main">
            <a:r>
              <a:t>Scenario: An operations employee has recurring notes from an internal planning meeting and wants an action list. The notes include named staff assignments and an unresolved compliance question.</a:t>
            </a:r>
          </a:p>
          <a:p xmlns:a="http://schemas.openxmlformats.org/drawingml/2006/main">
            <a:r>
              <a:t/>
            </a:r>
          </a:p>
          <a:p xmlns:a="http://schemas.openxmlformats.org/drawingml/2006/main">
            <a:r>
              <a:t>Exercise:</a:t>
            </a:r>
          </a:p>
          <a:p xmlns:a="http://schemas.openxmlformats.org/drawingml/2006/main">
            <a:r>
              <a:t>1. Map the workflow from source to tool, reviewer and destination.</a:t>
            </a:r>
          </a:p>
          <a:p xmlns:a="http://schemas.openxmlformats.org/drawingml/2006/main">
            <a:r>
              <a:t>2. Mark what information can be used under the selected approved tool’s rules.</a:t>
            </a:r>
          </a:p>
          <a:p xmlns:a="http://schemas.openxmlformats.org/drawingml/2006/main">
            <a:r>
              <a:t>3. Review a sample output for invented owners, deadlines and certainty.</a:t>
            </a:r>
          </a:p>
          <a:p xmlns:a="http://schemas.openxmlformats.org/drawingml/2006/main">
            <a:r>
              <a:t/>
            </a:r>
          </a:p>
          <a:p xmlns:a="http://schemas.openxmlformats.org/drawingml/2006/main">
            <a:r>
              <a:t>Expected deliverable: A one-page daily AI checklist and a safe workflow map for one candidate task.</a:t>
            </a:r>
          </a:p>
          <a:p xmlns:a="http://schemas.openxmlformats.org/drawingml/2006/main">
            <a:r>
              <a:t/>
            </a:r>
          </a:p>
          <a:p xmlns:a="http://schemas.openxmlformats.org/drawingml/2006/main">
            <a:r>
              <a:t>Debrief against these criteria:</a:t>
            </a:r>
          </a:p>
          <a:p xmlns:a="http://schemas.openxmlformats.org/drawingml/2006/main">
            <a:r>
              <a:t>• The task is bounded and low enough risk for the proposed use.</a:t>
            </a:r>
          </a:p>
          <a:p xmlns:a="http://schemas.openxmlformats.org/drawingml/2006/main">
            <a:r>
              <a:t>• Sensitive details follow the approved handling rule.</a:t>
            </a:r>
          </a:p>
          <a:p xmlns:a="http://schemas.openxmlformats.org/drawingml/2006/main">
            <a:r>
              <a:t>• A human verifies and owns the final output.</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5, Daily AI Checklist and Practice Lab; proposal p.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S4 · Week 3 · Module 5 · AI in Your Daily DWIHN Work</a:t>
            </a:r>
          </a:p>
          <a:p xmlns:a="http://schemas.openxmlformats.org/drawingml/2006/main">
            <a:r>
              <a:t/>
            </a:r>
          </a:p>
          <a:p xmlns:a="http://schemas.openxmlformats.org/drawingml/2006/main">
            <a:r>
              <a:t>Close with open Q&amp;A. Acknowledge when a question is outside the supplied policy or system details and capture an owner for follow-up.</a:t>
            </a:r>
          </a:p>
          <a:p xmlns:a="http://schemas.openxmlformats.org/drawingml/2006/main">
            <a:r>
              <a:t/>
            </a:r>
          </a:p>
          <a:p xmlns:a="http://schemas.openxmlformats.org/drawingml/2006/main">
            <a:r>
              <a:t>Questions and suggested responses:</a:t>
            </a:r>
          </a:p>
          <a:p xmlns:a="http://schemas.openxmlformats.org/drawingml/2006/main">
            <a:r>
              <a:t>Q1: Can we automate all recurring emails?</a:t>
            </a:r>
          </a:p>
          <a:p xmlns:a="http://schemas.openxmlformats.org/drawingml/2006/main">
            <a:r>
              <a:t>Answer cue: Only where policy and workflow allow, and a responsible sender still checks the content.</a:t>
            </a:r>
          </a:p>
          <a:p xmlns:a="http://schemas.openxmlformats.org/drawingml/2006/main">
            <a:r>
              <a:t/>
            </a:r>
          </a:p>
          <a:p xmlns:a="http://schemas.openxmlformats.org/drawingml/2006/main">
            <a:r>
              <a:t>Q2: What if the AI adds a deadline that was never agreed?</a:t>
            </a:r>
          </a:p>
          <a:p xmlns:a="http://schemas.openxmlformats.org/drawingml/2006/main">
            <a:r>
              <a:t>Answer cue: Remove it and correct the prompt; check the full output against source notes.</a:t>
            </a:r>
          </a:p>
          <a:p xmlns:a="http://schemas.openxmlformats.org/drawingml/2006/main">
            <a:r>
              <a:t/>
            </a:r>
          </a:p>
          <a:p xmlns:a="http://schemas.openxmlformats.org/drawingml/2006/main">
            <a:r>
              <a:t>Q3: Where should I ask about an uncertain workflow?</a:t>
            </a:r>
          </a:p>
          <a:p xmlns:a="http://schemas.openxmlformats.org/drawingml/2006/main">
            <a:r>
              <a:t>Answer cue: Use the DWIHN tool catalog, manager or designated governance/privacy channel.</a:t>
            </a:r>
          </a:p>
          <a:p xmlns:a="http://schemas.openxmlformats.org/drawingml/2006/main">
            <a:r>
              <a:t/>
            </a:r>
          </a:p>
          <a:p xmlns:a="http://schemas.openxmlformats.org/drawingml/2006/main">
            <a:r>
              <a:t>Recap:</a:t>
            </a:r>
          </a:p>
          <a:p xmlns:a="http://schemas.openxmlformats.org/drawingml/2006/main">
            <a:r>
              <a:t>• Map the workflow before using a tool.</a:t>
            </a:r>
          </a:p>
          <a:p xmlns:a="http://schemas.openxmlformats.org/drawingml/2006/main">
            <a:r>
              <a:t>• Keep the source and reviewer visible.</a:t>
            </a:r>
          </a:p>
          <a:p xmlns:a="http://schemas.openxmlformats.org/drawingml/2006/main">
            <a:r>
              <a:t>• Use a checklist before and after generation.</a:t>
            </a:r>
          </a:p>
          <a:p xmlns:a="http://schemas.openxmlformats.org/drawingml/2006/main">
            <a:r>
              <a:t/>
            </a:r>
          </a:p>
          <a:p xmlns:a="http://schemas.openxmlformats.org/drawingml/2006/main">
            <a:r>
              <a:t>Allow learners to apply the same reasoning to another fictional example if the group needs more practice. Ask what they would do differently in their own role and address any remaining questions before moving forward.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5, Daily AI Checklist and Practice Lab; proposal p.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S5 · Weeks 4–5 · Module 6 · Lumenore: Ask a Better Question</a:t>
            </a:r>
          </a:p>
          <a:p xmlns:a="http://schemas.openxmlformats.org/drawingml/2006/main">
            <a:r>
              <a:t/>
            </a:r>
          </a:p>
          <a:p xmlns:a="http://schemas.openxmlformats.org/drawingml/2006/main">
            <a:r>
              <a:t>Open with this question and invite participants to connect it to their role before introducing the lesson.</a:t>
            </a:r>
          </a:p>
          <a:p xmlns:a="http://schemas.openxmlformats.org/drawingml/2006/main">
            <a:r>
              <a:t/>
            </a:r>
          </a:p>
          <a:p xmlns:a="http://schemas.openxmlformats.org/drawingml/2006/main">
            <a:r>
              <a:t>Opening question: What information would you need before “How is the program doing?” becomes a useful analytics question?</a:t>
            </a:r>
          </a:p>
          <a:p xmlns:a="http://schemas.openxmlformats.org/drawingml/2006/main">
            <a:r>
              <a:t/>
            </a:r>
          </a:p>
          <a:p xmlns:a="http://schemas.openxmlformats.org/drawingml/2006/main">
            <a:r>
              <a:t>Explain the goal in plain language, review each outcome, then ask learners where they expect the hardest judgment call to occur. Use a fictional example if no approved work example is available.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 6.1 and proposal p. 8. Lumenore features must be confirmed in DWIHN’s licensed environment.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S5 · Weeks 4–5 · Module 6 · Lumenore: Ask a Better Question</a:t>
            </a:r>
          </a:p>
          <a:p xmlns:a="http://schemas.openxmlformats.org/drawingml/2006/main">
            <a:r>
              <a:t/>
            </a:r>
          </a:p>
          <a:p xmlns:a="http://schemas.openxmlformats.org/drawingml/2006/main">
            <a:r>
              <a:t>Teach the four ideas separately. After each, ask a learner to restate the idea and give a role-specific example. Correct the distinction between what a system can generate and what a person is authorized to decide.</a:t>
            </a:r>
          </a:p>
          <a:p xmlns:a="http://schemas.openxmlformats.org/drawingml/2006/main">
            <a:r>
              <a:t/>
            </a:r>
          </a:p>
          <a:p xmlns:a="http://schemas.openxmlformats.org/drawingml/2006/main">
            <a:r>
              <a:t>1. Name the decision first: A question should connect to a decision or follow-up. “Where should we investigate access?” is more useful when the team agrees what evidence would inform that investigation.</a:t>
            </a:r>
          </a:p>
          <a:p xmlns:a="http://schemas.openxmlformats.org/drawingml/2006/main">
            <a:r>
              <a:t>2. Specify the measure and population: Define what is counted, who is included and what is excluded. Ask which program, service group or status applies rather than relying on ambiguous labels.</a:t>
            </a:r>
          </a:p>
          <a:p xmlns:a="http://schemas.openxmlformats.org/drawingml/2006/main">
            <a:r>
              <a:t>3. Set the time and comparison: A trend needs a period and a comparison basis, such as the prior quarter. Confirm whether filters and refresh dates support that comparison.</a:t>
            </a:r>
          </a:p>
          <a:p xmlns:a="http://schemas.openxmlformats.org/drawingml/2006/main">
            <a:r>
              <a:t>4. Treat a generated answer as a lead: A natural-language result can help locate a view or summarize a pattern. It does not replace metric definitions, data-quality checks or interpretation by the person responsible.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 6.1 and proposal p. 8. Lumenore features must be confirmed in DWIHN’s licensed environment.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S5 · Weeks 4–5 · Module 6 · Lumenore: Ask a Better Question</a:t>
            </a:r>
          </a:p>
          <a:p xmlns:a="http://schemas.openxmlformats.org/drawingml/2006/main">
            <a:r>
              <a:t/>
            </a:r>
          </a:p>
          <a:p xmlns:a="http://schemas.openxmlformats.org/drawingml/2006/main">
            <a:r>
              <a:t>Walk through each stage and make the decision visible: what question is being asked, what source is being checked and when a person takes responsibility. Ask participants to predict the next step before revealing it.</a:t>
            </a:r>
          </a:p>
          <a:p xmlns:a="http://schemas.openxmlformats.org/drawingml/2006/main">
            <a:r>
              <a:t/>
            </a:r>
          </a:p>
          <a:p xmlns:a="http://schemas.openxmlformats.org/drawingml/2006/main">
            <a:r>
              <a:t>1. Start broad: “How are we doing?” Capture why this cannot be answered consistently.</a:t>
            </a:r>
          </a:p>
          <a:p xmlns:a="http://schemas.openxmlformats.org/drawingml/2006/main">
            <a:r>
              <a:t>2. Make it answerable: Ask for a defined program measure over a specified period and group.</a:t>
            </a:r>
          </a:p>
          <a:p xmlns:a="http://schemas.openxmlformats.org/drawingml/2006/main">
            <a:r>
              <a:t>3. Inspect the result: Read the dashboard title, measure definition, date range, filters and data refresh information.</a:t>
            </a:r>
          </a:p>
          <a:p xmlns:a="http://schemas.openxmlformats.org/drawingml/2006/main">
            <a:r>
              <a:t>4. State limits: Describe the observed pattern and identify what the view does not explain.</a:t>
            </a:r>
          </a:p>
          <a:p xmlns:a="http://schemas.openxmlformats.org/drawingml/2006/main">
            <a:r>
              <a:t/>
            </a:r>
          </a:p>
          <a:p xmlns:a="http://schemas.openxmlformats.org/drawingml/2006/main">
            <a:r>
              <a:t>Worked example: Illustrative question: “For the selected program, how did completed referrals change from the last quarter to this quarter, using the dashboard’s published completion definition?” Before discussing an answer, verify that the program, completion status and quarter filters match the question.</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 6.1 and proposal p. 8. Lumenore features must be confirmed in DWIHN’s licensed environment.</a:t>
            </a:r>
          </a:p>
          <a:p xmlns:a="http://schemas.openxmlformats.org/drawingml/2006/main">
            <a:r>
              <a:t/>
            </a:r>
          </a:p>
          <a:p xmlns:a="http://schemas.openxmlformats.org/drawingml/2006/main">
            <a:r>
              <a:t>Any photograph in the lesson section comes from the proposal and is not a DWIHN session or product 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S5 · Weeks 4–5 · Module 6 · Lumenore: Ask a Better Question</a:t>
            </a:r>
          </a:p>
          <a:p xmlns:a="http://schemas.openxmlformats.org/drawingml/2006/main">
            <a:r>
              <a:t/>
            </a:r>
          </a:p>
          <a:p xmlns:a="http://schemas.openxmlformats.org/drawingml/2006/main">
            <a:r>
              <a:t>Let learners attempt the scenario individually before comparing reasoning in pairs or groups. The scenario is hypothetical. Do not substitute real member, staff or vendor data.</a:t>
            </a:r>
          </a:p>
          <a:p xmlns:a="http://schemas.openxmlformats.org/drawingml/2006/main">
            <a:r>
              <a:t/>
            </a:r>
          </a:p>
          <a:p xmlns:a="http://schemas.openxmlformats.org/drawingml/2006/main">
            <a:r>
              <a:t>Scenario: A manager sees a number change after selecting a program filter. A colleague says the change proves the program is less effective, but the date range and completion definition have not been checked.</a:t>
            </a:r>
          </a:p>
          <a:p xmlns:a="http://schemas.openxmlformats.org/drawingml/2006/main">
            <a:r>
              <a:t/>
            </a:r>
          </a:p>
          <a:p xmlns:a="http://schemas.openxmlformats.org/drawingml/2006/main">
            <a:r>
              <a:t>Exercise:</a:t>
            </a:r>
          </a:p>
          <a:p xmlns:a="http://schemas.openxmlformats.org/drawingml/2006/main">
            <a:r>
              <a:t>1. Write a precise question from the decision the manager needs to support.</a:t>
            </a:r>
          </a:p>
          <a:p xmlns:a="http://schemas.openxmlformats.org/drawingml/2006/main">
            <a:r>
              <a:t>2. Inspect the simulated query result and identify its measure, population, time range and filters.</a:t>
            </a:r>
          </a:p>
          <a:p xmlns:a="http://schemas.openxmlformats.org/drawingml/2006/main">
            <a:r>
              <a:t>3. Draft a neutral summary and one follow-up question for the data owner.</a:t>
            </a:r>
          </a:p>
          <a:p xmlns:a="http://schemas.openxmlformats.org/drawingml/2006/main">
            <a:r>
              <a:t/>
            </a:r>
          </a:p>
          <a:p xmlns:a="http://schemas.openxmlformats.org/drawingml/2006/main">
            <a:r>
              <a:t>Expected deliverable: A question card with the decision, measure, population, period, comparison and verification checks.</a:t>
            </a:r>
          </a:p>
          <a:p xmlns:a="http://schemas.openxmlformats.org/drawingml/2006/main">
            <a:r>
              <a:t/>
            </a:r>
          </a:p>
          <a:p xmlns:a="http://schemas.openxmlformats.org/drawingml/2006/main">
            <a:r>
              <a:t>Debrief against these criteria:</a:t>
            </a:r>
          </a:p>
          <a:p xmlns:a="http://schemas.openxmlformats.org/drawingml/2006/main">
            <a:r>
              <a:t>• The question can be answered using a defined measure.</a:t>
            </a:r>
          </a:p>
          <a:p xmlns:a="http://schemas.openxmlformats.org/drawingml/2006/main">
            <a:r>
              <a:t>• The learner checks filters and period rather than trusting a natural-language response.</a:t>
            </a:r>
          </a:p>
          <a:p xmlns:a="http://schemas.openxmlformats.org/drawingml/2006/main">
            <a:r>
              <a:t>• The interpretation does not claim a cause without evidence.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 6.1 and proposal p. 8. Lumenore features must be confirmed in DWIHN’s licensed environment.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S5 · Weeks 4–5 · Module 6 · Lumenore: Ask a Better Question</a:t>
            </a:r>
          </a:p>
          <a:p xmlns:a="http://schemas.openxmlformats.org/drawingml/2006/main">
            <a:r>
              <a:t/>
            </a:r>
          </a:p>
          <a:p xmlns:a="http://schemas.openxmlformats.org/drawingml/2006/main">
            <a:r>
              <a:t>Close with open Q&amp;A. Acknowledge when a question is outside the supplied policy or system details and capture an owner for follow-up.</a:t>
            </a:r>
          </a:p>
          <a:p xmlns:a="http://schemas.openxmlformats.org/drawingml/2006/main">
            <a:r>
              <a:t/>
            </a:r>
          </a:p>
          <a:p xmlns:a="http://schemas.openxmlformats.org/drawingml/2006/main">
            <a:r>
              <a:t>Questions and suggested responses:</a:t>
            </a:r>
          </a:p>
          <a:p xmlns:a="http://schemas.openxmlformats.org/drawingml/2006/main">
            <a:r>
              <a:t>Q1: Can Ask Me answer any DWIHN question?</a:t>
            </a:r>
          </a:p>
          <a:p xmlns:a="http://schemas.openxmlformats.org/drawingml/2006/main">
            <a:r>
              <a:t>Answer cue: No. The feature and data available depend on licensing and configuration; check what is enabled.</a:t>
            </a:r>
          </a:p>
          <a:p xmlns:a="http://schemas.openxmlformats.org/drawingml/2006/main">
            <a:r>
              <a:t/>
            </a:r>
          </a:p>
          <a:p xmlns:a="http://schemas.openxmlformats.org/drawingml/2006/main">
            <a:r>
              <a:t>Q2: Why can two valid views show different numbers?</a:t>
            </a:r>
          </a:p>
          <a:p xmlns:a="http://schemas.openxmlformats.org/drawingml/2006/main">
            <a:r>
              <a:t>Answer cue: They may use different definitions, periods, populations, filters or refresh dates.</a:t>
            </a:r>
          </a:p>
          <a:p xmlns:a="http://schemas.openxmlformats.org/drawingml/2006/main">
            <a:r>
              <a:t/>
            </a:r>
          </a:p>
          <a:p xmlns:a="http://schemas.openxmlformats.org/drawingml/2006/main">
            <a:r>
              <a:t>Q3: What if the result does not match a known dashboard?</a:t>
            </a:r>
          </a:p>
          <a:p xmlns:a="http://schemas.openxmlformats.org/drawingml/2006/main">
            <a:r>
              <a:t>Answer cue: Pause, compare filters and definitions, then ask the data or platform owner to investigate.</a:t>
            </a:r>
          </a:p>
          <a:p xmlns:a="http://schemas.openxmlformats.org/drawingml/2006/main">
            <a:r>
              <a:t/>
            </a:r>
          </a:p>
          <a:p xmlns:a="http://schemas.openxmlformats.org/drawingml/2006/main">
            <a:r>
              <a:t>Recap:</a:t>
            </a:r>
          </a:p>
          <a:p xmlns:a="http://schemas.openxmlformats.org/drawingml/2006/main">
            <a:r>
              <a:t>• Make the question specific enough to reproduce.</a:t>
            </a:r>
          </a:p>
          <a:p xmlns:a="http://schemas.openxmlformats.org/drawingml/2006/main">
            <a:r>
              <a:t>• Verify the view before interpreting it.</a:t>
            </a:r>
          </a:p>
          <a:p xmlns:a="http://schemas.openxmlformats.org/drawingml/2006/main">
            <a:r>
              <a:t>• Use findings to focus inquiry, not to invent a cause.</a:t>
            </a:r>
          </a:p>
          <a:p xmlns:a="http://schemas.openxmlformats.org/drawingml/2006/main">
            <a:r>
              <a:t/>
            </a:r>
          </a:p>
          <a:p xmlns:a="http://schemas.openxmlformats.org/drawingml/2006/main">
            <a:r>
              <a:t>Allow learners to apply the same reasoning to another fictional example if the group needs more practice. Ask what they would do differently in their own role and address any remaining questions before moving forward.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 6.1 and proposal p. 8. Lumenore features must be confirmed in DWIHN’s licensed environment.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S6 · Weeks 4–5 · Module 6 · Lumenore: Build a Useful Dashboard</a:t>
            </a:r>
          </a:p>
          <a:p xmlns:a="http://schemas.openxmlformats.org/drawingml/2006/main">
            <a:r>
              <a:t/>
            </a:r>
          </a:p>
          <a:p xmlns:a="http://schemas.openxmlformats.org/drawingml/2006/main">
            <a:r>
              <a:t>Open with this question and invite participants to connect it to their role before introducing the lesson.</a:t>
            </a:r>
          </a:p>
          <a:p xmlns:a="http://schemas.openxmlformats.org/drawingml/2006/main">
            <a:r>
              <a:t/>
            </a:r>
          </a:p>
          <a:p xmlns:a="http://schemas.openxmlformats.org/drawingml/2006/main">
            <a:r>
              <a:t>Opening question: If a dashboard has many charts but no clear question, what work does it make harder?</a:t>
            </a:r>
          </a:p>
          <a:p xmlns:a="http://schemas.openxmlformats.org/drawingml/2006/main">
            <a:r>
              <a:t/>
            </a:r>
          </a:p>
          <a:p xmlns:a="http://schemas.openxmlformats.org/drawingml/2006/main">
            <a:r>
              <a:t>Explain the goal in plain language, review each outcome, then ask learners where they expect the hardest judgment call to occur. Use a fictional example if no approved work example is available.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 6.2 and proposal p. 8. Dashboard configuration should be confirmed with DWIHN.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S6 · Weeks 4–5 · Module 6 · Lumenore: Build a Useful Dashboard</a:t>
            </a:r>
          </a:p>
          <a:p xmlns:a="http://schemas.openxmlformats.org/drawingml/2006/main">
            <a:r>
              <a:t/>
            </a:r>
          </a:p>
          <a:p xmlns:a="http://schemas.openxmlformats.org/drawingml/2006/main">
            <a:r>
              <a:t>Teach the four ideas separately. After each, ask a learner to restate the idea and give a role-specific example. Correct the distinction between what a system can generate and what a person is authorized to decide.</a:t>
            </a:r>
          </a:p>
          <a:p xmlns:a="http://schemas.openxmlformats.org/drawingml/2006/main">
            <a:r>
              <a:t/>
            </a:r>
          </a:p>
          <a:p xmlns:a="http://schemas.openxmlformats.org/drawingml/2006/main">
            <a:r>
              <a:t>1. Dashboard starts with an audience: A team’s operational view, a manager’s review and a board report may need different levels of detail. Decide who will use the view and what action it can support.</a:t>
            </a:r>
          </a:p>
          <a:p xmlns:a="http://schemas.openxmlformats.org/drawingml/2006/main">
            <a:r>
              <a:t>2. Measures require definitions: For every KPI, specify what counts, the denominator if relevant, the population, exclusions, source and refresh cadence. A label like “completed” needs a shared definition.</a:t>
            </a:r>
          </a:p>
          <a:p xmlns:a="http://schemas.openxmlformats.org/drawingml/2006/main">
            <a:r>
              <a:t>3. Design hierarchy aids interpretation: Put the main decision measure where readers can find it, group supporting measures logically and use titles that name the population and period. Avoid unnecessary visual decoration that changes emphasis.</a:t>
            </a:r>
          </a:p>
          <a:p xmlns:a="http://schemas.openxmlformats.org/drawingml/2006/main">
            <a:r>
              <a:t>4. Access and currency are part of quality: Confirm permissions before sharing. Show the data period or refresh date and document who maintains the view. A polished but stale dashboard can mislead.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 6.2 and proposal p. 8. Dashboard configuration should be confirmed with DWIHN.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S6 · Weeks 4–5 · Module 6 · Lumenore: Build a Useful Dashboard</a:t>
            </a:r>
          </a:p>
          <a:p xmlns:a="http://schemas.openxmlformats.org/drawingml/2006/main">
            <a:r>
              <a:t/>
            </a:r>
          </a:p>
          <a:p xmlns:a="http://schemas.openxmlformats.org/drawingml/2006/main">
            <a:r>
              <a:t>Walk through each stage and make the decision visible: what question is being asked, what source is being checked and when a person takes responsibility. Ask participants to predict the next step before revealing it.</a:t>
            </a:r>
          </a:p>
          <a:p xmlns:a="http://schemas.openxmlformats.org/drawingml/2006/main">
            <a:r>
              <a:t/>
            </a:r>
          </a:p>
          <a:p xmlns:a="http://schemas.openxmlformats.org/drawingml/2006/main">
            <a:r>
              <a:t>1. Write the dashboard question: State the management decision and audience in one sentence.</a:t>
            </a:r>
          </a:p>
          <a:p xmlns:a="http://schemas.openxmlformats.org/drawingml/2006/main">
            <a:r>
              <a:t>2. Select measures: Choose a primary outcome and a limited set of supporting measures with approved definitions.</a:t>
            </a:r>
          </a:p>
          <a:p xmlns:a="http://schemas.openxmlformats.org/drawingml/2006/main">
            <a:r>
              <a:t>3. Build the view: Set labels, period, filters and readable chart choices in the confirmed environment.</a:t>
            </a:r>
          </a:p>
          <a:p xmlns:a="http://schemas.openxmlformats.org/drawingml/2006/main">
            <a:r>
              <a:t>4. Review as a colleague: Ask a second learner to explain what the page shows and what action it supports.</a:t>
            </a:r>
          </a:p>
          <a:p xmlns:a="http://schemas.openxmlformats.org/drawingml/2006/main">
            <a:r>
              <a:t/>
            </a:r>
          </a:p>
          <a:p xmlns:a="http://schemas.openxmlformats.org/drawingml/2006/main">
            <a:r>
              <a:t>Worked example: Hypothetical dashboard brief: a program manager wants to review referral completion each quarter. The dashboard draft defines completed referrals, shows the quarter and program filter, displays the current and prior period, identifies refresh date and keeps member-level records out of the management view.</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 6.2 and proposal p. 8. Dashboard configuration should be confirmed with DWIHN.</a:t>
            </a:r>
          </a:p>
          <a:p xmlns:a="http://schemas.openxmlformats.org/drawingml/2006/main">
            <a:r>
              <a:t/>
            </a:r>
          </a:p>
          <a:p xmlns:a="http://schemas.openxmlformats.org/drawingml/2006/main">
            <a:r>
              <a:t>Any photograph in the lesson section comes from the proposal and is not a DWIHN session or product 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S6 · Weeks 4–5 · Module 6 · Lumenore: Build a Useful Dashboard</a:t>
            </a:r>
          </a:p>
          <a:p xmlns:a="http://schemas.openxmlformats.org/drawingml/2006/main">
            <a:r>
              <a:t/>
            </a:r>
          </a:p>
          <a:p xmlns:a="http://schemas.openxmlformats.org/drawingml/2006/main">
            <a:r>
              <a:t>Let learners attempt the scenario individually before comparing reasoning in pairs or groups. The scenario is hypothetical. Do not substitute real member, staff or vendor data.</a:t>
            </a:r>
          </a:p>
          <a:p xmlns:a="http://schemas.openxmlformats.org/drawingml/2006/main">
            <a:r>
              <a:t/>
            </a:r>
          </a:p>
          <a:p xmlns:a="http://schemas.openxmlformats.org/drawingml/2006/main">
            <a:r>
              <a:t>Scenario: A team dashboard has a large “Success” number, three charts with unclear labels and an old refresh date. Different managers calculate the underlying percentage differently.</a:t>
            </a:r>
          </a:p>
          <a:p xmlns:a="http://schemas.openxmlformats.org/drawingml/2006/main">
            <a:r>
              <a:t/>
            </a:r>
          </a:p>
          <a:p xmlns:a="http://schemas.openxmlformats.org/drawingml/2006/main">
            <a:r>
              <a:t>Exercise:</a:t>
            </a:r>
          </a:p>
          <a:p xmlns:a="http://schemas.openxmlformats.org/drawingml/2006/main">
            <a:r>
              <a:t>1. Write a shared measure definition and identify its denominator.</a:t>
            </a:r>
          </a:p>
          <a:p xmlns:a="http://schemas.openxmlformats.org/drawingml/2006/main">
            <a:r>
              <a:t>2. Redesign the page hierarchy on paper for the stated audience.</a:t>
            </a:r>
          </a:p>
          <a:p xmlns:a="http://schemas.openxmlformats.org/drawingml/2006/main">
            <a:r>
              <a:t>3. List the owner, refresh expectation, filters and access checks needed before release.</a:t>
            </a:r>
          </a:p>
          <a:p xmlns:a="http://schemas.openxmlformats.org/drawingml/2006/main">
            <a:r>
              <a:t/>
            </a:r>
          </a:p>
          <a:p xmlns:a="http://schemas.openxmlformats.org/drawingml/2006/main">
            <a:r>
              <a:t>Expected deliverable: A dashboard wireframe with title, metric definitions, period, filter, owner and a brief “how to read this view” note.</a:t>
            </a:r>
          </a:p>
          <a:p xmlns:a="http://schemas.openxmlformats.org/drawingml/2006/main">
            <a:r>
              <a:t/>
            </a:r>
          </a:p>
          <a:p xmlns:a="http://schemas.openxmlformats.org/drawingml/2006/main">
            <a:r>
              <a:t>Debrief against these criteria:</a:t>
            </a:r>
          </a:p>
          <a:p xmlns:a="http://schemas.openxmlformats.org/drawingml/2006/main">
            <a:r>
              <a:t>• Every displayed metric has an agreed definition.</a:t>
            </a:r>
          </a:p>
          <a:p xmlns:a="http://schemas.openxmlformats.org/drawingml/2006/main">
            <a:r>
              <a:t>• The most important measure is easy to locate and interpret.</a:t>
            </a:r>
          </a:p>
          <a:p xmlns:a="http://schemas.openxmlformats.org/drawingml/2006/main">
            <a:r>
              <a:t>• The view shows period and refresh context and follows access rules.</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 6.2 and proposal p. 8. Dashboard configuration should be confirmed with DWIHN.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S6 · Weeks 4–5 · Module 6 · Lumenore: Build a Useful Dashboard</a:t>
            </a:r>
          </a:p>
          <a:p xmlns:a="http://schemas.openxmlformats.org/drawingml/2006/main">
            <a:r>
              <a:t/>
            </a:r>
          </a:p>
          <a:p xmlns:a="http://schemas.openxmlformats.org/drawingml/2006/main">
            <a:r>
              <a:t>Close with open Q&amp;A. Acknowledge when a question is outside the supplied policy or system details and capture an owner for follow-up.</a:t>
            </a:r>
          </a:p>
          <a:p xmlns:a="http://schemas.openxmlformats.org/drawingml/2006/main">
            <a:r>
              <a:t/>
            </a:r>
          </a:p>
          <a:p xmlns:a="http://schemas.openxmlformats.org/drawingml/2006/main">
            <a:r>
              <a:t>Questions and suggested responses:</a:t>
            </a:r>
          </a:p>
          <a:p xmlns:a="http://schemas.openxmlformats.org/drawingml/2006/main">
            <a:r>
              <a:t>Q1: Should every available KPI appear on the dashboard?</a:t>
            </a:r>
          </a:p>
          <a:p xmlns:a="http://schemas.openxmlformats.org/drawingml/2006/main">
            <a:r>
              <a:t>Answer cue: No. Include measures relevant to its audience and decision.</a:t>
            </a:r>
          </a:p>
          <a:p xmlns:a="http://schemas.openxmlformats.org/drawingml/2006/main">
            <a:r>
              <a:t/>
            </a:r>
          </a:p>
          <a:p xmlns:a="http://schemas.openxmlformats.org/drawingml/2006/main">
            <a:r>
              <a:t>Q2: What makes two dashboards comparable?</a:t>
            </a:r>
          </a:p>
          <a:p xmlns:a="http://schemas.openxmlformats.org/drawingml/2006/main">
            <a:r>
              <a:t>Answer cue: Consistent definitions, population, period and filters, with known data refresh.</a:t>
            </a:r>
          </a:p>
          <a:p xmlns:a="http://schemas.openxmlformats.org/drawingml/2006/main">
            <a:r>
              <a:t/>
            </a:r>
          </a:p>
          <a:p xmlns:a="http://schemas.openxmlformats.org/drawingml/2006/main">
            <a:r>
              <a:t>Q3: Can I share a board-ready report with row-level records?</a:t>
            </a:r>
          </a:p>
          <a:p xmlns:a="http://schemas.openxmlformats.org/drawingml/2006/main">
            <a:r>
              <a:t>Answer cue: Use the approved access rules and minimum detail needed for the audience.</a:t>
            </a:r>
          </a:p>
          <a:p xmlns:a="http://schemas.openxmlformats.org/drawingml/2006/main">
            <a:r>
              <a:t/>
            </a:r>
          </a:p>
          <a:p xmlns:a="http://schemas.openxmlformats.org/drawingml/2006/main">
            <a:r>
              <a:t>Recap:</a:t>
            </a:r>
          </a:p>
          <a:p xmlns:a="http://schemas.openxmlformats.org/drawingml/2006/main">
            <a:r>
              <a:t>• Begin with the audience and decision.</a:t>
            </a:r>
          </a:p>
          <a:p xmlns:a="http://schemas.openxmlformats.org/drawingml/2006/main">
            <a:r>
              <a:t>• Define measures before drawing charts.</a:t>
            </a:r>
          </a:p>
          <a:p xmlns:a="http://schemas.openxmlformats.org/drawingml/2006/main">
            <a:r>
              <a:t>• Make filters, refresh and ownership visible.</a:t>
            </a:r>
          </a:p>
          <a:p xmlns:a="http://schemas.openxmlformats.org/drawingml/2006/main">
            <a:r>
              <a:t/>
            </a:r>
          </a:p>
          <a:p xmlns:a="http://schemas.openxmlformats.org/drawingml/2006/main">
            <a:r>
              <a:t>Allow learners to apply the same reasoning to another fictional example if the group needs more practice. Ask what they would do differently in their own role and address any remaining questions before moving forward.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 6.2 and proposal p. 8. Dashboard configuration should be confirmed with DWIHN.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S7 · Weeks 4–5 · Module 6 · Lumenore: Service Gaps, Alerts &amp; Reports</a:t>
            </a:r>
          </a:p>
          <a:p xmlns:a="http://schemas.openxmlformats.org/drawingml/2006/main">
            <a:r>
              <a:t/>
            </a:r>
          </a:p>
          <a:p xmlns:a="http://schemas.openxmlformats.org/drawingml/2006/main">
            <a:r>
              <a:t>Open with this question and invite participants to connect it to their role before introducing the lesson.</a:t>
            </a:r>
          </a:p>
          <a:p xmlns:a="http://schemas.openxmlformats.org/drawingml/2006/main">
            <a:r>
              <a:t/>
            </a:r>
          </a:p>
          <a:p xmlns:a="http://schemas.openxmlformats.org/drawingml/2006/main">
            <a:r>
              <a:t>Opening question: A map shows fewer completed services in one ZIP code. What else would you need before deciding what that means?</a:t>
            </a:r>
          </a:p>
          <a:p xmlns:a="http://schemas.openxmlformats.org/drawingml/2006/main">
            <a:r>
              <a:t/>
            </a:r>
          </a:p>
          <a:p xmlns:a="http://schemas.openxmlformats.org/drawingml/2006/main">
            <a:r>
              <a:t>Explain the goal in plain language, review each outcome, then ask learners where they expect the hardest judgment call to occur. Use a fictional example if no approved work example is available.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topics 6.3–6.4 and proposal p. 8. Geographic and alert examples are hypothetical.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S7 · Weeks 4–5 · Module 6 · Lumenore: Service Gaps, Alerts &amp; Reports</a:t>
            </a:r>
          </a:p>
          <a:p xmlns:a="http://schemas.openxmlformats.org/drawingml/2006/main">
            <a:r>
              <a:t/>
            </a:r>
          </a:p>
          <a:p xmlns:a="http://schemas.openxmlformats.org/drawingml/2006/main">
            <a:r>
              <a:t>Teach the four ideas separately. After each, ask a learner to restate the idea and give a role-specific example. Correct the distinction between what a system can generate and what a person is authorized to decide.</a:t>
            </a:r>
          </a:p>
          <a:p xmlns:a="http://schemas.openxmlformats.org/drawingml/2006/main">
            <a:r>
              <a:t/>
            </a:r>
          </a:p>
          <a:p xmlns:a="http://schemas.openxmlformats.org/drawingml/2006/main">
            <a:r>
              <a:t>1. Maps show recorded patterns: A geographic difference may reflect access, population size, service availability, data capture or other factors. The map identifies a place to investigate; by itself it does not establish the reason.</a:t>
            </a:r>
          </a:p>
          <a:p xmlns:a="http://schemas.openxmlformats.org/drawingml/2006/main">
            <a:r>
              <a:t>2. Use denominators and context: Compare rates only when population definitions and time periods are appropriate. Small counts can fluctuate substantially and may require additional privacy protection or aggregation.</a:t>
            </a:r>
          </a:p>
          <a:p xmlns:a="http://schemas.openxmlformats.org/drawingml/2006/main">
            <a:r>
              <a:t>3. Alerts need a response plan: An alert should specify the measure, threshold, period, owner and follow-up route. If nobody reviews it or knows what to do, it becomes noise rather than a control.</a:t>
            </a:r>
          </a:p>
          <a:p xmlns:a="http://schemas.openxmlformats.org/drawingml/2006/main">
            <a:r>
              <a:t>4. Reports need a reader’s context: A board report should state the measure, date, relevant comparison and limitation in plain language. Preserve supporting detail for traceability and follow DWIHN sharing rules.</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topics 6.3–6.4 and proposal p. 8. Geographic and alert examples are hypothetical.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S7 · Weeks 4–5 · Module 6 · Lumenore: Service Gaps, Alerts &amp; Reports</a:t>
            </a:r>
          </a:p>
          <a:p xmlns:a="http://schemas.openxmlformats.org/drawingml/2006/main">
            <a:r>
              <a:t/>
            </a:r>
          </a:p>
          <a:p xmlns:a="http://schemas.openxmlformats.org/drawingml/2006/main">
            <a:r>
              <a:t>Walk through each stage and make the decision visible: what question is being asked, what source is being checked and when a person takes responsibility. Ask participants to predict the next step before revealing it.</a:t>
            </a:r>
          </a:p>
          <a:p xmlns:a="http://schemas.openxmlformats.org/drawingml/2006/main">
            <a:r>
              <a:t/>
            </a:r>
          </a:p>
          <a:p xmlns:a="http://schemas.openxmlformats.org/drawingml/2006/main">
            <a:r>
              <a:t>1. Read the map legend: Check measure, geography, period, count or rate, suppression and filter.</a:t>
            </a:r>
          </a:p>
          <a:p xmlns:a="http://schemas.openxmlformats.org/drawingml/2006/main">
            <a:r>
              <a:t>2. Identify the pattern: Describe only what varies on the view, without assigning a cause.</a:t>
            </a:r>
          </a:p>
          <a:p xmlns:a="http://schemas.openxmlformats.org/drawingml/2006/main">
            <a:r>
              <a:t>3. Define an alert: Set a meaningful threshold and identify a named role for review and response.</a:t>
            </a:r>
          </a:p>
          <a:p xmlns:a="http://schemas.openxmlformats.org/drawingml/2006/main">
            <a:r>
              <a:t>4. Prepare a report: State the question, observation, limitation and proposed next inquiry.</a:t>
            </a:r>
          </a:p>
          <a:p xmlns:a="http://schemas.openxmlformats.org/drawingml/2006/main">
            <a:r>
              <a:t/>
            </a:r>
          </a:p>
          <a:p xmlns:a="http://schemas.openxmlformats.org/drawingml/2006/main">
            <a:r>
              <a:t>Worked example: Illustrative example: one area has a lower recorded completion rate. The team checks population, referral volume, eligibility definitions and data coverage before discussing causes. A proposed alert routes a sustained change to the program owner for review; it does not automatically change an individual’s service.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topics 6.3–6.4 and proposal p. 8. Geographic and alert examples are hypothetical.</a:t>
            </a:r>
          </a:p>
          <a:p xmlns:a="http://schemas.openxmlformats.org/drawingml/2006/main">
            <a:r>
              <a:t/>
            </a:r>
          </a:p>
          <a:p xmlns:a="http://schemas.openxmlformats.org/drawingml/2006/main">
            <a:r>
              <a:t>Any photograph in the lesson section comes from the proposal and is not a DWIHN session or product 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S7 · Weeks 4–5 · Module 6 · Lumenore: Service Gaps, Alerts &amp; Reports</a:t>
            </a:r>
          </a:p>
          <a:p xmlns:a="http://schemas.openxmlformats.org/drawingml/2006/main">
            <a:r>
              <a:t/>
            </a:r>
          </a:p>
          <a:p xmlns:a="http://schemas.openxmlformats.org/drawingml/2006/main">
            <a:r>
              <a:t>Let learners attempt the scenario individually before comparing reasoning in pairs or groups. The scenario is hypothetical. Do not substitute real member, staff or vendor data.</a:t>
            </a:r>
          </a:p>
          <a:p xmlns:a="http://schemas.openxmlformats.org/drawingml/2006/main">
            <a:r>
              <a:t/>
            </a:r>
          </a:p>
          <a:p xmlns:a="http://schemas.openxmlformats.org/drawingml/2006/main">
            <a:r>
              <a:t>Scenario: A service-gap map and a KPI alert appear in the same review. The map uses counts while a leader interprets it as a rate. The alert threshold has no assigned owner.</a:t>
            </a:r>
          </a:p>
          <a:p xmlns:a="http://schemas.openxmlformats.org/drawingml/2006/main">
            <a:r>
              <a:t/>
            </a:r>
          </a:p>
          <a:p xmlns:a="http://schemas.openxmlformats.org/drawingml/2006/main">
            <a:r>
              <a:t>Exercise:</a:t>
            </a:r>
          </a:p>
          <a:p xmlns:a="http://schemas.openxmlformats.org/drawingml/2006/main">
            <a:r>
              <a:t>1. Annotate what the map does and does not establish.</a:t>
            </a:r>
          </a:p>
          <a:p xmlns:a="http://schemas.openxmlformats.org/drawingml/2006/main">
            <a:r>
              <a:t>2. Rewrite the interpretation using a comparable denominator and period.</a:t>
            </a:r>
          </a:p>
          <a:p xmlns:a="http://schemas.openxmlformats.org/drawingml/2006/main">
            <a:r>
              <a:t>3. Complete an alert card with threshold, review owner, action and escalation route.</a:t>
            </a:r>
          </a:p>
          <a:p xmlns:a="http://schemas.openxmlformats.org/drawingml/2006/main">
            <a:r>
              <a:t/>
            </a:r>
          </a:p>
          <a:p xmlns:a="http://schemas.openxmlformats.org/drawingml/2006/main">
            <a:r>
              <a:t>Expected deliverable: A one-page service-gap review note and alert specification using simulated data.</a:t>
            </a:r>
          </a:p>
          <a:p xmlns:a="http://schemas.openxmlformats.org/drawingml/2006/main">
            <a:r>
              <a:t/>
            </a:r>
          </a:p>
          <a:p xmlns:a="http://schemas.openxmlformats.org/drawingml/2006/main">
            <a:r>
              <a:t>Debrief against these criteria:</a:t>
            </a:r>
          </a:p>
          <a:p xmlns:a="http://schemas.openxmlformats.org/drawingml/2006/main">
            <a:r>
              <a:t>• The learner distinguishes counts from rates.</a:t>
            </a:r>
          </a:p>
          <a:p xmlns:a="http://schemas.openxmlformats.org/drawingml/2006/main">
            <a:r>
              <a:t>• No cause is assigned without supporting evidence.</a:t>
            </a:r>
          </a:p>
          <a:p xmlns:a="http://schemas.openxmlformats.org/drawingml/2006/main">
            <a:r>
              <a:t>• The alert has an owner and a proportionate follow-up action.</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topics 6.3–6.4 and proposal p. 8. Geographic and alert examples are hypothetical.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S7 · Weeks 4–5 · Module 6 · Lumenore: Service Gaps, Alerts &amp; Reports</a:t>
            </a:r>
          </a:p>
          <a:p xmlns:a="http://schemas.openxmlformats.org/drawingml/2006/main">
            <a:r>
              <a:t/>
            </a:r>
          </a:p>
          <a:p xmlns:a="http://schemas.openxmlformats.org/drawingml/2006/main">
            <a:r>
              <a:t>Close with open Q&amp;A. Acknowledge when a question is outside the supplied policy or system details and capture an owner for follow-up.</a:t>
            </a:r>
          </a:p>
          <a:p xmlns:a="http://schemas.openxmlformats.org/drawingml/2006/main">
            <a:r>
              <a:t/>
            </a:r>
          </a:p>
          <a:p xmlns:a="http://schemas.openxmlformats.org/drawingml/2006/main">
            <a:r>
              <a:t>Questions and suggested responses:</a:t>
            </a:r>
          </a:p>
          <a:p xmlns:a="http://schemas.openxmlformats.org/drawingml/2006/main">
            <a:r>
              <a:t>Q1: Does a map identify underserved people?</a:t>
            </a:r>
          </a:p>
          <a:p xmlns:a="http://schemas.openxmlformats.org/drawingml/2006/main">
            <a:r>
              <a:t>Answer cue: Not on its own. It shows an aggregate pattern whose meaning needs further evidence and policy review.</a:t>
            </a:r>
          </a:p>
          <a:p xmlns:a="http://schemas.openxmlformats.org/drawingml/2006/main">
            <a:r>
              <a:t/>
            </a:r>
          </a:p>
          <a:p xmlns:a="http://schemas.openxmlformats.org/drawingml/2006/main">
            <a:r>
              <a:t>Q2: Should every movement trigger an alert?</a:t>
            </a:r>
          </a:p>
          <a:p xmlns:a="http://schemas.openxmlformats.org/drawingml/2006/main">
            <a:r>
              <a:t>Answer cue: No. Choose a threshold that is meaningful, reviewable and supported by the measure’s normal variation.</a:t>
            </a:r>
          </a:p>
          <a:p xmlns:a="http://schemas.openxmlformats.org/drawingml/2006/main">
            <a:r>
              <a:t/>
            </a:r>
          </a:p>
          <a:p xmlns:a="http://schemas.openxmlformats.org/drawingml/2006/main">
            <a:r>
              <a:t>Q3: What belongs on an exported report?</a:t>
            </a:r>
          </a:p>
          <a:p xmlns:a="http://schemas.openxmlformats.org/drawingml/2006/main">
            <a:r>
              <a:t>Answer cue: The intended question, definitions, period, filters, data status and limitations required by the audience.</a:t>
            </a:r>
          </a:p>
          <a:p xmlns:a="http://schemas.openxmlformats.org/drawingml/2006/main">
            <a:r>
              <a:t/>
            </a:r>
          </a:p>
          <a:p xmlns:a="http://schemas.openxmlformats.org/drawingml/2006/main">
            <a:r>
              <a:t>Recap:</a:t>
            </a:r>
          </a:p>
          <a:p xmlns:a="http://schemas.openxmlformats.org/drawingml/2006/main">
            <a:r>
              <a:t>• Use geography to ask better questions.</a:t>
            </a:r>
          </a:p>
          <a:p xmlns:a="http://schemas.openxmlformats.org/drawingml/2006/main">
            <a:r>
              <a:t>• Check population, rate and period before comparing.</a:t>
            </a:r>
          </a:p>
          <a:p xmlns:a="http://schemas.openxmlformats.org/drawingml/2006/main">
            <a:r>
              <a:t>• Every alert needs an owner and response path.</a:t>
            </a:r>
          </a:p>
          <a:p xmlns:a="http://schemas.openxmlformats.org/drawingml/2006/main">
            <a:r>
              <a:t/>
            </a:r>
          </a:p>
          <a:p xmlns:a="http://schemas.openxmlformats.org/drawingml/2006/main">
            <a:r>
              <a:t>Allow learners to apply the same reasoning to another fictional example if the group needs more practice. Ask what they would do differently in their own role and address any remaining questions before moving forward.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topics 6.3–6.4 and proposal p. 8. Geographic and alert examples are hypothetical.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S8 · Week 6 · Module 7 · Genesys AI in the Call Center</a:t>
            </a:r>
          </a:p>
          <a:p xmlns:a="http://schemas.openxmlformats.org/drawingml/2006/main">
            <a:r>
              <a:t/>
            </a:r>
          </a:p>
          <a:p xmlns:a="http://schemas.openxmlformats.org/drawingml/2006/main">
            <a:r>
              <a:t>Open with this question and invite participants to connect it to their role before introducing the lesson.</a:t>
            </a:r>
          </a:p>
          <a:p xmlns:a="http://schemas.openxmlformats.org/drawingml/2006/main">
            <a:r>
              <a:t/>
            </a:r>
          </a:p>
          <a:p xmlns:a="http://schemas.openxmlformats.org/drawingml/2006/main">
            <a:r>
              <a:t>Opening question: If a call summary sounds complete, what could still be missing from the actual interaction?</a:t>
            </a:r>
          </a:p>
          <a:p xmlns:a="http://schemas.openxmlformats.org/drawingml/2006/main">
            <a:r>
              <a:t/>
            </a:r>
          </a:p>
          <a:p xmlns:a="http://schemas.openxmlformats.org/drawingml/2006/main">
            <a:r>
              <a:t>Explain the goal in plain language, review each outcome, then ask learners where they expect the hardest judgment call to occur. Use a fictional example if no approved work example is available.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7 and proposal p. 8. Proposal feature list is not confirmation of current DWIHN configuration.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S8 · Week 6 · Module 7 · Genesys AI in the Call Center</a:t>
            </a:r>
          </a:p>
          <a:p xmlns:a="http://schemas.openxmlformats.org/drawingml/2006/main">
            <a:r>
              <a:t/>
            </a:r>
          </a:p>
          <a:p xmlns:a="http://schemas.openxmlformats.org/drawingml/2006/main">
            <a:r>
              <a:t>Teach the four ideas separately. After each, ask a learner to restate the idea and give a role-specific example. Correct the distinction between what a system can generate and what a person is authorized to decide.</a:t>
            </a:r>
          </a:p>
          <a:p xmlns:a="http://schemas.openxmlformats.org/drawingml/2006/main">
            <a:r>
              <a:t/>
            </a:r>
          </a:p>
          <a:p xmlns:a="http://schemas.openxmlformats.org/drawingml/2006/main">
            <a:r>
              <a:t>1. Agent suggestions are prompts to notice: A suggestion may highlight a topic or next step. The agent listens to the person, checks policy and confirms whether the suggestion fits the actual situation.</a:t>
            </a:r>
          </a:p>
          <a:p xmlns:a="http://schemas.openxmlformats.org/drawingml/2006/main">
            <a:r>
              <a:t>2. Summaries are draft records: An automatic summary can mishear a name, reverse who agreed to act or omit an important qualification. The responsible agent checks accuracy before saving the final record.</a:t>
            </a:r>
          </a:p>
          <a:p xmlns:a="http://schemas.openxmlformats.org/drawingml/2006/main">
            <a:r>
              <a:t>3. Sentiment is an imperfect signal: A system-generated cue is not a diagnosis and cannot explain why a person feels a certain way. Use it as one prompt for attentive, respectful service.</a:t>
            </a:r>
          </a:p>
          <a:p xmlns:a="http://schemas.openxmlformats.org/drawingml/2006/main">
            <a:r>
              <a:t>4. Routing must preserve a fallback: Predictive routing or a knowledge-base suggestion can support workflow only as configured. Agents need a clear path when it routes poorly or the knowledge content does not answer the question.</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7 and proposal p. 8. Proposal feature list is not confirmation of current DWIHN configuration.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S8 · Week 6 · Module 7 · Genesys AI in the Call Center</a:t>
            </a:r>
          </a:p>
          <a:p xmlns:a="http://schemas.openxmlformats.org/drawingml/2006/main">
            <a:r>
              <a:t/>
            </a:r>
          </a:p>
          <a:p xmlns:a="http://schemas.openxmlformats.org/drawingml/2006/main">
            <a:r>
              <a:t>Walk through each stage and make the decision visible: what question is being asked, what source is being checked and when a person takes responsibility. Ask participants to predict the next step before revealing it.</a:t>
            </a:r>
          </a:p>
          <a:p xmlns:a="http://schemas.openxmlformats.org/drawingml/2006/main">
            <a:r>
              <a:t/>
            </a:r>
          </a:p>
          <a:p xmlns:a="http://schemas.openxmlformats.org/drawingml/2006/main">
            <a:r>
              <a:t>1. Confirm the feature: Show only the AI feature DWIHN has enabled, licensed and approved.</a:t>
            </a:r>
          </a:p>
          <a:p xmlns:a="http://schemas.openxmlformats.org/drawingml/2006/main">
            <a:r>
              <a:t>2. Compare source and output: Use a fictional interaction and identify names, commitments, concerns and missing context.</a:t>
            </a:r>
          </a:p>
          <a:p xmlns:a="http://schemas.openxmlformats.org/drawingml/2006/main">
            <a:r>
              <a:t>3. Correct the draft: Edit unsupported or misheard details and distinguish the member’s statement from the agent’s interpretation.</a:t>
            </a:r>
          </a:p>
          <a:p xmlns:a="http://schemas.openxmlformats.org/drawingml/2006/main">
            <a:r>
              <a:t>4. Close the loop: Follow the approved save, correction or escalation route and note what a human decided.</a:t>
            </a:r>
          </a:p>
          <a:p xmlns:a="http://schemas.openxmlformats.org/drawingml/2006/main">
            <a:r>
              <a:t/>
            </a:r>
          </a:p>
          <a:p xmlns:a="http://schemas.openxmlformats.org/drawingml/2006/main">
            <a:r>
              <a:t>Worked example: Hypothetical example: a mock call transcript says a member asked whether a referral had been received. The generated summary says the referral was approved. The agent corrects the summary, retains the original question and follows the approved status-check workflow.</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7 and proposal p. 8. Proposal feature list is not confirmation of current DWIHN configuration.</a:t>
            </a:r>
          </a:p>
          <a:p xmlns:a="http://schemas.openxmlformats.org/drawingml/2006/main">
            <a:r>
              <a:t/>
            </a:r>
          </a:p>
          <a:p xmlns:a="http://schemas.openxmlformats.org/drawingml/2006/main">
            <a:r>
              <a:t>Any photograph in the lesson section comes from the proposal and is not a DWIHN session or product 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S8 · Week 6 · Module 7 · Genesys AI in the Call Center</a:t>
            </a:r>
          </a:p>
          <a:p xmlns:a="http://schemas.openxmlformats.org/drawingml/2006/main">
            <a:r>
              <a:t/>
            </a:r>
          </a:p>
          <a:p xmlns:a="http://schemas.openxmlformats.org/drawingml/2006/main">
            <a:r>
              <a:t>Let learners attempt the scenario individually before comparing reasoning in pairs or groups. The scenario is hypothetical. Do not substitute real member, staff or vendor data.</a:t>
            </a:r>
          </a:p>
          <a:p xmlns:a="http://schemas.openxmlformats.org/drawingml/2006/main">
            <a:r>
              <a:t/>
            </a:r>
          </a:p>
          <a:p xmlns:a="http://schemas.openxmlformats.org/drawingml/2006/main">
            <a:r>
              <a:t>Scenario: During a simulated call, an AI cue suggests a transfer and generates a brief summary. The caller’s concern has two parts, but the summary captures only the first and overstates the outcome.</a:t>
            </a:r>
          </a:p>
          <a:p xmlns:a="http://schemas.openxmlformats.org/drawingml/2006/main">
            <a:r>
              <a:t/>
            </a:r>
          </a:p>
          <a:p xmlns:a="http://schemas.openxmlformats.org/drawingml/2006/main">
            <a:r>
              <a:t>Exercise:</a:t>
            </a:r>
          </a:p>
          <a:p xmlns:a="http://schemas.openxmlformats.org/drawingml/2006/main">
            <a:r>
              <a:t>1. Role-play the caller, agent and observer using fictional details.</a:t>
            </a:r>
          </a:p>
          <a:p xmlns:a="http://schemas.openxmlformats.org/drawingml/2006/main">
            <a:r>
              <a:t>2. Identify where the AI suggestion helps and where active listening matters.</a:t>
            </a:r>
          </a:p>
          <a:p xmlns:a="http://schemas.openxmlformats.org/drawingml/2006/main">
            <a:r>
              <a:t>3. Correct the summary and state the safe follow-up or transfer decision.</a:t>
            </a:r>
          </a:p>
          <a:p xmlns:a="http://schemas.openxmlformats.org/drawingml/2006/main">
            <a:r>
              <a:t/>
            </a:r>
          </a:p>
          <a:p xmlns:a="http://schemas.openxmlformats.org/drawingml/2006/main">
            <a:r>
              <a:t>Expected deliverable: A corrected call summary plus an observer checklist for accuracy, empathy and policy fit.</a:t>
            </a:r>
          </a:p>
          <a:p xmlns:a="http://schemas.openxmlformats.org/drawingml/2006/main">
            <a:r>
              <a:t/>
            </a:r>
          </a:p>
          <a:p xmlns:a="http://schemas.openxmlformats.org/drawingml/2006/main">
            <a:r>
              <a:t>Debrief against these criteria:</a:t>
            </a:r>
          </a:p>
          <a:p xmlns:a="http://schemas.openxmlformats.org/drawingml/2006/main">
            <a:r>
              <a:t>• The summary matches the source interaction.</a:t>
            </a:r>
          </a:p>
          <a:p xmlns:a="http://schemas.openxmlformats.org/drawingml/2006/main">
            <a:r>
              <a:t>• A signal is not treated as a diagnosis or final decision.</a:t>
            </a:r>
          </a:p>
          <a:p xmlns:a="http://schemas.openxmlformats.org/drawingml/2006/main">
            <a:r>
              <a:t>• The agent uses the configured correction or escalation route.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7 and proposal p. 8. Proposal feature list is not confirmation of current DWIHN configuration.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S8 · Week 6 · Module 7 · Genesys AI in the Call Center</a:t>
            </a:r>
          </a:p>
          <a:p xmlns:a="http://schemas.openxmlformats.org/drawingml/2006/main">
            <a:r>
              <a:t/>
            </a:r>
          </a:p>
          <a:p xmlns:a="http://schemas.openxmlformats.org/drawingml/2006/main">
            <a:r>
              <a:t>Close with open Q&amp;A. Acknowledge when a question is outside the supplied policy or system details and capture an owner for follow-up.</a:t>
            </a:r>
          </a:p>
          <a:p xmlns:a="http://schemas.openxmlformats.org/drawingml/2006/main">
            <a:r>
              <a:t/>
            </a:r>
          </a:p>
          <a:p xmlns:a="http://schemas.openxmlformats.org/drawingml/2006/main">
            <a:r>
              <a:t>Questions and suggested responses:</a:t>
            </a:r>
          </a:p>
          <a:p xmlns:a="http://schemas.openxmlformats.org/drawingml/2006/main">
            <a:r>
              <a:t>Q1: Is a sentiment score the person’s true emotion?</a:t>
            </a:r>
          </a:p>
          <a:p xmlns:a="http://schemas.openxmlformats.org/drawingml/2006/main">
            <a:r>
              <a:t>Answer cue: No. It is a system signal that can be wrong and must not replace listening.</a:t>
            </a:r>
          </a:p>
          <a:p xmlns:a="http://schemas.openxmlformats.org/drawingml/2006/main">
            <a:r>
              <a:t/>
            </a:r>
          </a:p>
          <a:p xmlns:a="http://schemas.openxmlformats.org/drawingml/2006/main">
            <a:r>
              <a:t>Q2: Does a generated summary remove agent responsibility?</a:t>
            </a:r>
          </a:p>
          <a:p xmlns:a="http://schemas.openxmlformats.org/drawingml/2006/main">
            <a:r>
              <a:t>Answer cue: No. The agent remains accountable for the record and required workflow.</a:t>
            </a:r>
          </a:p>
          <a:p xmlns:a="http://schemas.openxmlformats.org/drawingml/2006/main">
            <a:r>
              <a:t/>
            </a:r>
          </a:p>
          <a:p xmlns:a="http://schemas.openxmlformats.org/drawingml/2006/main">
            <a:r>
              <a:t>Q3: Are all proposal features enabled at DWIHN?</a:t>
            </a:r>
          </a:p>
          <a:p xmlns:a="http://schemas.openxmlformats.org/drawingml/2006/main">
            <a:r>
              <a:t>Answer cue: The proposal says features are active, but confirm each capability, license and permitted use with DWIHN before delivery.</a:t>
            </a:r>
          </a:p>
          <a:p xmlns:a="http://schemas.openxmlformats.org/drawingml/2006/main">
            <a:r>
              <a:t/>
            </a:r>
          </a:p>
          <a:p xmlns:a="http://schemas.openxmlformats.org/drawingml/2006/main">
            <a:r>
              <a:t>Recap:</a:t>
            </a:r>
          </a:p>
          <a:p xmlns:a="http://schemas.openxmlformats.org/drawingml/2006/main">
            <a:r>
              <a:t>• Verify generated notes against the interaction.</a:t>
            </a:r>
          </a:p>
          <a:p xmlns:a="http://schemas.openxmlformats.org/drawingml/2006/main">
            <a:r>
              <a:t>• Treat signals as prompts, not judgments.</a:t>
            </a:r>
          </a:p>
          <a:p xmlns:a="http://schemas.openxmlformats.org/drawingml/2006/main">
            <a:r>
              <a:t>• Confirm local Genesys configuration and fallback routes.</a:t>
            </a:r>
          </a:p>
          <a:p xmlns:a="http://schemas.openxmlformats.org/drawingml/2006/main">
            <a:r>
              <a:t/>
            </a:r>
          </a:p>
          <a:p xmlns:a="http://schemas.openxmlformats.org/drawingml/2006/main">
            <a:r>
              <a:t>Allow learners to apply the same reasoning to another fictional example if the group needs more practice. Ask what they would do differently in their own role and address any remaining questions before moving forward.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7 and proposal p. 8. Proposal feature list is not confirmation of current DWIHN configuration.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S9 · Week 7 · Module 8 · Objective Decisions with Data: Read the Evidence</a:t>
            </a:r>
          </a:p>
          <a:p xmlns:a="http://schemas.openxmlformats.org/drawingml/2006/main">
            <a:r>
              <a:t/>
            </a:r>
          </a:p>
          <a:p xmlns:a="http://schemas.openxmlformats.org/drawingml/2006/main">
            <a:r>
              <a:t>Open with this question and invite participants to connect it to their role before introducing the lesson.</a:t>
            </a:r>
          </a:p>
          <a:p xmlns:a="http://schemas.openxmlformats.org/drawingml/2006/main">
            <a:r>
              <a:t/>
            </a:r>
          </a:p>
          <a:p xmlns:a="http://schemas.openxmlformats.org/drawingml/2006/main">
            <a:r>
              <a:t>Opening question: Two teams report different totals in the same meeting. What should the group compare before choosing a number?</a:t>
            </a:r>
          </a:p>
          <a:p xmlns:a="http://schemas.openxmlformats.org/drawingml/2006/main">
            <a:r>
              <a:t/>
            </a:r>
          </a:p>
          <a:p xmlns:a="http://schemas.openxmlformats.org/drawingml/2006/main">
            <a:r>
              <a:t>Explain the goal in plain language, review each outcome, then ask learners where they expect the hardest judgment call to occur. Use a fictional example if no approved work example is available.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8 topic 8.1–8.2 and proposal p. 9. Chart values are invented solely for instruction and are not DWIHN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S9 · Week 7 · Module 8 · Objective Decisions with Data: Read the Evidence</a:t>
            </a:r>
          </a:p>
          <a:p xmlns:a="http://schemas.openxmlformats.org/drawingml/2006/main">
            <a:r>
              <a:t/>
            </a:r>
          </a:p>
          <a:p xmlns:a="http://schemas.openxmlformats.org/drawingml/2006/main">
            <a:r>
              <a:t>Teach the four ideas separately. After each, ask a learner to restate the idea and give a role-specific example. Correct the distinction between what a system can generate and what a person is authorized to decide.</a:t>
            </a:r>
          </a:p>
          <a:p xmlns:a="http://schemas.openxmlformats.org/drawingml/2006/main">
            <a:r>
              <a:t/>
            </a:r>
          </a:p>
          <a:p xmlns:a="http://schemas.openxmlformats.org/drawingml/2006/main">
            <a:r>
              <a:t>1. One view needs one definition: A shared source of truth is useful only when the team understands its measure definitions and refresh state. A dashboard is not automatically authoritative simply because it is visual.</a:t>
            </a:r>
          </a:p>
          <a:p xmlns:a="http://schemas.openxmlformats.org/drawingml/2006/main">
            <a:r>
              <a:t>2. Read axes and denominators: Check what the chart counts, how the value is calculated, which population is included and whether the axis begins at zero. Rate and count tell different stories.</a:t>
            </a:r>
          </a:p>
          <a:p xmlns:a="http://schemas.openxmlformats.org/drawingml/2006/main">
            <a:r>
              <a:t>3. Describe before explaining: State the direction, size and period of a visible change. Keep a separate list of possible reasons; the chart alone may not show why the change happened.</a:t>
            </a:r>
          </a:p>
          <a:p xmlns:a="http://schemas.openxmlformats.org/drawingml/2006/main">
            <a:r>
              <a:t>4. Make uncertainty actionable: Name missing data, changed definitions and small sample sizes. Turn those limits into a question for the owner or analyst rather than hiding them in a footnote.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8 topic 8.1–8.2 and proposal p. 9. Chart values are invented solely for instruction and are not DWIHN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S9 · Week 7 · Module 8 · Objective Decisions with Data: Read the Evidence</a:t>
            </a:r>
          </a:p>
          <a:p xmlns:a="http://schemas.openxmlformats.org/drawingml/2006/main">
            <a:r>
              <a:t/>
            </a:r>
          </a:p>
          <a:p xmlns:a="http://schemas.openxmlformats.org/drawingml/2006/main">
            <a:r>
              <a:t>Walk through each stage and make the decision visible: what question is being asked, what source is being checked and when a person takes responsibility. Ask participants to predict the next step before revealing it.</a:t>
            </a:r>
          </a:p>
          <a:p xmlns:a="http://schemas.openxmlformats.org/drawingml/2006/main">
            <a:r>
              <a:t/>
            </a:r>
          </a:p>
          <a:p xmlns:a="http://schemas.openxmlformats.org/drawingml/2006/main">
            <a:r>
              <a:t>1. Confirm the data source: Read the dashboard owner, measure definition, period and latest refresh.</a:t>
            </a:r>
          </a:p>
          <a:p xmlns:a="http://schemas.openxmlformats.org/drawingml/2006/main">
            <a:r>
              <a:t>2. Describe the displayed movement: Compare the same population and measure across periods.</a:t>
            </a:r>
          </a:p>
          <a:p xmlns:a="http://schemas.openxmlformats.org/drawingml/2006/main">
            <a:r>
              <a:t>3. Check whether the comparison is fair: Look for missing values, changed definitions, volume changes or a different denominator.</a:t>
            </a:r>
          </a:p>
          <a:p xmlns:a="http://schemas.openxmlformats.org/drawingml/2006/main">
            <a:r>
              <a:t>4. Present a careful finding: Say what changed, what is unknown and what evidence would help explain it.</a:t>
            </a:r>
          </a:p>
          <a:p xmlns:a="http://schemas.openxmlformats.org/drawingml/2006/main">
            <a:r>
              <a:t/>
            </a:r>
          </a:p>
          <a:p xmlns:a="http://schemas.openxmlformats.org/drawingml/2006/main">
            <a:r>
              <a:t>Worked example: Illustrative, invented data for teaching only: a completion measure is 72%, 75%, 73% and 81% across four quarters. A careful statement is “The recorded rate increased in the fourth quarter in this example.” The sequence alone does not show what caused the increase.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8 topic 8.1–8.2 and proposal p. 9. Chart values are invented solely for instruction and are not DWIHN data.</a:t>
            </a:r>
          </a:p>
          <a:p xmlns:a="http://schemas.openxmlformats.org/drawingml/2006/main">
            <a:r>
              <a:t/>
            </a:r>
          </a:p>
          <a:p xmlns:a="http://schemas.openxmlformats.org/drawingml/2006/main">
            <a:r>
              <a:t>Chart values are invented for instruction and are not DWIHN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S9 · Week 7 · Module 8 · Objective Decisions with Data: Read the Evidence</a:t>
            </a:r>
          </a:p>
          <a:p xmlns:a="http://schemas.openxmlformats.org/drawingml/2006/main">
            <a:r>
              <a:t/>
            </a:r>
          </a:p>
          <a:p xmlns:a="http://schemas.openxmlformats.org/drawingml/2006/main">
            <a:r>
              <a:t>Let learners attempt the scenario individually before comparing reasoning in pairs or groups. The scenario is hypothetical. Do not substitute real member, staff or vendor data.</a:t>
            </a:r>
          </a:p>
          <a:p xmlns:a="http://schemas.openxmlformats.org/drawingml/2006/main">
            <a:r>
              <a:t/>
            </a:r>
          </a:p>
          <a:p xmlns:a="http://schemas.openxmlformats.org/drawingml/2006/main">
            <a:r>
              <a:t>Scenario: A dashboard shows a rise over the final period. The measure was renamed halfway through the year and one group has fewer records. A manager wants to call the trend proof that a new process worked.</a:t>
            </a:r>
          </a:p>
          <a:p xmlns:a="http://schemas.openxmlformats.org/drawingml/2006/main">
            <a:r>
              <a:t/>
            </a:r>
          </a:p>
          <a:p xmlns:a="http://schemas.openxmlformats.org/drawingml/2006/main">
            <a:r>
              <a:t>Exercise:</a:t>
            </a:r>
          </a:p>
          <a:p xmlns:a="http://schemas.openxmlformats.org/drawingml/2006/main">
            <a:r>
              <a:t>1. Confirm whether the measure stayed comparable across periods.</a:t>
            </a:r>
          </a:p>
          <a:p xmlns:a="http://schemas.openxmlformats.org/drawingml/2006/main">
            <a:r>
              <a:t>2. Write one supported observation and two unanswered questions.</a:t>
            </a:r>
          </a:p>
          <a:p xmlns:a="http://schemas.openxmlformats.org/drawingml/2006/main">
            <a:r>
              <a:t>3. Prepare a brief meeting statement that includes the limitation.</a:t>
            </a:r>
          </a:p>
          <a:p xmlns:a="http://schemas.openxmlformats.org/drawingml/2006/main">
            <a:r>
              <a:t/>
            </a:r>
          </a:p>
          <a:p xmlns:a="http://schemas.openxmlformats.org/drawingml/2006/main">
            <a:r>
              <a:t>Expected deliverable: A source note and a one-paragraph evidence summary using the simulated example.</a:t>
            </a:r>
          </a:p>
          <a:p xmlns:a="http://schemas.openxmlformats.org/drawingml/2006/main">
            <a:r>
              <a:t/>
            </a:r>
          </a:p>
          <a:p xmlns:a="http://schemas.openxmlformats.org/drawingml/2006/main">
            <a:r>
              <a:t>Debrief against these criteria:</a:t>
            </a:r>
          </a:p>
          <a:p xmlns:a="http://schemas.openxmlformats.org/drawingml/2006/main">
            <a:r>
              <a:t>• Measure, period and population are stated.</a:t>
            </a:r>
          </a:p>
          <a:p xmlns:a="http://schemas.openxmlformats.org/drawingml/2006/main">
            <a:r>
              <a:t>• The learner separates observation from causal explanation.</a:t>
            </a:r>
          </a:p>
          <a:p xmlns:a="http://schemas.openxmlformats.org/drawingml/2006/main">
            <a:r>
              <a:t>• The limitation leads to a clear follow-up action.</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8 topic 8.1–8.2 and proposal p. 9. Chart values are invented solely for instruction and are not DWIHN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S9 · Week 7 · Module 8 · Objective Decisions with Data: Read the Evidence</a:t>
            </a:r>
          </a:p>
          <a:p xmlns:a="http://schemas.openxmlformats.org/drawingml/2006/main">
            <a:r>
              <a:t/>
            </a:r>
          </a:p>
          <a:p xmlns:a="http://schemas.openxmlformats.org/drawingml/2006/main">
            <a:r>
              <a:t>Close with open Q&amp;A. Acknowledge when a question is outside the supplied policy or system details and capture an owner for follow-up.</a:t>
            </a:r>
          </a:p>
          <a:p xmlns:a="http://schemas.openxmlformats.org/drawingml/2006/main">
            <a:r>
              <a:t/>
            </a:r>
          </a:p>
          <a:p xmlns:a="http://schemas.openxmlformats.org/drawingml/2006/main">
            <a:r>
              <a:t>Questions and suggested responses:</a:t>
            </a:r>
          </a:p>
          <a:p xmlns:a="http://schemas.openxmlformats.org/drawingml/2006/main">
            <a:r>
              <a:t>Q1: What if the dashboard and an emailed spreadsheet disagree?</a:t>
            </a:r>
          </a:p>
          <a:p xmlns:a="http://schemas.openxmlformats.org/drawingml/2006/main">
            <a:r>
              <a:t>Answer cue: Compare definitions, filters, refresh dates and ownership; do not select whichever number looks convenient.</a:t>
            </a:r>
          </a:p>
          <a:p xmlns:a="http://schemas.openxmlformats.org/drawingml/2006/main">
            <a:r>
              <a:t/>
            </a:r>
          </a:p>
          <a:p xmlns:a="http://schemas.openxmlformats.org/drawingml/2006/main">
            <a:r>
              <a:t>Q2: Can a rising trend prove a new policy worked?</a:t>
            </a:r>
          </a:p>
          <a:p xmlns:a="http://schemas.openxmlformats.org/drawingml/2006/main">
            <a:r>
              <a:t>Answer cue: No. It shows a change; causal evaluation needs an appropriate design and other evidence.</a:t>
            </a:r>
          </a:p>
          <a:p xmlns:a="http://schemas.openxmlformats.org/drawingml/2006/main">
            <a:r>
              <a:t/>
            </a:r>
          </a:p>
          <a:p xmlns:a="http://schemas.openxmlformats.org/drawingml/2006/main">
            <a:r>
              <a:t>Q3: Why mention sample size?</a:t>
            </a:r>
          </a:p>
          <a:p xmlns:a="http://schemas.openxmlformats.org/drawingml/2006/main">
            <a:r>
              <a:t>Answer cue: Small groups can produce unstable rates and may also create privacy concerns.</a:t>
            </a:r>
          </a:p>
          <a:p xmlns:a="http://schemas.openxmlformats.org/drawingml/2006/main">
            <a:r>
              <a:t/>
            </a:r>
          </a:p>
          <a:p xmlns:a="http://schemas.openxmlformats.org/drawingml/2006/main">
            <a:r>
              <a:t>Recap:</a:t>
            </a:r>
          </a:p>
          <a:p xmlns:a="http://schemas.openxmlformats.org/drawingml/2006/main">
            <a:r>
              <a:t>• Agree on one definition before debating a result.</a:t>
            </a:r>
          </a:p>
          <a:p xmlns:a="http://schemas.openxmlformats.org/drawingml/2006/main">
            <a:r>
              <a:t>• Describe the evidence without adding a cause.</a:t>
            </a:r>
          </a:p>
          <a:p xmlns:a="http://schemas.openxmlformats.org/drawingml/2006/main">
            <a:r>
              <a:t>• Make data limitations visible and actionable.</a:t>
            </a:r>
          </a:p>
          <a:p xmlns:a="http://schemas.openxmlformats.org/drawingml/2006/main">
            <a:r>
              <a:t/>
            </a:r>
          </a:p>
          <a:p xmlns:a="http://schemas.openxmlformats.org/drawingml/2006/main">
            <a:r>
              <a:t>Allow learners to apply the same reasoning to another fictional example if the group needs more practice. Ask what they would do differently in their own role and address any remaining questions before moving forward.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8 topic 8.1–8.2 and proposal p. 9. Chart values are invented solely for instruction and are not DWIHN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S10 · Week 7 · Module 8 · Objective Decisions with Data: Predict &amp; Act Carefully</a:t>
            </a:r>
          </a:p>
          <a:p xmlns:a="http://schemas.openxmlformats.org/drawingml/2006/main">
            <a:r>
              <a:t/>
            </a:r>
          </a:p>
          <a:p xmlns:a="http://schemas.openxmlformats.org/drawingml/2006/main">
            <a:r>
              <a:t>Open with this question and invite participants to connect it to their role before introducing the lesson.</a:t>
            </a:r>
          </a:p>
          <a:p xmlns:a="http://schemas.openxmlformats.org/drawingml/2006/main">
            <a:r>
              <a:t/>
            </a:r>
          </a:p>
          <a:p xmlns:a="http://schemas.openxmlformats.org/drawingml/2006/main">
            <a:r>
              <a:t>Opening question: If a risk indicator rises for a program, what is a proportionate first response before changing services?</a:t>
            </a:r>
          </a:p>
          <a:p xmlns:a="http://schemas.openxmlformats.org/drawingml/2006/main">
            <a:r>
              <a:t/>
            </a:r>
          </a:p>
          <a:p xmlns:a="http://schemas.openxmlformats.org/drawingml/2006/main">
            <a:r>
              <a:t>Explain the goal in plain language, review each outcome, then ask learners where they expect the hardest judgment call to occur. Use a fictional example if no approved work example is available.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8 topics 8.3–8.4 and proposal p. 9. Predictive use cases require DWIHN approval and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S10 · Week 7 · Module 8 · Objective Decisions with Data: Predict &amp; Act Carefully</a:t>
            </a:r>
          </a:p>
          <a:p xmlns:a="http://schemas.openxmlformats.org/drawingml/2006/main">
            <a:r>
              <a:t/>
            </a:r>
          </a:p>
          <a:p xmlns:a="http://schemas.openxmlformats.org/drawingml/2006/main">
            <a:r>
              <a:t>Teach the four ideas separately. After each, ask a learner to restate the idea and give a role-specific example. Correct the distinction between what a system can generate and what a person is authorized to decide.</a:t>
            </a:r>
          </a:p>
          <a:p xmlns:a="http://schemas.openxmlformats.org/drawingml/2006/main">
            <a:r>
              <a:t/>
            </a:r>
          </a:p>
          <a:p xmlns:a="http://schemas.openxmlformats.org/drawingml/2006/main">
            <a:r>
              <a:t>1. Predictions estimate, not promise: A predictive output estimates what may happen based on data and a model. It can be wrong, stale or less reliable for a group whose circumstances differ from its training data.</a:t>
            </a:r>
          </a:p>
          <a:p xmlns:a="http://schemas.openxmlformats.org/drawingml/2006/main">
            <a:r>
              <a:t>2. Errors have different costs: A false positive can create unnecessary contact or burden. A false negative can miss a chance to offer support. Teams should define acceptable use and review how each error affects people.</a:t>
            </a:r>
          </a:p>
          <a:p xmlns:a="http://schemas.openxmlformats.org/drawingml/2006/main">
            <a:r>
              <a:t>3. Signals require human review: A score may trigger a second look but should not silently deny, prioritize or change a person’s service. Follow the approved workflow and document the human decision where required.</a:t>
            </a:r>
          </a:p>
          <a:p xmlns:a="http://schemas.openxmlformats.org/drawingml/2006/main">
            <a:r>
              <a:t>4. Meetings should end with ownership: Agree the metric and question, review the evidence, record uncertainty, decide what action is authorized and assign an owner and due date for further investigation.</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8 topics 8.3–8.4 and proposal p. 9. Predictive use cases require DWIHN approval and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S10 · Week 7 · Module 8 · Objective Decisions with Data: Predict &amp; Act Carefully</a:t>
            </a:r>
          </a:p>
          <a:p xmlns:a="http://schemas.openxmlformats.org/drawingml/2006/main">
            <a:r>
              <a:t/>
            </a:r>
          </a:p>
          <a:p xmlns:a="http://schemas.openxmlformats.org/drawingml/2006/main">
            <a:r>
              <a:t>Walk through each stage and make the decision visible: what question is being asked, what source is being checked and when a person takes responsibility. Ask participants to predict the next step before revealing it.</a:t>
            </a:r>
          </a:p>
          <a:p xmlns:a="http://schemas.openxmlformats.org/drawingml/2006/main">
            <a:r>
              <a:t/>
            </a:r>
          </a:p>
          <a:p xmlns:a="http://schemas.openxmlformats.org/drawingml/2006/main">
            <a:r>
              <a:t>1. State the use case: Describe what action the prediction could influence and who may be affected.</a:t>
            </a:r>
          </a:p>
          <a:p xmlns:a="http://schemas.openxmlformats.org/drawingml/2006/main">
            <a:r>
              <a:t>2. Review performance context: Ask how recent the data is, what population was tested and how errors differ across groups.</a:t>
            </a:r>
          </a:p>
          <a:p xmlns:a="http://schemas.openxmlformats.org/drawingml/2006/main">
            <a:r>
              <a:t>3. Set a safe response: Use the signal to prompt an authorized review, not as the decision itself.</a:t>
            </a:r>
          </a:p>
          <a:p xmlns:a="http://schemas.openxmlformats.org/drawingml/2006/main">
            <a:r>
              <a:t>4. Record the meeting outcome: Document the evidence, remaining question, owner and approved follow-up.</a:t>
            </a:r>
          </a:p>
          <a:p xmlns:a="http://schemas.openxmlformats.org/drawingml/2006/main">
            <a:r>
              <a:t/>
            </a:r>
          </a:p>
          <a:p xmlns:a="http://schemas.openxmlformats.org/drawingml/2006/main">
            <a:r>
              <a:t>Worked example: Hypothetical example: an indicator suggests a higher chance of missed engagement. The team checks how the signal is defined, whether it is appropriate for this population and what supports are already available. A staff member decides whether an outreach review is warranted under policy; the score alone does not determine eligibility.</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8 topics 8.3–8.4 and proposal p. 9. Predictive use cases require DWIHN approval and evidence.</a:t>
            </a:r>
          </a:p>
          <a:p xmlns:a="http://schemas.openxmlformats.org/drawingml/2006/main">
            <a:r>
              <a:t/>
            </a:r>
          </a:p>
          <a:p xmlns:a="http://schemas.openxmlformats.org/drawingml/2006/main">
            <a:r>
              <a:t>Any photograph in the lesson section comes from the proposal and is not a DWIHN session or product 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S10 · Week 7 · Module 8 · Objective Decisions with Data: Predict &amp; Act Carefully</a:t>
            </a:r>
          </a:p>
          <a:p xmlns:a="http://schemas.openxmlformats.org/drawingml/2006/main">
            <a:r>
              <a:t/>
            </a:r>
          </a:p>
          <a:p xmlns:a="http://schemas.openxmlformats.org/drawingml/2006/main">
            <a:r>
              <a:t>Let learners attempt the scenario individually before comparing reasoning in pairs or groups. The scenario is hypothetical. Do not substitute real member, staff or vendor data.</a:t>
            </a:r>
          </a:p>
          <a:p xmlns:a="http://schemas.openxmlformats.org/drawingml/2006/main">
            <a:r>
              <a:t/>
            </a:r>
          </a:p>
          <a:p xmlns:a="http://schemas.openxmlformats.org/drawingml/2006/main">
            <a:r>
              <a:t>Scenario: A leader proposes assigning extra outreach only to people above a model threshold. The model’s recent performance by subgroup and the impact of false positives have not been reviewed.</a:t>
            </a:r>
          </a:p>
          <a:p xmlns:a="http://schemas.openxmlformats.org/drawingml/2006/main">
            <a:r>
              <a:t/>
            </a:r>
          </a:p>
          <a:p xmlns:a="http://schemas.openxmlformats.org/drawingml/2006/main">
            <a:r>
              <a:t>Exercise:</a:t>
            </a:r>
          </a:p>
          <a:p xmlns:a="http://schemas.openxmlformats.org/drawingml/2006/main">
            <a:r>
              <a:t>1. List data, validation, fairness and governance questions before launch.</a:t>
            </a:r>
          </a:p>
          <a:p xmlns:a="http://schemas.openxmlformats.org/drawingml/2006/main">
            <a:r>
              <a:t>2. Draft a human-review workflow with a safe fallback.</a:t>
            </a:r>
          </a:p>
          <a:p xmlns:a="http://schemas.openxmlformats.org/drawingml/2006/main">
            <a:r>
              <a:t>3. Run a mock data meeting and assign a follow-up owner for each unanswered question.</a:t>
            </a:r>
          </a:p>
          <a:p xmlns:a="http://schemas.openxmlformats.org/drawingml/2006/main">
            <a:r>
              <a:t/>
            </a:r>
          </a:p>
          <a:p xmlns:a="http://schemas.openxmlformats.org/drawingml/2006/main">
            <a:r>
              <a:t>Expected deliverable: A decision record stating the evidence, uncertainty, permitted action, reviewer and follow-up owner.</a:t>
            </a:r>
          </a:p>
          <a:p xmlns:a="http://schemas.openxmlformats.org/drawingml/2006/main">
            <a:r>
              <a:t/>
            </a:r>
          </a:p>
          <a:p xmlns:a="http://schemas.openxmlformats.org/drawingml/2006/main">
            <a:r>
              <a:t>Debrief against these criteria:</a:t>
            </a:r>
          </a:p>
          <a:p xmlns:a="http://schemas.openxmlformats.org/drawingml/2006/main">
            <a:r>
              <a:t>• The learner does not treat a score as certainty or eligibility.</a:t>
            </a:r>
          </a:p>
          <a:p xmlns:a="http://schemas.openxmlformats.org/drawingml/2006/main">
            <a:r>
              <a:t>• Potential disparate effects and error costs are raised.</a:t>
            </a:r>
          </a:p>
          <a:p xmlns:a="http://schemas.openxmlformats.org/drawingml/2006/main">
            <a:r>
              <a:t>• A human and an approved process own the next action.</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8 topics 8.3–8.4 and proposal p. 9. Predictive use cases require DWIHN approval and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S10 · Week 7 · Module 8 · Objective Decisions with Data: Predict &amp; Act Carefully</a:t>
            </a:r>
          </a:p>
          <a:p xmlns:a="http://schemas.openxmlformats.org/drawingml/2006/main">
            <a:r>
              <a:t/>
            </a:r>
          </a:p>
          <a:p xmlns:a="http://schemas.openxmlformats.org/drawingml/2006/main">
            <a:r>
              <a:t>Close with open Q&amp;A. Acknowledge when a question is outside the supplied policy or system details and capture an owner for follow-up.</a:t>
            </a:r>
          </a:p>
          <a:p xmlns:a="http://schemas.openxmlformats.org/drawingml/2006/main">
            <a:r>
              <a:t/>
            </a:r>
          </a:p>
          <a:p xmlns:a="http://schemas.openxmlformats.org/drawingml/2006/main">
            <a:r>
              <a:t>Questions and suggested responses:</a:t>
            </a:r>
          </a:p>
          <a:p xmlns:a="http://schemas.openxmlformats.org/drawingml/2006/main">
            <a:r>
              <a:t>Q1: Should an AI prediction automatically trigger a service change?</a:t>
            </a:r>
          </a:p>
          <a:p xmlns:a="http://schemas.openxmlformats.org/drawingml/2006/main">
            <a:r>
              <a:t>Answer cue: No. Use only an approved workflow with human review and clear authority.</a:t>
            </a:r>
          </a:p>
          <a:p xmlns:a="http://schemas.openxmlformats.org/drawingml/2006/main">
            <a:r>
              <a:t/>
            </a:r>
          </a:p>
          <a:p xmlns:a="http://schemas.openxmlformats.org/drawingml/2006/main">
            <a:r>
              <a:t>Q2: What is a false negative in a risk flag?</a:t>
            </a:r>
          </a:p>
          <a:p xmlns:a="http://schemas.openxmlformats.org/drawingml/2006/main">
            <a:r>
              <a:t>Answer cue: A case that the model does not flag even though the concern is present.</a:t>
            </a:r>
          </a:p>
          <a:p xmlns:a="http://schemas.openxmlformats.org/drawingml/2006/main">
            <a:r>
              <a:t/>
            </a:r>
          </a:p>
          <a:p xmlns:a="http://schemas.openxmlformats.org/drawingml/2006/main">
            <a:r>
              <a:t>Q3: When is a prediction too weak to use?</a:t>
            </a:r>
          </a:p>
          <a:p xmlns:a="http://schemas.openxmlformats.org/drawingml/2006/main">
            <a:r>
              <a:t>Answer cue: When its performance, population fit, purpose or governance cannot be established for the proposed use.</a:t>
            </a:r>
          </a:p>
          <a:p xmlns:a="http://schemas.openxmlformats.org/drawingml/2006/main">
            <a:r>
              <a:t/>
            </a:r>
          </a:p>
          <a:p xmlns:a="http://schemas.openxmlformats.org/drawingml/2006/main">
            <a:r>
              <a:t>Recap:</a:t>
            </a:r>
          </a:p>
          <a:p xmlns:a="http://schemas.openxmlformats.org/drawingml/2006/main">
            <a:r>
              <a:t>• Treat prediction as uncertain evidence.</a:t>
            </a:r>
          </a:p>
          <a:p xmlns:a="http://schemas.openxmlformats.org/drawingml/2006/main">
            <a:r>
              <a:t>• Review error patterns and potential impact.</a:t>
            </a:r>
          </a:p>
          <a:p xmlns:a="http://schemas.openxmlformats.org/drawingml/2006/main">
            <a:r>
              <a:t>• Record the human decision and follow-up.</a:t>
            </a:r>
          </a:p>
          <a:p xmlns:a="http://schemas.openxmlformats.org/drawingml/2006/main">
            <a:r>
              <a:t/>
            </a:r>
          </a:p>
          <a:p xmlns:a="http://schemas.openxmlformats.org/drawingml/2006/main">
            <a:r>
              <a:t>Allow learners to apply the same reasoning to another fictional example if the group needs more practice. Ask what they would do differently in their own role and address any remaining questions before moving forward.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8 topics 8.3–8.4 and proposal p. 9. Predictive use cases require DWIHN approval and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S11 · Week 8 · Module 9 · Governance &amp; Incident Handling</a:t>
            </a:r>
          </a:p>
          <a:p xmlns:a="http://schemas.openxmlformats.org/drawingml/2006/main">
            <a:r>
              <a:t/>
            </a:r>
          </a:p>
          <a:p xmlns:a="http://schemas.openxmlformats.org/drawingml/2006/main">
            <a:r>
              <a:t>Open with this question and invite participants to connect it to their role before introducing the lesson.</a:t>
            </a:r>
          </a:p>
          <a:p xmlns:a="http://schemas.openxmlformats.org/drawingml/2006/main">
            <a:r>
              <a:t/>
            </a:r>
          </a:p>
          <a:p xmlns:a="http://schemas.openxmlformats.org/drawingml/2006/main">
            <a:r>
              <a:t>Opening question: If you realize information may have gone into the wrong tool, what should happen first, and which details should not be guessed?</a:t>
            </a:r>
          </a:p>
          <a:p xmlns:a="http://schemas.openxmlformats.org/drawingml/2006/main">
            <a:r>
              <a:t/>
            </a:r>
          </a:p>
          <a:p xmlns:a="http://schemas.openxmlformats.org/drawingml/2006/main">
            <a:r>
              <a:t>Explain the goal in plain language, review each outcome, then ask learners where they expect the hardest judgment call to occur. Use a fictional example if no approved work example is available.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9, incident practice and proposal p. 9. The proposal does not provide DWIHN’s exact process; validate before instruction.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S11 · Week 8 · Module 9 · Governance &amp; Incident Handling</a:t>
            </a:r>
          </a:p>
          <a:p xmlns:a="http://schemas.openxmlformats.org/drawingml/2006/main">
            <a:r>
              <a:t/>
            </a:r>
          </a:p>
          <a:p xmlns:a="http://schemas.openxmlformats.org/drawingml/2006/main">
            <a:r>
              <a:t>Teach the four ideas separately. After each, ask a learner to restate the idea and give a role-specific example. Correct the distinction between what a system can generate and what a person is authorized to decide.</a:t>
            </a:r>
          </a:p>
          <a:p xmlns:a="http://schemas.openxmlformats.org/drawingml/2006/main">
            <a:r>
              <a:t/>
            </a:r>
          </a:p>
          <a:p xmlns:a="http://schemas.openxmlformats.org/drawingml/2006/main">
            <a:r>
              <a:t>1. Governance assigns decision rights: A governance function sets policy, approves use cases, reviews risk and routes questions to the right owners. The proposal names a committee but does not identify its DWIHN members or charter.</a:t>
            </a:r>
          </a:p>
          <a:p xmlns:a="http://schemas.openxmlformats.org/drawingml/2006/main">
            <a:r>
              <a:t>2. Incidents include more than breaches: A concern may involve unintended exposure, unauthorized access, inaccurate output in a workflow, harmful reliance or a policy violation. Follow the official DWIHN definition and reporting process.</a:t>
            </a:r>
          </a:p>
          <a:p xmlns:a="http://schemas.openxmlformats.org/drawingml/2006/main">
            <a:r>
              <a:t>3. Report facts promptly: Capture what happened, when, which tool or workflow, what information may be involved and what immediate actions were taken. Separate direct knowledge from assumptions.</a:t>
            </a:r>
          </a:p>
          <a:p xmlns:a="http://schemas.openxmlformats.org/drawingml/2006/main">
            <a:r>
              <a:t>4. Do not erase or overreach: Do not hide the event, delete records or conduct an independent investigation beyond your role. Preserve relevant information and follow directions from the designated responders.</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9, incident practice and proposal p. 9. The proposal does not provide DWIHN’s exact process; validate before instruction.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S11 · Week 8 · Module 9 · Governance &amp; Incident Handling</a:t>
            </a:r>
          </a:p>
          <a:p xmlns:a="http://schemas.openxmlformats.org/drawingml/2006/main">
            <a:r>
              <a:t/>
            </a:r>
          </a:p>
          <a:p xmlns:a="http://schemas.openxmlformats.org/drawingml/2006/main">
            <a:r>
              <a:t>Walk through each stage and make the decision visible: what question is being asked, what source is being checked and when a person takes responsibility. Ask participants to predict the next step before revealing it.</a:t>
            </a:r>
          </a:p>
          <a:p xmlns:a="http://schemas.openxmlformats.org/drawingml/2006/main">
            <a:r>
              <a:t/>
            </a:r>
          </a:p>
          <a:p xmlns:a="http://schemas.openxmlformats.org/drawingml/2006/main">
            <a:r>
              <a:t>1. Notice and pause: Recognize the concern and stop further use or sharing when safe and directed.</a:t>
            </a:r>
          </a:p>
          <a:p xmlns:a="http://schemas.openxmlformats.org/drawingml/2006/main">
            <a:r>
              <a:t>2. Record what is known: Note the tool, time, task, information type and people involved; mark unknowns as unknown.</a:t>
            </a:r>
          </a:p>
          <a:p xmlns:a="http://schemas.openxmlformats.org/drawingml/2006/main">
            <a:r>
              <a:t>3. Use the official route: Notify the DWIHN contact or incident channel required by policy. The proposal sets a training expectation for prompt reporting; local policy governs.</a:t>
            </a:r>
          </a:p>
          <a:p xmlns:a="http://schemas.openxmlformats.org/drawingml/2006/main">
            <a:r>
              <a:t>4. Follow response instructions: Preserve relevant evidence, cooperate with review and correct downstream material as authorized.</a:t>
            </a:r>
          </a:p>
          <a:p xmlns:a="http://schemas.openxmlformats.org/drawingml/2006/main">
            <a:r>
              <a:t/>
            </a:r>
          </a:p>
          <a:p xmlns:a="http://schemas.openxmlformats.org/drawingml/2006/main">
            <a:r>
              <a:t>Worked example: Hypothetical example: a staff member discovers that a prompt may have been pasted into an unapproved environment. The employee stops the workflow, records factual details, follows the designated reporting process and waits for the response team’s instructions rather than trying to conceal or clean up the event.</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9, incident practice and proposal p. 9. The proposal does not provide DWIHN’s exact process; validate before instruction.</a:t>
            </a:r>
          </a:p>
          <a:p xmlns:a="http://schemas.openxmlformats.org/drawingml/2006/main">
            <a:r>
              <a:t/>
            </a:r>
          </a:p>
          <a:p xmlns:a="http://schemas.openxmlformats.org/drawingml/2006/main">
            <a:r>
              <a:t>Any photograph in the lesson section comes from the proposal and is not a DWIHN session or product 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S11 · Week 8 · Module 9 · Governance &amp; Incident Handling</a:t>
            </a:r>
          </a:p>
          <a:p xmlns:a="http://schemas.openxmlformats.org/drawingml/2006/main">
            <a:r>
              <a:t/>
            </a:r>
          </a:p>
          <a:p xmlns:a="http://schemas.openxmlformats.org/drawingml/2006/main">
            <a:r>
              <a:t>Let learners attempt the scenario individually before comparing reasoning in pairs or groups. The scenario is hypothetical. Do not substitute real member, staff or vendor data.</a:t>
            </a:r>
          </a:p>
          <a:p xmlns:a="http://schemas.openxmlformats.org/drawingml/2006/main">
            <a:r>
              <a:t/>
            </a:r>
          </a:p>
          <a:p xmlns:a="http://schemas.openxmlformats.org/drawingml/2006/main">
            <a:r>
              <a:t>Scenario: A learner sees an AI-generated paragraph in a draft record that contains a made-up service detail. The draft has not yet been sent. The learner is unsure whether this is a reportable incident or a normal correction.</a:t>
            </a:r>
          </a:p>
          <a:p xmlns:a="http://schemas.openxmlformats.org/drawingml/2006/main">
            <a:r>
              <a:t/>
            </a:r>
          </a:p>
          <a:p xmlns:a="http://schemas.openxmlformats.org/drawingml/2006/main">
            <a:r>
              <a:t>Exercise:</a:t>
            </a:r>
          </a:p>
          <a:p xmlns:a="http://schemas.openxmlformats.org/drawingml/2006/main">
            <a:r>
              <a:t>1. State what is known and what remains unknown.</a:t>
            </a:r>
          </a:p>
          <a:p xmlns:a="http://schemas.openxmlformats.org/drawingml/2006/main">
            <a:r>
              <a:t>2. Identify the immediate safe action and the DWIHN route to check.</a:t>
            </a:r>
          </a:p>
          <a:p xmlns:a="http://schemas.openxmlformats.org/drawingml/2006/main">
            <a:r>
              <a:t>3. Practice a neutral report that avoids speculation or blame.</a:t>
            </a:r>
          </a:p>
          <a:p xmlns:a="http://schemas.openxmlformats.org/drawingml/2006/main">
            <a:r>
              <a:t/>
            </a:r>
          </a:p>
          <a:p xmlns:a="http://schemas.openxmlformats.org/drawingml/2006/main">
            <a:r>
              <a:t>Expected deliverable: A draft incident report with facts, unknowns, containment action and the requested guidance.</a:t>
            </a:r>
          </a:p>
          <a:p xmlns:a="http://schemas.openxmlformats.org/drawingml/2006/main">
            <a:r>
              <a:t/>
            </a:r>
          </a:p>
          <a:p xmlns:a="http://schemas.openxmlformats.org/drawingml/2006/main">
            <a:r>
              <a:t>Debrief against these criteria:</a:t>
            </a:r>
          </a:p>
          <a:p xmlns:a="http://schemas.openxmlformats.org/drawingml/2006/main">
            <a:r>
              <a:t>• The report is timely, factual and complete enough to route.</a:t>
            </a:r>
          </a:p>
          <a:p xmlns:a="http://schemas.openxmlformats.org/drawingml/2006/main">
            <a:r>
              <a:t>• The learner uses the official procedure rather than a guessed channel.</a:t>
            </a:r>
          </a:p>
          <a:p xmlns:a="http://schemas.openxmlformats.org/drawingml/2006/main">
            <a:r>
              <a:t>• No evidence is deleted and no unsupported conclusion is added.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9, incident practice and proposal p. 9. The proposal does not provide DWIHN’s exact process; validate before instruction.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S11 · Week 8 · Module 9 · Governance &amp; Incident Handling</a:t>
            </a:r>
          </a:p>
          <a:p xmlns:a="http://schemas.openxmlformats.org/drawingml/2006/main">
            <a:r>
              <a:t/>
            </a:r>
          </a:p>
          <a:p xmlns:a="http://schemas.openxmlformats.org/drawingml/2006/main">
            <a:r>
              <a:t>Close with open Q&amp;A. Acknowledge when a question is outside the supplied policy or system details and capture an owner for follow-up.</a:t>
            </a:r>
          </a:p>
          <a:p xmlns:a="http://schemas.openxmlformats.org/drawingml/2006/main">
            <a:r>
              <a:t/>
            </a:r>
          </a:p>
          <a:p xmlns:a="http://schemas.openxmlformats.org/drawingml/2006/main">
            <a:r>
              <a:t>Questions and suggested responses:</a:t>
            </a:r>
          </a:p>
          <a:p xmlns:a="http://schemas.openxmlformats.org/drawingml/2006/main">
            <a:r>
              <a:t>Q1: Does every incorrect AI draft count as an incident?</a:t>
            </a:r>
          </a:p>
          <a:p xmlns:a="http://schemas.openxmlformats.org/drawingml/2006/main">
            <a:r>
              <a:t>Answer cue: Use DWIHN’s definition. Correct the draft, and report when the policy or risk threshold requires it.</a:t>
            </a:r>
          </a:p>
          <a:p xmlns:a="http://schemas.openxmlformats.org/drawingml/2006/main">
            <a:r>
              <a:t/>
            </a:r>
          </a:p>
          <a:p xmlns:a="http://schemas.openxmlformats.org/drawingml/2006/main">
            <a:r>
              <a:t>Q2: What response time applies?</a:t>
            </a:r>
          </a:p>
          <a:p xmlns:a="http://schemas.openxmlformats.org/drawingml/2006/main">
            <a:r>
              <a:t>Answer cue: The proposal references a 24-hour expectation for its training content; DWIHN’s official policy determines the binding timing and channel.</a:t>
            </a:r>
          </a:p>
          <a:p xmlns:a="http://schemas.openxmlformats.org/drawingml/2006/main">
            <a:r>
              <a:t/>
            </a:r>
          </a:p>
          <a:p xmlns:a="http://schemas.openxmlformats.org/drawingml/2006/main">
            <a:r>
              <a:t>Q3: Can a manager decide a concern is too small to report?</a:t>
            </a:r>
          </a:p>
          <a:p xmlns:a="http://schemas.openxmlformats.org/drawingml/2006/main">
            <a:r>
              <a:t>Answer cue: Managers should support staff in following the approved process and route uncertainty to the responsible owner.</a:t>
            </a:r>
          </a:p>
          <a:p xmlns:a="http://schemas.openxmlformats.org/drawingml/2006/main">
            <a:r>
              <a:t/>
            </a:r>
          </a:p>
          <a:p xmlns:a="http://schemas.openxmlformats.org/drawingml/2006/main">
            <a:r>
              <a:t>Recap:</a:t>
            </a:r>
          </a:p>
          <a:p xmlns:a="http://schemas.openxmlformats.org/drawingml/2006/main">
            <a:r>
              <a:t>• Know where governance questions go.</a:t>
            </a:r>
          </a:p>
          <a:p xmlns:a="http://schemas.openxmlformats.org/drawingml/2006/main">
            <a:r>
              <a:t>• Report concerns factually and promptly.</a:t>
            </a:r>
          </a:p>
          <a:p xmlns:a="http://schemas.openxmlformats.org/drawingml/2006/main">
            <a:r>
              <a:t>• Follow DWIHN’s official incident process.</a:t>
            </a:r>
          </a:p>
          <a:p xmlns:a="http://schemas.openxmlformats.org/drawingml/2006/main">
            <a:r>
              <a:t/>
            </a:r>
          </a:p>
          <a:p xmlns:a="http://schemas.openxmlformats.org/drawingml/2006/main">
            <a:r>
              <a:t>Allow learners to apply the same reasoning to another fictional example if the group needs more practice. Ask what they would do differently in their own role and address any remaining questions before moving forward.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9, incident practice and proposal p. 9. The proposal does not provide DWIHN’s exact process; validate before instruction.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S12 · Week 9 · Module 10 · Assessment &amp; Certification</a:t>
            </a:r>
          </a:p>
          <a:p xmlns:a="http://schemas.openxmlformats.org/drawingml/2006/main">
            <a:r>
              <a:t/>
            </a:r>
          </a:p>
          <a:p xmlns:a="http://schemas.openxmlformats.org/drawingml/2006/main">
            <a:r>
              <a:t>Open with this question and invite participants to connect it to their role before introducing the lesson.</a:t>
            </a:r>
          </a:p>
          <a:p xmlns:a="http://schemas.openxmlformats.org/drawingml/2006/main">
            <a:r>
              <a:t/>
            </a:r>
          </a:p>
          <a:p xmlns:a="http://schemas.openxmlformats.org/drawingml/2006/main">
            <a:r>
              <a:t>Opening question: Which safety check from this course will you use first when you return to your work?</a:t>
            </a:r>
          </a:p>
          <a:p xmlns:a="http://schemas.openxmlformats.org/drawingml/2006/main">
            <a:r>
              <a:t/>
            </a:r>
          </a:p>
          <a:p xmlns:a="http://schemas.openxmlformats.org/drawingml/2006/main">
            <a:r>
              <a:t>Explain the goal in plain language, review each outcome, then ask learners where they expect the hardest judgment call to occur. Use a fictional example if no approved work example is available.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10 and Final Program Review; proposal p. 9. Assessment conditions must be confirmed with DWIHN and Netlink.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S12 · Week 9 · Module 10 · Assessment &amp; Certification</a:t>
            </a:r>
          </a:p>
          <a:p xmlns:a="http://schemas.openxmlformats.org/drawingml/2006/main">
            <a:r>
              <a:t/>
            </a:r>
          </a:p>
          <a:p xmlns:a="http://schemas.openxmlformats.org/drawingml/2006/main">
            <a:r>
              <a:t>Teach the four ideas separately. After each, ask a learner to restate the idea and give a role-specific example. Correct the distinction between what a system can generate and what a person is authorized to decide.</a:t>
            </a:r>
          </a:p>
          <a:p xmlns:a="http://schemas.openxmlformats.org/drawingml/2006/main">
            <a:r>
              <a:t/>
            </a:r>
          </a:p>
          <a:p xmlns:a="http://schemas.openxmlformats.org/drawingml/2006/main">
            <a:r>
              <a:t>1. The final assessment tests decisions: The proposal specifies a 20-question online assessment. Strong questions ask learners to classify information, choose the approved route, review generated output and recognize when to escalate.</a:t>
            </a:r>
          </a:p>
          <a:p xmlns:a="http://schemas.openxmlformats.org/drawingml/2006/main">
            <a:r>
              <a:t>2. Combine skills in a capstone: A realistic capstone connects the task, data tier, approved tool, prompt, verification and human decision. It tests whether the steps work together rather than in isolation.</a:t>
            </a:r>
          </a:p>
          <a:p xmlns:a="http://schemas.openxmlformats.org/drawingml/2006/main">
            <a:r>
              <a:t>3. Criteria must be agreed: Passing score, retake path, accommodations, completion requirements and certificate issuance need confirmation before launch. Do not invent these terms in class.</a:t>
            </a:r>
          </a:p>
          <a:p xmlns:a="http://schemas.openxmlformats.org/drawingml/2006/main">
            <a:r>
              <a:t>4. Readiness is not permanent permission: A certificate records completion of the agreed training. It does not create a license, approve every future tool or replace updated policy, supervision or professional judgment.</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10 and Final Program Review; proposal p. 9. Assessment conditions must be confirmed with DWIHN and Netlink.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S12 · Week 9 · Module 10 · Assessment &amp; Certification</a:t>
            </a:r>
          </a:p>
          <a:p xmlns:a="http://schemas.openxmlformats.org/drawingml/2006/main">
            <a:r>
              <a:t/>
            </a:r>
          </a:p>
          <a:p xmlns:a="http://schemas.openxmlformats.org/drawingml/2006/main">
            <a:r>
              <a:t>Walk through each stage and make the decision visible: what question is being asked, what source is being checked and when a person takes responsibility. Ask participants to predict the next step before revealing it.</a:t>
            </a:r>
          </a:p>
          <a:p xmlns:a="http://schemas.openxmlformats.org/drawingml/2006/main">
            <a:r>
              <a:t/>
            </a:r>
          </a:p>
          <a:p xmlns:a="http://schemas.openxmlformats.org/drawingml/2006/main">
            <a:r>
              <a:t>1. Read the case: A fictional staff update uses an approved source but includes one restricted detail and an unclear statistic.</a:t>
            </a:r>
          </a:p>
          <a:p xmlns:a="http://schemas.openxmlformats.org/drawingml/2006/main">
            <a:r>
              <a:t>2. Make the safe-use decision: Classify the information and select the permitted tool path.</a:t>
            </a:r>
          </a:p>
          <a:p xmlns:a="http://schemas.openxmlformats.org/drawingml/2006/main">
            <a:r>
              <a:t>3. Improve and review the prompt: Give clear role, task, context, format and constraints, then compare output with source facts.</a:t>
            </a:r>
          </a:p>
          <a:p xmlns:a="http://schemas.openxmlformats.org/drawingml/2006/main">
            <a:r>
              <a:t>4. Close with a human decision: State what is ready to use, what needs approval and how a concern should be routed.</a:t>
            </a:r>
          </a:p>
          <a:p xmlns:a="http://schemas.openxmlformats.org/drawingml/2006/main">
            <a:r>
              <a:t/>
            </a:r>
          </a:p>
          <a:p xmlns:a="http://schemas.openxmlformats.org/drawingml/2006/main">
            <a:r>
              <a:t>Worked example: Capstone example: a manager wants an internal update based on an approved aggregate dashboard and meeting notes. The learner verifies the data period, avoids including row-level details, asks AI for a source-bounded draft, corrects an unsupported conclusion and routes an unresolved policy question to governance.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10 and Final Program Review; proposal p. 9. Assessment conditions must be confirmed with DWIHN and Netlink.</a:t>
            </a:r>
          </a:p>
          <a:p xmlns:a="http://schemas.openxmlformats.org/drawingml/2006/main">
            <a:r>
              <a:t/>
            </a:r>
          </a:p>
          <a:p xmlns:a="http://schemas.openxmlformats.org/drawingml/2006/main">
            <a:r>
              <a:t>Any photograph in the lesson section comes from the proposal and is not a DWIHN session or product 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S12 · Week 9 · Module 10 · Assessment &amp; Certification</a:t>
            </a:r>
          </a:p>
          <a:p xmlns:a="http://schemas.openxmlformats.org/drawingml/2006/main">
            <a:r>
              <a:t/>
            </a:r>
          </a:p>
          <a:p xmlns:a="http://schemas.openxmlformats.org/drawingml/2006/main">
            <a:r>
              <a:t>Let learners attempt the scenario individually before comparing reasoning in pairs or groups. The scenario is hypothetical. Do not substitute real member, staff or vendor data.</a:t>
            </a:r>
          </a:p>
          <a:p xmlns:a="http://schemas.openxmlformats.org/drawingml/2006/main">
            <a:r>
              <a:t/>
            </a:r>
          </a:p>
          <a:p xmlns:a="http://schemas.openxmlformats.org/drawingml/2006/main">
            <a:r>
              <a:t>Scenario: A final case combines a dashboard trend, an AI-generated draft and a question about sharing the result with a wider audience. Learners must explain the safe path and the checks that support it.</a:t>
            </a:r>
          </a:p>
          <a:p xmlns:a="http://schemas.openxmlformats.org/drawingml/2006/main">
            <a:r>
              <a:t/>
            </a:r>
          </a:p>
          <a:p xmlns:a="http://schemas.openxmlformats.org/drawingml/2006/main">
            <a:r>
              <a:t>Exercise:</a:t>
            </a:r>
          </a:p>
          <a:p xmlns:a="http://schemas.openxmlformats.org/drawingml/2006/main">
            <a:r>
              <a:t>1. Complete the scenario independently, then compare reasoning with a partner.</a:t>
            </a:r>
          </a:p>
          <a:p xmlns:a="http://schemas.openxmlformats.org/drawingml/2006/main">
            <a:r>
              <a:t>2. Answer the online knowledge assessment under the agreed program rules.</a:t>
            </a:r>
          </a:p>
          <a:p xmlns:a="http://schemas.openxmlformats.org/drawingml/2006/main">
            <a:r>
              <a:t>3. Write one work action, one safety habit and one question for follow-up.</a:t>
            </a:r>
          </a:p>
          <a:p xmlns:a="http://schemas.openxmlformats.org/drawingml/2006/main">
            <a:r>
              <a:t/>
            </a:r>
          </a:p>
          <a:p xmlns:a="http://schemas.openxmlformats.org/drawingml/2006/main">
            <a:r>
              <a:t>Expected deliverable: Assessment completion, a short action plan and a list of unresolved policy or tool questions routed to owners.</a:t>
            </a:r>
          </a:p>
          <a:p xmlns:a="http://schemas.openxmlformats.org/drawingml/2006/main">
            <a:r>
              <a:t/>
            </a:r>
          </a:p>
          <a:p xmlns:a="http://schemas.openxmlformats.org/drawingml/2006/main">
            <a:r>
              <a:t>Debrief against these criteria:</a:t>
            </a:r>
          </a:p>
          <a:p xmlns:a="http://schemas.openxmlformats.org/drawingml/2006/main">
            <a:r>
              <a:t>• Correctly applies classification and tool approval.</a:t>
            </a:r>
          </a:p>
          <a:p xmlns:a="http://schemas.openxmlformats.org/drawingml/2006/main">
            <a:r>
              <a:t>• Verifies output and avoids unsupported claims.</a:t>
            </a:r>
          </a:p>
          <a:p xmlns:a="http://schemas.openxmlformats.org/drawingml/2006/main">
            <a:r>
              <a:t>• Identifies when a human decision or escalation is required.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10 and Final Program Review; proposal p. 9. Assessment conditions must be confirmed with DWIHN and Netlink.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S12 · Week 9 · Module 10 · Assessment &amp; Certification</a:t>
            </a:r>
          </a:p>
          <a:p xmlns:a="http://schemas.openxmlformats.org/drawingml/2006/main">
            <a:r>
              <a:t/>
            </a:r>
          </a:p>
          <a:p xmlns:a="http://schemas.openxmlformats.org/drawingml/2006/main">
            <a:r>
              <a:t>Close with open Q&amp;A. Acknowledge when a question is outside the supplied policy or system details and capture an owner for follow-up.</a:t>
            </a:r>
          </a:p>
          <a:p xmlns:a="http://schemas.openxmlformats.org/drawingml/2006/main">
            <a:r>
              <a:t/>
            </a:r>
          </a:p>
          <a:p xmlns:a="http://schemas.openxmlformats.org/drawingml/2006/main">
            <a:r>
              <a:t>Questions and suggested responses:</a:t>
            </a:r>
          </a:p>
          <a:p xmlns:a="http://schemas.openxmlformats.org/drawingml/2006/main">
            <a:r>
              <a:t>Q1: What does the readiness certificate confirm?</a:t>
            </a:r>
          </a:p>
          <a:p xmlns:a="http://schemas.openxmlformats.org/drawingml/2006/main">
            <a:r>
              <a:t>Answer cue: Completion of the agreed program and assessment criteria, subject to the final program rules.</a:t>
            </a:r>
          </a:p>
          <a:p xmlns:a="http://schemas.openxmlformats.org/drawingml/2006/main">
            <a:r>
              <a:t/>
            </a:r>
          </a:p>
          <a:p xmlns:a="http://schemas.openxmlformats.org/drawingml/2006/main">
            <a:r>
              <a:t>Q2: Does it certify HIPAA compliance?</a:t>
            </a:r>
          </a:p>
          <a:p xmlns:a="http://schemas.openxmlformats.org/drawingml/2006/main">
            <a:r>
              <a:t>Answer cue: No. The proposal describes a DWIHN AI Readiness Certificate, not a HIPAA credential or professional license.</a:t>
            </a:r>
          </a:p>
          <a:p xmlns:a="http://schemas.openxmlformats.org/drawingml/2006/main">
            <a:r>
              <a:t/>
            </a:r>
          </a:p>
          <a:p xmlns:a="http://schemas.openxmlformats.org/drawingml/2006/main">
            <a:r>
              <a:t>Q3: What happens when an important question remains unresolved?</a:t>
            </a:r>
          </a:p>
          <a:p xmlns:a="http://schemas.openxmlformats.org/drawingml/2006/main">
            <a:r>
              <a:t>Answer cue: Record it and route it to the authorized policy, platform or governance owner instead of guessing.</a:t>
            </a:r>
          </a:p>
          <a:p xmlns:a="http://schemas.openxmlformats.org/drawingml/2006/main">
            <a:r>
              <a:t/>
            </a:r>
          </a:p>
          <a:p xmlns:a="http://schemas.openxmlformats.org/drawingml/2006/main">
            <a:r>
              <a:t>Recap:</a:t>
            </a:r>
          </a:p>
          <a:p xmlns:a="http://schemas.openxmlformats.org/drawingml/2006/main">
            <a:r>
              <a:t>• Use the same safe decision sequence across roles.</a:t>
            </a:r>
          </a:p>
          <a:p xmlns:a="http://schemas.openxmlformats.org/drawingml/2006/main">
            <a:r>
              <a:t>• Certification records learning completion, not permanent approval.</a:t>
            </a:r>
          </a:p>
          <a:p xmlns:a="http://schemas.openxmlformats.org/drawingml/2006/main">
            <a:r>
              <a:t>• Keep asking questions as tools and policies change.</a:t>
            </a:r>
          </a:p>
          <a:p xmlns:a="http://schemas.openxmlformats.org/drawingml/2006/main">
            <a:r>
              <a:t/>
            </a:r>
          </a:p>
          <a:p xmlns:a="http://schemas.openxmlformats.org/drawingml/2006/main">
            <a:r>
              <a:t>Allow learners to apply the same reasoning to another fictional example if the group needs more practice. Ask what they would do differently in their own role and address any remaining questions before moving forward.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10 and Final Program Review; proposal p. 9. Assessment conditions must be confirmed with DWIHN and Netlink.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4a972cc499409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3ad9467f9a74e1e" /><Relationship Type="http://schemas.openxmlformats.org/officeDocument/2006/relationships/slideLayout" Target="/ppt/slideLayouts/slideLayout1.xml" Id="R5fe0e4e87bff460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fe0e4e87bff460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8dcabdc9fa545b4" /><Relationship Type="http://schemas.openxmlformats.org/officeDocument/2006/relationships/image" Target="/ppt/media/image.jpeg" Id="R7d181a1d2ad64baf" /><Relationship Type="http://schemas.openxmlformats.org/officeDocument/2006/relationships/notesSlide" Target="/ppt/notesSlides/notesSlide1.xml" Id="Raaa0341acd0e42a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5a7e210daf74d62" /><Relationship Type="http://schemas.openxmlformats.org/officeDocument/2006/relationships/notesSlide" Target="/ppt/notesSlides/notesSlide2.xml" Id="Rb03209a78ee046a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d0aed56cae54f2a" /><Relationship Type="http://schemas.openxmlformats.org/officeDocument/2006/relationships/notesSlide" Target="/ppt/notesSlides/notesSlide3.xml" Id="Ra2b196da0025402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d81d849cce44b45" /><Relationship Type="http://schemas.openxmlformats.org/officeDocument/2006/relationships/notesSlide" Target="/ppt/notesSlides/notesSlide4.xml" Id="R810435d72cd741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8feac455e5847c5" /><Relationship Type="http://schemas.openxmlformats.org/officeDocument/2006/relationships/notesSlide" Target="/ppt/notesSlides/notesSlide5.xml" Id="Rf8674f3855cd434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df02566ba1149c6" /><Relationship Type="http://schemas.openxmlformats.org/officeDocument/2006/relationships/image" Target="/ppt/media/image2.jpeg" Id="Rf74daa1109bd44b5" /><Relationship Type="http://schemas.openxmlformats.org/officeDocument/2006/relationships/notesSlide" Target="/ppt/notesSlides/notesSlide6.xml" Id="R4457e007ed2d49b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38005fba01c48c0" /><Relationship Type="http://schemas.openxmlformats.org/officeDocument/2006/relationships/notesSlide" Target="/ppt/notesSlides/notesSlide7.xml" Id="R574968793d8e4c9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c11a502e43f411b" /><Relationship Type="http://schemas.openxmlformats.org/officeDocument/2006/relationships/notesSlide" Target="/ppt/notesSlides/notesSlide8.xml" Id="Rd2e8c59578af473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8d82cbbee5e4beb" /><Relationship Type="http://schemas.openxmlformats.org/officeDocument/2006/relationships/notesSlide" Target="/ppt/notesSlides/notesSlide9.xml" Id="R82bb1b9b657744e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2a8970bd34b48cc" /><Relationship Type="http://schemas.openxmlformats.org/officeDocument/2006/relationships/notesSlide" Target="/ppt/notesSlides/notesSlide10.xml" Id="R0b206d26f435431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4b448471ee8430d" /><Relationship Type="http://schemas.openxmlformats.org/officeDocument/2006/relationships/image" Target="/ppt/media/image3.jpeg" Id="R15cf66a0d1ab4dc7" /><Relationship Type="http://schemas.openxmlformats.org/officeDocument/2006/relationships/notesSlide" Target="/ppt/notesSlides/notesSlide11.xml" Id="R28a7c901b039475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b3586b306fc4b90" /><Relationship Type="http://schemas.openxmlformats.org/officeDocument/2006/relationships/notesSlide" Target="/ppt/notesSlides/notesSlide12.xml" Id="R74ebdf24a0714ef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5c1a7d5548a47ae" /><Relationship Type="http://schemas.openxmlformats.org/officeDocument/2006/relationships/notesSlide" Target="/ppt/notesSlides/notesSlide13.xml" Id="Ra0c5d1b23def45d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159c9b0d00d4b3b" /><Relationship Type="http://schemas.openxmlformats.org/officeDocument/2006/relationships/notesSlide" Target="/ppt/notesSlides/notesSlide14.xml" Id="Re4c708a5e5054ce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ae0de1db7e44a6a" /><Relationship Type="http://schemas.openxmlformats.org/officeDocument/2006/relationships/notesSlide" Target="/ppt/notesSlides/notesSlide15.xml" Id="Rc86774d42e254de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550629a056e459a" /><Relationship Type="http://schemas.openxmlformats.org/officeDocument/2006/relationships/image" Target="/ppt/media/image4.jpeg" Id="R2636c62ef04d4c9c" /><Relationship Type="http://schemas.openxmlformats.org/officeDocument/2006/relationships/notesSlide" Target="/ppt/notesSlides/notesSlide16.xml" Id="R6153d0f958814e3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ab130e5f6094fa4" /><Relationship Type="http://schemas.openxmlformats.org/officeDocument/2006/relationships/notesSlide" Target="/ppt/notesSlides/notesSlide17.xml" Id="R30e45a5affe14a9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77df28b9d7a493c" /><Relationship Type="http://schemas.openxmlformats.org/officeDocument/2006/relationships/notesSlide" Target="/ppt/notesSlides/notesSlide18.xml" Id="R81a3516b48594fa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0cacad082fc432d" /><Relationship Type="http://schemas.openxmlformats.org/officeDocument/2006/relationships/notesSlide" Target="/ppt/notesSlides/notesSlide19.xml" Id="Rb0cec91ca52343f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ddd9d6e1c2545c2" /><Relationship Type="http://schemas.openxmlformats.org/officeDocument/2006/relationships/notesSlide" Target="/ppt/notesSlides/notesSlide20.xml" Id="R9ebc5c5474f2462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c5655354dba428d" /><Relationship Type="http://schemas.openxmlformats.org/officeDocument/2006/relationships/image" Target="/ppt/media/image5.jpeg" Id="R56aebb3828a5418d" /><Relationship Type="http://schemas.openxmlformats.org/officeDocument/2006/relationships/notesSlide" Target="/ppt/notesSlides/notesSlide21.xml" Id="R553976560d8e4f7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4c104b7eaef4d74" /><Relationship Type="http://schemas.openxmlformats.org/officeDocument/2006/relationships/notesSlide" Target="/ppt/notesSlides/notesSlide22.xml" Id="R08ec5644d184417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0d2a732192448bb" /><Relationship Type="http://schemas.openxmlformats.org/officeDocument/2006/relationships/notesSlide" Target="/ppt/notesSlides/notesSlide23.xml" Id="R89dc05f5e542414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aef48d536514a6c" /><Relationship Type="http://schemas.openxmlformats.org/officeDocument/2006/relationships/notesSlide" Target="/ppt/notesSlides/notesSlide24.xml" Id="Re1bb414d0cb3474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e4d6d4b5c2440e5" /><Relationship Type="http://schemas.openxmlformats.org/officeDocument/2006/relationships/notesSlide" Target="/ppt/notesSlides/notesSlide25.xml" Id="R316b9f9336244b1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f80e3c0dcde44f9" /><Relationship Type="http://schemas.openxmlformats.org/officeDocument/2006/relationships/image" Target="/ppt/media/image6.jpeg" Id="R72e0fea747764ec2" /><Relationship Type="http://schemas.openxmlformats.org/officeDocument/2006/relationships/notesSlide" Target="/ppt/notesSlides/notesSlide26.xml" Id="R7f341af9329842d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23e5db42006449f3" /><Relationship Type="http://schemas.openxmlformats.org/officeDocument/2006/relationships/notesSlide" Target="/ppt/notesSlides/notesSlide27.xml" Id="Rb563eb144b31495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3386cab1aa054cc0" /><Relationship Type="http://schemas.openxmlformats.org/officeDocument/2006/relationships/notesSlide" Target="/ppt/notesSlides/notesSlide28.xml" Id="R1a906cf6d781407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1d899fe6230483c" /><Relationship Type="http://schemas.openxmlformats.org/officeDocument/2006/relationships/notesSlide" Target="/ppt/notesSlides/notesSlide29.xml" Id="Rdeacde40aa664e7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48d3ca102eda465f" /><Relationship Type="http://schemas.openxmlformats.org/officeDocument/2006/relationships/notesSlide" Target="/ppt/notesSlides/notesSlide30.xml" Id="R7dd1da90652b4a4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8395f574d5b4b15" /><Relationship Type="http://schemas.openxmlformats.org/officeDocument/2006/relationships/image" Target="/ppt/media/image7.jpeg" Id="Rb4c73a14531c4add" /><Relationship Type="http://schemas.openxmlformats.org/officeDocument/2006/relationships/notesSlide" Target="/ppt/notesSlides/notesSlide31.xml" Id="R9bf81fb5320d4e5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4a0ff0980cf04f43" /><Relationship Type="http://schemas.openxmlformats.org/officeDocument/2006/relationships/notesSlide" Target="/ppt/notesSlides/notesSlide32.xml" Id="Rfa7378aacf514f8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9d842d9779184d8e" /><Relationship Type="http://schemas.openxmlformats.org/officeDocument/2006/relationships/notesSlide" Target="/ppt/notesSlides/notesSlide33.xml" Id="R3f60bceaefa8405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789eaa5551b04fe6" /><Relationship Type="http://schemas.openxmlformats.org/officeDocument/2006/relationships/notesSlide" Target="/ppt/notesSlides/notesSlide34.xml" Id="Rad22778850a040c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8573a14146ba490a" /><Relationship Type="http://schemas.openxmlformats.org/officeDocument/2006/relationships/notesSlide" Target="/ppt/notesSlides/notesSlide35.xml" Id="R7831dd34094f4bd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aac7bfd59e3a4ded" /><Relationship Type="http://schemas.openxmlformats.org/officeDocument/2006/relationships/notesSlide" Target="/ppt/notesSlides/notesSlide36.xml" Id="R04bf5764424e42e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6f9aae17157b41b1" /><Relationship Type="http://schemas.openxmlformats.org/officeDocument/2006/relationships/notesSlide" Target="/ppt/notesSlides/notesSlide37.xml" Id="Re85473517c45461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f3bbd09fd23e4817" /><Relationship Type="http://schemas.openxmlformats.org/officeDocument/2006/relationships/notesSlide" Target="/ppt/notesSlides/notesSlide38.xml" Id="Rcc1bb1fee2e2463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442b8be0e8d440de" /><Relationship Type="http://schemas.openxmlformats.org/officeDocument/2006/relationships/notesSlide" Target="/ppt/notesSlides/notesSlide39.xml" Id="R49ffaf1f18a8485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c34b0eb3a4e24e80" /><Relationship Type="http://schemas.openxmlformats.org/officeDocument/2006/relationships/notesSlide" Target="/ppt/notesSlides/notesSlide40.xml" Id="Rb435baa699ce4a8e"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cb5793b8152d4072" /><Relationship Type="http://schemas.openxmlformats.org/officeDocument/2006/relationships/notesSlide" Target="/ppt/notesSlides/notesSlide41.xml" Id="Rf1c54531ede942a0"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1d084b71122144a9" /><Relationship Type="http://schemas.openxmlformats.org/officeDocument/2006/relationships/notesSlide" Target="/ppt/notesSlides/notesSlide42.xml" Id="Rda58a92eb8db475a"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5003982ae3574b51" /><Relationship Type="http://schemas.openxmlformats.org/officeDocument/2006/relationships/notesSlide" Target="/ppt/notesSlides/notesSlide43.xml" Id="R58c4d218d7ab49b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165e787360cd4739" /><Relationship Type="http://schemas.openxmlformats.org/officeDocument/2006/relationships/notesSlide" Target="/ppt/notesSlides/notesSlide44.xml" Id="Raee3251637a44f4b"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16aa08c6ab334f42" /><Relationship Type="http://schemas.openxmlformats.org/officeDocument/2006/relationships/notesSlide" Target="/ppt/notesSlides/notesSlide45.xml" Id="R0e81531597ed414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62422e14b9894953" /><Relationship Type="http://schemas.openxmlformats.org/officeDocument/2006/relationships/notesSlide" Target="/ppt/notesSlides/notesSlide46.xml" Id="R1188a6c1ee064d18"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c8386dd063dc4b82" /><Relationship Type="http://schemas.openxmlformats.org/officeDocument/2006/relationships/notesSlide" Target="/ppt/notesSlides/notesSlide47.xml" Id="Ra74fab4433df4d96"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e3c7cf3521df4d8a" /><Relationship Type="http://schemas.openxmlformats.org/officeDocument/2006/relationships/notesSlide" Target="/ppt/notesSlides/notesSlide48.xml" Id="Rceb7d127153e44f6"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c0a7085d316344f9" /><Relationship Type="http://schemas.openxmlformats.org/officeDocument/2006/relationships/notesSlide" Target="/ppt/notesSlides/notesSlide49.xml" Id="R3c609c8866a74384"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d4e421f9d2e3452e" /><Relationship Type="http://schemas.openxmlformats.org/officeDocument/2006/relationships/notesSlide" Target="/ppt/notesSlides/notesSlide50.xml" Id="Rdb192c5fac234239"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8b76602839b341fa" /><Relationship Type="http://schemas.openxmlformats.org/officeDocument/2006/relationships/notesSlide" Target="/ppt/notesSlides/notesSlide51.xml" Id="R559ac2c9a90447a7"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be39d39d2c5d4506" /><Relationship Type="http://schemas.openxmlformats.org/officeDocument/2006/relationships/notesSlide" Target="/ppt/notesSlides/notesSlide52.xml" Id="R2d82ab5a3eed46b3"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79c495b243954f7d" /><Relationship Type="http://schemas.openxmlformats.org/officeDocument/2006/relationships/notesSlide" Target="/ppt/notesSlides/notesSlide53.xml" Id="Rc2c66cd07c8743b4"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c25a6ccfc9cb4ffd" /><Relationship Type="http://schemas.openxmlformats.org/officeDocument/2006/relationships/notesSlide" Target="/ppt/notesSlides/notesSlide54.xml" Id="R7217500784924c77"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40ea60fa00b449b0" /><Relationship Type="http://schemas.openxmlformats.org/officeDocument/2006/relationships/notesSlide" Target="/ppt/notesSlides/notesSlide55.xml" Id="R6c03ae39012345d0"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b870ec6c0bbc49dc" /><Relationship Type="http://schemas.openxmlformats.org/officeDocument/2006/relationships/image" Target="/ppt/media/image8.jpeg" Id="Rca3057216b0f4b82" /><Relationship Type="http://schemas.openxmlformats.org/officeDocument/2006/relationships/notesSlide" Target="/ppt/notesSlides/notesSlide56.xml" Id="R7bc26a62abd1490d"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2c1406c80cec4e31" /><Relationship Type="http://schemas.openxmlformats.org/officeDocument/2006/relationships/notesSlide" Target="/ppt/notesSlides/notesSlide57.xml" Id="R31fde10ecf854522"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6dee1497288b438c" /><Relationship Type="http://schemas.openxmlformats.org/officeDocument/2006/relationships/notesSlide" Target="/ppt/notesSlides/notesSlide58.xml" Id="Re6f96e9057244722"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9729d440440c42e0" /><Relationship Type="http://schemas.openxmlformats.org/officeDocument/2006/relationships/notesSlide" Target="/ppt/notesSlides/notesSlide59.xml" Id="Rd3f73dd449b44ab6"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b40f968a5a42447d" /><Relationship Type="http://schemas.openxmlformats.org/officeDocument/2006/relationships/notesSlide" Target="/ppt/notesSlides/notesSlide60.xml" Id="R00e28024ef304367" /></Relationships>
</file>

<file path=ppt/slides/slide1.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F747343-5F20-448F-B616-C207F19BFFFD}"/>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1 / MODULE 1</a:t>
            </a:r>
          </a:p>
        </p:txBody>
      </p:sp>
      <p:sp>
        <p:nvSpPr>
          <p:cNvPr id="2" name="">
            <a:extLst xmlns:a="http://schemas.openxmlformats.org/drawingml/2006/main">
              <a:ext uri="{FF2B5EF4-FFF2-40B4-BE49-F238E27FC236}">
                <a16:creationId xmlns:a16="http://schemas.microsoft.com/office/drawing/2014/main" id="{3F0EF1D3-4378-408A-9257-4BDE6EFB277B}"/>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S1  |  Purpose &amp; outcomes</a:t>
            </a:r>
          </a:p>
        </p:txBody>
      </p:sp>
      <p:sp>
        <p:nvSpPr>
          <p:cNvPr id="3" name="">
            <a:extLst xmlns:a="http://schemas.openxmlformats.org/drawingml/2006/main">
              <a:ext uri="{FF2B5EF4-FFF2-40B4-BE49-F238E27FC236}">
                <a16:creationId xmlns:a16="http://schemas.microsoft.com/office/drawing/2014/main" id="{91EA96E8-95BC-43A2-B85A-1AC2D84D10C8}"/>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5F0E728-C993-485C-97D1-12973FF1DEE9}"/>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976958D-9C61-4D9A-BB1D-12F95D0DEB3E}"/>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D6258D04-BF1E-40BA-B6D9-7653CCF9EE8F}"/>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DA104F19-88AB-47AF-A4EB-BF9D9C6DA867}"/>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1, Practice Lab and Knowledge Check; proposal p. 6.</a:t>
            </a:r>
          </a:p>
        </p:txBody>
      </p:sp>
      <p:sp>
        <p:nvSpPr>
          <p:cNvPr id="8" name="">
            <a:extLst xmlns:a="http://schemas.openxmlformats.org/drawingml/2006/main">
              <a:ext uri="{FF2B5EF4-FFF2-40B4-BE49-F238E27FC236}">
                <a16:creationId xmlns:a16="http://schemas.microsoft.com/office/drawing/2014/main" id="{22467542-A488-472B-8FF9-A17606A4A525}"/>
              </a:ext>
            </a:extLst>
          </p:cNvPr>
          <p:cNvSpPr>
            <a:spLocks xmlns:a="http://schemas.openxmlformats.org/drawingml/2006/main" noGrp="1"/>
          </p:cNvSpPr>
          <p:nvPr/>
        </p:nvSpPr>
        <p:spPr>
          <a:xfrm xmlns:a="http://schemas.openxmlformats.org/drawingml/2006/main">
            <a:off x="609600" y="1619250"/>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0A2438"/>
                </a:solidFill>
                <a:latin typeface="Arial"/>
                <a:ea typeface="Arial"/>
                <a:cs typeface="Arial"/>
              </a:defRPr>
            </a:pPr>
            <a:r>
              <a:rPr sz="1875" b="1">
                <a:solidFill>
                  <a:srgbClr val="0A2438"/>
                </a:solidFill>
                <a:latin typeface="Arial"/>
                <a:ea typeface="Arial"/>
                <a:cs typeface="Arial"/>
              </a:rPr>
              <a:t>What AI Is — and Isn’t</a:t>
            </a:r>
          </a:p>
        </p:txBody>
      </p:sp>
      <p:sp>
        <p:nvSpPr>
          <p:cNvPr id="9" name="">
            <a:extLst xmlns:a="http://schemas.openxmlformats.org/drawingml/2006/main">
              <a:ext uri="{FF2B5EF4-FFF2-40B4-BE49-F238E27FC236}">
                <a16:creationId xmlns:a16="http://schemas.microsoft.com/office/drawing/2014/main" id="{7FB34B07-ADF3-4881-B8B6-CE3AE6CC62F9}"/>
              </a:ext>
            </a:extLst>
          </p:cNvPr>
          <p:cNvSpPr>
            <a:spLocks xmlns:a="http://schemas.openxmlformats.org/drawingml/2006/main" noGrp="1"/>
          </p:cNvSpPr>
          <p:nvPr/>
        </p:nvSpPr>
        <p:spPr>
          <a:xfrm xmlns:a="http://schemas.openxmlformats.org/drawingml/2006/main">
            <a:off x="609600" y="2057400"/>
            <a:ext cx="695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506473"/>
                </a:solidFill>
                <a:latin typeface="Arial"/>
                <a:ea typeface="Arial"/>
                <a:cs typeface="Arial"/>
              </a:defRPr>
            </a:pPr>
            <a:r>
              <a:rPr sz="1425" b="0">
                <a:solidFill>
                  <a:srgbClr val="506473"/>
                </a:solidFill>
                <a:latin typeface="Arial"/>
                <a:ea typeface="Arial"/>
                <a:cs typeface="Arial"/>
              </a:rPr>
              <a:t>Participants learn to treat AI as a capable tool for bounded work, while keeping a person responsible for context, accuracy and the final decision.</a:t>
            </a:r>
          </a:p>
        </p:txBody>
      </p:sp>
      <p:sp>
        <p:nvSpPr>
          <p:cNvPr id="10" name="">
            <a:extLst xmlns:a="http://schemas.openxmlformats.org/drawingml/2006/main">
              <a:ext uri="{FF2B5EF4-FFF2-40B4-BE49-F238E27FC236}">
                <a16:creationId xmlns:a16="http://schemas.microsoft.com/office/drawing/2014/main" id="{01575E52-05C7-4695-9D50-FB27BFF7193B}"/>
              </a:ext>
            </a:extLst>
          </p:cNvPr>
          <p:cNvSpPr>
            <a:spLocks xmlns:a="http://schemas.openxmlformats.org/drawingml/2006/main" noGrp="1"/>
          </p:cNvSpPr>
          <p:nvPr/>
        </p:nvSpPr>
        <p:spPr>
          <a:xfrm xmlns:a="http://schemas.openxmlformats.org/drawingml/2006/main">
            <a:off x="609600" y="30861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BY THE END, LEARNERS CAN</a:t>
            </a:r>
          </a:p>
        </p:txBody>
      </p:sp>
      <p:sp>
        <p:nvSpPr>
          <p:cNvPr id="11" name="">
            <a:extLst xmlns:a="http://schemas.openxmlformats.org/drawingml/2006/main">
              <a:ext uri="{FF2B5EF4-FFF2-40B4-BE49-F238E27FC236}">
                <a16:creationId xmlns:a16="http://schemas.microsoft.com/office/drawing/2014/main" id="{1CF6FBC5-F4B5-41C1-B24A-ECDB25779149}"/>
              </a:ext>
            </a:extLst>
          </p:cNvPr>
          <p:cNvSpPr>
            <a:spLocks xmlns:a="http://schemas.openxmlformats.org/drawingml/2006/main" noGrp="1"/>
          </p:cNvSpPr>
          <p:nvPr/>
        </p:nvSpPr>
        <p:spPr>
          <a:xfrm xmlns:a="http://schemas.openxmlformats.org/drawingml/2006/main">
            <a:off x="609600" y="3429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01</a:t>
            </a:r>
          </a:p>
        </p:txBody>
      </p:sp>
      <p:sp>
        <p:nvSpPr>
          <p:cNvPr id="12" name="">
            <a:extLst xmlns:a="http://schemas.openxmlformats.org/drawingml/2006/main">
              <a:ext uri="{FF2B5EF4-FFF2-40B4-BE49-F238E27FC236}">
                <a16:creationId xmlns:a16="http://schemas.microsoft.com/office/drawing/2014/main" id="{99B1BE3B-67C5-422F-86B8-C992CC2E6E2D}"/>
              </a:ext>
            </a:extLst>
          </p:cNvPr>
          <p:cNvSpPr>
            <a:spLocks xmlns:a="http://schemas.openxmlformats.org/drawingml/2006/main" noGrp="1"/>
          </p:cNvSpPr>
          <p:nvPr/>
        </p:nvSpPr>
        <p:spPr>
          <a:xfrm xmlns:a="http://schemas.openxmlformats.org/drawingml/2006/main">
            <a:off x="1104900" y="34290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Explain how a generative AI system produces a response from a prompt.</a:t>
            </a:r>
          </a:p>
        </p:txBody>
      </p:sp>
      <p:sp>
        <p:nvSpPr>
          <p:cNvPr id="13" name="">
            <a:extLst xmlns:a="http://schemas.openxmlformats.org/drawingml/2006/main">
              <a:ext uri="{FF2B5EF4-FFF2-40B4-BE49-F238E27FC236}">
                <a16:creationId xmlns:a16="http://schemas.microsoft.com/office/drawing/2014/main" id="{A5DFAAF8-05F9-453B-8CD2-75174847D593}"/>
              </a:ext>
            </a:extLst>
          </p:cNvPr>
          <p:cNvSpPr>
            <a:spLocks xmlns:a="http://schemas.openxmlformats.org/drawingml/2006/main" noGrp="1"/>
          </p:cNvSpPr>
          <p:nvPr/>
        </p:nvSpPr>
        <p:spPr>
          <a:xfrm xmlns:a="http://schemas.openxmlformats.org/drawingml/2006/main">
            <a:off x="609600" y="40767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5215F9FC-B11B-4362-93AD-CC6E041C6D10}"/>
              </a:ext>
            </a:extLst>
          </p:cNvPr>
          <p:cNvSpPr>
            <a:spLocks xmlns:a="http://schemas.openxmlformats.org/drawingml/2006/main" noGrp="1"/>
          </p:cNvSpPr>
          <p:nvPr/>
        </p:nvSpPr>
        <p:spPr>
          <a:xfrm xmlns:a="http://schemas.openxmlformats.org/drawingml/2006/main">
            <a:off x="1104900" y="40767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Select tasks where a draft or summary can be checked against a trusted source.</a:t>
            </a:r>
          </a:p>
        </p:txBody>
      </p:sp>
      <p:sp>
        <p:nvSpPr>
          <p:cNvPr id="15" name="">
            <a:extLst xmlns:a="http://schemas.openxmlformats.org/drawingml/2006/main">
              <a:ext uri="{FF2B5EF4-FFF2-40B4-BE49-F238E27FC236}">
                <a16:creationId xmlns:a16="http://schemas.microsoft.com/office/drawing/2014/main" id="{4A5130BA-1BC8-4470-8927-EDC7BA9C0168}"/>
              </a:ext>
            </a:extLst>
          </p:cNvPr>
          <p:cNvSpPr>
            <a:spLocks xmlns:a="http://schemas.openxmlformats.org/drawingml/2006/main" noGrp="1"/>
          </p:cNvSpPr>
          <p:nvPr/>
        </p:nvSpPr>
        <p:spPr>
          <a:xfrm xmlns:a="http://schemas.openxmlformats.org/drawingml/2006/main">
            <a:off x="609600" y="47244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EBF9ED3F-52E7-4E78-B552-13F34B359036}"/>
              </a:ext>
            </a:extLst>
          </p:cNvPr>
          <p:cNvSpPr>
            <a:spLocks xmlns:a="http://schemas.openxmlformats.org/drawingml/2006/main" noGrp="1"/>
          </p:cNvSpPr>
          <p:nvPr/>
        </p:nvSpPr>
        <p:spPr>
          <a:xfrm xmlns:a="http://schemas.openxmlformats.org/drawingml/2006/main">
            <a:off x="1104900" y="47244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Identify signs that an answer may be incomplete, unsupported or outside the tool’s safe use.</a:t>
            </a:r>
          </a:p>
        </p:txBody>
      </p:sp>
      <p:sp>
        <p:nvSpPr>
          <p:cNvPr id="17" name="">
            <a:extLst xmlns:a="http://schemas.openxmlformats.org/drawingml/2006/main">
              <a:ext uri="{FF2B5EF4-FFF2-40B4-BE49-F238E27FC236}">
                <a16:creationId xmlns:a16="http://schemas.microsoft.com/office/drawing/2014/main" id="{0C803BB9-28DE-404A-80FC-8AA9003950B2}"/>
              </a:ext>
            </a:extLst>
          </p:cNvPr>
          <p:cNvSpPr>
            <a:spLocks xmlns:a="http://schemas.openxmlformats.org/drawingml/2006/main" noGrp="1"/>
          </p:cNvSpPr>
          <p:nvPr/>
        </p:nvSpPr>
        <p:spPr>
          <a:xfrm xmlns:a="http://schemas.openxmlformats.org/drawingml/2006/main">
            <a:off x="609600" y="5476875"/>
            <a:ext cx="6953250" cy="476250"/>
          </a:xfrm>
          <a:prstGeom xmlns:a="http://schemas.openxmlformats.org/drawingml/2006/main" prst="rect">
            <a:avLst/>
          </a:prstGeom>
          <a:noFill xmlns:a="http://schemas.openxmlformats.org/drawingml/2006/main"/>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5AFC274-95E2-4B04-9B69-CDFE78CBB9B7}"/>
              </a:ext>
            </a:extLst>
          </p:cNvPr>
          <p:cNvSpPr>
            <a:spLocks xmlns:a="http://schemas.openxmlformats.org/drawingml/2006/main" noGrp="1"/>
          </p:cNvSpPr>
          <p:nvPr/>
        </p:nvSpPr>
        <p:spPr>
          <a:xfrm xmlns:a="http://schemas.openxmlformats.org/drawingml/2006/main">
            <a:off x="781050" y="5591175"/>
            <a:ext cx="659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91"/>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Session length: at least 1 hour, including Q&amp;A. Guided practice and discussion can extend it.</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7d181a1d2ad64baf"/>
          <a:srcRect xmlns:a="http://schemas.openxmlformats.org/drawingml/2006/main" l="5909" t="0" r="5909" b="0"/>
          <a:stretch xmlns:a="http://schemas.openxmlformats.org/drawingml/2006/main">
            <a:fillRect l="0" t="0" r="0" b="0"/>
          </a:stretch>
        </p:blipFill>
        <p:spPr>
          <a:xfrm xmlns:a="http://schemas.openxmlformats.org/drawingml/2006/main">
            <a:off x="7981950" y="2247900"/>
            <a:ext cx="3429000" cy="219075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D03F2FBF-E258-4CC6-8A88-CC2CCEAD28EE}"/>
              </a:ext>
            </a:extLst>
          </p:cNvPr>
          <p:cNvSpPr>
            <a:spLocks xmlns:a="http://schemas.openxmlformats.org/drawingml/2006/main" noGrp="1"/>
          </p:cNvSpPr>
          <p:nvPr/>
        </p:nvSpPr>
        <p:spPr>
          <a:xfrm xmlns:a="http://schemas.openxmlformats.org/drawingml/2006/main">
            <a:off x="7981950" y="4524375"/>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0">
                <a:solidFill>
                  <a:srgbClr val="6D7E89"/>
                </a:solidFill>
                <a:latin typeface="Arial"/>
                <a:ea typeface="Arial"/>
                <a:cs typeface="Arial"/>
              </a:defRPr>
            </a:pPr>
            <a:r>
              <a:rPr sz="900" b="0">
                <a:solidFill>
                  <a:srgbClr val="6D7E89"/>
                </a:solidFill>
                <a:latin typeface="Arial"/>
                <a:ea typeface="Arial"/>
                <a:cs typeface="Arial"/>
              </a:rPr>
              <a:t>Concept illustration from the proposal, not a depiction of DWIHN systems.</a:t>
            </a:r>
          </a:p>
        </p:txBody>
      </p:sp>
    </p:spTree>
    <p:extLst>
      <p:ext uri="{BB962C8B-B14F-4D97-AF65-F5344CB8AC3E}">
        <p14:creationId xmlns:p14="http://schemas.microsoft.com/office/powerpoint/2010/main" val="1208973082"/>
      </p:ext>
    </p:extLst>
  </p:cSld>
</p:sld>
</file>

<file path=ppt/slides/slide2.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A074A88-70DE-4640-9B62-FF8B030B48CA}"/>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1 / MODULE 1</a:t>
            </a:r>
          </a:p>
        </p:txBody>
      </p:sp>
      <p:sp>
        <p:nvSpPr>
          <p:cNvPr id="2" name="">
            <a:extLst xmlns:a="http://schemas.openxmlformats.org/drawingml/2006/main">
              <a:ext uri="{FF2B5EF4-FFF2-40B4-BE49-F238E27FC236}">
                <a16:creationId xmlns:a16="http://schemas.microsoft.com/office/drawing/2014/main" id="{B1C4156C-ED3B-45EE-A65C-C7184EB4E7B2}"/>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S1  |  Core concepts</a:t>
            </a:r>
          </a:p>
        </p:txBody>
      </p:sp>
      <p:sp>
        <p:nvSpPr>
          <p:cNvPr id="3" name="">
            <a:extLst xmlns:a="http://schemas.openxmlformats.org/drawingml/2006/main">
              <a:ext uri="{FF2B5EF4-FFF2-40B4-BE49-F238E27FC236}">
                <a16:creationId xmlns:a16="http://schemas.microsoft.com/office/drawing/2014/main" id="{3FB971B6-33CF-4561-8B42-A2A0019FD00F}"/>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D880F87-5E96-4B03-8FF9-CB153ABCCDCC}"/>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20857E5-5A84-4CFE-AF68-6D492F81F38C}"/>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4C2BDE97-A830-4682-9A16-950E8185DB25}"/>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CDA45144-E9E6-428D-B939-4C7D9DBE7D44}"/>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1, Practice Lab and Knowledge Check; proposal p. 6.</a:t>
            </a:r>
          </a:p>
        </p:txBody>
      </p:sp>
      <p:sp>
        <p:nvSpPr>
          <p:cNvPr id="8" name="">
            <a:extLst xmlns:a="http://schemas.openxmlformats.org/drawingml/2006/main">
              <a:ext uri="{FF2B5EF4-FFF2-40B4-BE49-F238E27FC236}">
                <a16:creationId xmlns:a16="http://schemas.microsoft.com/office/drawing/2014/main" id="{E186189B-3F30-4591-8189-884EC317D7E9}"/>
              </a:ext>
            </a:extLst>
          </p:cNvPr>
          <p:cNvSpPr>
            <a:spLocks xmlns:a="http://schemas.openxmlformats.org/drawingml/2006/main" noGrp="1"/>
          </p:cNvSpPr>
          <p:nvPr/>
        </p:nvSpPr>
        <p:spPr>
          <a:xfrm xmlns:a="http://schemas.openxmlformats.org/drawingml/2006/main">
            <a:off x="609600" y="15811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What AI Is — and Isn’t</a:t>
            </a:r>
          </a:p>
        </p:txBody>
      </p:sp>
      <p:sp>
        <p:nvSpPr>
          <p:cNvPr id="9" name="">
            <a:extLst xmlns:a="http://schemas.openxmlformats.org/drawingml/2006/main">
              <a:ext uri="{FF2B5EF4-FFF2-40B4-BE49-F238E27FC236}">
                <a16:creationId xmlns:a16="http://schemas.microsoft.com/office/drawing/2014/main" id="{F55003F2-D177-4B06-BA2F-CDC9ABF41CF1}"/>
              </a:ext>
            </a:extLst>
          </p:cNvPr>
          <p:cNvSpPr>
            <a:spLocks xmlns:a="http://schemas.openxmlformats.org/drawingml/2006/main" noGrp="1"/>
          </p:cNvSpPr>
          <p:nvPr/>
        </p:nvSpPr>
        <p:spPr>
          <a:xfrm xmlns:a="http://schemas.openxmlformats.org/drawingml/2006/main">
            <a:off x="609600" y="19716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5ECA4904-6B49-4261-A2A8-0EF5A8297A9E}"/>
              </a:ext>
            </a:extLst>
          </p:cNvPr>
          <p:cNvSpPr>
            <a:spLocks xmlns:a="http://schemas.openxmlformats.org/drawingml/2006/main" noGrp="1"/>
          </p:cNvSpPr>
          <p:nvPr/>
        </p:nvSpPr>
        <p:spPr>
          <a:xfrm xmlns:a="http://schemas.openxmlformats.org/drawingml/2006/main">
            <a:off x="1143000" y="19716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AI recognizes patterns</a:t>
            </a:r>
          </a:p>
        </p:txBody>
      </p:sp>
      <p:sp>
        <p:nvSpPr>
          <p:cNvPr id="11" name="">
            <a:extLst xmlns:a="http://schemas.openxmlformats.org/drawingml/2006/main">
              <a:ext uri="{FF2B5EF4-FFF2-40B4-BE49-F238E27FC236}">
                <a16:creationId xmlns:a16="http://schemas.microsoft.com/office/drawing/2014/main" id="{1190F997-E24B-4B38-868E-2E2996D75E30}"/>
              </a:ext>
            </a:extLst>
          </p:cNvPr>
          <p:cNvSpPr>
            <a:spLocks xmlns:a="http://schemas.openxmlformats.org/drawingml/2006/main" noGrp="1"/>
          </p:cNvSpPr>
          <p:nvPr/>
        </p:nvSpPr>
        <p:spPr>
          <a:xfrm xmlns:a="http://schemas.openxmlformats.org/drawingml/2006/main">
            <a:off x="3857625" y="19716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AI systems process examples and input patterns to produce classifications, predictions or text. A language model generates a likely response from its prompt and learned patterns. It does not know DWIHN policy unless that information is supplied through a trusted, approved workflow.</a:t>
            </a:r>
          </a:p>
        </p:txBody>
      </p:sp>
      <p:sp>
        <p:nvSpPr>
          <p:cNvPr id="12" name="">
            <a:extLst xmlns:a="http://schemas.openxmlformats.org/drawingml/2006/main">
              <a:ext uri="{FF2B5EF4-FFF2-40B4-BE49-F238E27FC236}">
                <a16:creationId xmlns:a16="http://schemas.microsoft.com/office/drawing/2014/main" id="{7F8BCDC6-E671-47CB-95BF-58CC36158D0F}"/>
              </a:ext>
            </a:extLst>
          </p:cNvPr>
          <p:cNvSpPr>
            <a:spLocks xmlns:a="http://schemas.openxmlformats.org/drawingml/2006/main" noGrp="1"/>
          </p:cNvSpPr>
          <p:nvPr/>
        </p:nvSpPr>
        <p:spPr>
          <a:xfrm xmlns:a="http://schemas.openxmlformats.org/drawingml/2006/main">
            <a:off x="1143000" y="28003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5A9F754-8599-4B74-97AD-5C6B66E2A031}"/>
              </a:ext>
            </a:extLst>
          </p:cNvPr>
          <p:cNvSpPr>
            <a:spLocks xmlns:a="http://schemas.openxmlformats.org/drawingml/2006/main" noGrp="1"/>
          </p:cNvSpPr>
          <p:nvPr/>
        </p:nvSpPr>
        <p:spPr>
          <a:xfrm xmlns:a="http://schemas.openxmlformats.org/drawingml/2006/main">
            <a:off x="609600" y="29813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E2B4770C-9EBB-4A82-9099-3B8E583C5C98}"/>
              </a:ext>
            </a:extLst>
          </p:cNvPr>
          <p:cNvSpPr>
            <a:spLocks xmlns:a="http://schemas.openxmlformats.org/drawingml/2006/main" noGrp="1"/>
          </p:cNvSpPr>
          <p:nvPr/>
        </p:nvSpPr>
        <p:spPr>
          <a:xfrm xmlns:a="http://schemas.openxmlformats.org/drawingml/2006/main">
            <a:off x="1143000" y="29813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56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Fluent output can still be wrong</a:t>
            </a:r>
          </a:p>
        </p:txBody>
      </p:sp>
      <p:sp>
        <p:nvSpPr>
          <p:cNvPr id="15" name="">
            <a:extLst xmlns:a="http://schemas.openxmlformats.org/drawingml/2006/main">
              <a:ext uri="{FF2B5EF4-FFF2-40B4-BE49-F238E27FC236}">
                <a16:creationId xmlns:a16="http://schemas.microsoft.com/office/drawing/2014/main" id="{D618501D-9D83-4D18-A857-6E3AEBFB946A}"/>
              </a:ext>
            </a:extLst>
          </p:cNvPr>
          <p:cNvSpPr>
            <a:spLocks xmlns:a="http://schemas.openxmlformats.org/drawingml/2006/main" noGrp="1"/>
          </p:cNvSpPr>
          <p:nvPr/>
        </p:nvSpPr>
        <p:spPr>
          <a:xfrm xmlns:a="http://schemas.openxmlformats.org/drawingml/2006/main">
            <a:off x="3857625" y="29813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 polished answer can omit a key fact, make an unsupported inference or invent a reference. A useful review compares important claims with the source, checks names and dates, and tests whether the output answers the actual request.</a:t>
            </a:r>
          </a:p>
        </p:txBody>
      </p:sp>
      <p:sp>
        <p:nvSpPr>
          <p:cNvPr id="16" name="">
            <a:extLst xmlns:a="http://schemas.openxmlformats.org/drawingml/2006/main">
              <a:ext uri="{FF2B5EF4-FFF2-40B4-BE49-F238E27FC236}">
                <a16:creationId xmlns:a16="http://schemas.microsoft.com/office/drawing/2014/main" id="{10AA27C2-5E6C-42D6-9CA2-65FA3F16D068}"/>
              </a:ext>
            </a:extLst>
          </p:cNvPr>
          <p:cNvSpPr>
            <a:spLocks xmlns:a="http://schemas.openxmlformats.org/drawingml/2006/main" noGrp="1"/>
          </p:cNvSpPr>
          <p:nvPr/>
        </p:nvSpPr>
        <p:spPr>
          <a:xfrm xmlns:a="http://schemas.openxmlformats.org/drawingml/2006/main">
            <a:off x="1143000" y="381000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EE7A9F9-AE65-4E8E-963F-B7A0ACFC32FD}"/>
              </a:ext>
            </a:extLst>
          </p:cNvPr>
          <p:cNvSpPr>
            <a:spLocks xmlns:a="http://schemas.openxmlformats.org/drawingml/2006/main" noGrp="1"/>
          </p:cNvSpPr>
          <p:nvPr/>
        </p:nvSpPr>
        <p:spPr>
          <a:xfrm xmlns:a="http://schemas.openxmlformats.org/drawingml/2006/main">
            <a:off x="609600" y="39909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74DBC888-8753-41AB-BDFD-A7F0FCAD0DCE}"/>
              </a:ext>
            </a:extLst>
          </p:cNvPr>
          <p:cNvSpPr>
            <a:spLocks xmlns:a="http://schemas.openxmlformats.org/drawingml/2006/main" noGrp="1"/>
          </p:cNvSpPr>
          <p:nvPr/>
        </p:nvSpPr>
        <p:spPr>
          <a:xfrm xmlns:a="http://schemas.openxmlformats.org/drawingml/2006/main">
            <a:off x="1143000" y="39909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918"/>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Good fit depends on reviewability</a:t>
            </a:r>
          </a:p>
        </p:txBody>
      </p:sp>
      <p:sp>
        <p:nvSpPr>
          <p:cNvPr id="19" name="">
            <a:extLst xmlns:a="http://schemas.openxmlformats.org/drawingml/2006/main">
              <a:ext uri="{FF2B5EF4-FFF2-40B4-BE49-F238E27FC236}">
                <a16:creationId xmlns:a16="http://schemas.microsoft.com/office/drawing/2014/main" id="{B4F4DDAD-2F8D-4848-A6D8-718A6E68F8AE}"/>
              </a:ext>
            </a:extLst>
          </p:cNvPr>
          <p:cNvSpPr>
            <a:spLocks xmlns:a="http://schemas.openxmlformats.org/drawingml/2006/main" noGrp="1"/>
          </p:cNvSpPr>
          <p:nvPr/>
        </p:nvSpPr>
        <p:spPr>
          <a:xfrm xmlns:a="http://schemas.openxmlformats.org/drawingml/2006/main">
            <a:off x="3857625" y="39909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Drafting a neutral internal outline is easier to check than making a consequential service decision. Favor tasks with clear inputs, limited stakes and a reviewer who can compare the result with the source.</a:t>
            </a:r>
          </a:p>
        </p:txBody>
      </p:sp>
      <p:sp>
        <p:nvSpPr>
          <p:cNvPr id="20" name="">
            <a:extLst xmlns:a="http://schemas.openxmlformats.org/drawingml/2006/main">
              <a:ext uri="{FF2B5EF4-FFF2-40B4-BE49-F238E27FC236}">
                <a16:creationId xmlns:a16="http://schemas.microsoft.com/office/drawing/2014/main" id="{1EA73C1E-819A-4666-A1D4-CA2F8003459D}"/>
              </a:ext>
            </a:extLst>
          </p:cNvPr>
          <p:cNvSpPr>
            <a:spLocks xmlns:a="http://schemas.openxmlformats.org/drawingml/2006/main" noGrp="1"/>
          </p:cNvSpPr>
          <p:nvPr/>
        </p:nvSpPr>
        <p:spPr>
          <a:xfrm xmlns:a="http://schemas.openxmlformats.org/drawingml/2006/main">
            <a:off x="1143000" y="48196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9E99E67-CA6F-42E7-AE7C-8C2048755C43}"/>
              </a:ext>
            </a:extLst>
          </p:cNvPr>
          <p:cNvSpPr>
            <a:spLocks xmlns:a="http://schemas.openxmlformats.org/drawingml/2006/main" noGrp="1"/>
          </p:cNvSpPr>
          <p:nvPr/>
        </p:nvSpPr>
        <p:spPr>
          <a:xfrm xmlns:a="http://schemas.openxmlformats.org/drawingml/2006/main">
            <a:off x="609600" y="5000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A2AD96B3-B5F9-4BDC-B8F0-C6A31FBED88C}"/>
              </a:ext>
            </a:extLst>
          </p:cNvPr>
          <p:cNvSpPr>
            <a:spLocks xmlns:a="http://schemas.openxmlformats.org/drawingml/2006/main" noGrp="1"/>
          </p:cNvSpPr>
          <p:nvPr/>
        </p:nvSpPr>
        <p:spPr>
          <a:xfrm xmlns:a="http://schemas.openxmlformats.org/drawingml/2006/main">
            <a:off x="1143000" y="50006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People retain accountability</a:t>
            </a:r>
          </a:p>
        </p:txBody>
      </p:sp>
      <p:sp>
        <p:nvSpPr>
          <p:cNvPr id="23" name="">
            <a:extLst xmlns:a="http://schemas.openxmlformats.org/drawingml/2006/main">
              <a:ext uri="{FF2B5EF4-FFF2-40B4-BE49-F238E27FC236}">
                <a16:creationId xmlns:a16="http://schemas.microsoft.com/office/drawing/2014/main" id="{3CB55D9B-1521-4F3B-8027-64A28B7D2480}"/>
              </a:ext>
            </a:extLst>
          </p:cNvPr>
          <p:cNvSpPr>
            <a:spLocks xmlns:a="http://schemas.openxmlformats.org/drawingml/2006/main" noGrp="1"/>
          </p:cNvSpPr>
          <p:nvPr/>
        </p:nvSpPr>
        <p:spPr>
          <a:xfrm xmlns:a="http://schemas.openxmlformats.org/drawingml/2006/main">
            <a:off x="3857625" y="50006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The employee owns the final message, decision and escalation. AI can organize or suggest language, but cannot assume professional responsibility, understand a person’s complete circumstances or approve an action.</a:t>
            </a:r>
          </a:p>
        </p:txBody>
      </p:sp>
    </p:spTree>
    <p:extLst>
      <p:ext uri="{BB962C8B-B14F-4D97-AF65-F5344CB8AC3E}">
        <p14:creationId xmlns:p14="http://schemas.microsoft.com/office/powerpoint/2010/main" val="1252869414"/>
      </p:ext>
    </p:extLst>
  </p:cSld>
</p:sld>
</file>

<file path=ppt/slides/slide3.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45083B9B-CDD2-49FD-923E-F0E173543017}"/>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1 / MODULE 1</a:t>
            </a:r>
          </a:p>
        </p:txBody>
      </p:sp>
      <p:sp>
        <p:nvSpPr>
          <p:cNvPr id="2" name="">
            <a:extLst xmlns:a="http://schemas.openxmlformats.org/drawingml/2006/main">
              <a:ext uri="{FF2B5EF4-FFF2-40B4-BE49-F238E27FC236}">
                <a16:creationId xmlns:a16="http://schemas.microsoft.com/office/drawing/2014/main" id="{CD2BECAA-ABBD-44F1-904C-24DA8C8DCB81}"/>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S1  |  Instructor walkthrough</a:t>
            </a:r>
          </a:p>
        </p:txBody>
      </p:sp>
      <p:sp>
        <p:nvSpPr>
          <p:cNvPr id="3" name="">
            <a:extLst xmlns:a="http://schemas.openxmlformats.org/drawingml/2006/main">
              <a:ext uri="{FF2B5EF4-FFF2-40B4-BE49-F238E27FC236}">
                <a16:creationId xmlns:a16="http://schemas.microsoft.com/office/drawing/2014/main" id="{56CC29AF-03F3-4CFA-8900-45EE253E420D}"/>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0C32275-08A6-4F27-AC37-8B385426018D}"/>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6209697-BDFE-44EA-BA3E-5B7477BF851F}"/>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C4B94C58-29EA-454C-9A29-83B9324BCD61}"/>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FEC8E3C9-66AB-43B8-95E8-FC023F5BF51B}"/>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1, Practice Lab and Knowledge Check; proposal p. 6.</a:t>
            </a:r>
          </a:p>
        </p:txBody>
      </p:sp>
      <p:sp>
        <p:nvSpPr>
          <p:cNvPr id="8" name="">
            <a:extLst xmlns:a="http://schemas.openxmlformats.org/drawingml/2006/main">
              <a:ext uri="{FF2B5EF4-FFF2-40B4-BE49-F238E27FC236}">
                <a16:creationId xmlns:a16="http://schemas.microsoft.com/office/drawing/2014/main" id="{09AAD474-A60B-4539-8FD0-7C87AA7EC235}"/>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What AI Is — and Isn’t</a:t>
            </a:r>
          </a:p>
        </p:txBody>
      </p:sp>
      <p:sp>
        <p:nvSpPr>
          <p:cNvPr id="9" name="">
            <a:extLst xmlns:a="http://schemas.openxmlformats.org/drawingml/2006/main">
              <a:ext uri="{FF2B5EF4-FFF2-40B4-BE49-F238E27FC236}">
                <a16:creationId xmlns:a16="http://schemas.microsoft.com/office/drawing/2014/main" id="{CA9A385A-CC8E-4052-BB44-F704746D141A}"/>
              </a:ext>
            </a:extLst>
          </p:cNvPr>
          <p:cNvSpPr>
            <a:spLocks xmlns:a="http://schemas.openxmlformats.org/drawingml/2006/main" noGrp="1"/>
          </p:cNvSpPr>
          <p:nvPr/>
        </p:nvSpPr>
        <p:spPr>
          <a:xfrm xmlns:a="http://schemas.openxmlformats.org/drawingml/2006/main">
            <a:off x="60960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0" name="">
            <a:extLst xmlns:a="http://schemas.openxmlformats.org/drawingml/2006/main">
              <a:ext uri="{FF2B5EF4-FFF2-40B4-BE49-F238E27FC236}">
                <a16:creationId xmlns:a16="http://schemas.microsoft.com/office/drawing/2014/main" id="{1A3A3AD5-1BE4-4D59-BA92-047C5C608D4C}"/>
              </a:ext>
            </a:extLst>
          </p:cNvPr>
          <p:cNvSpPr>
            <a:spLocks xmlns:a="http://schemas.openxmlformats.org/drawingml/2006/main" noGrp="1"/>
          </p:cNvSpPr>
          <p:nvPr/>
        </p:nvSpPr>
        <p:spPr>
          <a:xfrm xmlns:a="http://schemas.openxmlformats.org/drawingml/2006/main">
            <a:off x="74295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8214AC9C-0531-435B-904E-241BCE142746}"/>
              </a:ext>
            </a:extLst>
          </p:cNvPr>
          <p:cNvSpPr>
            <a:spLocks xmlns:a="http://schemas.openxmlformats.org/drawingml/2006/main" noGrp="1"/>
          </p:cNvSpPr>
          <p:nvPr/>
        </p:nvSpPr>
        <p:spPr>
          <a:xfrm xmlns:a="http://schemas.openxmlformats.org/drawingml/2006/main">
            <a:off x="74295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Define the task</a:t>
            </a:r>
          </a:p>
        </p:txBody>
      </p:sp>
      <p:sp>
        <p:nvSpPr>
          <p:cNvPr id="12" name="">
            <a:extLst xmlns:a="http://schemas.openxmlformats.org/drawingml/2006/main">
              <a:ext uri="{FF2B5EF4-FFF2-40B4-BE49-F238E27FC236}">
                <a16:creationId xmlns:a16="http://schemas.microsoft.com/office/drawing/2014/main" id="{C6593512-6AED-4BC5-82B9-AA77B0391E94}"/>
              </a:ext>
            </a:extLst>
          </p:cNvPr>
          <p:cNvSpPr>
            <a:spLocks xmlns:a="http://schemas.openxmlformats.org/drawingml/2006/main" noGrp="1"/>
          </p:cNvSpPr>
          <p:nvPr/>
        </p:nvSpPr>
        <p:spPr>
          <a:xfrm xmlns:a="http://schemas.openxmlformats.org/drawingml/2006/main">
            <a:off x="74295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Use fictional meeting notes and ask for a structured summary of topics, decisions and open questions.</a:t>
            </a:r>
          </a:p>
        </p:txBody>
      </p:sp>
      <p:sp>
        <p:nvSpPr>
          <p:cNvPr id="13" name="">
            <a:extLst xmlns:a="http://schemas.openxmlformats.org/drawingml/2006/main">
              <a:ext uri="{FF2B5EF4-FFF2-40B4-BE49-F238E27FC236}">
                <a16:creationId xmlns:a16="http://schemas.microsoft.com/office/drawing/2014/main" id="{E432CED6-5838-4070-A212-03A09EBE682B}"/>
              </a:ext>
            </a:extLst>
          </p:cNvPr>
          <p:cNvSpPr>
            <a:spLocks xmlns:a="http://schemas.openxmlformats.org/drawingml/2006/main" noGrp="1"/>
          </p:cNvSpPr>
          <p:nvPr/>
        </p:nvSpPr>
        <p:spPr>
          <a:xfrm xmlns:a="http://schemas.openxmlformats.org/drawingml/2006/main">
            <a:off x="303847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AD6F879-A111-4F85-8DF9-BE833A4113A2}"/>
              </a:ext>
            </a:extLst>
          </p:cNvPr>
          <p:cNvSpPr>
            <a:spLocks xmlns:a="http://schemas.openxmlformats.org/drawingml/2006/main" noGrp="1"/>
          </p:cNvSpPr>
          <p:nvPr/>
        </p:nvSpPr>
        <p:spPr>
          <a:xfrm xmlns:a="http://schemas.openxmlformats.org/drawingml/2006/main">
            <a:off x="338137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5" name="">
            <a:extLst xmlns:a="http://schemas.openxmlformats.org/drawingml/2006/main">
              <a:ext uri="{FF2B5EF4-FFF2-40B4-BE49-F238E27FC236}">
                <a16:creationId xmlns:a16="http://schemas.microsoft.com/office/drawing/2014/main" id="{185AB224-8C8D-4068-B374-082B7FD16C25}"/>
              </a:ext>
            </a:extLst>
          </p:cNvPr>
          <p:cNvSpPr>
            <a:spLocks xmlns:a="http://schemas.openxmlformats.org/drawingml/2006/main" noGrp="1"/>
          </p:cNvSpPr>
          <p:nvPr/>
        </p:nvSpPr>
        <p:spPr>
          <a:xfrm xmlns:a="http://schemas.openxmlformats.org/drawingml/2006/main">
            <a:off x="351472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4F87DF71-7509-4C36-A3F4-DC63EB54DA68}"/>
              </a:ext>
            </a:extLst>
          </p:cNvPr>
          <p:cNvSpPr>
            <a:spLocks xmlns:a="http://schemas.openxmlformats.org/drawingml/2006/main" noGrp="1"/>
          </p:cNvSpPr>
          <p:nvPr/>
        </p:nvSpPr>
        <p:spPr>
          <a:xfrm xmlns:a="http://schemas.openxmlformats.org/drawingml/2006/main">
            <a:off x="351472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Constrain the response</a:t>
            </a:r>
          </a:p>
        </p:txBody>
      </p:sp>
      <p:sp>
        <p:nvSpPr>
          <p:cNvPr id="17" name="">
            <a:extLst xmlns:a="http://schemas.openxmlformats.org/drawingml/2006/main">
              <a:ext uri="{FF2B5EF4-FFF2-40B4-BE49-F238E27FC236}">
                <a16:creationId xmlns:a16="http://schemas.microsoft.com/office/drawing/2014/main" id="{0EDD0F88-6A38-4557-ADA4-8891D44291B6}"/>
              </a:ext>
            </a:extLst>
          </p:cNvPr>
          <p:cNvSpPr>
            <a:spLocks xmlns:a="http://schemas.openxmlformats.org/drawingml/2006/main" noGrp="1"/>
          </p:cNvSpPr>
          <p:nvPr/>
        </p:nvSpPr>
        <p:spPr>
          <a:xfrm xmlns:a="http://schemas.openxmlformats.org/drawingml/2006/main">
            <a:off x="351472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Ask the tool to use only the supplied notes, preserve uncertainty and leave missing owners blank.</a:t>
            </a:r>
          </a:p>
        </p:txBody>
      </p:sp>
      <p:sp>
        <p:nvSpPr>
          <p:cNvPr id="18" name="">
            <a:extLst xmlns:a="http://schemas.openxmlformats.org/drawingml/2006/main">
              <a:ext uri="{FF2B5EF4-FFF2-40B4-BE49-F238E27FC236}">
                <a16:creationId xmlns:a16="http://schemas.microsoft.com/office/drawing/2014/main" id="{4F7B329D-6921-4991-B74D-0FC8C2B40303}"/>
              </a:ext>
            </a:extLst>
          </p:cNvPr>
          <p:cNvSpPr>
            <a:spLocks xmlns:a="http://schemas.openxmlformats.org/drawingml/2006/main" noGrp="1"/>
          </p:cNvSpPr>
          <p:nvPr/>
        </p:nvSpPr>
        <p:spPr>
          <a:xfrm xmlns:a="http://schemas.openxmlformats.org/drawingml/2006/main">
            <a:off x="5810250"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CA873BC-38E9-47A4-81EF-3D78070808B3}"/>
              </a:ext>
            </a:extLst>
          </p:cNvPr>
          <p:cNvSpPr>
            <a:spLocks xmlns:a="http://schemas.openxmlformats.org/drawingml/2006/main" noGrp="1"/>
          </p:cNvSpPr>
          <p:nvPr/>
        </p:nvSpPr>
        <p:spPr>
          <a:xfrm xmlns:a="http://schemas.openxmlformats.org/drawingml/2006/main">
            <a:off x="615315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0" name="">
            <a:extLst xmlns:a="http://schemas.openxmlformats.org/drawingml/2006/main">
              <a:ext uri="{FF2B5EF4-FFF2-40B4-BE49-F238E27FC236}">
                <a16:creationId xmlns:a16="http://schemas.microsoft.com/office/drawing/2014/main" id="{56CBB61C-508A-4161-859C-A7E4578CDF18}"/>
              </a:ext>
            </a:extLst>
          </p:cNvPr>
          <p:cNvSpPr>
            <a:spLocks xmlns:a="http://schemas.openxmlformats.org/drawingml/2006/main" noGrp="1"/>
          </p:cNvSpPr>
          <p:nvPr/>
        </p:nvSpPr>
        <p:spPr>
          <a:xfrm xmlns:a="http://schemas.openxmlformats.org/drawingml/2006/main">
            <a:off x="628650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21" name="">
            <a:extLst xmlns:a="http://schemas.openxmlformats.org/drawingml/2006/main">
              <a:ext uri="{FF2B5EF4-FFF2-40B4-BE49-F238E27FC236}">
                <a16:creationId xmlns:a16="http://schemas.microsoft.com/office/drawing/2014/main" id="{408C40CA-9B70-498D-8F70-2A1B08004E98}"/>
              </a:ext>
            </a:extLst>
          </p:cNvPr>
          <p:cNvSpPr>
            <a:spLocks xmlns:a="http://schemas.openxmlformats.org/drawingml/2006/main" noGrp="1"/>
          </p:cNvSpPr>
          <p:nvPr/>
        </p:nvSpPr>
        <p:spPr>
          <a:xfrm xmlns:a="http://schemas.openxmlformats.org/drawingml/2006/main">
            <a:off x="628650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Compare with source</a:t>
            </a:r>
          </a:p>
        </p:txBody>
      </p:sp>
      <p:sp>
        <p:nvSpPr>
          <p:cNvPr id="22" name="">
            <a:extLst xmlns:a="http://schemas.openxmlformats.org/drawingml/2006/main">
              <a:ext uri="{FF2B5EF4-FFF2-40B4-BE49-F238E27FC236}">
                <a16:creationId xmlns:a16="http://schemas.microsoft.com/office/drawing/2014/main" id="{9BD2E583-465D-4900-B3CB-0EF6535E9E2B}"/>
              </a:ext>
            </a:extLst>
          </p:cNvPr>
          <p:cNvSpPr>
            <a:spLocks xmlns:a="http://schemas.openxmlformats.org/drawingml/2006/main" noGrp="1"/>
          </p:cNvSpPr>
          <p:nvPr/>
        </p:nvSpPr>
        <p:spPr>
          <a:xfrm xmlns:a="http://schemas.openxmlformats.org/drawingml/2006/main">
            <a:off x="628650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3034"/>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Check whether “discussed” became “approved,” whether names and dates are accurate, and whether anything was added.</a:t>
            </a:r>
          </a:p>
        </p:txBody>
      </p:sp>
      <p:sp>
        <p:nvSpPr>
          <p:cNvPr id="23" name="">
            <a:extLst xmlns:a="http://schemas.openxmlformats.org/drawingml/2006/main">
              <a:ext uri="{FF2B5EF4-FFF2-40B4-BE49-F238E27FC236}">
                <a16:creationId xmlns:a16="http://schemas.microsoft.com/office/drawing/2014/main" id="{BB334F9B-0165-46FB-973D-2A98693171F3}"/>
              </a:ext>
            </a:extLst>
          </p:cNvPr>
          <p:cNvSpPr>
            <a:spLocks xmlns:a="http://schemas.openxmlformats.org/drawingml/2006/main" noGrp="1"/>
          </p:cNvSpPr>
          <p:nvPr/>
        </p:nvSpPr>
        <p:spPr>
          <a:xfrm xmlns:a="http://schemas.openxmlformats.org/drawingml/2006/main">
            <a:off x="858202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3F6DD6B6-ED4C-46B4-AD5F-A85C11844DA7}"/>
              </a:ext>
            </a:extLst>
          </p:cNvPr>
          <p:cNvSpPr>
            <a:spLocks xmlns:a="http://schemas.openxmlformats.org/drawingml/2006/main" noGrp="1"/>
          </p:cNvSpPr>
          <p:nvPr/>
        </p:nvSpPr>
        <p:spPr>
          <a:xfrm xmlns:a="http://schemas.openxmlformats.org/drawingml/2006/main">
            <a:off x="892492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5" name="">
            <a:extLst xmlns:a="http://schemas.openxmlformats.org/drawingml/2006/main">
              <a:ext uri="{FF2B5EF4-FFF2-40B4-BE49-F238E27FC236}">
                <a16:creationId xmlns:a16="http://schemas.microsoft.com/office/drawing/2014/main" id="{499AA1AD-16E0-499F-A978-10EEDE43B7EF}"/>
              </a:ext>
            </a:extLst>
          </p:cNvPr>
          <p:cNvSpPr>
            <a:spLocks xmlns:a="http://schemas.openxmlformats.org/drawingml/2006/main" noGrp="1"/>
          </p:cNvSpPr>
          <p:nvPr/>
        </p:nvSpPr>
        <p:spPr>
          <a:xfrm xmlns:a="http://schemas.openxmlformats.org/drawingml/2006/main">
            <a:off x="905827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04</a:t>
            </a:r>
          </a:p>
        </p:txBody>
      </p:sp>
      <p:sp>
        <p:nvSpPr>
          <p:cNvPr id="26" name="">
            <a:extLst xmlns:a="http://schemas.openxmlformats.org/drawingml/2006/main">
              <a:ext uri="{FF2B5EF4-FFF2-40B4-BE49-F238E27FC236}">
                <a16:creationId xmlns:a16="http://schemas.microsoft.com/office/drawing/2014/main" id="{C4CA6584-791E-4734-BE8E-9666AC15C7D3}"/>
              </a:ext>
            </a:extLst>
          </p:cNvPr>
          <p:cNvSpPr>
            <a:spLocks xmlns:a="http://schemas.openxmlformats.org/drawingml/2006/main" noGrp="1"/>
          </p:cNvSpPr>
          <p:nvPr/>
        </p:nvSpPr>
        <p:spPr>
          <a:xfrm xmlns:a="http://schemas.openxmlformats.org/drawingml/2006/main">
            <a:off x="905827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Finalize as a person</a:t>
            </a:r>
          </a:p>
        </p:txBody>
      </p:sp>
      <p:sp>
        <p:nvSpPr>
          <p:cNvPr id="27" name="">
            <a:extLst xmlns:a="http://schemas.openxmlformats.org/drawingml/2006/main">
              <a:ext uri="{FF2B5EF4-FFF2-40B4-BE49-F238E27FC236}">
                <a16:creationId xmlns:a16="http://schemas.microsoft.com/office/drawing/2014/main" id="{218C9078-2C08-4730-B821-08781B40BA0A}"/>
              </a:ext>
            </a:extLst>
          </p:cNvPr>
          <p:cNvSpPr>
            <a:spLocks xmlns:a="http://schemas.openxmlformats.org/drawingml/2006/main" noGrp="1"/>
          </p:cNvSpPr>
          <p:nvPr/>
        </p:nvSpPr>
        <p:spPr>
          <a:xfrm xmlns:a="http://schemas.openxmlformats.org/drawingml/2006/main">
            <a:off x="905827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6822"/>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Correct the wording, remove unsupported statements and decide whether the draft is suitable for its audience.</a:t>
            </a:r>
          </a:p>
        </p:txBody>
      </p:sp>
      <p:sp>
        <p:nvSpPr>
          <p:cNvPr id="28" name="">
            <a:extLst xmlns:a="http://schemas.openxmlformats.org/drawingml/2006/main">
              <a:ext uri="{FF2B5EF4-FFF2-40B4-BE49-F238E27FC236}">
                <a16:creationId xmlns:a16="http://schemas.microsoft.com/office/drawing/2014/main" id="{91B7FB06-046B-4CE1-9660-DED931FA6728}"/>
              </a:ext>
            </a:extLst>
          </p:cNvPr>
          <p:cNvSpPr>
            <a:spLocks xmlns:a="http://schemas.openxmlformats.org/drawingml/2006/main" noGrp="1"/>
          </p:cNvSpPr>
          <p:nvPr/>
        </p:nvSpPr>
        <p:spPr>
          <a:xfrm xmlns:a="http://schemas.openxmlformats.org/drawingml/2006/main">
            <a:off x="609600" y="364807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WORKED EXAMPLE</a:t>
            </a:r>
          </a:p>
        </p:txBody>
      </p:sp>
      <p:sp>
        <p:nvSpPr>
          <p:cNvPr id="29" name="">
            <a:extLst xmlns:a="http://schemas.openxmlformats.org/drawingml/2006/main">
              <a:ext uri="{FF2B5EF4-FFF2-40B4-BE49-F238E27FC236}">
                <a16:creationId xmlns:a16="http://schemas.microsoft.com/office/drawing/2014/main" id="{AD524FE6-9B58-4D23-838F-BF197BDC6AAD}"/>
              </a:ext>
            </a:extLst>
          </p:cNvPr>
          <p:cNvSpPr>
            <a:spLocks xmlns:a="http://schemas.openxmlformats.org/drawingml/2006/main" noGrp="1"/>
          </p:cNvSpPr>
          <p:nvPr/>
        </p:nvSpPr>
        <p:spPr>
          <a:xfrm xmlns:a="http://schemas.openxmlformats.org/drawingml/2006/main">
            <a:off x="609600" y="3943350"/>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00" b="0">
                <a:solidFill>
                  <a:srgbClr val="142F42"/>
                </a:solidFill>
                <a:latin typeface="Arial"/>
                <a:ea typeface="Arial"/>
                <a:cs typeface="Arial"/>
              </a:defRPr>
            </a:pPr>
            <a:r>
              <a:rPr sz="1500" b="0">
                <a:solidFill>
                  <a:srgbClr val="142F42"/>
                </a:solidFill>
                <a:latin typeface="Arial"/>
                <a:ea typeface="Arial"/>
                <a:cs typeface="Arial"/>
              </a:rPr>
              <a:t>Hypothetical example: notes say a team discussed a referral workflow, but no decision was recorded. An AI summary calls it “the new approved workflow.” The employee changes that statement to “the team discussed a possible workflow” and confirms the next review owner from the source notes.</a:t>
            </a:r>
          </a:p>
        </p:txBody>
      </p:sp>
    </p:spTree>
    <p:extLst>
      <p:ext uri="{BB962C8B-B14F-4D97-AF65-F5344CB8AC3E}">
        <p14:creationId xmlns:p14="http://schemas.microsoft.com/office/powerpoint/2010/main" val="532483641"/>
      </p:ext>
    </p:extLst>
  </p:cSld>
</p:sld>
</file>

<file path=ppt/slides/slide4.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5E975E5-CACD-40C2-9D07-B4F9382E0DFE}"/>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1 / MODULE 1</a:t>
            </a:r>
          </a:p>
        </p:txBody>
      </p:sp>
      <p:sp>
        <p:nvSpPr>
          <p:cNvPr id="2" name="">
            <a:extLst xmlns:a="http://schemas.openxmlformats.org/drawingml/2006/main">
              <a:ext uri="{FF2B5EF4-FFF2-40B4-BE49-F238E27FC236}">
                <a16:creationId xmlns:a16="http://schemas.microsoft.com/office/drawing/2014/main" id="{E16286D4-2F0F-41C4-A15C-13D9427760B6}"/>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S1  |  Practical scenario &amp; exercise</a:t>
            </a:r>
          </a:p>
        </p:txBody>
      </p:sp>
      <p:sp>
        <p:nvSpPr>
          <p:cNvPr id="3" name="">
            <a:extLst xmlns:a="http://schemas.openxmlformats.org/drawingml/2006/main">
              <a:ext uri="{FF2B5EF4-FFF2-40B4-BE49-F238E27FC236}">
                <a16:creationId xmlns:a16="http://schemas.microsoft.com/office/drawing/2014/main" id="{32D156C6-08ED-41D2-A372-DCC8F94AF99F}"/>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8A69380-1F80-4191-BB3E-CF45FF2D344B}"/>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5062616-71AA-49F9-B4CB-E3D00486DC68}"/>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AA6A33EB-C7B5-41DF-A54A-265C5554EBD5}"/>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04</a:t>
            </a:r>
          </a:p>
        </p:txBody>
      </p:sp>
      <p:sp>
        <p:nvSpPr>
          <p:cNvPr id="7" name="">
            <a:extLst xmlns:a="http://schemas.openxmlformats.org/drawingml/2006/main">
              <a:ext uri="{FF2B5EF4-FFF2-40B4-BE49-F238E27FC236}">
                <a16:creationId xmlns:a16="http://schemas.microsoft.com/office/drawing/2014/main" id="{97BBE47E-8DC5-4349-8C61-B2ABC299C95F}"/>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1, Practice Lab and Knowledge Check; proposal p. 6.</a:t>
            </a:r>
          </a:p>
        </p:txBody>
      </p:sp>
      <p:sp>
        <p:nvSpPr>
          <p:cNvPr id="8" name="">
            <a:extLst xmlns:a="http://schemas.openxmlformats.org/drawingml/2006/main">
              <a:ext uri="{FF2B5EF4-FFF2-40B4-BE49-F238E27FC236}">
                <a16:creationId xmlns:a16="http://schemas.microsoft.com/office/drawing/2014/main" id="{975E1456-1735-4B4B-A9ED-A194B42D49F2}"/>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What AI Is — and Isn’t</a:t>
            </a:r>
          </a:p>
        </p:txBody>
      </p:sp>
      <p:sp>
        <p:nvSpPr>
          <p:cNvPr id="9" name="">
            <a:extLst xmlns:a="http://schemas.openxmlformats.org/drawingml/2006/main">
              <a:ext uri="{FF2B5EF4-FFF2-40B4-BE49-F238E27FC236}">
                <a16:creationId xmlns:a16="http://schemas.microsoft.com/office/drawing/2014/main" id="{3FC1CB19-1EE8-4E30-854E-DCD128C5539B}"/>
              </a:ext>
            </a:extLst>
          </p:cNvPr>
          <p:cNvSpPr>
            <a:spLocks xmlns:a="http://schemas.openxmlformats.org/drawingml/2006/main" noGrp="1"/>
          </p:cNvSpPr>
          <p:nvPr/>
        </p:nvSpPr>
        <p:spPr>
          <a:xfrm xmlns:a="http://schemas.openxmlformats.org/drawingml/2006/main">
            <a:off x="609600" y="1981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SCENARIO</a:t>
            </a:r>
          </a:p>
        </p:txBody>
      </p:sp>
      <p:sp>
        <p:nvSpPr>
          <p:cNvPr id="10" name="">
            <a:extLst xmlns:a="http://schemas.openxmlformats.org/drawingml/2006/main">
              <a:ext uri="{FF2B5EF4-FFF2-40B4-BE49-F238E27FC236}">
                <a16:creationId xmlns:a16="http://schemas.microsoft.com/office/drawing/2014/main" id="{B329BB8D-7E3A-4711-9965-7729345A214D}"/>
              </a:ext>
            </a:extLst>
          </p:cNvPr>
          <p:cNvSpPr>
            <a:spLocks xmlns:a="http://schemas.openxmlformats.org/drawingml/2006/main" noGrp="1"/>
          </p:cNvSpPr>
          <p:nvPr/>
        </p:nvSpPr>
        <p:spPr>
          <a:xfrm xmlns:a="http://schemas.openxmlformats.org/drawingml/2006/main">
            <a:off x="609600" y="2266950"/>
            <a:ext cx="109728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D4DFE3"/>
            </a:solidFill>
          </a:ln>
        </p:spPr>
      </p:sp>
      <p:sp>
        <p:nvSpPr>
          <p:cNvPr id="11" name="">
            <a:extLst xmlns:a="http://schemas.openxmlformats.org/drawingml/2006/main">
              <a:ext uri="{FF2B5EF4-FFF2-40B4-BE49-F238E27FC236}">
                <a16:creationId xmlns:a16="http://schemas.microsoft.com/office/drawing/2014/main" id="{8A08763D-8432-4205-BE4B-68F7A405ADAF}"/>
              </a:ext>
            </a:extLst>
          </p:cNvPr>
          <p:cNvSpPr>
            <a:spLocks xmlns:a="http://schemas.openxmlformats.org/drawingml/2006/main" noGrp="1"/>
          </p:cNvSpPr>
          <p:nvPr/>
        </p:nvSpPr>
        <p:spPr>
          <a:xfrm xmlns:a="http://schemas.openxmlformats.org/drawingml/2006/main">
            <a:off x="819150" y="2447925"/>
            <a:ext cx="10525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142F42"/>
                </a:solidFill>
                <a:latin typeface="Arial"/>
                <a:ea typeface="Arial"/>
                <a:cs typeface="Arial"/>
              </a:defRPr>
            </a:pPr>
            <a:r>
              <a:rPr sz="1425" b="0">
                <a:solidFill>
                  <a:srgbClr val="142F42"/>
                </a:solidFill>
                <a:latin typeface="Arial"/>
                <a:ea typeface="Arial"/>
                <a:cs typeface="Arial"/>
              </a:rPr>
              <a:t>A care coordinator has a long set of approved internal meeting notes and needs a clear team summary. The first generated draft is organized well, but it converts one unresolved question into a decision and leaves out a follow-up item.</a:t>
            </a:r>
          </a:p>
        </p:txBody>
      </p:sp>
      <p:sp>
        <p:nvSpPr>
          <p:cNvPr id="12" name="">
            <a:extLst xmlns:a="http://schemas.openxmlformats.org/drawingml/2006/main">
              <a:ext uri="{FF2B5EF4-FFF2-40B4-BE49-F238E27FC236}">
                <a16:creationId xmlns:a16="http://schemas.microsoft.com/office/drawing/2014/main" id="{4FBDDCF7-EBF0-49EE-BA96-B48354B9F6FA}"/>
              </a:ext>
            </a:extLst>
          </p:cNvPr>
          <p:cNvSpPr>
            <a:spLocks xmlns:a="http://schemas.openxmlformats.org/drawingml/2006/main" noGrp="1"/>
          </p:cNvSpPr>
          <p:nvPr/>
        </p:nvSpPr>
        <p:spPr>
          <a:xfrm xmlns:a="http://schemas.openxmlformats.org/drawingml/2006/main">
            <a:off x="609600" y="34861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 THE CASE</a:t>
            </a:r>
          </a:p>
        </p:txBody>
      </p:sp>
      <p:sp>
        <p:nvSpPr>
          <p:cNvPr id="13" name="">
            <a:extLst xmlns:a="http://schemas.openxmlformats.org/drawingml/2006/main">
              <a:ext uri="{FF2B5EF4-FFF2-40B4-BE49-F238E27FC236}">
                <a16:creationId xmlns:a16="http://schemas.microsoft.com/office/drawing/2014/main" id="{B57F130D-BBE2-4D04-81F3-6527AE9302CD}"/>
              </a:ext>
            </a:extLst>
          </p:cNvPr>
          <p:cNvSpPr>
            <a:spLocks xmlns:a="http://schemas.openxmlformats.org/drawingml/2006/main" noGrp="1"/>
          </p:cNvSpPr>
          <p:nvPr/>
        </p:nvSpPr>
        <p:spPr>
          <a:xfrm xmlns:a="http://schemas.openxmlformats.org/drawingml/2006/main">
            <a:off x="609600" y="38195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4" name="">
            <a:extLst xmlns:a="http://schemas.openxmlformats.org/drawingml/2006/main">
              <a:ext uri="{FF2B5EF4-FFF2-40B4-BE49-F238E27FC236}">
                <a16:creationId xmlns:a16="http://schemas.microsoft.com/office/drawing/2014/main" id="{68777659-34CA-42E1-902E-91A2DAFBAB71}"/>
              </a:ext>
            </a:extLst>
          </p:cNvPr>
          <p:cNvSpPr>
            <a:spLocks xmlns:a="http://schemas.openxmlformats.org/drawingml/2006/main" noGrp="1"/>
          </p:cNvSpPr>
          <p:nvPr/>
        </p:nvSpPr>
        <p:spPr>
          <a:xfrm xmlns:a="http://schemas.openxmlformats.org/drawingml/2006/main">
            <a:off x="1066800" y="38195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Mark each sentence as supported, missing context or unsupported.</a:t>
            </a:r>
          </a:p>
        </p:txBody>
      </p:sp>
      <p:sp>
        <p:nvSpPr>
          <p:cNvPr id="15" name="">
            <a:extLst xmlns:a="http://schemas.openxmlformats.org/drawingml/2006/main">
              <a:ext uri="{FF2B5EF4-FFF2-40B4-BE49-F238E27FC236}">
                <a16:creationId xmlns:a16="http://schemas.microsoft.com/office/drawing/2014/main" id="{6D8382AC-69A9-433E-A122-52DC810BE5D7}"/>
              </a:ext>
            </a:extLst>
          </p:cNvPr>
          <p:cNvSpPr>
            <a:spLocks xmlns:a="http://schemas.openxmlformats.org/drawingml/2006/main" noGrp="1"/>
          </p:cNvSpPr>
          <p:nvPr/>
        </p:nvSpPr>
        <p:spPr>
          <a:xfrm xmlns:a="http://schemas.openxmlformats.org/drawingml/2006/main">
            <a:off x="609600" y="43338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A54905E1-688C-4774-B63F-A73A1F8B37D9}"/>
              </a:ext>
            </a:extLst>
          </p:cNvPr>
          <p:cNvSpPr>
            <a:spLocks xmlns:a="http://schemas.openxmlformats.org/drawingml/2006/main" noGrp="1"/>
          </p:cNvSpPr>
          <p:nvPr/>
        </p:nvSpPr>
        <p:spPr>
          <a:xfrm xmlns:a="http://schemas.openxmlformats.org/drawingml/2006/main">
            <a:off x="1066800" y="433387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Rewrite the decision and follow-up sections using only the notes.</a:t>
            </a:r>
          </a:p>
        </p:txBody>
      </p:sp>
      <p:sp>
        <p:nvSpPr>
          <p:cNvPr id="17" name="">
            <a:extLst xmlns:a="http://schemas.openxmlformats.org/drawingml/2006/main">
              <a:ext uri="{FF2B5EF4-FFF2-40B4-BE49-F238E27FC236}">
                <a16:creationId xmlns:a16="http://schemas.microsoft.com/office/drawing/2014/main" id="{7CF05A25-A02B-4552-916E-F6B65F49B9C4}"/>
              </a:ext>
            </a:extLst>
          </p:cNvPr>
          <p:cNvSpPr>
            <a:spLocks xmlns:a="http://schemas.openxmlformats.org/drawingml/2006/main" noGrp="1"/>
          </p:cNvSpPr>
          <p:nvPr/>
        </p:nvSpPr>
        <p:spPr>
          <a:xfrm xmlns:a="http://schemas.openxmlformats.org/drawingml/2006/main">
            <a:off x="609600" y="4848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FDCB0E08-5DA5-4C67-814D-6934C690CC38}"/>
              </a:ext>
            </a:extLst>
          </p:cNvPr>
          <p:cNvSpPr>
            <a:spLocks xmlns:a="http://schemas.openxmlformats.org/drawingml/2006/main" noGrp="1"/>
          </p:cNvSpPr>
          <p:nvPr/>
        </p:nvSpPr>
        <p:spPr>
          <a:xfrm xmlns:a="http://schemas.openxmlformats.org/drawingml/2006/main">
            <a:off x="1066800" y="48482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Explain which details need a human owner before the summary is shared.</a:t>
            </a:r>
          </a:p>
        </p:txBody>
      </p:sp>
      <p:sp>
        <p:nvSpPr>
          <p:cNvPr id="19" name="">
            <a:extLst xmlns:a="http://schemas.openxmlformats.org/drawingml/2006/main">
              <a:ext uri="{FF2B5EF4-FFF2-40B4-BE49-F238E27FC236}">
                <a16:creationId xmlns:a16="http://schemas.microsoft.com/office/drawing/2014/main" id="{F9CD73D8-D557-4220-AEE1-8CE3DB05CAEC}"/>
              </a:ext>
            </a:extLst>
          </p:cNvPr>
          <p:cNvSpPr>
            <a:spLocks xmlns:a="http://schemas.openxmlformats.org/drawingml/2006/main" noGrp="1"/>
          </p:cNvSpPr>
          <p:nvPr/>
        </p:nvSpPr>
        <p:spPr>
          <a:xfrm xmlns:a="http://schemas.openxmlformats.org/drawingml/2006/main">
            <a:off x="7886700" y="3486150"/>
            <a:ext cx="19050" cy="219075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C88683E-0CCB-4030-A5C2-4835CD31833C}"/>
              </a:ext>
            </a:extLst>
          </p:cNvPr>
          <p:cNvSpPr>
            <a:spLocks xmlns:a="http://schemas.openxmlformats.org/drawingml/2006/main" noGrp="1"/>
          </p:cNvSpPr>
          <p:nvPr/>
        </p:nvSpPr>
        <p:spPr>
          <a:xfrm xmlns:a="http://schemas.openxmlformats.org/drawingml/2006/main">
            <a:off x="8229600" y="3505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EXPECTED DELIVERABLE</a:t>
            </a:r>
          </a:p>
        </p:txBody>
      </p:sp>
      <p:sp>
        <p:nvSpPr>
          <p:cNvPr id="21" name="">
            <a:extLst xmlns:a="http://schemas.openxmlformats.org/drawingml/2006/main">
              <a:ext uri="{FF2B5EF4-FFF2-40B4-BE49-F238E27FC236}">
                <a16:creationId xmlns:a16="http://schemas.microsoft.com/office/drawing/2014/main" id="{33EACF4C-2D47-419A-ABC3-C2EFC560CE54}"/>
              </a:ext>
            </a:extLst>
          </p:cNvPr>
          <p:cNvSpPr>
            <a:spLocks xmlns:a="http://schemas.openxmlformats.org/drawingml/2006/main" noGrp="1"/>
          </p:cNvSpPr>
          <p:nvPr/>
        </p:nvSpPr>
        <p:spPr>
          <a:xfrm xmlns:a="http://schemas.openxmlformats.org/drawingml/2006/main">
            <a:off x="8229600" y="3819525"/>
            <a:ext cx="3086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A corrected summary with an explicit “open questions” section and a short verification checklist.</a:t>
            </a:r>
          </a:p>
        </p:txBody>
      </p:sp>
      <p:sp>
        <p:nvSpPr>
          <p:cNvPr id="22" name="">
            <a:extLst xmlns:a="http://schemas.openxmlformats.org/drawingml/2006/main">
              <a:ext uri="{FF2B5EF4-FFF2-40B4-BE49-F238E27FC236}">
                <a16:creationId xmlns:a16="http://schemas.microsoft.com/office/drawing/2014/main" id="{BD256608-07AD-4DAF-9820-98BDA8188F9D}"/>
              </a:ext>
            </a:extLst>
          </p:cNvPr>
          <p:cNvSpPr>
            <a:spLocks xmlns:a="http://schemas.openxmlformats.org/drawingml/2006/main" noGrp="1"/>
          </p:cNvSpPr>
          <p:nvPr/>
        </p:nvSpPr>
        <p:spPr>
          <a:xfrm xmlns:a="http://schemas.openxmlformats.org/drawingml/2006/main">
            <a:off x="8229600" y="469582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REVIEW CRITERIA</a:t>
            </a:r>
          </a:p>
        </p:txBody>
      </p:sp>
      <p:sp>
        <p:nvSpPr>
          <p:cNvPr id="23" name="">
            <a:extLst xmlns:a="http://schemas.openxmlformats.org/drawingml/2006/main">
              <a:ext uri="{FF2B5EF4-FFF2-40B4-BE49-F238E27FC236}">
                <a16:creationId xmlns:a16="http://schemas.microsoft.com/office/drawing/2014/main" id="{7C3FAD60-26D8-43C6-8B46-941A6A8E57CF}"/>
              </a:ext>
            </a:extLst>
          </p:cNvPr>
          <p:cNvSpPr>
            <a:spLocks xmlns:a="http://schemas.openxmlformats.org/drawingml/2006/main" noGrp="1"/>
          </p:cNvSpPr>
          <p:nvPr/>
        </p:nvSpPr>
        <p:spPr>
          <a:xfrm xmlns:a="http://schemas.openxmlformats.org/drawingml/2006/main">
            <a:off x="8229600" y="4991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Every retained statement can be traced to the notes.</a:t>
            </a:r>
          </a:p>
        </p:txBody>
      </p:sp>
      <p:sp>
        <p:nvSpPr>
          <p:cNvPr id="24" name="">
            <a:extLst xmlns:a="http://schemas.openxmlformats.org/drawingml/2006/main">
              <a:ext uri="{FF2B5EF4-FFF2-40B4-BE49-F238E27FC236}">
                <a16:creationId xmlns:a16="http://schemas.microsoft.com/office/drawing/2014/main" id="{462C1213-7A7F-433E-B87D-DF7CFEB4F9D4}"/>
              </a:ext>
            </a:extLst>
          </p:cNvPr>
          <p:cNvSpPr>
            <a:spLocks xmlns:a="http://schemas.openxmlformats.org/drawingml/2006/main" noGrp="1"/>
          </p:cNvSpPr>
          <p:nvPr/>
        </p:nvSpPr>
        <p:spPr>
          <a:xfrm xmlns:a="http://schemas.openxmlformats.org/drawingml/2006/main">
            <a:off x="8229600" y="5372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Unresolved matters remain unresolved in the wording.</a:t>
            </a:r>
          </a:p>
        </p:txBody>
      </p:sp>
      <p:sp>
        <p:nvSpPr>
          <p:cNvPr id="25" name="">
            <a:extLst xmlns:a="http://schemas.openxmlformats.org/drawingml/2006/main">
              <a:ext uri="{FF2B5EF4-FFF2-40B4-BE49-F238E27FC236}">
                <a16:creationId xmlns:a16="http://schemas.microsoft.com/office/drawing/2014/main" id="{73893FB5-A8CF-42B4-A9E5-089FF7BE12CF}"/>
              </a:ext>
            </a:extLst>
          </p:cNvPr>
          <p:cNvSpPr>
            <a:spLocks xmlns:a="http://schemas.openxmlformats.org/drawingml/2006/main" noGrp="1"/>
          </p:cNvSpPr>
          <p:nvPr/>
        </p:nvSpPr>
        <p:spPr>
          <a:xfrm xmlns:a="http://schemas.openxmlformats.org/drawingml/2006/main">
            <a:off x="8229600" y="5753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The learner identifies a reviewer and a safe sharing route.</a:t>
            </a:r>
          </a:p>
        </p:txBody>
      </p:sp>
    </p:spTree>
    <p:extLst>
      <p:ext uri="{BB962C8B-B14F-4D97-AF65-F5344CB8AC3E}">
        <p14:creationId xmlns:p14="http://schemas.microsoft.com/office/powerpoint/2010/main" val="156942008"/>
      </p:ext>
    </p:extLst>
  </p:cSld>
</p:sld>
</file>

<file path=ppt/slides/slide5.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36DC259D-B3AA-4ABB-AAA9-085BE81A5305}"/>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1 / MODULE 1</a:t>
            </a:r>
          </a:p>
        </p:txBody>
      </p:sp>
      <p:sp>
        <p:nvSpPr>
          <p:cNvPr id="2" name="">
            <a:extLst xmlns:a="http://schemas.openxmlformats.org/drawingml/2006/main">
              <a:ext uri="{FF2B5EF4-FFF2-40B4-BE49-F238E27FC236}">
                <a16:creationId xmlns:a16="http://schemas.microsoft.com/office/drawing/2014/main" id="{ED9F3836-C2DF-4F10-8F44-B2445D4D782C}"/>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S1  |  Q&amp;A and knowledge check</a:t>
            </a:r>
          </a:p>
        </p:txBody>
      </p:sp>
      <p:sp>
        <p:nvSpPr>
          <p:cNvPr id="3" name="">
            <a:extLst xmlns:a="http://schemas.openxmlformats.org/drawingml/2006/main">
              <a:ext uri="{FF2B5EF4-FFF2-40B4-BE49-F238E27FC236}">
                <a16:creationId xmlns:a16="http://schemas.microsoft.com/office/drawing/2014/main" id="{39003953-AB01-4DFF-9111-1A04F382FB9E}"/>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C63119C-9358-4459-BF2C-BC44B8C79BDE}"/>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0E86019-E212-4946-B363-0F6F91EAC6E1}"/>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D255701B-0606-4DF4-AFA4-BF913577AF82}"/>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05</a:t>
            </a:r>
          </a:p>
        </p:txBody>
      </p:sp>
      <p:sp>
        <p:nvSpPr>
          <p:cNvPr id="7" name="">
            <a:extLst xmlns:a="http://schemas.openxmlformats.org/drawingml/2006/main">
              <a:ext uri="{FF2B5EF4-FFF2-40B4-BE49-F238E27FC236}">
                <a16:creationId xmlns:a16="http://schemas.microsoft.com/office/drawing/2014/main" id="{7D3944E2-6BEB-4501-A939-EE02FFE2E7EF}"/>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1, Practice Lab and Knowledge Check; proposal p. 6.</a:t>
            </a:r>
          </a:p>
        </p:txBody>
      </p:sp>
      <p:sp>
        <p:nvSpPr>
          <p:cNvPr id="8" name="">
            <a:extLst xmlns:a="http://schemas.openxmlformats.org/drawingml/2006/main">
              <a:ext uri="{FF2B5EF4-FFF2-40B4-BE49-F238E27FC236}">
                <a16:creationId xmlns:a16="http://schemas.microsoft.com/office/drawing/2014/main" id="{AD8DCAE3-76D5-4BB2-9DE6-97FE993B02AE}"/>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What AI Is — and Isn’t</a:t>
            </a:r>
          </a:p>
        </p:txBody>
      </p:sp>
      <p:sp>
        <p:nvSpPr>
          <p:cNvPr id="9" name="">
            <a:extLst xmlns:a="http://schemas.openxmlformats.org/drawingml/2006/main">
              <a:ext uri="{FF2B5EF4-FFF2-40B4-BE49-F238E27FC236}">
                <a16:creationId xmlns:a16="http://schemas.microsoft.com/office/drawing/2014/main" id="{F88CFC0C-58AE-41D3-83CF-A046162A7C4A}"/>
              </a:ext>
            </a:extLst>
          </p:cNvPr>
          <p:cNvSpPr>
            <a:spLocks xmlns:a="http://schemas.openxmlformats.org/drawingml/2006/main" noGrp="1"/>
          </p:cNvSpPr>
          <p:nvPr/>
        </p:nvSpPr>
        <p:spPr>
          <a:xfrm xmlns:a="http://schemas.openxmlformats.org/drawingml/2006/main">
            <a:off x="609600" y="19240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Invite questions first. Use the answer cues to clarify the principle; route local policy questions to the right DWIHN owner.</a:t>
            </a:r>
          </a:p>
        </p:txBody>
      </p:sp>
      <p:sp>
        <p:nvSpPr>
          <p:cNvPr id="10" name="">
            <a:extLst xmlns:a="http://schemas.openxmlformats.org/drawingml/2006/main">
              <a:ext uri="{FF2B5EF4-FFF2-40B4-BE49-F238E27FC236}">
                <a16:creationId xmlns:a16="http://schemas.microsoft.com/office/drawing/2014/main" id="{E8CEB2E6-8177-4C94-91A5-BEB7FB3EFA11}"/>
              </a:ext>
            </a:extLst>
          </p:cNvPr>
          <p:cNvSpPr>
            <a:spLocks xmlns:a="http://schemas.openxmlformats.org/drawingml/2006/main" noGrp="1"/>
          </p:cNvSpPr>
          <p:nvPr/>
        </p:nvSpPr>
        <p:spPr>
          <a:xfrm xmlns:a="http://schemas.openxmlformats.org/drawingml/2006/main">
            <a:off x="609600" y="26384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Q1</a:t>
            </a:r>
          </a:p>
        </p:txBody>
      </p:sp>
      <p:sp>
        <p:nvSpPr>
          <p:cNvPr id="11" name="">
            <a:extLst xmlns:a="http://schemas.openxmlformats.org/drawingml/2006/main">
              <a:ext uri="{FF2B5EF4-FFF2-40B4-BE49-F238E27FC236}">
                <a16:creationId xmlns:a16="http://schemas.microsoft.com/office/drawing/2014/main" id="{DE1E4D38-8EB3-4E95-BD28-FDB2A4CEEA84}"/>
              </a:ext>
            </a:extLst>
          </p:cNvPr>
          <p:cNvSpPr>
            <a:spLocks xmlns:a="http://schemas.openxmlformats.org/drawingml/2006/main" noGrp="1"/>
          </p:cNvSpPr>
          <p:nvPr/>
        </p:nvSpPr>
        <p:spPr>
          <a:xfrm xmlns:a="http://schemas.openxmlformats.org/drawingml/2006/main">
            <a:off x="1162050" y="26384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If AI sounds confident, should I trust it?</a:t>
            </a:r>
          </a:p>
        </p:txBody>
      </p:sp>
      <p:sp>
        <p:nvSpPr>
          <p:cNvPr id="12" name="">
            <a:extLst xmlns:a="http://schemas.openxmlformats.org/drawingml/2006/main">
              <a:ext uri="{FF2B5EF4-FFF2-40B4-BE49-F238E27FC236}">
                <a16:creationId xmlns:a16="http://schemas.microsoft.com/office/drawing/2014/main" id="{7DB2A3AC-FDFD-453A-AE23-3EAE07B85283}"/>
              </a:ext>
            </a:extLst>
          </p:cNvPr>
          <p:cNvSpPr>
            <a:spLocks xmlns:a="http://schemas.openxmlformats.org/drawingml/2006/main" noGrp="1"/>
          </p:cNvSpPr>
          <p:nvPr/>
        </p:nvSpPr>
        <p:spPr>
          <a:xfrm xmlns:a="http://schemas.openxmlformats.org/drawingml/2006/main">
            <a:off x="6000750" y="26384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3" name="">
            <a:extLst xmlns:a="http://schemas.openxmlformats.org/drawingml/2006/main">
              <a:ext uri="{FF2B5EF4-FFF2-40B4-BE49-F238E27FC236}">
                <a16:creationId xmlns:a16="http://schemas.microsoft.com/office/drawing/2014/main" id="{EFE3E566-A36E-46AD-BB37-F090AF5E6BF9}"/>
              </a:ext>
            </a:extLst>
          </p:cNvPr>
          <p:cNvSpPr>
            <a:spLocks xmlns:a="http://schemas.openxmlformats.org/drawingml/2006/main" noGrp="1"/>
          </p:cNvSpPr>
          <p:nvPr/>
        </p:nvSpPr>
        <p:spPr>
          <a:xfrm xmlns:a="http://schemas.openxmlformats.org/drawingml/2006/main">
            <a:off x="6000750" y="28765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Confidence in wording is not evidence. Check the claim against a trusted source.</a:t>
            </a:r>
          </a:p>
        </p:txBody>
      </p:sp>
      <p:sp>
        <p:nvSpPr>
          <p:cNvPr id="14" name="">
            <a:extLst xmlns:a="http://schemas.openxmlformats.org/drawingml/2006/main">
              <a:ext uri="{FF2B5EF4-FFF2-40B4-BE49-F238E27FC236}">
                <a16:creationId xmlns:a16="http://schemas.microsoft.com/office/drawing/2014/main" id="{3558A563-C703-47A3-972F-B3EA825DFDE2}"/>
              </a:ext>
            </a:extLst>
          </p:cNvPr>
          <p:cNvSpPr>
            <a:spLocks xmlns:a="http://schemas.openxmlformats.org/drawingml/2006/main" noGrp="1"/>
          </p:cNvSpPr>
          <p:nvPr/>
        </p:nvSpPr>
        <p:spPr>
          <a:xfrm xmlns:a="http://schemas.openxmlformats.org/drawingml/2006/main">
            <a:off x="609600" y="343852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A79B90B-FC98-4100-B610-4593BAF6D672}"/>
              </a:ext>
            </a:extLst>
          </p:cNvPr>
          <p:cNvSpPr>
            <a:spLocks xmlns:a="http://schemas.openxmlformats.org/drawingml/2006/main" noGrp="1"/>
          </p:cNvSpPr>
          <p:nvPr/>
        </p:nvSpPr>
        <p:spPr>
          <a:xfrm xmlns:a="http://schemas.openxmlformats.org/drawingml/2006/main">
            <a:off x="609600" y="35718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Q2</a:t>
            </a:r>
          </a:p>
        </p:txBody>
      </p:sp>
      <p:sp>
        <p:nvSpPr>
          <p:cNvPr id="16" name="">
            <a:extLst xmlns:a="http://schemas.openxmlformats.org/drawingml/2006/main">
              <a:ext uri="{FF2B5EF4-FFF2-40B4-BE49-F238E27FC236}">
                <a16:creationId xmlns:a16="http://schemas.microsoft.com/office/drawing/2014/main" id="{034B2FEF-9B23-4BD5-B3BD-69A864AC673B}"/>
              </a:ext>
            </a:extLst>
          </p:cNvPr>
          <p:cNvSpPr>
            <a:spLocks xmlns:a="http://schemas.openxmlformats.org/drawingml/2006/main" noGrp="1"/>
          </p:cNvSpPr>
          <p:nvPr/>
        </p:nvSpPr>
        <p:spPr>
          <a:xfrm xmlns:a="http://schemas.openxmlformats.org/drawingml/2006/main">
            <a:off x="1162050" y="357187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Can AI decide what a client needs?</a:t>
            </a:r>
          </a:p>
        </p:txBody>
      </p:sp>
      <p:sp>
        <p:nvSpPr>
          <p:cNvPr id="17" name="">
            <a:extLst xmlns:a="http://schemas.openxmlformats.org/drawingml/2006/main">
              <a:ext uri="{FF2B5EF4-FFF2-40B4-BE49-F238E27FC236}">
                <a16:creationId xmlns:a16="http://schemas.microsoft.com/office/drawing/2014/main" id="{AEFDAE33-2E07-46E8-8555-BFBA163D2335}"/>
              </a:ext>
            </a:extLst>
          </p:cNvPr>
          <p:cNvSpPr>
            <a:spLocks xmlns:a="http://schemas.openxmlformats.org/drawingml/2006/main" noGrp="1"/>
          </p:cNvSpPr>
          <p:nvPr/>
        </p:nvSpPr>
        <p:spPr>
          <a:xfrm xmlns:a="http://schemas.openxmlformats.org/drawingml/2006/main">
            <a:off x="6000750" y="357187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8" name="">
            <a:extLst xmlns:a="http://schemas.openxmlformats.org/drawingml/2006/main">
              <a:ext uri="{FF2B5EF4-FFF2-40B4-BE49-F238E27FC236}">
                <a16:creationId xmlns:a16="http://schemas.microsoft.com/office/drawing/2014/main" id="{16186AE2-D338-4E2C-AFE7-937FDCC07E50}"/>
              </a:ext>
            </a:extLst>
          </p:cNvPr>
          <p:cNvSpPr>
            <a:spLocks xmlns:a="http://schemas.openxmlformats.org/drawingml/2006/main" noGrp="1"/>
          </p:cNvSpPr>
          <p:nvPr/>
        </p:nvSpPr>
        <p:spPr>
          <a:xfrm xmlns:a="http://schemas.openxmlformats.org/drawingml/2006/main">
            <a:off x="6000750" y="381000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It may assist a bounded administrative task, but a qualified person follows the applicable process and makes any consequential decision.</a:t>
            </a:r>
          </a:p>
        </p:txBody>
      </p:sp>
      <p:sp>
        <p:nvSpPr>
          <p:cNvPr id="19" name="">
            <a:extLst xmlns:a="http://schemas.openxmlformats.org/drawingml/2006/main">
              <a:ext uri="{FF2B5EF4-FFF2-40B4-BE49-F238E27FC236}">
                <a16:creationId xmlns:a16="http://schemas.microsoft.com/office/drawing/2014/main" id="{0E320AD2-C908-4970-80DC-822588B9C280}"/>
              </a:ext>
            </a:extLst>
          </p:cNvPr>
          <p:cNvSpPr>
            <a:spLocks xmlns:a="http://schemas.openxmlformats.org/drawingml/2006/main" noGrp="1"/>
          </p:cNvSpPr>
          <p:nvPr/>
        </p:nvSpPr>
        <p:spPr>
          <a:xfrm xmlns:a="http://schemas.openxmlformats.org/drawingml/2006/main">
            <a:off x="609600" y="437197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4923899-C51C-4C9B-AE9E-90E13D0DBFE9}"/>
              </a:ext>
            </a:extLst>
          </p:cNvPr>
          <p:cNvSpPr>
            <a:spLocks xmlns:a="http://schemas.openxmlformats.org/drawingml/2006/main" noGrp="1"/>
          </p:cNvSpPr>
          <p:nvPr/>
        </p:nvSpPr>
        <p:spPr>
          <a:xfrm xmlns:a="http://schemas.openxmlformats.org/drawingml/2006/main">
            <a:off x="609600" y="45053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Q3</a:t>
            </a:r>
          </a:p>
        </p:txBody>
      </p:sp>
      <p:sp>
        <p:nvSpPr>
          <p:cNvPr id="21" name="">
            <a:extLst xmlns:a="http://schemas.openxmlformats.org/drawingml/2006/main">
              <a:ext uri="{FF2B5EF4-FFF2-40B4-BE49-F238E27FC236}">
                <a16:creationId xmlns:a16="http://schemas.microsoft.com/office/drawing/2014/main" id="{F28DC77C-5474-4442-9B4A-A3C12D7D3344}"/>
              </a:ext>
            </a:extLst>
          </p:cNvPr>
          <p:cNvSpPr>
            <a:spLocks xmlns:a="http://schemas.openxmlformats.org/drawingml/2006/main" noGrp="1"/>
          </p:cNvSpPr>
          <p:nvPr/>
        </p:nvSpPr>
        <p:spPr>
          <a:xfrm xmlns:a="http://schemas.openxmlformats.org/drawingml/2006/main">
            <a:off x="1162050" y="45053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What should I do when I cannot verify a claim?</a:t>
            </a:r>
          </a:p>
        </p:txBody>
      </p:sp>
      <p:sp>
        <p:nvSpPr>
          <p:cNvPr id="22" name="">
            <a:extLst xmlns:a="http://schemas.openxmlformats.org/drawingml/2006/main">
              <a:ext uri="{FF2B5EF4-FFF2-40B4-BE49-F238E27FC236}">
                <a16:creationId xmlns:a16="http://schemas.microsoft.com/office/drawing/2014/main" id="{B4DF28A7-CB0D-4526-85DA-7B9FCE6F9271}"/>
              </a:ext>
            </a:extLst>
          </p:cNvPr>
          <p:cNvSpPr>
            <a:spLocks xmlns:a="http://schemas.openxmlformats.org/drawingml/2006/main" noGrp="1"/>
          </p:cNvSpPr>
          <p:nvPr/>
        </p:nvSpPr>
        <p:spPr>
          <a:xfrm xmlns:a="http://schemas.openxmlformats.org/drawingml/2006/main">
            <a:off x="6000750" y="45053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23" name="">
            <a:extLst xmlns:a="http://schemas.openxmlformats.org/drawingml/2006/main">
              <a:ext uri="{FF2B5EF4-FFF2-40B4-BE49-F238E27FC236}">
                <a16:creationId xmlns:a16="http://schemas.microsoft.com/office/drawing/2014/main" id="{36E10B86-2A08-4BD4-8745-384F1AC7A988}"/>
              </a:ext>
            </a:extLst>
          </p:cNvPr>
          <p:cNvSpPr>
            <a:spLocks xmlns:a="http://schemas.openxmlformats.org/drawingml/2006/main" noGrp="1"/>
          </p:cNvSpPr>
          <p:nvPr/>
        </p:nvSpPr>
        <p:spPr>
          <a:xfrm xmlns:a="http://schemas.openxmlformats.org/drawingml/2006/main">
            <a:off x="6000750" y="47434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Remove it, qualify it or stop and ask the appropriate policy or subject-matter owner.</a:t>
            </a:r>
          </a:p>
        </p:txBody>
      </p:sp>
      <p:sp>
        <p:nvSpPr>
          <p:cNvPr id="24" name="">
            <a:extLst xmlns:a="http://schemas.openxmlformats.org/drawingml/2006/main">
              <a:ext uri="{FF2B5EF4-FFF2-40B4-BE49-F238E27FC236}">
                <a16:creationId xmlns:a16="http://schemas.microsoft.com/office/drawing/2014/main" id="{DF1A96BA-33E5-4280-B33E-2B1C9846E027}"/>
              </a:ext>
            </a:extLst>
          </p:cNvPr>
          <p:cNvSpPr>
            <a:spLocks xmlns:a="http://schemas.openxmlformats.org/drawingml/2006/main" noGrp="1"/>
          </p:cNvSpPr>
          <p:nvPr/>
        </p:nvSpPr>
        <p:spPr>
          <a:xfrm xmlns:a="http://schemas.openxmlformats.org/drawingml/2006/main">
            <a:off x="609600" y="55435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27A49418-1415-4965-9E72-5B3F1B043C23}"/>
              </a:ext>
            </a:extLst>
          </p:cNvPr>
          <p:cNvSpPr>
            <a:spLocks xmlns:a="http://schemas.openxmlformats.org/drawingml/2006/main" noGrp="1"/>
          </p:cNvSpPr>
          <p:nvPr/>
        </p:nvSpPr>
        <p:spPr>
          <a:xfrm xmlns:a="http://schemas.openxmlformats.org/drawingml/2006/main">
            <a:off x="609600" y="57150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Remember</a:t>
            </a:r>
          </a:p>
        </p:txBody>
      </p:sp>
      <p:sp>
        <p:nvSpPr>
          <p:cNvPr id="26" name="">
            <a:extLst xmlns:a="http://schemas.openxmlformats.org/drawingml/2006/main">
              <a:ext uri="{FF2B5EF4-FFF2-40B4-BE49-F238E27FC236}">
                <a16:creationId xmlns:a16="http://schemas.microsoft.com/office/drawing/2014/main" id="{6CBF7CC5-EE21-4BCC-B693-E8BC7EE443FD}"/>
              </a:ext>
            </a:extLst>
          </p:cNvPr>
          <p:cNvSpPr>
            <a:spLocks xmlns:a="http://schemas.openxmlformats.org/drawingml/2006/main" noGrp="1"/>
          </p:cNvSpPr>
          <p:nvPr/>
        </p:nvSpPr>
        <p:spPr>
          <a:xfrm xmlns:a="http://schemas.openxmlformats.org/drawingml/2006/main">
            <a:off x="1924050" y="5686425"/>
            <a:ext cx="9429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039"/>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Use AI for a bounded, reviewable task.   •   Check important details against their source.   •   Keep human judgment and responsibility in the workflow.</a:t>
            </a:r>
          </a:p>
        </p:txBody>
      </p:sp>
    </p:spTree>
    <p:extLst>
      <p:ext uri="{BB962C8B-B14F-4D97-AF65-F5344CB8AC3E}">
        <p14:creationId xmlns:p14="http://schemas.microsoft.com/office/powerpoint/2010/main" val="1461998210"/>
      </p:ext>
    </p:extLst>
  </p:cSld>
</p:sld>
</file>

<file path=ppt/slides/slide6.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AE897C2-B105-46EE-8DE6-79B43ECA169A}"/>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2 / MODULES 2–3</a:t>
            </a:r>
          </a:p>
        </p:txBody>
      </p:sp>
      <p:sp>
        <p:nvSpPr>
          <p:cNvPr id="2" name="">
            <a:extLst xmlns:a="http://schemas.openxmlformats.org/drawingml/2006/main">
              <a:ext uri="{FF2B5EF4-FFF2-40B4-BE49-F238E27FC236}">
                <a16:creationId xmlns:a16="http://schemas.microsoft.com/office/drawing/2014/main" id="{0D869FC8-2BBB-467D-A814-702C1482E40D}"/>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S2  |  Purpose &amp; outcomes</a:t>
            </a:r>
          </a:p>
        </p:txBody>
      </p:sp>
      <p:sp>
        <p:nvSpPr>
          <p:cNvPr id="3" name="">
            <a:extLst xmlns:a="http://schemas.openxmlformats.org/drawingml/2006/main">
              <a:ext uri="{FF2B5EF4-FFF2-40B4-BE49-F238E27FC236}">
                <a16:creationId xmlns:a16="http://schemas.microsoft.com/office/drawing/2014/main" id="{37D6D961-0BC5-4DF0-A7AF-3CF7BE7D5BF3}"/>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05561A2-1D6A-4393-A4D2-854917905F63}"/>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46F5C58-7E5A-473B-8B40-C1DA5B431D0C}"/>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EFD4D9C2-667A-4793-A18E-A071F9535F11}"/>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06</a:t>
            </a:r>
          </a:p>
        </p:txBody>
      </p:sp>
      <p:sp>
        <p:nvSpPr>
          <p:cNvPr id="7" name="">
            <a:extLst xmlns:a="http://schemas.openxmlformats.org/drawingml/2006/main">
              <a:ext uri="{FF2B5EF4-FFF2-40B4-BE49-F238E27FC236}">
                <a16:creationId xmlns:a16="http://schemas.microsoft.com/office/drawing/2014/main" id="{8AC6B6E5-B1A9-455D-8ABB-7C7F36C0EA4A}"/>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Modules 2–3, Practice Labs and Knowledge Checks; proposal pp. 6, 10. Confirm local policy and approved-tool catalog before delivery.</a:t>
            </a:r>
          </a:p>
        </p:txBody>
      </p:sp>
      <p:sp>
        <p:nvSpPr>
          <p:cNvPr id="8" name="">
            <a:extLst xmlns:a="http://schemas.openxmlformats.org/drawingml/2006/main">
              <a:ext uri="{FF2B5EF4-FFF2-40B4-BE49-F238E27FC236}">
                <a16:creationId xmlns:a16="http://schemas.microsoft.com/office/drawing/2014/main" id="{429DCD56-AB0D-4E4C-AA7D-83A63B01B4EF}"/>
              </a:ext>
            </a:extLst>
          </p:cNvPr>
          <p:cNvSpPr>
            <a:spLocks xmlns:a="http://schemas.openxmlformats.org/drawingml/2006/main" noGrp="1"/>
          </p:cNvSpPr>
          <p:nvPr/>
        </p:nvSpPr>
        <p:spPr>
          <a:xfrm xmlns:a="http://schemas.openxmlformats.org/drawingml/2006/main">
            <a:off x="609600" y="1619250"/>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0A2438"/>
                </a:solidFill>
                <a:latin typeface="Arial"/>
                <a:ea typeface="Arial"/>
                <a:cs typeface="Arial"/>
              </a:defRPr>
            </a:pPr>
            <a:r>
              <a:rPr sz="1875" b="1">
                <a:solidFill>
                  <a:srgbClr val="0A2438"/>
                </a:solidFill>
                <a:latin typeface="Arial"/>
                <a:ea typeface="Arial"/>
                <a:cs typeface="Arial"/>
              </a:rPr>
              <a:t>Approved Tools, HIPAA Safety &amp; Data Classification</a:t>
            </a:r>
          </a:p>
        </p:txBody>
      </p:sp>
      <p:sp>
        <p:nvSpPr>
          <p:cNvPr id="9" name="">
            <a:extLst xmlns:a="http://schemas.openxmlformats.org/drawingml/2006/main">
              <a:ext uri="{FF2B5EF4-FFF2-40B4-BE49-F238E27FC236}">
                <a16:creationId xmlns:a16="http://schemas.microsoft.com/office/drawing/2014/main" id="{7821A609-D675-426E-8BF5-97E2BCF360E6}"/>
              </a:ext>
            </a:extLst>
          </p:cNvPr>
          <p:cNvSpPr>
            <a:spLocks xmlns:a="http://schemas.openxmlformats.org/drawingml/2006/main" noGrp="1"/>
          </p:cNvSpPr>
          <p:nvPr/>
        </p:nvSpPr>
        <p:spPr>
          <a:xfrm xmlns:a="http://schemas.openxmlformats.org/drawingml/2006/main">
            <a:off x="609600" y="2057400"/>
            <a:ext cx="695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506473"/>
                </a:solidFill>
                <a:latin typeface="Arial"/>
                <a:ea typeface="Arial"/>
                <a:cs typeface="Arial"/>
              </a:defRPr>
            </a:pPr>
            <a:r>
              <a:rPr sz="1425" b="0">
                <a:solidFill>
                  <a:srgbClr val="506473"/>
                </a:solidFill>
                <a:latin typeface="Arial"/>
                <a:ea typeface="Arial"/>
                <a:cs typeface="Arial"/>
              </a:rPr>
              <a:t>Participants practice the joint decision: what is the task, how is the information classified, and does the current DWIHN catalog permit this tool for this use?</a:t>
            </a:r>
          </a:p>
        </p:txBody>
      </p:sp>
      <p:sp>
        <p:nvSpPr>
          <p:cNvPr id="10" name="">
            <a:extLst xmlns:a="http://schemas.openxmlformats.org/drawingml/2006/main">
              <a:ext uri="{FF2B5EF4-FFF2-40B4-BE49-F238E27FC236}">
                <a16:creationId xmlns:a16="http://schemas.microsoft.com/office/drawing/2014/main" id="{A02B57FD-A425-4816-B334-40E330DA5567}"/>
              </a:ext>
            </a:extLst>
          </p:cNvPr>
          <p:cNvSpPr>
            <a:spLocks xmlns:a="http://schemas.openxmlformats.org/drawingml/2006/main" noGrp="1"/>
          </p:cNvSpPr>
          <p:nvPr/>
        </p:nvSpPr>
        <p:spPr>
          <a:xfrm xmlns:a="http://schemas.openxmlformats.org/drawingml/2006/main">
            <a:off x="609600" y="30861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BY THE END, LEARNERS CAN</a:t>
            </a:r>
          </a:p>
        </p:txBody>
      </p:sp>
      <p:sp>
        <p:nvSpPr>
          <p:cNvPr id="11" name="">
            <a:extLst xmlns:a="http://schemas.openxmlformats.org/drawingml/2006/main">
              <a:ext uri="{FF2B5EF4-FFF2-40B4-BE49-F238E27FC236}">
                <a16:creationId xmlns:a16="http://schemas.microsoft.com/office/drawing/2014/main" id="{1D6B62C4-B80E-485C-9980-4BE1F1E4D83D}"/>
              </a:ext>
            </a:extLst>
          </p:cNvPr>
          <p:cNvSpPr>
            <a:spLocks xmlns:a="http://schemas.openxmlformats.org/drawingml/2006/main" noGrp="1"/>
          </p:cNvSpPr>
          <p:nvPr/>
        </p:nvSpPr>
        <p:spPr>
          <a:xfrm xmlns:a="http://schemas.openxmlformats.org/drawingml/2006/main">
            <a:off x="609600" y="3429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01</a:t>
            </a:r>
          </a:p>
        </p:txBody>
      </p:sp>
      <p:sp>
        <p:nvSpPr>
          <p:cNvPr id="12" name="">
            <a:extLst xmlns:a="http://schemas.openxmlformats.org/drawingml/2006/main">
              <a:ext uri="{FF2B5EF4-FFF2-40B4-BE49-F238E27FC236}">
                <a16:creationId xmlns:a16="http://schemas.microsoft.com/office/drawing/2014/main" id="{10FBDBC7-504E-4B7C-870D-13355AC241A2}"/>
              </a:ext>
            </a:extLst>
          </p:cNvPr>
          <p:cNvSpPr>
            <a:spLocks xmlns:a="http://schemas.openxmlformats.org/drawingml/2006/main" noGrp="1"/>
          </p:cNvSpPr>
          <p:nvPr/>
        </p:nvSpPr>
        <p:spPr>
          <a:xfrm xmlns:a="http://schemas.openxmlformats.org/drawingml/2006/main">
            <a:off x="1104900" y="34290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Find the approved-tool rule for a work purpose rather than relying on familiarity.</a:t>
            </a:r>
          </a:p>
        </p:txBody>
      </p:sp>
      <p:sp>
        <p:nvSpPr>
          <p:cNvPr id="13" name="">
            <a:extLst xmlns:a="http://schemas.openxmlformats.org/drawingml/2006/main">
              <a:ext uri="{FF2B5EF4-FFF2-40B4-BE49-F238E27FC236}">
                <a16:creationId xmlns:a16="http://schemas.microsoft.com/office/drawing/2014/main" id="{D8974ECB-5E4E-4793-BFB0-DAEF270F7399}"/>
              </a:ext>
            </a:extLst>
          </p:cNvPr>
          <p:cNvSpPr>
            <a:spLocks xmlns:a="http://schemas.openxmlformats.org/drawingml/2006/main" noGrp="1"/>
          </p:cNvSpPr>
          <p:nvPr/>
        </p:nvSpPr>
        <p:spPr>
          <a:xfrm xmlns:a="http://schemas.openxmlformats.org/drawingml/2006/main">
            <a:off x="609600" y="40767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2800CAA9-4C7E-4E18-A36E-FC4B89CF2402}"/>
              </a:ext>
            </a:extLst>
          </p:cNvPr>
          <p:cNvSpPr>
            <a:spLocks xmlns:a="http://schemas.openxmlformats.org/drawingml/2006/main" noGrp="1"/>
          </p:cNvSpPr>
          <p:nvPr/>
        </p:nvSpPr>
        <p:spPr>
          <a:xfrm xmlns:a="http://schemas.openxmlformats.org/drawingml/2006/main">
            <a:off x="1104900" y="40767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Apply the four proposal tiers to mixed-content examples.</a:t>
            </a:r>
          </a:p>
        </p:txBody>
      </p:sp>
      <p:sp>
        <p:nvSpPr>
          <p:cNvPr id="15" name="">
            <a:extLst xmlns:a="http://schemas.openxmlformats.org/drawingml/2006/main">
              <a:ext uri="{FF2B5EF4-FFF2-40B4-BE49-F238E27FC236}">
                <a16:creationId xmlns:a16="http://schemas.microsoft.com/office/drawing/2014/main" id="{1CB60A72-8078-433F-A264-BA260572E92A}"/>
              </a:ext>
            </a:extLst>
          </p:cNvPr>
          <p:cNvSpPr>
            <a:spLocks xmlns:a="http://schemas.openxmlformats.org/drawingml/2006/main" noGrp="1"/>
          </p:cNvSpPr>
          <p:nvPr/>
        </p:nvSpPr>
        <p:spPr>
          <a:xfrm xmlns:a="http://schemas.openxmlformats.org/drawingml/2006/main">
            <a:off x="609600" y="47244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52C62562-49E0-4FB1-9A0F-D81AA4333474}"/>
              </a:ext>
            </a:extLst>
          </p:cNvPr>
          <p:cNvSpPr>
            <a:spLocks xmlns:a="http://schemas.openxmlformats.org/drawingml/2006/main" noGrp="1"/>
          </p:cNvSpPr>
          <p:nvPr/>
        </p:nvSpPr>
        <p:spPr>
          <a:xfrm xmlns:a="http://schemas.openxmlformats.org/drawingml/2006/main">
            <a:off x="1104900" y="47244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Recognize when PHI, credentials or unclear permissions require stopping and checking policy.</a:t>
            </a:r>
          </a:p>
        </p:txBody>
      </p:sp>
      <p:sp>
        <p:nvSpPr>
          <p:cNvPr id="17" name="">
            <a:extLst xmlns:a="http://schemas.openxmlformats.org/drawingml/2006/main">
              <a:ext uri="{FF2B5EF4-FFF2-40B4-BE49-F238E27FC236}">
                <a16:creationId xmlns:a16="http://schemas.microsoft.com/office/drawing/2014/main" id="{F873754D-7FD4-4F61-A4B3-E4C0B1ECD1FB}"/>
              </a:ext>
            </a:extLst>
          </p:cNvPr>
          <p:cNvSpPr>
            <a:spLocks xmlns:a="http://schemas.openxmlformats.org/drawingml/2006/main" noGrp="1"/>
          </p:cNvSpPr>
          <p:nvPr/>
        </p:nvSpPr>
        <p:spPr>
          <a:xfrm xmlns:a="http://schemas.openxmlformats.org/drawingml/2006/main">
            <a:off x="609600" y="5476875"/>
            <a:ext cx="6953250" cy="476250"/>
          </a:xfrm>
          <a:prstGeom xmlns:a="http://schemas.openxmlformats.org/drawingml/2006/main" prst="rect">
            <a:avLst/>
          </a:prstGeom>
          <a:noFill xmlns:a="http://schemas.openxmlformats.org/drawingml/2006/main"/>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6DDB1FF-D573-4795-A75A-9394ECD6C4F4}"/>
              </a:ext>
            </a:extLst>
          </p:cNvPr>
          <p:cNvSpPr>
            <a:spLocks xmlns:a="http://schemas.openxmlformats.org/drawingml/2006/main" noGrp="1"/>
          </p:cNvSpPr>
          <p:nvPr/>
        </p:nvSpPr>
        <p:spPr>
          <a:xfrm xmlns:a="http://schemas.openxmlformats.org/drawingml/2006/main">
            <a:off x="781050" y="5591175"/>
            <a:ext cx="659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91"/>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Session length: at least 1 hour, including Q&amp;A. Guided practice and discussion can extend it.</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f74daa1109bd44b5"/>
          <a:srcRect xmlns:a="http://schemas.openxmlformats.org/drawingml/2006/main" l="6320" t="0" r="6320" b="0"/>
          <a:stretch xmlns:a="http://schemas.openxmlformats.org/drawingml/2006/main">
            <a:fillRect l="0" t="0" r="0" b="0"/>
          </a:stretch>
        </p:blipFill>
        <p:spPr>
          <a:xfrm xmlns:a="http://schemas.openxmlformats.org/drawingml/2006/main">
            <a:off x="7981950" y="2247900"/>
            <a:ext cx="3429000" cy="219075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85C3ACA8-5751-4763-A90F-DB3CDD2D311F}"/>
              </a:ext>
            </a:extLst>
          </p:cNvPr>
          <p:cNvSpPr>
            <a:spLocks xmlns:a="http://schemas.openxmlformats.org/drawingml/2006/main" noGrp="1"/>
          </p:cNvSpPr>
          <p:nvPr/>
        </p:nvSpPr>
        <p:spPr>
          <a:xfrm xmlns:a="http://schemas.openxmlformats.org/drawingml/2006/main">
            <a:off x="7981950" y="4524375"/>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0">
                <a:solidFill>
                  <a:srgbClr val="6D7E89"/>
                </a:solidFill>
                <a:latin typeface="Arial"/>
                <a:ea typeface="Arial"/>
                <a:cs typeface="Arial"/>
              </a:defRPr>
            </a:pPr>
            <a:r>
              <a:rPr sz="900" b="0">
                <a:solidFill>
                  <a:srgbClr val="6D7E89"/>
                </a:solidFill>
                <a:latin typeface="Arial"/>
                <a:ea typeface="Arial"/>
                <a:cs typeface="Arial"/>
              </a:rPr>
              <a:t>Conceptual metaphor only. The color wheel is not a DWIHN classification chart.</a:t>
            </a:r>
          </a:p>
        </p:txBody>
      </p:sp>
    </p:spTree>
    <p:extLst>
      <p:ext uri="{BB962C8B-B14F-4D97-AF65-F5344CB8AC3E}">
        <p14:creationId xmlns:p14="http://schemas.microsoft.com/office/powerpoint/2010/main" val="1689967476"/>
      </p:ext>
    </p:extLst>
  </p:cSld>
</p:sld>
</file>

<file path=ppt/slides/slide7.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548FCFA-6896-49B4-9982-B41915BFF514}"/>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2 / MODULES 2–3</a:t>
            </a:r>
          </a:p>
        </p:txBody>
      </p:sp>
      <p:sp>
        <p:nvSpPr>
          <p:cNvPr id="2" name="">
            <a:extLst xmlns:a="http://schemas.openxmlformats.org/drawingml/2006/main">
              <a:ext uri="{FF2B5EF4-FFF2-40B4-BE49-F238E27FC236}">
                <a16:creationId xmlns:a16="http://schemas.microsoft.com/office/drawing/2014/main" id="{EE2F1F4E-2747-4412-8CF9-B0D635EE4C1A}"/>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S2  |  Core concepts</a:t>
            </a:r>
          </a:p>
        </p:txBody>
      </p:sp>
      <p:sp>
        <p:nvSpPr>
          <p:cNvPr id="3" name="">
            <a:extLst xmlns:a="http://schemas.openxmlformats.org/drawingml/2006/main">
              <a:ext uri="{FF2B5EF4-FFF2-40B4-BE49-F238E27FC236}">
                <a16:creationId xmlns:a16="http://schemas.microsoft.com/office/drawing/2014/main" id="{8E165D9B-271F-4141-BD92-07CEAF50F16F}"/>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B2DE4C8-6573-4184-A0EE-F2FAF2560C4F}"/>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A17D716-9039-4692-B4D7-B59D01BD24E5}"/>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B7E233BF-7034-44E4-8949-DE19B300E952}"/>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07</a:t>
            </a:r>
          </a:p>
        </p:txBody>
      </p:sp>
      <p:sp>
        <p:nvSpPr>
          <p:cNvPr id="7" name="">
            <a:extLst xmlns:a="http://schemas.openxmlformats.org/drawingml/2006/main">
              <a:ext uri="{FF2B5EF4-FFF2-40B4-BE49-F238E27FC236}">
                <a16:creationId xmlns:a16="http://schemas.microsoft.com/office/drawing/2014/main" id="{C4A60DDE-9437-47AB-8DF9-E083CC1B3F76}"/>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Modules 2–3, Practice Labs and Knowledge Checks; proposal pp. 6, 10. Confirm local policy and approved-tool catalog before delivery.</a:t>
            </a:r>
          </a:p>
        </p:txBody>
      </p:sp>
      <p:sp>
        <p:nvSpPr>
          <p:cNvPr id="8" name="">
            <a:extLst xmlns:a="http://schemas.openxmlformats.org/drawingml/2006/main">
              <a:ext uri="{FF2B5EF4-FFF2-40B4-BE49-F238E27FC236}">
                <a16:creationId xmlns:a16="http://schemas.microsoft.com/office/drawing/2014/main" id="{C27E7F91-DC49-49F1-8581-37F17CFCD2CF}"/>
              </a:ext>
            </a:extLst>
          </p:cNvPr>
          <p:cNvSpPr>
            <a:spLocks xmlns:a="http://schemas.openxmlformats.org/drawingml/2006/main" noGrp="1"/>
          </p:cNvSpPr>
          <p:nvPr/>
        </p:nvSpPr>
        <p:spPr>
          <a:xfrm xmlns:a="http://schemas.openxmlformats.org/drawingml/2006/main">
            <a:off x="609600" y="15811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Approved Tools, HIPAA Safety &amp; Data Classification</a:t>
            </a:r>
          </a:p>
        </p:txBody>
      </p:sp>
      <p:sp>
        <p:nvSpPr>
          <p:cNvPr id="9" name="">
            <a:extLst xmlns:a="http://schemas.openxmlformats.org/drawingml/2006/main">
              <a:ext uri="{FF2B5EF4-FFF2-40B4-BE49-F238E27FC236}">
                <a16:creationId xmlns:a16="http://schemas.microsoft.com/office/drawing/2014/main" id="{821DF32E-8C2E-4D51-A428-69F200F5BCC9}"/>
              </a:ext>
            </a:extLst>
          </p:cNvPr>
          <p:cNvSpPr>
            <a:spLocks xmlns:a="http://schemas.openxmlformats.org/drawingml/2006/main" noGrp="1"/>
          </p:cNvSpPr>
          <p:nvPr/>
        </p:nvSpPr>
        <p:spPr>
          <a:xfrm xmlns:a="http://schemas.openxmlformats.org/drawingml/2006/main">
            <a:off x="609600" y="19716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7C2E12F3-7D68-4046-9F6B-DB55C2121CC6}"/>
              </a:ext>
            </a:extLst>
          </p:cNvPr>
          <p:cNvSpPr>
            <a:spLocks xmlns:a="http://schemas.openxmlformats.org/drawingml/2006/main" noGrp="1"/>
          </p:cNvSpPr>
          <p:nvPr/>
        </p:nvSpPr>
        <p:spPr>
          <a:xfrm xmlns:a="http://schemas.openxmlformats.org/drawingml/2006/main">
            <a:off x="1143000" y="19716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Approval has a scope</a:t>
            </a:r>
          </a:p>
        </p:txBody>
      </p:sp>
      <p:sp>
        <p:nvSpPr>
          <p:cNvPr id="11" name="">
            <a:extLst xmlns:a="http://schemas.openxmlformats.org/drawingml/2006/main">
              <a:ext uri="{FF2B5EF4-FFF2-40B4-BE49-F238E27FC236}">
                <a16:creationId xmlns:a16="http://schemas.microsoft.com/office/drawing/2014/main" id="{9FA3A6F8-CF9E-4900-B999-12468E9536DE}"/>
              </a:ext>
            </a:extLst>
          </p:cNvPr>
          <p:cNvSpPr>
            <a:spLocks xmlns:a="http://schemas.openxmlformats.org/drawingml/2006/main" noGrp="1"/>
          </p:cNvSpPr>
          <p:nvPr/>
        </p:nvSpPr>
        <p:spPr>
          <a:xfrm xmlns:a="http://schemas.openxmlformats.org/drawingml/2006/main">
            <a:off x="3857625" y="19716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An approval should identify the tool, account, permitted task, information type and required safeguards. A tool that is acceptable for a public draft may not be approved for a restricted record or a different workflow. Check the current DWIHN catalog.</a:t>
            </a:r>
          </a:p>
        </p:txBody>
      </p:sp>
      <p:sp>
        <p:nvSpPr>
          <p:cNvPr id="12" name="">
            <a:extLst xmlns:a="http://schemas.openxmlformats.org/drawingml/2006/main">
              <a:ext uri="{FF2B5EF4-FFF2-40B4-BE49-F238E27FC236}">
                <a16:creationId xmlns:a16="http://schemas.microsoft.com/office/drawing/2014/main" id="{023F447F-F5CF-41F5-9C84-79545F8EAB13}"/>
              </a:ext>
            </a:extLst>
          </p:cNvPr>
          <p:cNvSpPr>
            <a:spLocks xmlns:a="http://schemas.openxmlformats.org/drawingml/2006/main" noGrp="1"/>
          </p:cNvSpPr>
          <p:nvPr/>
        </p:nvSpPr>
        <p:spPr>
          <a:xfrm xmlns:a="http://schemas.openxmlformats.org/drawingml/2006/main">
            <a:off x="1143000" y="28003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D9164E4-3E7C-45C4-B936-30CE5F256F5A}"/>
              </a:ext>
            </a:extLst>
          </p:cNvPr>
          <p:cNvSpPr>
            <a:spLocks xmlns:a="http://schemas.openxmlformats.org/drawingml/2006/main" noGrp="1"/>
          </p:cNvSpPr>
          <p:nvPr/>
        </p:nvSpPr>
        <p:spPr>
          <a:xfrm xmlns:a="http://schemas.openxmlformats.org/drawingml/2006/main">
            <a:off x="609600" y="29813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45A06259-0374-4B8C-94AF-9B7D084D0898}"/>
              </a:ext>
            </a:extLst>
          </p:cNvPr>
          <p:cNvSpPr>
            <a:spLocks xmlns:a="http://schemas.openxmlformats.org/drawingml/2006/main" noGrp="1"/>
          </p:cNvSpPr>
          <p:nvPr/>
        </p:nvSpPr>
        <p:spPr>
          <a:xfrm xmlns:a="http://schemas.openxmlformats.org/drawingml/2006/main">
            <a:off x="1143000" y="29813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2587"/>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Privacy rules follow the information</a:t>
            </a:r>
          </a:p>
        </p:txBody>
      </p:sp>
      <p:sp>
        <p:nvSpPr>
          <p:cNvPr id="15" name="">
            <a:extLst xmlns:a="http://schemas.openxmlformats.org/drawingml/2006/main">
              <a:ext uri="{FF2B5EF4-FFF2-40B4-BE49-F238E27FC236}">
                <a16:creationId xmlns:a16="http://schemas.microsoft.com/office/drawing/2014/main" id="{E7988417-82D1-4A14-A5FD-6F7F4E960B0B}"/>
              </a:ext>
            </a:extLst>
          </p:cNvPr>
          <p:cNvSpPr>
            <a:spLocks xmlns:a="http://schemas.openxmlformats.org/drawingml/2006/main" noGrp="1"/>
          </p:cNvSpPr>
          <p:nvPr/>
        </p:nvSpPr>
        <p:spPr>
          <a:xfrm xmlns:a="http://schemas.openxmlformats.org/drawingml/2006/main">
            <a:off x="3857625" y="29813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PHI and other sensitive details require the controls specified by DWIHN policy and the approved service arrangement. Do not paste identifying information into a public or unapproved tool, even if the requested output is “only a summary.”</a:t>
            </a:r>
          </a:p>
        </p:txBody>
      </p:sp>
      <p:sp>
        <p:nvSpPr>
          <p:cNvPr id="16" name="">
            <a:extLst xmlns:a="http://schemas.openxmlformats.org/drawingml/2006/main">
              <a:ext uri="{FF2B5EF4-FFF2-40B4-BE49-F238E27FC236}">
                <a16:creationId xmlns:a16="http://schemas.microsoft.com/office/drawing/2014/main" id="{F8F3C1D8-0AC1-4886-A09F-ADE36329AF51}"/>
              </a:ext>
            </a:extLst>
          </p:cNvPr>
          <p:cNvSpPr>
            <a:spLocks xmlns:a="http://schemas.openxmlformats.org/drawingml/2006/main" noGrp="1"/>
          </p:cNvSpPr>
          <p:nvPr/>
        </p:nvSpPr>
        <p:spPr>
          <a:xfrm xmlns:a="http://schemas.openxmlformats.org/drawingml/2006/main">
            <a:off x="1143000" y="381000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174BDA3-7A53-476E-BB6A-0D0BD22DD23E}"/>
              </a:ext>
            </a:extLst>
          </p:cNvPr>
          <p:cNvSpPr>
            <a:spLocks xmlns:a="http://schemas.openxmlformats.org/drawingml/2006/main" noGrp="1"/>
          </p:cNvSpPr>
          <p:nvPr/>
        </p:nvSpPr>
        <p:spPr>
          <a:xfrm xmlns:a="http://schemas.openxmlformats.org/drawingml/2006/main">
            <a:off x="609600" y="39909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51FF690F-E597-429C-85C3-4E38399DE0A4}"/>
              </a:ext>
            </a:extLst>
          </p:cNvPr>
          <p:cNvSpPr>
            <a:spLocks xmlns:a="http://schemas.openxmlformats.org/drawingml/2006/main" noGrp="1"/>
          </p:cNvSpPr>
          <p:nvPr/>
        </p:nvSpPr>
        <p:spPr>
          <a:xfrm xmlns:a="http://schemas.openxmlformats.org/drawingml/2006/main">
            <a:off x="1143000" y="39909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Use the proposal’s four tiers</a:t>
            </a:r>
          </a:p>
        </p:txBody>
      </p:sp>
      <p:sp>
        <p:nvSpPr>
          <p:cNvPr id="19" name="">
            <a:extLst xmlns:a="http://schemas.openxmlformats.org/drawingml/2006/main">
              <a:ext uri="{FF2B5EF4-FFF2-40B4-BE49-F238E27FC236}">
                <a16:creationId xmlns:a16="http://schemas.microsoft.com/office/drawing/2014/main" id="{87124158-3E0D-4F60-8DC5-7794ABA4639B}"/>
              </a:ext>
            </a:extLst>
          </p:cNvPr>
          <p:cNvSpPr>
            <a:spLocks xmlns:a="http://schemas.openxmlformats.org/drawingml/2006/main" noGrp="1"/>
          </p:cNvSpPr>
          <p:nvPr/>
        </p:nvSpPr>
        <p:spPr>
          <a:xfrm xmlns:a="http://schemas.openxmlformats.org/drawingml/2006/main">
            <a:off x="3857625" y="39909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Public is cleared for broad release. Internal supports organizational work. Confidential covers sensitive personal or business details. Restricted includes highly sensitive information such as PHI or credentials. DWIHN policy supplies the controlling definitions.</a:t>
            </a:r>
          </a:p>
        </p:txBody>
      </p:sp>
      <p:sp>
        <p:nvSpPr>
          <p:cNvPr id="20" name="">
            <a:extLst xmlns:a="http://schemas.openxmlformats.org/drawingml/2006/main">
              <a:ext uri="{FF2B5EF4-FFF2-40B4-BE49-F238E27FC236}">
                <a16:creationId xmlns:a16="http://schemas.microsoft.com/office/drawing/2014/main" id="{B6A4087A-D539-41CD-B658-6222A030C47D}"/>
              </a:ext>
            </a:extLst>
          </p:cNvPr>
          <p:cNvSpPr>
            <a:spLocks xmlns:a="http://schemas.openxmlformats.org/drawingml/2006/main" noGrp="1"/>
          </p:cNvSpPr>
          <p:nvPr/>
        </p:nvSpPr>
        <p:spPr>
          <a:xfrm xmlns:a="http://schemas.openxmlformats.org/drawingml/2006/main">
            <a:off x="1143000" y="48196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0B9DF73-D704-41A7-9511-5CF68BDFAC97}"/>
              </a:ext>
            </a:extLst>
          </p:cNvPr>
          <p:cNvSpPr>
            <a:spLocks xmlns:a="http://schemas.openxmlformats.org/drawingml/2006/main" noGrp="1"/>
          </p:cNvSpPr>
          <p:nvPr/>
        </p:nvSpPr>
        <p:spPr>
          <a:xfrm xmlns:a="http://schemas.openxmlformats.org/drawingml/2006/main">
            <a:off x="609600" y="5000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6D7EFE8F-A66B-4FE4-A01F-9DD0B937B3AD}"/>
              </a:ext>
            </a:extLst>
          </p:cNvPr>
          <p:cNvSpPr>
            <a:spLocks xmlns:a="http://schemas.openxmlformats.org/drawingml/2006/main" noGrp="1"/>
          </p:cNvSpPr>
          <p:nvPr/>
        </p:nvSpPr>
        <p:spPr>
          <a:xfrm xmlns:a="http://schemas.openxmlformats.org/drawingml/2006/main">
            <a:off x="1143000" y="50006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Mixed files take extra care</a:t>
            </a:r>
          </a:p>
        </p:txBody>
      </p:sp>
      <p:sp>
        <p:nvSpPr>
          <p:cNvPr id="23" name="">
            <a:extLst xmlns:a="http://schemas.openxmlformats.org/drawingml/2006/main">
              <a:ext uri="{FF2B5EF4-FFF2-40B4-BE49-F238E27FC236}">
                <a16:creationId xmlns:a16="http://schemas.microsoft.com/office/drawing/2014/main" id="{94C4EBDF-78EE-4E60-A269-6CA48D7E9D95}"/>
              </a:ext>
            </a:extLst>
          </p:cNvPr>
          <p:cNvSpPr>
            <a:spLocks xmlns:a="http://schemas.openxmlformats.org/drawingml/2006/main" noGrp="1"/>
          </p:cNvSpPr>
          <p:nvPr/>
        </p:nvSpPr>
        <p:spPr>
          <a:xfrm xmlns:a="http://schemas.openxmlformats.org/drawingml/2006/main">
            <a:off x="3857625" y="50006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 report can contain aggregate totals beside identifiable notes. Treat the task according to the most sensitive relevant information unless an authorized process separates and clears the content. Do not assume that removing a name makes a record safe.</a:t>
            </a:r>
          </a:p>
        </p:txBody>
      </p:sp>
    </p:spTree>
    <p:extLst>
      <p:ext uri="{BB962C8B-B14F-4D97-AF65-F5344CB8AC3E}">
        <p14:creationId xmlns:p14="http://schemas.microsoft.com/office/powerpoint/2010/main" val="328266303"/>
      </p:ext>
    </p:extLst>
  </p:cSld>
</p:sld>
</file>

<file path=ppt/slides/slide8.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F789CBD8-8C82-49DB-9015-3CB10F8FB728}"/>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2 / MODULES 2–3</a:t>
            </a:r>
          </a:p>
        </p:txBody>
      </p:sp>
      <p:sp>
        <p:nvSpPr>
          <p:cNvPr id="2" name="">
            <a:extLst xmlns:a="http://schemas.openxmlformats.org/drawingml/2006/main">
              <a:ext uri="{FF2B5EF4-FFF2-40B4-BE49-F238E27FC236}">
                <a16:creationId xmlns:a16="http://schemas.microsoft.com/office/drawing/2014/main" id="{C33C15F6-7F1B-4872-B37D-334832DB242E}"/>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S2  |  Instructor walkthrough</a:t>
            </a:r>
          </a:p>
        </p:txBody>
      </p:sp>
      <p:sp>
        <p:nvSpPr>
          <p:cNvPr id="3" name="">
            <a:extLst xmlns:a="http://schemas.openxmlformats.org/drawingml/2006/main">
              <a:ext uri="{FF2B5EF4-FFF2-40B4-BE49-F238E27FC236}">
                <a16:creationId xmlns:a16="http://schemas.microsoft.com/office/drawing/2014/main" id="{A9B747E3-BFA5-408D-B21D-A6EA5D5573A3}"/>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052FBAF-BE10-4F94-9CA6-39F662232B65}"/>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7397BAC-392B-4082-9B52-39A35EE13D94}"/>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A13D8884-F38F-40DD-90D6-3176640A4687}"/>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08</a:t>
            </a:r>
          </a:p>
        </p:txBody>
      </p:sp>
      <p:sp>
        <p:nvSpPr>
          <p:cNvPr id="7" name="">
            <a:extLst xmlns:a="http://schemas.openxmlformats.org/drawingml/2006/main">
              <a:ext uri="{FF2B5EF4-FFF2-40B4-BE49-F238E27FC236}">
                <a16:creationId xmlns:a16="http://schemas.microsoft.com/office/drawing/2014/main" id="{CC8A5CE7-56F4-4942-A4C8-DE5D0F11F6FD}"/>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Modules 2–3, Practice Labs and Knowledge Checks; proposal pp. 6, 10. Confirm local policy and approved-tool catalog before delivery.</a:t>
            </a:r>
          </a:p>
        </p:txBody>
      </p:sp>
      <p:sp>
        <p:nvSpPr>
          <p:cNvPr id="8" name="">
            <a:extLst xmlns:a="http://schemas.openxmlformats.org/drawingml/2006/main">
              <a:ext uri="{FF2B5EF4-FFF2-40B4-BE49-F238E27FC236}">
                <a16:creationId xmlns:a16="http://schemas.microsoft.com/office/drawing/2014/main" id="{4E4CC98C-5DAD-4503-8D51-1D7A54FE7CCB}"/>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Approved Tools, HIPAA Safety &amp; Data Classification</a:t>
            </a:r>
          </a:p>
        </p:txBody>
      </p:sp>
      <p:sp>
        <p:nvSpPr>
          <p:cNvPr id="9" name="">
            <a:extLst xmlns:a="http://schemas.openxmlformats.org/drawingml/2006/main">
              <a:ext uri="{FF2B5EF4-FFF2-40B4-BE49-F238E27FC236}">
                <a16:creationId xmlns:a16="http://schemas.microsoft.com/office/drawing/2014/main" id="{07C1216D-9A97-4268-927D-226ABEA7E9AA}"/>
              </a:ext>
            </a:extLst>
          </p:cNvPr>
          <p:cNvSpPr>
            <a:spLocks xmlns:a="http://schemas.openxmlformats.org/drawingml/2006/main" noGrp="1"/>
          </p:cNvSpPr>
          <p:nvPr/>
        </p:nvSpPr>
        <p:spPr>
          <a:xfrm xmlns:a="http://schemas.openxmlformats.org/drawingml/2006/main">
            <a:off x="60960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0" name="">
            <a:extLst xmlns:a="http://schemas.openxmlformats.org/drawingml/2006/main">
              <a:ext uri="{FF2B5EF4-FFF2-40B4-BE49-F238E27FC236}">
                <a16:creationId xmlns:a16="http://schemas.microsoft.com/office/drawing/2014/main" id="{63236D57-3317-4AF0-95F5-5E19EFA2D3E4}"/>
              </a:ext>
            </a:extLst>
          </p:cNvPr>
          <p:cNvSpPr>
            <a:spLocks xmlns:a="http://schemas.openxmlformats.org/drawingml/2006/main" noGrp="1"/>
          </p:cNvSpPr>
          <p:nvPr/>
        </p:nvSpPr>
        <p:spPr>
          <a:xfrm xmlns:a="http://schemas.openxmlformats.org/drawingml/2006/main">
            <a:off x="74295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9DEBA1DA-6311-4B69-9E1A-9FDEF284B1C2}"/>
              </a:ext>
            </a:extLst>
          </p:cNvPr>
          <p:cNvSpPr>
            <a:spLocks xmlns:a="http://schemas.openxmlformats.org/drawingml/2006/main" noGrp="1"/>
          </p:cNvSpPr>
          <p:nvPr/>
        </p:nvSpPr>
        <p:spPr>
          <a:xfrm xmlns:a="http://schemas.openxmlformats.org/drawingml/2006/main">
            <a:off x="74295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Name the task</a:t>
            </a:r>
          </a:p>
        </p:txBody>
      </p:sp>
      <p:sp>
        <p:nvSpPr>
          <p:cNvPr id="12" name="">
            <a:extLst xmlns:a="http://schemas.openxmlformats.org/drawingml/2006/main">
              <a:ext uri="{FF2B5EF4-FFF2-40B4-BE49-F238E27FC236}">
                <a16:creationId xmlns:a16="http://schemas.microsoft.com/office/drawing/2014/main" id="{145D45C3-5473-43D1-A821-7DC112B2975F}"/>
              </a:ext>
            </a:extLst>
          </p:cNvPr>
          <p:cNvSpPr>
            <a:spLocks xmlns:a="http://schemas.openxmlformats.org/drawingml/2006/main" noGrp="1"/>
          </p:cNvSpPr>
          <p:nvPr/>
        </p:nvSpPr>
        <p:spPr>
          <a:xfrm xmlns:a="http://schemas.openxmlformats.org/drawingml/2006/main">
            <a:off x="74295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Describe the intended output without sharing the underlying sensitive content.</a:t>
            </a:r>
          </a:p>
        </p:txBody>
      </p:sp>
      <p:sp>
        <p:nvSpPr>
          <p:cNvPr id="13" name="">
            <a:extLst xmlns:a="http://schemas.openxmlformats.org/drawingml/2006/main">
              <a:ext uri="{FF2B5EF4-FFF2-40B4-BE49-F238E27FC236}">
                <a16:creationId xmlns:a16="http://schemas.microsoft.com/office/drawing/2014/main" id="{1A7E121B-293F-46DC-B497-D688A03A5EEF}"/>
              </a:ext>
            </a:extLst>
          </p:cNvPr>
          <p:cNvSpPr>
            <a:spLocks xmlns:a="http://schemas.openxmlformats.org/drawingml/2006/main" noGrp="1"/>
          </p:cNvSpPr>
          <p:nvPr/>
        </p:nvSpPr>
        <p:spPr>
          <a:xfrm xmlns:a="http://schemas.openxmlformats.org/drawingml/2006/main">
            <a:off x="303847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449E94E-341A-494A-ABEB-65FBC0C962AC}"/>
              </a:ext>
            </a:extLst>
          </p:cNvPr>
          <p:cNvSpPr>
            <a:spLocks xmlns:a="http://schemas.openxmlformats.org/drawingml/2006/main" noGrp="1"/>
          </p:cNvSpPr>
          <p:nvPr/>
        </p:nvSpPr>
        <p:spPr>
          <a:xfrm xmlns:a="http://schemas.openxmlformats.org/drawingml/2006/main">
            <a:off x="338137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5" name="">
            <a:extLst xmlns:a="http://schemas.openxmlformats.org/drawingml/2006/main">
              <a:ext uri="{FF2B5EF4-FFF2-40B4-BE49-F238E27FC236}">
                <a16:creationId xmlns:a16="http://schemas.microsoft.com/office/drawing/2014/main" id="{96F3A441-1F62-4932-A27E-B801C8F839EC}"/>
              </a:ext>
            </a:extLst>
          </p:cNvPr>
          <p:cNvSpPr>
            <a:spLocks xmlns:a="http://schemas.openxmlformats.org/drawingml/2006/main" noGrp="1"/>
          </p:cNvSpPr>
          <p:nvPr/>
        </p:nvSpPr>
        <p:spPr>
          <a:xfrm xmlns:a="http://schemas.openxmlformats.org/drawingml/2006/main">
            <a:off x="351472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48B25E95-EA0B-4D38-9598-759771ACCB13}"/>
              </a:ext>
            </a:extLst>
          </p:cNvPr>
          <p:cNvSpPr>
            <a:spLocks xmlns:a="http://schemas.openxmlformats.org/drawingml/2006/main" noGrp="1"/>
          </p:cNvSpPr>
          <p:nvPr/>
        </p:nvSpPr>
        <p:spPr>
          <a:xfrm xmlns:a="http://schemas.openxmlformats.org/drawingml/2006/main">
            <a:off x="351472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Classify the input</a:t>
            </a:r>
          </a:p>
        </p:txBody>
      </p:sp>
      <p:sp>
        <p:nvSpPr>
          <p:cNvPr id="17" name="">
            <a:extLst xmlns:a="http://schemas.openxmlformats.org/drawingml/2006/main">
              <a:ext uri="{FF2B5EF4-FFF2-40B4-BE49-F238E27FC236}">
                <a16:creationId xmlns:a16="http://schemas.microsoft.com/office/drawing/2014/main" id="{99915F8B-D85E-4AD7-8E04-F035205A2C34}"/>
              </a:ext>
            </a:extLst>
          </p:cNvPr>
          <p:cNvSpPr>
            <a:spLocks xmlns:a="http://schemas.openxmlformats.org/drawingml/2006/main" noGrp="1"/>
          </p:cNvSpPr>
          <p:nvPr/>
        </p:nvSpPr>
        <p:spPr>
          <a:xfrm xmlns:a="http://schemas.openxmlformats.org/drawingml/2006/main">
            <a:off x="351472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Identify whether it is Public, Internal, Confidential or Restricted under DWIHN policy.</a:t>
            </a:r>
          </a:p>
        </p:txBody>
      </p:sp>
      <p:sp>
        <p:nvSpPr>
          <p:cNvPr id="18" name="">
            <a:extLst xmlns:a="http://schemas.openxmlformats.org/drawingml/2006/main">
              <a:ext uri="{FF2B5EF4-FFF2-40B4-BE49-F238E27FC236}">
                <a16:creationId xmlns:a16="http://schemas.microsoft.com/office/drawing/2014/main" id="{49D6331A-DCA4-4F7A-8A72-F1ADEFFDC660}"/>
              </a:ext>
            </a:extLst>
          </p:cNvPr>
          <p:cNvSpPr>
            <a:spLocks xmlns:a="http://schemas.openxmlformats.org/drawingml/2006/main" noGrp="1"/>
          </p:cNvSpPr>
          <p:nvPr/>
        </p:nvSpPr>
        <p:spPr>
          <a:xfrm xmlns:a="http://schemas.openxmlformats.org/drawingml/2006/main">
            <a:off x="5810250"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9E1AB17-BB2D-4CA2-935B-8F5A6A5B2865}"/>
              </a:ext>
            </a:extLst>
          </p:cNvPr>
          <p:cNvSpPr>
            <a:spLocks xmlns:a="http://schemas.openxmlformats.org/drawingml/2006/main" noGrp="1"/>
          </p:cNvSpPr>
          <p:nvPr/>
        </p:nvSpPr>
        <p:spPr>
          <a:xfrm xmlns:a="http://schemas.openxmlformats.org/drawingml/2006/main">
            <a:off x="615315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0" name="">
            <a:extLst xmlns:a="http://schemas.openxmlformats.org/drawingml/2006/main">
              <a:ext uri="{FF2B5EF4-FFF2-40B4-BE49-F238E27FC236}">
                <a16:creationId xmlns:a16="http://schemas.microsoft.com/office/drawing/2014/main" id="{625CE67C-9ADF-4799-AD2D-92D31C2855DE}"/>
              </a:ext>
            </a:extLst>
          </p:cNvPr>
          <p:cNvSpPr>
            <a:spLocks xmlns:a="http://schemas.openxmlformats.org/drawingml/2006/main" noGrp="1"/>
          </p:cNvSpPr>
          <p:nvPr/>
        </p:nvSpPr>
        <p:spPr>
          <a:xfrm xmlns:a="http://schemas.openxmlformats.org/drawingml/2006/main">
            <a:off x="628650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21" name="">
            <a:extLst xmlns:a="http://schemas.openxmlformats.org/drawingml/2006/main">
              <a:ext uri="{FF2B5EF4-FFF2-40B4-BE49-F238E27FC236}">
                <a16:creationId xmlns:a16="http://schemas.microsoft.com/office/drawing/2014/main" id="{F11598B6-38A8-46E4-BD8A-41A2EC6A0370}"/>
              </a:ext>
            </a:extLst>
          </p:cNvPr>
          <p:cNvSpPr>
            <a:spLocks xmlns:a="http://schemas.openxmlformats.org/drawingml/2006/main" noGrp="1"/>
          </p:cNvSpPr>
          <p:nvPr/>
        </p:nvSpPr>
        <p:spPr>
          <a:xfrm xmlns:a="http://schemas.openxmlformats.org/drawingml/2006/main">
            <a:off x="628650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Check the catalog</a:t>
            </a:r>
          </a:p>
        </p:txBody>
      </p:sp>
      <p:sp>
        <p:nvSpPr>
          <p:cNvPr id="22" name="">
            <a:extLst xmlns:a="http://schemas.openxmlformats.org/drawingml/2006/main">
              <a:ext uri="{FF2B5EF4-FFF2-40B4-BE49-F238E27FC236}">
                <a16:creationId xmlns:a16="http://schemas.microsoft.com/office/drawing/2014/main" id="{DE52F0DE-0006-4C99-AD50-EF00BFD1507E}"/>
              </a:ext>
            </a:extLst>
          </p:cNvPr>
          <p:cNvSpPr>
            <a:spLocks xmlns:a="http://schemas.openxmlformats.org/drawingml/2006/main" noGrp="1"/>
          </p:cNvSpPr>
          <p:nvPr/>
        </p:nvSpPr>
        <p:spPr>
          <a:xfrm xmlns:a="http://schemas.openxmlformats.org/drawingml/2006/main">
            <a:off x="628650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Verify the exact tool, account and use case, plus any conditions on data, retention or review.</a:t>
            </a:r>
          </a:p>
        </p:txBody>
      </p:sp>
      <p:sp>
        <p:nvSpPr>
          <p:cNvPr id="23" name="">
            <a:extLst xmlns:a="http://schemas.openxmlformats.org/drawingml/2006/main">
              <a:ext uri="{FF2B5EF4-FFF2-40B4-BE49-F238E27FC236}">
                <a16:creationId xmlns:a16="http://schemas.microsoft.com/office/drawing/2014/main" id="{28978257-A888-4C7D-8C8D-A6327B1EB258}"/>
              </a:ext>
            </a:extLst>
          </p:cNvPr>
          <p:cNvSpPr>
            <a:spLocks xmlns:a="http://schemas.openxmlformats.org/drawingml/2006/main" noGrp="1"/>
          </p:cNvSpPr>
          <p:nvPr/>
        </p:nvSpPr>
        <p:spPr>
          <a:xfrm xmlns:a="http://schemas.openxmlformats.org/drawingml/2006/main">
            <a:off x="858202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3F85BBAF-1011-41FE-9F00-261F1E9F7F19}"/>
              </a:ext>
            </a:extLst>
          </p:cNvPr>
          <p:cNvSpPr>
            <a:spLocks xmlns:a="http://schemas.openxmlformats.org/drawingml/2006/main" noGrp="1"/>
          </p:cNvSpPr>
          <p:nvPr/>
        </p:nvSpPr>
        <p:spPr>
          <a:xfrm xmlns:a="http://schemas.openxmlformats.org/drawingml/2006/main">
            <a:off x="892492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5" name="">
            <a:extLst xmlns:a="http://schemas.openxmlformats.org/drawingml/2006/main">
              <a:ext uri="{FF2B5EF4-FFF2-40B4-BE49-F238E27FC236}">
                <a16:creationId xmlns:a16="http://schemas.microsoft.com/office/drawing/2014/main" id="{EC0A60EB-14B3-4F86-8B56-43B00FF3C0D1}"/>
              </a:ext>
            </a:extLst>
          </p:cNvPr>
          <p:cNvSpPr>
            <a:spLocks xmlns:a="http://schemas.openxmlformats.org/drawingml/2006/main" noGrp="1"/>
          </p:cNvSpPr>
          <p:nvPr/>
        </p:nvSpPr>
        <p:spPr>
          <a:xfrm xmlns:a="http://schemas.openxmlformats.org/drawingml/2006/main">
            <a:off x="905827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04</a:t>
            </a:r>
          </a:p>
        </p:txBody>
      </p:sp>
      <p:sp>
        <p:nvSpPr>
          <p:cNvPr id="26" name="">
            <a:extLst xmlns:a="http://schemas.openxmlformats.org/drawingml/2006/main">
              <a:ext uri="{FF2B5EF4-FFF2-40B4-BE49-F238E27FC236}">
                <a16:creationId xmlns:a16="http://schemas.microsoft.com/office/drawing/2014/main" id="{E9930C77-7F4C-42E1-AB69-A6C6D2C1BEB8}"/>
              </a:ext>
            </a:extLst>
          </p:cNvPr>
          <p:cNvSpPr>
            <a:spLocks xmlns:a="http://schemas.openxmlformats.org/drawingml/2006/main" noGrp="1"/>
          </p:cNvSpPr>
          <p:nvPr/>
        </p:nvSpPr>
        <p:spPr>
          <a:xfrm xmlns:a="http://schemas.openxmlformats.org/drawingml/2006/main">
            <a:off x="905827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Choose a safe path</a:t>
            </a:r>
          </a:p>
        </p:txBody>
      </p:sp>
      <p:sp>
        <p:nvSpPr>
          <p:cNvPr id="27" name="">
            <a:extLst xmlns:a="http://schemas.openxmlformats.org/drawingml/2006/main">
              <a:ext uri="{FF2B5EF4-FFF2-40B4-BE49-F238E27FC236}">
                <a16:creationId xmlns:a16="http://schemas.microsoft.com/office/drawing/2014/main" id="{7835013F-87C2-458B-84E7-6BC6E69A2456}"/>
              </a:ext>
            </a:extLst>
          </p:cNvPr>
          <p:cNvSpPr>
            <a:spLocks xmlns:a="http://schemas.openxmlformats.org/drawingml/2006/main" noGrp="1"/>
          </p:cNvSpPr>
          <p:nvPr/>
        </p:nvSpPr>
        <p:spPr>
          <a:xfrm xmlns:a="http://schemas.openxmlformats.org/drawingml/2006/main">
            <a:off x="905827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Proceed only through an approved workflow. Otherwise stop and consult the designated owner.</a:t>
            </a:r>
          </a:p>
        </p:txBody>
      </p:sp>
      <p:sp>
        <p:nvSpPr>
          <p:cNvPr id="28" name="">
            <a:extLst xmlns:a="http://schemas.openxmlformats.org/drawingml/2006/main">
              <a:ext uri="{FF2B5EF4-FFF2-40B4-BE49-F238E27FC236}">
                <a16:creationId xmlns:a16="http://schemas.microsoft.com/office/drawing/2014/main" id="{97D505F2-1DFE-4247-82C3-682212CCA917}"/>
              </a:ext>
            </a:extLst>
          </p:cNvPr>
          <p:cNvSpPr>
            <a:spLocks xmlns:a="http://schemas.openxmlformats.org/drawingml/2006/main" noGrp="1"/>
          </p:cNvSpPr>
          <p:nvPr/>
        </p:nvSpPr>
        <p:spPr>
          <a:xfrm xmlns:a="http://schemas.openxmlformats.org/drawingml/2006/main">
            <a:off x="609600" y="364807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WORKED EXAMPLE</a:t>
            </a:r>
          </a:p>
        </p:txBody>
      </p:sp>
      <p:sp>
        <p:nvSpPr>
          <p:cNvPr id="29" name="">
            <a:extLst xmlns:a="http://schemas.openxmlformats.org/drawingml/2006/main">
              <a:ext uri="{FF2B5EF4-FFF2-40B4-BE49-F238E27FC236}">
                <a16:creationId xmlns:a16="http://schemas.microsoft.com/office/drawing/2014/main" id="{974D6DFE-2EB8-48EE-94C3-A8A14956FD01}"/>
              </a:ext>
            </a:extLst>
          </p:cNvPr>
          <p:cNvSpPr>
            <a:spLocks xmlns:a="http://schemas.openxmlformats.org/drawingml/2006/main" noGrp="1"/>
          </p:cNvSpPr>
          <p:nvPr/>
        </p:nvSpPr>
        <p:spPr>
          <a:xfrm xmlns:a="http://schemas.openxmlformats.org/drawingml/2006/main">
            <a:off x="609600" y="3943350"/>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00" b="0">
                <a:solidFill>
                  <a:srgbClr val="142F42"/>
                </a:solidFill>
                <a:latin typeface="Arial"/>
                <a:ea typeface="Arial"/>
                <a:cs typeface="Arial"/>
              </a:defRPr>
            </a:pPr>
            <a:r>
              <a:rPr sz="1500" b="0">
                <a:solidFill>
                  <a:srgbClr val="142F42"/>
                </a:solidFill>
                <a:latin typeface="Arial"/>
                <a:ea typeface="Arial"/>
                <a:cs typeface="Arial"/>
              </a:rPr>
              <a:t>Hypothetical example: a staff member wants help simplifying a letter that contains a member’s name, appointment details and care context. The safe first step is not to paste the letter into a consumer chatbot. The employee checks the approved catalog and follows the permitted workflow, or seeks guidance if no approved option is listed.</a:t>
            </a:r>
          </a:p>
        </p:txBody>
      </p:sp>
    </p:spTree>
    <p:extLst>
      <p:ext uri="{BB962C8B-B14F-4D97-AF65-F5344CB8AC3E}">
        <p14:creationId xmlns:p14="http://schemas.microsoft.com/office/powerpoint/2010/main" val="201850870"/>
      </p:ext>
    </p:extLst>
  </p:cSld>
</p:sld>
</file>

<file path=ppt/slides/slide9.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B19F090-1306-4331-A5C7-4F56C4B4AD0B}"/>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2 / MODULES 2–3</a:t>
            </a:r>
          </a:p>
        </p:txBody>
      </p:sp>
      <p:sp>
        <p:nvSpPr>
          <p:cNvPr id="2" name="">
            <a:extLst xmlns:a="http://schemas.openxmlformats.org/drawingml/2006/main">
              <a:ext uri="{FF2B5EF4-FFF2-40B4-BE49-F238E27FC236}">
                <a16:creationId xmlns:a16="http://schemas.microsoft.com/office/drawing/2014/main" id="{EF8C020D-58B7-4C50-9A28-CE62D3F10785}"/>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S2  |  Practical scenario &amp; exercise</a:t>
            </a:r>
          </a:p>
        </p:txBody>
      </p:sp>
      <p:sp>
        <p:nvSpPr>
          <p:cNvPr id="3" name="">
            <a:extLst xmlns:a="http://schemas.openxmlformats.org/drawingml/2006/main">
              <a:ext uri="{FF2B5EF4-FFF2-40B4-BE49-F238E27FC236}">
                <a16:creationId xmlns:a16="http://schemas.microsoft.com/office/drawing/2014/main" id="{AA2865B8-22DC-41CE-8904-0004B13DD1D8}"/>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7EF5127-3173-4720-BFC5-4A3BA1E3B4B1}"/>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9B6C110-1793-471B-96D5-8EF0D61C885F}"/>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A5B31D84-F0DE-41ED-9FCE-863FF469E682}"/>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09</a:t>
            </a:r>
          </a:p>
        </p:txBody>
      </p:sp>
      <p:sp>
        <p:nvSpPr>
          <p:cNvPr id="7" name="">
            <a:extLst xmlns:a="http://schemas.openxmlformats.org/drawingml/2006/main">
              <a:ext uri="{FF2B5EF4-FFF2-40B4-BE49-F238E27FC236}">
                <a16:creationId xmlns:a16="http://schemas.microsoft.com/office/drawing/2014/main" id="{0A54FE28-E526-4C4E-B935-1A65D0683A83}"/>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Modules 2–3, Practice Labs and Knowledge Checks; proposal pp. 6, 10. Confirm local policy and approved-tool catalog before delivery.</a:t>
            </a:r>
          </a:p>
        </p:txBody>
      </p:sp>
      <p:sp>
        <p:nvSpPr>
          <p:cNvPr id="8" name="">
            <a:extLst xmlns:a="http://schemas.openxmlformats.org/drawingml/2006/main">
              <a:ext uri="{FF2B5EF4-FFF2-40B4-BE49-F238E27FC236}">
                <a16:creationId xmlns:a16="http://schemas.microsoft.com/office/drawing/2014/main" id="{4986C3E6-7FDB-48F2-AFC9-28D45FBDA88A}"/>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Approved Tools, HIPAA Safety &amp; Data Classification</a:t>
            </a:r>
          </a:p>
        </p:txBody>
      </p:sp>
      <p:sp>
        <p:nvSpPr>
          <p:cNvPr id="9" name="">
            <a:extLst xmlns:a="http://schemas.openxmlformats.org/drawingml/2006/main">
              <a:ext uri="{FF2B5EF4-FFF2-40B4-BE49-F238E27FC236}">
                <a16:creationId xmlns:a16="http://schemas.microsoft.com/office/drawing/2014/main" id="{ACA41842-6723-4F36-8DCA-9A6054685503}"/>
              </a:ext>
            </a:extLst>
          </p:cNvPr>
          <p:cNvSpPr>
            <a:spLocks xmlns:a="http://schemas.openxmlformats.org/drawingml/2006/main" noGrp="1"/>
          </p:cNvSpPr>
          <p:nvPr/>
        </p:nvSpPr>
        <p:spPr>
          <a:xfrm xmlns:a="http://schemas.openxmlformats.org/drawingml/2006/main">
            <a:off x="609600" y="1981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SCENARIO</a:t>
            </a:r>
          </a:p>
        </p:txBody>
      </p:sp>
      <p:sp>
        <p:nvSpPr>
          <p:cNvPr id="10" name="">
            <a:extLst xmlns:a="http://schemas.openxmlformats.org/drawingml/2006/main">
              <a:ext uri="{FF2B5EF4-FFF2-40B4-BE49-F238E27FC236}">
                <a16:creationId xmlns:a16="http://schemas.microsoft.com/office/drawing/2014/main" id="{CC3282E3-F792-4B7F-BE13-22A9A80000D7}"/>
              </a:ext>
            </a:extLst>
          </p:cNvPr>
          <p:cNvSpPr>
            <a:spLocks xmlns:a="http://schemas.openxmlformats.org/drawingml/2006/main" noGrp="1"/>
          </p:cNvSpPr>
          <p:nvPr/>
        </p:nvSpPr>
        <p:spPr>
          <a:xfrm xmlns:a="http://schemas.openxmlformats.org/drawingml/2006/main">
            <a:off x="609600" y="2266950"/>
            <a:ext cx="109728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D4DFE3"/>
            </a:solidFill>
          </a:ln>
        </p:spPr>
      </p:sp>
      <p:sp>
        <p:nvSpPr>
          <p:cNvPr id="11" name="">
            <a:extLst xmlns:a="http://schemas.openxmlformats.org/drawingml/2006/main">
              <a:ext uri="{FF2B5EF4-FFF2-40B4-BE49-F238E27FC236}">
                <a16:creationId xmlns:a16="http://schemas.microsoft.com/office/drawing/2014/main" id="{CA2453AD-341C-4C7E-964A-C795A079C2B4}"/>
              </a:ext>
            </a:extLst>
          </p:cNvPr>
          <p:cNvSpPr>
            <a:spLocks xmlns:a="http://schemas.openxmlformats.org/drawingml/2006/main" noGrp="1"/>
          </p:cNvSpPr>
          <p:nvPr/>
        </p:nvSpPr>
        <p:spPr>
          <a:xfrm xmlns:a="http://schemas.openxmlformats.org/drawingml/2006/main">
            <a:off x="819150" y="2447925"/>
            <a:ext cx="10525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142F42"/>
                </a:solidFill>
                <a:latin typeface="Arial"/>
                <a:ea typeface="Arial"/>
                <a:cs typeface="Arial"/>
              </a:defRPr>
            </a:pPr>
            <a:r>
              <a:rPr sz="1425" b="0">
                <a:solidFill>
                  <a:srgbClr val="142F42"/>
                </a:solidFill>
                <a:latin typeface="Arial"/>
                <a:ea typeface="Arial"/>
                <a:cs typeface="Arial"/>
              </a:rPr>
              <a:t>A program analyst shares an internal dashboard export with aggregated counts. A hidden worksheet also contains row-level notes with names and service details. The analyst wants a one-paragraph summary.</a:t>
            </a:r>
          </a:p>
        </p:txBody>
      </p:sp>
      <p:sp>
        <p:nvSpPr>
          <p:cNvPr id="12" name="">
            <a:extLst xmlns:a="http://schemas.openxmlformats.org/drawingml/2006/main">
              <a:ext uri="{FF2B5EF4-FFF2-40B4-BE49-F238E27FC236}">
                <a16:creationId xmlns:a16="http://schemas.microsoft.com/office/drawing/2014/main" id="{87396C83-39D3-4730-9F4C-4B3142B2161B}"/>
              </a:ext>
            </a:extLst>
          </p:cNvPr>
          <p:cNvSpPr>
            <a:spLocks xmlns:a="http://schemas.openxmlformats.org/drawingml/2006/main" noGrp="1"/>
          </p:cNvSpPr>
          <p:nvPr/>
        </p:nvSpPr>
        <p:spPr>
          <a:xfrm xmlns:a="http://schemas.openxmlformats.org/drawingml/2006/main">
            <a:off x="609600" y="34861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 THE CASE</a:t>
            </a:r>
          </a:p>
        </p:txBody>
      </p:sp>
      <p:sp>
        <p:nvSpPr>
          <p:cNvPr id="13" name="">
            <a:extLst xmlns:a="http://schemas.openxmlformats.org/drawingml/2006/main">
              <a:ext uri="{FF2B5EF4-FFF2-40B4-BE49-F238E27FC236}">
                <a16:creationId xmlns:a16="http://schemas.microsoft.com/office/drawing/2014/main" id="{E0CFF24B-AC11-4450-A875-7F55C7746F12}"/>
              </a:ext>
            </a:extLst>
          </p:cNvPr>
          <p:cNvSpPr>
            <a:spLocks xmlns:a="http://schemas.openxmlformats.org/drawingml/2006/main" noGrp="1"/>
          </p:cNvSpPr>
          <p:nvPr/>
        </p:nvSpPr>
        <p:spPr>
          <a:xfrm xmlns:a="http://schemas.openxmlformats.org/drawingml/2006/main">
            <a:off x="609600" y="38195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4" name="">
            <a:extLst xmlns:a="http://schemas.openxmlformats.org/drawingml/2006/main">
              <a:ext uri="{FF2B5EF4-FFF2-40B4-BE49-F238E27FC236}">
                <a16:creationId xmlns:a16="http://schemas.microsoft.com/office/drawing/2014/main" id="{A46E7DA0-C592-44C6-A2FE-079CA40508CD}"/>
              </a:ext>
            </a:extLst>
          </p:cNvPr>
          <p:cNvSpPr>
            <a:spLocks xmlns:a="http://schemas.openxmlformats.org/drawingml/2006/main" noGrp="1"/>
          </p:cNvSpPr>
          <p:nvPr/>
        </p:nvSpPr>
        <p:spPr>
          <a:xfrm xmlns:a="http://schemas.openxmlformats.org/drawingml/2006/main">
            <a:off x="1066800" y="38195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Identify the highest applicable data tier and why.</a:t>
            </a:r>
          </a:p>
        </p:txBody>
      </p:sp>
      <p:sp>
        <p:nvSpPr>
          <p:cNvPr id="15" name="">
            <a:extLst xmlns:a="http://schemas.openxmlformats.org/drawingml/2006/main">
              <a:ext uri="{FF2B5EF4-FFF2-40B4-BE49-F238E27FC236}">
                <a16:creationId xmlns:a16="http://schemas.microsoft.com/office/drawing/2014/main" id="{DF170DBF-B763-4B5E-B1A6-12F1020054FE}"/>
              </a:ext>
            </a:extLst>
          </p:cNvPr>
          <p:cNvSpPr>
            <a:spLocks xmlns:a="http://schemas.openxmlformats.org/drawingml/2006/main" noGrp="1"/>
          </p:cNvSpPr>
          <p:nvPr/>
        </p:nvSpPr>
        <p:spPr>
          <a:xfrm xmlns:a="http://schemas.openxmlformats.org/drawingml/2006/main">
            <a:off x="609600" y="43338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09674886-0D63-4859-B962-9BDCE64B0EC8}"/>
              </a:ext>
            </a:extLst>
          </p:cNvPr>
          <p:cNvSpPr>
            <a:spLocks xmlns:a="http://schemas.openxmlformats.org/drawingml/2006/main" noGrp="1"/>
          </p:cNvSpPr>
          <p:nvPr/>
        </p:nvSpPr>
        <p:spPr>
          <a:xfrm xmlns:a="http://schemas.openxmlformats.org/drawingml/2006/main">
            <a:off x="1066800" y="433387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List what must be checked in the DWIHN catalog before any AI use.</a:t>
            </a:r>
          </a:p>
        </p:txBody>
      </p:sp>
      <p:sp>
        <p:nvSpPr>
          <p:cNvPr id="17" name="">
            <a:extLst xmlns:a="http://schemas.openxmlformats.org/drawingml/2006/main">
              <a:ext uri="{FF2B5EF4-FFF2-40B4-BE49-F238E27FC236}">
                <a16:creationId xmlns:a16="http://schemas.microsoft.com/office/drawing/2014/main" id="{27969F9B-A243-4DE5-B732-4A493B40395F}"/>
              </a:ext>
            </a:extLst>
          </p:cNvPr>
          <p:cNvSpPr>
            <a:spLocks xmlns:a="http://schemas.openxmlformats.org/drawingml/2006/main" noGrp="1"/>
          </p:cNvSpPr>
          <p:nvPr/>
        </p:nvSpPr>
        <p:spPr>
          <a:xfrm xmlns:a="http://schemas.openxmlformats.org/drawingml/2006/main">
            <a:off x="609600" y="4848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BE4CBC7D-537C-4EBC-84D8-06E114E75132}"/>
              </a:ext>
            </a:extLst>
          </p:cNvPr>
          <p:cNvSpPr>
            <a:spLocks xmlns:a="http://schemas.openxmlformats.org/drawingml/2006/main" noGrp="1"/>
          </p:cNvSpPr>
          <p:nvPr/>
        </p:nvSpPr>
        <p:spPr>
          <a:xfrm xmlns:a="http://schemas.openxmlformats.org/drawingml/2006/main">
            <a:off x="1066800" y="48482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Describe a safer alternative if this export cannot be used in the available tool.</a:t>
            </a:r>
          </a:p>
        </p:txBody>
      </p:sp>
      <p:sp>
        <p:nvSpPr>
          <p:cNvPr id="19" name="">
            <a:extLst xmlns:a="http://schemas.openxmlformats.org/drawingml/2006/main">
              <a:ext uri="{FF2B5EF4-FFF2-40B4-BE49-F238E27FC236}">
                <a16:creationId xmlns:a16="http://schemas.microsoft.com/office/drawing/2014/main" id="{7A41AC26-3101-42A8-87B8-3A0906C11DF1}"/>
              </a:ext>
            </a:extLst>
          </p:cNvPr>
          <p:cNvSpPr>
            <a:spLocks xmlns:a="http://schemas.openxmlformats.org/drawingml/2006/main" noGrp="1"/>
          </p:cNvSpPr>
          <p:nvPr/>
        </p:nvSpPr>
        <p:spPr>
          <a:xfrm xmlns:a="http://schemas.openxmlformats.org/drawingml/2006/main">
            <a:off x="7886700" y="3486150"/>
            <a:ext cx="19050" cy="219075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5105444-37AD-4290-84A7-8DF9F757FFB4}"/>
              </a:ext>
            </a:extLst>
          </p:cNvPr>
          <p:cNvSpPr>
            <a:spLocks xmlns:a="http://schemas.openxmlformats.org/drawingml/2006/main" noGrp="1"/>
          </p:cNvSpPr>
          <p:nvPr/>
        </p:nvSpPr>
        <p:spPr>
          <a:xfrm xmlns:a="http://schemas.openxmlformats.org/drawingml/2006/main">
            <a:off x="8229600" y="3505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EXPECTED DELIVERABLE</a:t>
            </a:r>
          </a:p>
        </p:txBody>
      </p:sp>
      <p:sp>
        <p:nvSpPr>
          <p:cNvPr id="21" name="">
            <a:extLst xmlns:a="http://schemas.openxmlformats.org/drawingml/2006/main">
              <a:ext uri="{FF2B5EF4-FFF2-40B4-BE49-F238E27FC236}">
                <a16:creationId xmlns:a16="http://schemas.microsoft.com/office/drawing/2014/main" id="{2CB5A00E-DC7E-400C-B918-9CACFB9CB10D}"/>
              </a:ext>
            </a:extLst>
          </p:cNvPr>
          <p:cNvSpPr>
            <a:spLocks xmlns:a="http://schemas.openxmlformats.org/drawingml/2006/main" noGrp="1"/>
          </p:cNvSpPr>
          <p:nvPr/>
        </p:nvSpPr>
        <p:spPr>
          <a:xfrm xmlns:a="http://schemas.openxmlformats.org/drawingml/2006/main">
            <a:off x="8229600" y="3819525"/>
            <a:ext cx="3086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A tool-selection decision with the classification, approval evidence and next step recorded.</a:t>
            </a:r>
          </a:p>
        </p:txBody>
      </p:sp>
      <p:sp>
        <p:nvSpPr>
          <p:cNvPr id="22" name="">
            <a:extLst xmlns:a="http://schemas.openxmlformats.org/drawingml/2006/main">
              <a:ext uri="{FF2B5EF4-FFF2-40B4-BE49-F238E27FC236}">
                <a16:creationId xmlns:a16="http://schemas.microsoft.com/office/drawing/2014/main" id="{37E08702-C085-4B0E-8358-A5777606FE16}"/>
              </a:ext>
            </a:extLst>
          </p:cNvPr>
          <p:cNvSpPr>
            <a:spLocks xmlns:a="http://schemas.openxmlformats.org/drawingml/2006/main" noGrp="1"/>
          </p:cNvSpPr>
          <p:nvPr/>
        </p:nvSpPr>
        <p:spPr>
          <a:xfrm xmlns:a="http://schemas.openxmlformats.org/drawingml/2006/main">
            <a:off x="8229600" y="469582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REVIEW CRITERIA</a:t>
            </a:r>
          </a:p>
        </p:txBody>
      </p:sp>
      <p:sp>
        <p:nvSpPr>
          <p:cNvPr id="23" name="">
            <a:extLst xmlns:a="http://schemas.openxmlformats.org/drawingml/2006/main">
              <a:ext uri="{FF2B5EF4-FFF2-40B4-BE49-F238E27FC236}">
                <a16:creationId xmlns:a16="http://schemas.microsoft.com/office/drawing/2014/main" id="{AF74E402-D3CC-4051-8143-1761D36423BA}"/>
              </a:ext>
            </a:extLst>
          </p:cNvPr>
          <p:cNvSpPr>
            <a:spLocks xmlns:a="http://schemas.openxmlformats.org/drawingml/2006/main" noGrp="1"/>
          </p:cNvSpPr>
          <p:nvPr/>
        </p:nvSpPr>
        <p:spPr>
          <a:xfrm xmlns:a="http://schemas.openxmlformats.org/drawingml/2006/main">
            <a:off x="8229600" y="4991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The choice follows DWIHN policy rather than personal preference.</a:t>
            </a:r>
          </a:p>
        </p:txBody>
      </p:sp>
      <p:sp>
        <p:nvSpPr>
          <p:cNvPr id="24" name="">
            <a:extLst xmlns:a="http://schemas.openxmlformats.org/drawingml/2006/main">
              <a:ext uri="{FF2B5EF4-FFF2-40B4-BE49-F238E27FC236}">
                <a16:creationId xmlns:a16="http://schemas.microsoft.com/office/drawing/2014/main" id="{AB2E3D8A-D51A-4436-9788-A7AFBBEEAD24}"/>
              </a:ext>
            </a:extLst>
          </p:cNvPr>
          <p:cNvSpPr>
            <a:spLocks xmlns:a="http://schemas.openxmlformats.org/drawingml/2006/main" noGrp="1"/>
          </p:cNvSpPr>
          <p:nvPr/>
        </p:nvSpPr>
        <p:spPr>
          <a:xfrm xmlns:a="http://schemas.openxmlformats.org/drawingml/2006/main">
            <a:off x="8229600" y="5372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The learner notices sensitive content in the hidden worksheet.</a:t>
            </a:r>
          </a:p>
        </p:txBody>
      </p:sp>
      <p:sp>
        <p:nvSpPr>
          <p:cNvPr id="25" name="">
            <a:extLst xmlns:a="http://schemas.openxmlformats.org/drawingml/2006/main">
              <a:ext uri="{FF2B5EF4-FFF2-40B4-BE49-F238E27FC236}">
                <a16:creationId xmlns:a16="http://schemas.microsoft.com/office/drawing/2014/main" id="{0CF4194E-5484-49AD-8CFD-D456C4DC7F74}"/>
              </a:ext>
            </a:extLst>
          </p:cNvPr>
          <p:cNvSpPr>
            <a:spLocks xmlns:a="http://schemas.openxmlformats.org/drawingml/2006/main" noGrp="1"/>
          </p:cNvSpPr>
          <p:nvPr/>
        </p:nvSpPr>
        <p:spPr>
          <a:xfrm xmlns:a="http://schemas.openxmlformats.org/drawingml/2006/main">
            <a:off x="8229600" y="5753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Uncertainty is escalated instead of guessed away.</a:t>
            </a:r>
          </a:p>
        </p:txBody>
      </p:sp>
    </p:spTree>
    <p:extLst>
      <p:ext uri="{BB962C8B-B14F-4D97-AF65-F5344CB8AC3E}">
        <p14:creationId xmlns:p14="http://schemas.microsoft.com/office/powerpoint/2010/main" val="507604227"/>
      </p:ext>
    </p:extLst>
  </p:cSld>
</p:sld>
</file>

<file path=ppt/slides/slide10.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F13471DD-A4BC-43D3-A28E-345DD569EAF3}"/>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2 / MODULES 2–3</a:t>
            </a:r>
          </a:p>
        </p:txBody>
      </p:sp>
      <p:sp>
        <p:nvSpPr>
          <p:cNvPr id="2" name="">
            <a:extLst xmlns:a="http://schemas.openxmlformats.org/drawingml/2006/main">
              <a:ext uri="{FF2B5EF4-FFF2-40B4-BE49-F238E27FC236}">
                <a16:creationId xmlns:a16="http://schemas.microsoft.com/office/drawing/2014/main" id="{A9B3BE2F-A2EF-4602-8FA0-19D9155CBFC0}"/>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S2  |  Q&amp;A and knowledge check</a:t>
            </a:r>
          </a:p>
        </p:txBody>
      </p:sp>
      <p:sp>
        <p:nvSpPr>
          <p:cNvPr id="3" name="">
            <a:extLst xmlns:a="http://schemas.openxmlformats.org/drawingml/2006/main">
              <a:ext uri="{FF2B5EF4-FFF2-40B4-BE49-F238E27FC236}">
                <a16:creationId xmlns:a16="http://schemas.microsoft.com/office/drawing/2014/main" id="{BF131384-2023-4FFC-9A7E-EC1BDD173809}"/>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49C8E2B-1D8A-433C-A4C8-B7987B8BDDCF}"/>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12E31B5-511C-4E92-BD78-57EA260FE147}"/>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766438E9-3C75-4F91-84AC-F24836FA9C78}"/>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10</a:t>
            </a:r>
          </a:p>
        </p:txBody>
      </p:sp>
      <p:sp>
        <p:nvSpPr>
          <p:cNvPr id="7" name="">
            <a:extLst xmlns:a="http://schemas.openxmlformats.org/drawingml/2006/main">
              <a:ext uri="{FF2B5EF4-FFF2-40B4-BE49-F238E27FC236}">
                <a16:creationId xmlns:a16="http://schemas.microsoft.com/office/drawing/2014/main" id="{E83014A9-3B8C-4DDE-A819-8DE1557C02B0}"/>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Modules 2–3, Practice Labs and Knowledge Checks; proposal pp. 6, 10. Confirm local policy and approved-tool catalog before delivery.</a:t>
            </a:r>
          </a:p>
        </p:txBody>
      </p:sp>
      <p:sp>
        <p:nvSpPr>
          <p:cNvPr id="8" name="">
            <a:extLst xmlns:a="http://schemas.openxmlformats.org/drawingml/2006/main">
              <a:ext uri="{FF2B5EF4-FFF2-40B4-BE49-F238E27FC236}">
                <a16:creationId xmlns:a16="http://schemas.microsoft.com/office/drawing/2014/main" id="{7CDE7F3A-7544-4C26-9FA4-3C71DD2853D0}"/>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Approved Tools, HIPAA Safety &amp; Data Classification</a:t>
            </a:r>
          </a:p>
        </p:txBody>
      </p:sp>
      <p:sp>
        <p:nvSpPr>
          <p:cNvPr id="9" name="">
            <a:extLst xmlns:a="http://schemas.openxmlformats.org/drawingml/2006/main">
              <a:ext uri="{FF2B5EF4-FFF2-40B4-BE49-F238E27FC236}">
                <a16:creationId xmlns:a16="http://schemas.microsoft.com/office/drawing/2014/main" id="{B5897697-1584-4D2B-96DA-9EB8E243B436}"/>
              </a:ext>
            </a:extLst>
          </p:cNvPr>
          <p:cNvSpPr>
            <a:spLocks xmlns:a="http://schemas.openxmlformats.org/drawingml/2006/main" noGrp="1"/>
          </p:cNvSpPr>
          <p:nvPr/>
        </p:nvSpPr>
        <p:spPr>
          <a:xfrm xmlns:a="http://schemas.openxmlformats.org/drawingml/2006/main">
            <a:off x="609600" y="19240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Invite questions first. Use the answer cues to clarify the principle; route local policy questions to the right DWIHN owner.</a:t>
            </a:r>
          </a:p>
        </p:txBody>
      </p:sp>
      <p:sp>
        <p:nvSpPr>
          <p:cNvPr id="10" name="">
            <a:extLst xmlns:a="http://schemas.openxmlformats.org/drawingml/2006/main">
              <a:ext uri="{FF2B5EF4-FFF2-40B4-BE49-F238E27FC236}">
                <a16:creationId xmlns:a16="http://schemas.microsoft.com/office/drawing/2014/main" id="{A5CFD2AA-09C2-4D35-906A-E97D38BDB8A5}"/>
              </a:ext>
            </a:extLst>
          </p:cNvPr>
          <p:cNvSpPr>
            <a:spLocks xmlns:a="http://schemas.openxmlformats.org/drawingml/2006/main" noGrp="1"/>
          </p:cNvSpPr>
          <p:nvPr/>
        </p:nvSpPr>
        <p:spPr>
          <a:xfrm xmlns:a="http://schemas.openxmlformats.org/drawingml/2006/main">
            <a:off x="609600" y="26384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Q1</a:t>
            </a:r>
          </a:p>
        </p:txBody>
      </p:sp>
      <p:sp>
        <p:nvSpPr>
          <p:cNvPr id="11" name="">
            <a:extLst xmlns:a="http://schemas.openxmlformats.org/drawingml/2006/main">
              <a:ext uri="{FF2B5EF4-FFF2-40B4-BE49-F238E27FC236}">
                <a16:creationId xmlns:a16="http://schemas.microsoft.com/office/drawing/2014/main" id="{45657470-B1CE-4AD7-84C2-2D3F797C93AC}"/>
              </a:ext>
            </a:extLst>
          </p:cNvPr>
          <p:cNvSpPr>
            <a:spLocks xmlns:a="http://schemas.openxmlformats.org/drawingml/2006/main" noGrp="1"/>
          </p:cNvSpPr>
          <p:nvPr/>
        </p:nvSpPr>
        <p:spPr>
          <a:xfrm xmlns:a="http://schemas.openxmlformats.org/drawingml/2006/main">
            <a:off x="1162050" y="26384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Is a Public document always safe to paste into any tool?</a:t>
            </a:r>
          </a:p>
        </p:txBody>
      </p:sp>
      <p:sp>
        <p:nvSpPr>
          <p:cNvPr id="12" name="">
            <a:extLst xmlns:a="http://schemas.openxmlformats.org/drawingml/2006/main">
              <a:ext uri="{FF2B5EF4-FFF2-40B4-BE49-F238E27FC236}">
                <a16:creationId xmlns:a16="http://schemas.microsoft.com/office/drawing/2014/main" id="{D1C6B1DA-5EA2-4500-8ABE-5EE0E372FF1D}"/>
              </a:ext>
            </a:extLst>
          </p:cNvPr>
          <p:cNvSpPr>
            <a:spLocks xmlns:a="http://schemas.openxmlformats.org/drawingml/2006/main" noGrp="1"/>
          </p:cNvSpPr>
          <p:nvPr/>
        </p:nvSpPr>
        <p:spPr>
          <a:xfrm xmlns:a="http://schemas.openxmlformats.org/drawingml/2006/main">
            <a:off x="6000750" y="26384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3" name="">
            <a:extLst xmlns:a="http://schemas.openxmlformats.org/drawingml/2006/main">
              <a:ext uri="{FF2B5EF4-FFF2-40B4-BE49-F238E27FC236}">
                <a16:creationId xmlns:a16="http://schemas.microsoft.com/office/drawing/2014/main" id="{887507A0-CC17-4F28-8F81-E6977303492A}"/>
              </a:ext>
            </a:extLst>
          </p:cNvPr>
          <p:cNvSpPr>
            <a:spLocks xmlns:a="http://schemas.openxmlformats.org/drawingml/2006/main" noGrp="1"/>
          </p:cNvSpPr>
          <p:nvPr/>
        </p:nvSpPr>
        <p:spPr>
          <a:xfrm xmlns:a="http://schemas.openxmlformats.org/drawingml/2006/main">
            <a:off x="6000750" y="28765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No. Tool approval, purpose, account and other restrictions still apply.</a:t>
            </a:r>
          </a:p>
        </p:txBody>
      </p:sp>
      <p:sp>
        <p:nvSpPr>
          <p:cNvPr id="14" name="">
            <a:extLst xmlns:a="http://schemas.openxmlformats.org/drawingml/2006/main">
              <a:ext uri="{FF2B5EF4-FFF2-40B4-BE49-F238E27FC236}">
                <a16:creationId xmlns:a16="http://schemas.microsoft.com/office/drawing/2014/main" id="{650F4A14-6598-4603-9974-8B8B429609FC}"/>
              </a:ext>
            </a:extLst>
          </p:cNvPr>
          <p:cNvSpPr>
            <a:spLocks xmlns:a="http://schemas.openxmlformats.org/drawingml/2006/main" noGrp="1"/>
          </p:cNvSpPr>
          <p:nvPr/>
        </p:nvSpPr>
        <p:spPr>
          <a:xfrm xmlns:a="http://schemas.openxmlformats.org/drawingml/2006/main">
            <a:off x="609600" y="343852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D022FA7-6D5F-493E-AB8B-3ACD42C15F05}"/>
              </a:ext>
            </a:extLst>
          </p:cNvPr>
          <p:cNvSpPr>
            <a:spLocks xmlns:a="http://schemas.openxmlformats.org/drawingml/2006/main" noGrp="1"/>
          </p:cNvSpPr>
          <p:nvPr/>
        </p:nvSpPr>
        <p:spPr>
          <a:xfrm xmlns:a="http://schemas.openxmlformats.org/drawingml/2006/main">
            <a:off x="609600" y="35718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Q2</a:t>
            </a:r>
          </a:p>
        </p:txBody>
      </p:sp>
      <p:sp>
        <p:nvSpPr>
          <p:cNvPr id="16" name="">
            <a:extLst xmlns:a="http://schemas.openxmlformats.org/drawingml/2006/main">
              <a:ext uri="{FF2B5EF4-FFF2-40B4-BE49-F238E27FC236}">
                <a16:creationId xmlns:a16="http://schemas.microsoft.com/office/drawing/2014/main" id="{EC54B0B6-B60E-461D-BD60-351AB725BDCA}"/>
              </a:ext>
            </a:extLst>
          </p:cNvPr>
          <p:cNvSpPr>
            <a:spLocks xmlns:a="http://schemas.openxmlformats.org/drawingml/2006/main" noGrp="1"/>
          </p:cNvSpPr>
          <p:nvPr/>
        </p:nvSpPr>
        <p:spPr>
          <a:xfrm xmlns:a="http://schemas.openxmlformats.org/drawingml/2006/main">
            <a:off x="1162050" y="357187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Can I remove a name and assume the record is de-identified?</a:t>
            </a:r>
          </a:p>
        </p:txBody>
      </p:sp>
      <p:sp>
        <p:nvSpPr>
          <p:cNvPr id="17" name="">
            <a:extLst xmlns:a="http://schemas.openxmlformats.org/drawingml/2006/main">
              <a:ext uri="{FF2B5EF4-FFF2-40B4-BE49-F238E27FC236}">
                <a16:creationId xmlns:a16="http://schemas.microsoft.com/office/drawing/2014/main" id="{B9AC4393-683C-4300-9F10-44DADA144E18}"/>
              </a:ext>
            </a:extLst>
          </p:cNvPr>
          <p:cNvSpPr>
            <a:spLocks xmlns:a="http://schemas.openxmlformats.org/drawingml/2006/main" noGrp="1"/>
          </p:cNvSpPr>
          <p:nvPr/>
        </p:nvSpPr>
        <p:spPr>
          <a:xfrm xmlns:a="http://schemas.openxmlformats.org/drawingml/2006/main">
            <a:off x="6000750" y="357187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8" name="">
            <a:extLst xmlns:a="http://schemas.openxmlformats.org/drawingml/2006/main">
              <a:ext uri="{FF2B5EF4-FFF2-40B4-BE49-F238E27FC236}">
                <a16:creationId xmlns:a16="http://schemas.microsoft.com/office/drawing/2014/main" id="{D8CA4AE1-051B-46E0-94EE-1789A8AFAAB4}"/>
              </a:ext>
            </a:extLst>
          </p:cNvPr>
          <p:cNvSpPr>
            <a:spLocks xmlns:a="http://schemas.openxmlformats.org/drawingml/2006/main" noGrp="1"/>
          </p:cNvSpPr>
          <p:nvPr/>
        </p:nvSpPr>
        <p:spPr>
          <a:xfrm xmlns:a="http://schemas.openxmlformats.org/drawingml/2006/main">
            <a:off x="6000750" y="381000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No. Other details may identify a person, and policy defines acceptable de-identification.</a:t>
            </a:r>
          </a:p>
        </p:txBody>
      </p:sp>
      <p:sp>
        <p:nvSpPr>
          <p:cNvPr id="19" name="">
            <a:extLst xmlns:a="http://schemas.openxmlformats.org/drawingml/2006/main">
              <a:ext uri="{FF2B5EF4-FFF2-40B4-BE49-F238E27FC236}">
                <a16:creationId xmlns:a16="http://schemas.microsoft.com/office/drawing/2014/main" id="{2935DE3B-B678-4BFF-AF63-0B191E4A9122}"/>
              </a:ext>
            </a:extLst>
          </p:cNvPr>
          <p:cNvSpPr>
            <a:spLocks xmlns:a="http://schemas.openxmlformats.org/drawingml/2006/main" noGrp="1"/>
          </p:cNvSpPr>
          <p:nvPr/>
        </p:nvSpPr>
        <p:spPr>
          <a:xfrm xmlns:a="http://schemas.openxmlformats.org/drawingml/2006/main">
            <a:off x="609600" y="437197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1034449-7293-43F3-8717-E4E4D130A6AF}"/>
              </a:ext>
            </a:extLst>
          </p:cNvPr>
          <p:cNvSpPr>
            <a:spLocks xmlns:a="http://schemas.openxmlformats.org/drawingml/2006/main" noGrp="1"/>
          </p:cNvSpPr>
          <p:nvPr/>
        </p:nvSpPr>
        <p:spPr>
          <a:xfrm xmlns:a="http://schemas.openxmlformats.org/drawingml/2006/main">
            <a:off x="609600" y="45053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Q3</a:t>
            </a:r>
          </a:p>
        </p:txBody>
      </p:sp>
      <p:sp>
        <p:nvSpPr>
          <p:cNvPr id="21" name="">
            <a:extLst xmlns:a="http://schemas.openxmlformats.org/drawingml/2006/main">
              <a:ext uri="{FF2B5EF4-FFF2-40B4-BE49-F238E27FC236}">
                <a16:creationId xmlns:a16="http://schemas.microsoft.com/office/drawing/2014/main" id="{79C6C5CA-D906-4B3F-A52F-B5EC77807939}"/>
              </a:ext>
            </a:extLst>
          </p:cNvPr>
          <p:cNvSpPr>
            <a:spLocks xmlns:a="http://schemas.openxmlformats.org/drawingml/2006/main" noGrp="1"/>
          </p:cNvSpPr>
          <p:nvPr/>
        </p:nvSpPr>
        <p:spPr>
          <a:xfrm xmlns:a="http://schemas.openxmlformats.org/drawingml/2006/main">
            <a:off x="1162050" y="45053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What if the catalog does not answer my question?</a:t>
            </a:r>
          </a:p>
        </p:txBody>
      </p:sp>
      <p:sp>
        <p:nvSpPr>
          <p:cNvPr id="22" name="">
            <a:extLst xmlns:a="http://schemas.openxmlformats.org/drawingml/2006/main">
              <a:ext uri="{FF2B5EF4-FFF2-40B4-BE49-F238E27FC236}">
                <a16:creationId xmlns:a16="http://schemas.microsoft.com/office/drawing/2014/main" id="{79521CEF-F9F3-41E8-934E-C176C4FE8450}"/>
              </a:ext>
            </a:extLst>
          </p:cNvPr>
          <p:cNvSpPr>
            <a:spLocks xmlns:a="http://schemas.openxmlformats.org/drawingml/2006/main" noGrp="1"/>
          </p:cNvSpPr>
          <p:nvPr/>
        </p:nvSpPr>
        <p:spPr>
          <a:xfrm xmlns:a="http://schemas.openxmlformats.org/drawingml/2006/main">
            <a:off x="6000750" y="45053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23" name="">
            <a:extLst xmlns:a="http://schemas.openxmlformats.org/drawingml/2006/main">
              <a:ext uri="{FF2B5EF4-FFF2-40B4-BE49-F238E27FC236}">
                <a16:creationId xmlns:a16="http://schemas.microsoft.com/office/drawing/2014/main" id="{AEE05D6B-0C57-4C09-A55B-3FE6F4FB8A3E}"/>
              </a:ext>
            </a:extLst>
          </p:cNvPr>
          <p:cNvSpPr>
            <a:spLocks xmlns:a="http://schemas.openxmlformats.org/drawingml/2006/main" noGrp="1"/>
          </p:cNvSpPr>
          <p:nvPr/>
        </p:nvSpPr>
        <p:spPr>
          <a:xfrm xmlns:a="http://schemas.openxmlformats.org/drawingml/2006/main">
            <a:off x="6000750" y="47434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Pause and route the question to the designated privacy, security or governance contact.</a:t>
            </a:r>
          </a:p>
        </p:txBody>
      </p:sp>
      <p:sp>
        <p:nvSpPr>
          <p:cNvPr id="24" name="">
            <a:extLst xmlns:a="http://schemas.openxmlformats.org/drawingml/2006/main">
              <a:ext uri="{FF2B5EF4-FFF2-40B4-BE49-F238E27FC236}">
                <a16:creationId xmlns:a16="http://schemas.microsoft.com/office/drawing/2014/main" id="{A10341F5-7864-4E84-963A-F27AE6B7130D}"/>
              </a:ext>
            </a:extLst>
          </p:cNvPr>
          <p:cNvSpPr>
            <a:spLocks xmlns:a="http://schemas.openxmlformats.org/drawingml/2006/main" noGrp="1"/>
          </p:cNvSpPr>
          <p:nvPr/>
        </p:nvSpPr>
        <p:spPr>
          <a:xfrm xmlns:a="http://schemas.openxmlformats.org/drawingml/2006/main">
            <a:off x="609600" y="55435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2B20DF8D-D1FF-4601-A026-57DB40CEB93C}"/>
              </a:ext>
            </a:extLst>
          </p:cNvPr>
          <p:cNvSpPr>
            <a:spLocks xmlns:a="http://schemas.openxmlformats.org/drawingml/2006/main" noGrp="1"/>
          </p:cNvSpPr>
          <p:nvPr/>
        </p:nvSpPr>
        <p:spPr>
          <a:xfrm xmlns:a="http://schemas.openxmlformats.org/drawingml/2006/main">
            <a:off x="609600" y="57150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Remember</a:t>
            </a:r>
          </a:p>
        </p:txBody>
      </p:sp>
      <p:sp>
        <p:nvSpPr>
          <p:cNvPr id="26" name="">
            <a:extLst xmlns:a="http://schemas.openxmlformats.org/drawingml/2006/main">
              <a:ext uri="{FF2B5EF4-FFF2-40B4-BE49-F238E27FC236}">
                <a16:creationId xmlns:a16="http://schemas.microsoft.com/office/drawing/2014/main" id="{12DCC864-7F31-4E81-B68F-B8CA2C8FD36B}"/>
              </a:ext>
            </a:extLst>
          </p:cNvPr>
          <p:cNvSpPr>
            <a:spLocks xmlns:a="http://schemas.openxmlformats.org/drawingml/2006/main" noGrp="1"/>
          </p:cNvSpPr>
          <p:nvPr/>
        </p:nvSpPr>
        <p:spPr>
          <a:xfrm xmlns:a="http://schemas.openxmlformats.org/drawingml/2006/main">
            <a:off x="1924050" y="5686425"/>
            <a:ext cx="9429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039"/>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Classify before selecting the AI tool.   •   Check the approved catalog for the specific use.   •   Treat uncertainty and mixed information conservatively.</a:t>
            </a:r>
          </a:p>
        </p:txBody>
      </p:sp>
    </p:spTree>
    <p:extLst>
      <p:ext uri="{BB962C8B-B14F-4D97-AF65-F5344CB8AC3E}">
        <p14:creationId xmlns:p14="http://schemas.microsoft.com/office/powerpoint/2010/main" val="404439060"/>
      </p:ext>
    </p:extLst>
  </p:cSld>
</p:sld>
</file>

<file path=ppt/slides/slide11.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F3B0CA1-F341-4ABC-B003-9BCAF9196846}"/>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3 / MODULE 4</a:t>
            </a:r>
          </a:p>
        </p:txBody>
      </p:sp>
      <p:sp>
        <p:nvSpPr>
          <p:cNvPr id="2" name="">
            <a:extLst xmlns:a="http://schemas.openxmlformats.org/drawingml/2006/main">
              <a:ext uri="{FF2B5EF4-FFF2-40B4-BE49-F238E27FC236}">
                <a16:creationId xmlns:a16="http://schemas.microsoft.com/office/drawing/2014/main" id="{E7F133A0-BA80-4C34-A1DC-2AA8B770487C}"/>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S3  |  Purpose &amp; outcomes</a:t>
            </a:r>
          </a:p>
        </p:txBody>
      </p:sp>
      <p:sp>
        <p:nvSpPr>
          <p:cNvPr id="3" name="">
            <a:extLst xmlns:a="http://schemas.openxmlformats.org/drawingml/2006/main">
              <a:ext uri="{FF2B5EF4-FFF2-40B4-BE49-F238E27FC236}">
                <a16:creationId xmlns:a16="http://schemas.microsoft.com/office/drawing/2014/main" id="{C501F985-1BD0-435D-A9DE-3DFFA5E8C0B4}"/>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14A42E4-0ED6-4A63-90A7-DDE3826FF857}"/>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D3540F7-7715-42F4-9507-1BCF5CD78D2F}"/>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1241D8DF-AF70-4D27-95F8-B353E0F26F2C}"/>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11</a:t>
            </a:r>
          </a:p>
        </p:txBody>
      </p:sp>
      <p:sp>
        <p:nvSpPr>
          <p:cNvPr id="7" name="">
            <a:extLst xmlns:a="http://schemas.openxmlformats.org/drawingml/2006/main">
              <a:ext uri="{FF2B5EF4-FFF2-40B4-BE49-F238E27FC236}">
                <a16:creationId xmlns:a16="http://schemas.microsoft.com/office/drawing/2014/main" id="{EEA9003B-4FA3-457F-B908-BF7AD0680E2D}"/>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4 and proposal p. 7. The example prompt is instructional and uses no real DWIHN record.</a:t>
            </a:r>
          </a:p>
        </p:txBody>
      </p:sp>
      <p:sp>
        <p:nvSpPr>
          <p:cNvPr id="8" name="">
            <a:extLst xmlns:a="http://schemas.openxmlformats.org/drawingml/2006/main">
              <a:ext uri="{FF2B5EF4-FFF2-40B4-BE49-F238E27FC236}">
                <a16:creationId xmlns:a16="http://schemas.microsoft.com/office/drawing/2014/main" id="{D02F8A86-9FBB-425F-BD61-D894AE4FFE31}"/>
              </a:ext>
            </a:extLst>
          </p:cNvPr>
          <p:cNvSpPr>
            <a:spLocks xmlns:a="http://schemas.openxmlformats.org/drawingml/2006/main" noGrp="1"/>
          </p:cNvSpPr>
          <p:nvPr/>
        </p:nvSpPr>
        <p:spPr>
          <a:xfrm xmlns:a="http://schemas.openxmlformats.org/drawingml/2006/main">
            <a:off x="609600" y="1619250"/>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0A2438"/>
                </a:solidFill>
                <a:latin typeface="Arial"/>
                <a:ea typeface="Arial"/>
                <a:cs typeface="Arial"/>
              </a:defRPr>
            </a:pPr>
            <a:r>
              <a:rPr sz="1875" b="1">
                <a:solidFill>
                  <a:srgbClr val="0A2438"/>
                </a:solidFill>
                <a:latin typeface="Arial"/>
                <a:ea typeface="Arial"/>
                <a:cs typeface="Arial"/>
              </a:rPr>
              <a:t>Prompting Skills for DWIHN Roles</a:t>
            </a:r>
          </a:p>
        </p:txBody>
      </p:sp>
      <p:sp>
        <p:nvSpPr>
          <p:cNvPr id="9" name="">
            <a:extLst xmlns:a="http://schemas.openxmlformats.org/drawingml/2006/main">
              <a:ext uri="{FF2B5EF4-FFF2-40B4-BE49-F238E27FC236}">
                <a16:creationId xmlns:a16="http://schemas.microsoft.com/office/drawing/2014/main" id="{B93BE7FD-C9B9-4C4C-829B-CDE72751BE7E}"/>
              </a:ext>
            </a:extLst>
          </p:cNvPr>
          <p:cNvSpPr>
            <a:spLocks xmlns:a="http://schemas.openxmlformats.org/drawingml/2006/main" noGrp="1"/>
          </p:cNvSpPr>
          <p:nvPr/>
        </p:nvSpPr>
        <p:spPr>
          <a:xfrm xmlns:a="http://schemas.openxmlformats.org/drawingml/2006/main">
            <a:off x="609600" y="2057400"/>
            <a:ext cx="695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506473"/>
                </a:solidFill>
                <a:latin typeface="Arial"/>
                <a:ea typeface="Arial"/>
                <a:cs typeface="Arial"/>
              </a:defRPr>
            </a:pPr>
            <a:r>
              <a:rPr sz="1425" b="0">
                <a:solidFill>
                  <a:srgbClr val="506473"/>
                </a:solidFill>
                <a:latin typeface="Arial"/>
                <a:ea typeface="Arial"/>
                <a:cs typeface="Arial"/>
              </a:rPr>
              <a:t>Participants build prompts that give enough direction for a useful draft and make it easier for a person to review the result.</a:t>
            </a:r>
          </a:p>
        </p:txBody>
      </p:sp>
      <p:sp>
        <p:nvSpPr>
          <p:cNvPr id="10" name="">
            <a:extLst xmlns:a="http://schemas.openxmlformats.org/drawingml/2006/main">
              <a:ext uri="{FF2B5EF4-FFF2-40B4-BE49-F238E27FC236}">
                <a16:creationId xmlns:a16="http://schemas.microsoft.com/office/drawing/2014/main" id="{475C7B95-1BC0-49C1-9765-30EBE80E5331}"/>
              </a:ext>
            </a:extLst>
          </p:cNvPr>
          <p:cNvSpPr>
            <a:spLocks xmlns:a="http://schemas.openxmlformats.org/drawingml/2006/main" noGrp="1"/>
          </p:cNvSpPr>
          <p:nvPr/>
        </p:nvSpPr>
        <p:spPr>
          <a:xfrm xmlns:a="http://schemas.openxmlformats.org/drawingml/2006/main">
            <a:off x="609600" y="30861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BY THE END, LEARNERS CAN</a:t>
            </a:r>
          </a:p>
        </p:txBody>
      </p:sp>
      <p:sp>
        <p:nvSpPr>
          <p:cNvPr id="11" name="">
            <a:extLst xmlns:a="http://schemas.openxmlformats.org/drawingml/2006/main">
              <a:ext uri="{FF2B5EF4-FFF2-40B4-BE49-F238E27FC236}">
                <a16:creationId xmlns:a16="http://schemas.microsoft.com/office/drawing/2014/main" id="{A6979004-9616-48E5-9B77-DBB10ABA768F}"/>
              </a:ext>
            </a:extLst>
          </p:cNvPr>
          <p:cNvSpPr>
            <a:spLocks xmlns:a="http://schemas.openxmlformats.org/drawingml/2006/main" noGrp="1"/>
          </p:cNvSpPr>
          <p:nvPr/>
        </p:nvSpPr>
        <p:spPr>
          <a:xfrm xmlns:a="http://schemas.openxmlformats.org/drawingml/2006/main">
            <a:off x="609600" y="3429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01</a:t>
            </a:r>
          </a:p>
        </p:txBody>
      </p:sp>
      <p:sp>
        <p:nvSpPr>
          <p:cNvPr id="12" name="">
            <a:extLst xmlns:a="http://schemas.openxmlformats.org/drawingml/2006/main">
              <a:ext uri="{FF2B5EF4-FFF2-40B4-BE49-F238E27FC236}">
                <a16:creationId xmlns:a16="http://schemas.microsoft.com/office/drawing/2014/main" id="{1DAE40B6-616E-4BCB-962C-C78AF5679B54}"/>
              </a:ext>
            </a:extLst>
          </p:cNvPr>
          <p:cNvSpPr>
            <a:spLocks xmlns:a="http://schemas.openxmlformats.org/drawingml/2006/main" noGrp="1"/>
          </p:cNvSpPr>
          <p:nvPr/>
        </p:nvSpPr>
        <p:spPr>
          <a:xfrm xmlns:a="http://schemas.openxmlformats.org/drawingml/2006/main">
            <a:off x="1104900" y="34290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Use the five-part prompt anatomy: Role, Task, Context, Format and Constraint.</a:t>
            </a:r>
          </a:p>
        </p:txBody>
      </p:sp>
      <p:sp>
        <p:nvSpPr>
          <p:cNvPr id="13" name="">
            <a:extLst xmlns:a="http://schemas.openxmlformats.org/drawingml/2006/main">
              <a:ext uri="{FF2B5EF4-FFF2-40B4-BE49-F238E27FC236}">
                <a16:creationId xmlns:a16="http://schemas.microsoft.com/office/drawing/2014/main" id="{99048507-5E1B-41E7-802D-B649F6E1247D}"/>
              </a:ext>
            </a:extLst>
          </p:cNvPr>
          <p:cNvSpPr>
            <a:spLocks xmlns:a="http://schemas.openxmlformats.org/drawingml/2006/main" noGrp="1"/>
          </p:cNvSpPr>
          <p:nvPr/>
        </p:nvSpPr>
        <p:spPr>
          <a:xfrm xmlns:a="http://schemas.openxmlformats.org/drawingml/2006/main">
            <a:off x="609600" y="40767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EA2EF53A-DDA2-43C4-BAE5-8F05E9324FF5}"/>
              </a:ext>
            </a:extLst>
          </p:cNvPr>
          <p:cNvSpPr>
            <a:spLocks xmlns:a="http://schemas.openxmlformats.org/drawingml/2006/main" noGrp="1"/>
          </p:cNvSpPr>
          <p:nvPr/>
        </p:nvSpPr>
        <p:spPr>
          <a:xfrm xmlns:a="http://schemas.openxmlformats.org/drawingml/2006/main">
            <a:off x="1104900" y="40767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Revise a vague request into a role-specific instruction.</a:t>
            </a:r>
          </a:p>
        </p:txBody>
      </p:sp>
      <p:sp>
        <p:nvSpPr>
          <p:cNvPr id="15" name="">
            <a:extLst xmlns:a="http://schemas.openxmlformats.org/drawingml/2006/main">
              <a:ext uri="{FF2B5EF4-FFF2-40B4-BE49-F238E27FC236}">
                <a16:creationId xmlns:a16="http://schemas.microsoft.com/office/drawing/2014/main" id="{2859DCA1-D16C-4FB6-A35D-D7C01B85CD7C}"/>
              </a:ext>
            </a:extLst>
          </p:cNvPr>
          <p:cNvSpPr>
            <a:spLocks xmlns:a="http://schemas.openxmlformats.org/drawingml/2006/main" noGrp="1"/>
          </p:cNvSpPr>
          <p:nvPr/>
        </p:nvSpPr>
        <p:spPr>
          <a:xfrm xmlns:a="http://schemas.openxmlformats.org/drawingml/2006/main">
            <a:off x="609600" y="47244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AD343451-36F7-4246-8D34-8206971899F1}"/>
              </a:ext>
            </a:extLst>
          </p:cNvPr>
          <p:cNvSpPr>
            <a:spLocks xmlns:a="http://schemas.openxmlformats.org/drawingml/2006/main" noGrp="1"/>
          </p:cNvSpPr>
          <p:nvPr/>
        </p:nvSpPr>
        <p:spPr>
          <a:xfrm xmlns:a="http://schemas.openxmlformats.org/drawingml/2006/main">
            <a:off x="1104900" y="47244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Inspect an output and improve the prompt without adding sensitive information.</a:t>
            </a:r>
          </a:p>
        </p:txBody>
      </p:sp>
      <p:sp>
        <p:nvSpPr>
          <p:cNvPr id="17" name="">
            <a:extLst xmlns:a="http://schemas.openxmlformats.org/drawingml/2006/main">
              <a:ext uri="{FF2B5EF4-FFF2-40B4-BE49-F238E27FC236}">
                <a16:creationId xmlns:a16="http://schemas.microsoft.com/office/drawing/2014/main" id="{6A7D4EBA-A62D-46F8-8561-C989C517C807}"/>
              </a:ext>
            </a:extLst>
          </p:cNvPr>
          <p:cNvSpPr>
            <a:spLocks xmlns:a="http://schemas.openxmlformats.org/drawingml/2006/main" noGrp="1"/>
          </p:cNvSpPr>
          <p:nvPr/>
        </p:nvSpPr>
        <p:spPr>
          <a:xfrm xmlns:a="http://schemas.openxmlformats.org/drawingml/2006/main">
            <a:off x="609600" y="5476875"/>
            <a:ext cx="6953250" cy="476250"/>
          </a:xfrm>
          <a:prstGeom xmlns:a="http://schemas.openxmlformats.org/drawingml/2006/main" prst="rect">
            <a:avLst/>
          </a:prstGeom>
          <a:noFill xmlns:a="http://schemas.openxmlformats.org/drawingml/2006/main"/>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9D38711-B373-4329-B156-AE96D5ED0450}"/>
              </a:ext>
            </a:extLst>
          </p:cNvPr>
          <p:cNvSpPr>
            <a:spLocks xmlns:a="http://schemas.openxmlformats.org/drawingml/2006/main" noGrp="1"/>
          </p:cNvSpPr>
          <p:nvPr/>
        </p:nvSpPr>
        <p:spPr>
          <a:xfrm xmlns:a="http://schemas.openxmlformats.org/drawingml/2006/main">
            <a:off x="781050" y="5591175"/>
            <a:ext cx="659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91"/>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Session length: at least 1 hour, including Q&amp;A. Guided practice and discussion can extend it.</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15cf66a0d1ab4dc7"/>
          <a:srcRect xmlns:a="http://schemas.openxmlformats.org/drawingml/2006/main" l="5907" t="0" r="5907" b="0"/>
          <a:stretch xmlns:a="http://schemas.openxmlformats.org/drawingml/2006/main">
            <a:fillRect l="0" t="0" r="0" b="0"/>
          </a:stretch>
        </p:blipFill>
        <p:spPr>
          <a:xfrm xmlns:a="http://schemas.openxmlformats.org/drawingml/2006/main">
            <a:off x="7981950" y="2247900"/>
            <a:ext cx="3429000" cy="219075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97733D70-08F1-465C-9062-A7F04A2C4DDE}"/>
              </a:ext>
            </a:extLst>
          </p:cNvPr>
          <p:cNvSpPr>
            <a:spLocks xmlns:a="http://schemas.openxmlformats.org/drawingml/2006/main" noGrp="1"/>
          </p:cNvSpPr>
          <p:nvPr/>
        </p:nvSpPr>
        <p:spPr>
          <a:xfrm xmlns:a="http://schemas.openxmlformats.org/drawingml/2006/main">
            <a:off x="7981950" y="4524375"/>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0">
                <a:solidFill>
                  <a:srgbClr val="6D7E89"/>
                </a:solidFill>
                <a:latin typeface="Arial"/>
                <a:ea typeface="Arial"/>
                <a:cs typeface="Arial"/>
              </a:defRPr>
            </a:pPr>
            <a:r>
              <a:rPr sz="900" b="0">
                <a:solidFill>
                  <a:srgbClr val="6D7E89"/>
                </a:solidFill>
                <a:latin typeface="Arial"/>
                <a:ea typeface="Arial"/>
                <a:cs typeface="Arial"/>
              </a:rPr>
              <a:t>NetSeed training image from the proposal; not a DWIHN course session.</a:t>
            </a:r>
          </a:p>
        </p:txBody>
      </p:sp>
    </p:spTree>
    <p:extLst>
      <p:ext uri="{BB962C8B-B14F-4D97-AF65-F5344CB8AC3E}">
        <p14:creationId xmlns:p14="http://schemas.microsoft.com/office/powerpoint/2010/main" val="1169898887"/>
      </p:ext>
    </p:extLst>
  </p:cSld>
</p:sld>
</file>

<file path=ppt/slides/slide12.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FB0329C-CC99-47A1-A0CF-B9CCADF1B7D2}"/>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3 / MODULE 4</a:t>
            </a:r>
          </a:p>
        </p:txBody>
      </p:sp>
      <p:sp>
        <p:nvSpPr>
          <p:cNvPr id="2" name="">
            <a:extLst xmlns:a="http://schemas.openxmlformats.org/drawingml/2006/main">
              <a:ext uri="{FF2B5EF4-FFF2-40B4-BE49-F238E27FC236}">
                <a16:creationId xmlns:a16="http://schemas.microsoft.com/office/drawing/2014/main" id="{A58156F4-C643-480E-8A53-738D4ADA8BB7}"/>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S3  |  Core concepts</a:t>
            </a:r>
          </a:p>
        </p:txBody>
      </p:sp>
      <p:sp>
        <p:nvSpPr>
          <p:cNvPr id="3" name="">
            <a:extLst xmlns:a="http://schemas.openxmlformats.org/drawingml/2006/main">
              <a:ext uri="{FF2B5EF4-FFF2-40B4-BE49-F238E27FC236}">
                <a16:creationId xmlns:a16="http://schemas.microsoft.com/office/drawing/2014/main" id="{B96CB445-F327-4FC1-9FFA-3A2F9113083E}"/>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FB84E27-6DD8-44AC-A80E-F97B24ED6DF4}"/>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4C6998A-FF3B-486A-AEE9-2D7F4325167C}"/>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26350AD0-C00D-4A24-8D29-1BAA9392B48B}"/>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12</a:t>
            </a:r>
          </a:p>
        </p:txBody>
      </p:sp>
      <p:sp>
        <p:nvSpPr>
          <p:cNvPr id="7" name="">
            <a:extLst xmlns:a="http://schemas.openxmlformats.org/drawingml/2006/main">
              <a:ext uri="{FF2B5EF4-FFF2-40B4-BE49-F238E27FC236}">
                <a16:creationId xmlns:a16="http://schemas.microsoft.com/office/drawing/2014/main" id="{4C8B20EE-B2EC-4F12-814F-A3BB50725293}"/>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4 and proposal p. 7. The example prompt is instructional and uses no real DWIHN record.</a:t>
            </a:r>
          </a:p>
        </p:txBody>
      </p:sp>
      <p:sp>
        <p:nvSpPr>
          <p:cNvPr id="8" name="">
            <a:extLst xmlns:a="http://schemas.openxmlformats.org/drawingml/2006/main">
              <a:ext uri="{FF2B5EF4-FFF2-40B4-BE49-F238E27FC236}">
                <a16:creationId xmlns:a16="http://schemas.microsoft.com/office/drawing/2014/main" id="{CC5A8737-C9C3-4ED8-9120-CB4F5027B11F}"/>
              </a:ext>
            </a:extLst>
          </p:cNvPr>
          <p:cNvSpPr>
            <a:spLocks xmlns:a="http://schemas.openxmlformats.org/drawingml/2006/main" noGrp="1"/>
          </p:cNvSpPr>
          <p:nvPr/>
        </p:nvSpPr>
        <p:spPr>
          <a:xfrm xmlns:a="http://schemas.openxmlformats.org/drawingml/2006/main">
            <a:off x="609600" y="15811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Prompting Skills for DWIHN Roles</a:t>
            </a:r>
          </a:p>
        </p:txBody>
      </p:sp>
      <p:sp>
        <p:nvSpPr>
          <p:cNvPr id="9" name="">
            <a:extLst xmlns:a="http://schemas.openxmlformats.org/drawingml/2006/main">
              <a:ext uri="{FF2B5EF4-FFF2-40B4-BE49-F238E27FC236}">
                <a16:creationId xmlns:a16="http://schemas.microsoft.com/office/drawing/2014/main" id="{A9D1A6FA-ECA8-4321-A5EF-BF9B389238B5}"/>
              </a:ext>
            </a:extLst>
          </p:cNvPr>
          <p:cNvSpPr>
            <a:spLocks xmlns:a="http://schemas.openxmlformats.org/drawingml/2006/main" noGrp="1"/>
          </p:cNvSpPr>
          <p:nvPr/>
        </p:nvSpPr>
        <p:spPr>
          <a:xfrm xmlns:a="http://schemas.openxmlformats.org/drawingml/2006/main">
            <a:off x="609600" y="19716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9A7E169C-E671-478F-986D-FD3DDFAED107}"/>
              </a:ext>
            </a:extLst>
          </p:cNvPr>
          <p:cNvSpPr>
            <a:spLocks xmlns:a="http://schemas.openxmlformats.org/drawingml/2006/main" noGrp="1"/>
          </p:cNvSpPr>
          <p:nvPr/>
        </p:nvSpPr>
        <p:spPr>
          <a:xfrm xmlns:a="http://schemas.openxmlformats.org/drawingml/2006/main">
            <a:off x="1143000" y="19716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Role sets perspective</a:t>
            </a:r>
          </a:p>
        </p:txBody>
      </p:sp>
      <p:sp>
        <p:nvSpPr>
          <p:cNvPr id="11" name="">
            <a:extLst xmlns:a="http://schemas.openxmlformats.org/drawingml/2006/main">
              <a:ext uri="{FF2B5EF4-FFF2-40B4-BE49-F238E27FC236}">
                <a16:creationId xmlns:a16="http://schemas.microsoft.com/office/drawing/2014/main" id="{1F0BA0AC-C33E-449C-B0C6-CE0AF436BF35}"/>
              </a:ext>
            </a:extLst>
          </p:cNvPr>
          <p:cNvSpPr>
            <a:spLocks xmlns:a="http://schemas.openxmlformats.org/drawingml/2006/main" noGrp="1"/>
          </p:cNvSpPr>
          <p:nvPr/>
        </p:nvSpPr>
        <p:spPr>
          <a:xfrm xmlns:a="http://schemas.openxmlformats.org/drawingml/2006/main">
            <a:off x="3857625" y="19716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 role can frame the kind of assistance, such as “plain-language editor for an internal staff notice.” It does not grant professional authority or permission to decide policy.</a:t>
            </a:r>
          </a:p>
        </p:txBody>
      </p:sp>
      <p:sp>
        <p:nvSpPr>
          <p:cNvPr id="12" name="">
            <a:extLst xmlns:a="http://schemas.openxmlformats.org/drawingml/2006/main">
              <a:ext uri="{FF2B5EF4-FFF2-40B4-BE49-F238E27FC236}">
                <a16:creationId xmlns:a16="http://schemas.microsoft.com/office/drawing/2014/main" id="{2D24C714-6689-48A9-8AE8-CA172B0B5FA3}"/>
              </a:ext>
            </a:extLst>
          </p:cNvPr>
          <p:cNvSpPr>
            <a:spLocks xmlns:a="http://schemas.openxmlformats.org/drawingml/2006/main" noGrp="1"/>
          </p:cNvSpPr>
          <p:nvPr/>
        </p:nvSpPr>
        <p:spPr>
          <a:xfrm xmlns:a="http://schemas.openxmlformats.org/drawingml/2006/main">
            <a:off x="1143000" y="28003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E56C954-BC73-471A-BB50-4C0F3819C5E8}"/>
              </a:ext>
            </a:extLst>
          </p:cNvPr>
          <p:cNvSpPr>
            <a:spLocks xmlns:a="http://schemas.openxmlformats.org/drawingml/2006/main" noGrp="1"/>
          </p:cNvSpPr>
          <p:nvPr/>
        </p:nvSpPr>
        <p:spPr>
          <a:xfrm xmlns:a="http://schemas.openxmlformats.org/drawingml/2006/main">
            <a:off x="609600" y="29813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087A7499-8D75-4AB4-A745-223ABF9A146E}"/>
              </a:ext>
            </a:extLst>
          </p:cNvPr>
          <p:cNvSpPr>
            <a:spLocks xmlns:a="http://schemas.openxmlformats.org/drawingml/2006/main" noGrp="1"/>
          </p:cNvSpPr>
          <p:nvPr/>
        </p:nvSpPr>
        <p:spPr>
          <a:xfrm xmlns:a="http://schemas.openxmlformats.org/drawingml/2006/main">
            <a:off x="1143000" y="29813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Task names the action</a:t>
            </a:r>
          </a:p>
        </p:txBody>
      </p:sp>
      <p:sp>
        <p:nvSpPr>
          <p:cNvPr id="15" name="">
            <a:extLst xmlns:a="http://schemas.openxmlformats.org/drawingml/2006/main">
              <a:ext uri="{FF2B5EF4-FFF2-40B4-BE49-F238E27FC236}">
                <a16:creationId xmlns:a16="http://schemas.microsoft.com/office/drawing/2014/main" id="{9F400218-0560-404F-B295-D614557515EF}"/>
              </a:ext>
            </a:extLst>
          </p:cNvPr>
          <p:cNvSpPr>
            <a:spLocks xmlns:a="http://schemas.openxmlformats.org/drawingml/2006/main" noGrp="1"/>
          </p:cNvSpPr>
          <p:nvPr/>
        </p:nvSpPr>
        <p:spPr>
          <a:xfrm xmlns:a="http://schemas.openxmlformats.org/drawingml/2006/main">
            <a:off x="3857625" y="29813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Use a concrete verb and outcome: organize, summarize, compare or draft. “Analyze our performance” is too broad until the measure, period and question are defined.</a:t>
            </a:r>
          </a:p>
        </p:txBody>
      </p:sp>
      <p:sp>
        <p:nvSpPr>
          <p:cNvPr id="16" name="">
            <a:extLst xmlns:a="http://schemas.openxmlformats.org/drawingml/2006/main">
              <a:ext uri="{FF2B5EF4-FFF2-40B4-BE49-F238E27FC236}">
                <a16:creationId xmlns:a16="http://schemas.microsoft.com/office/drawing/2014/main" id="{C4080B77-55F2-46A2-A09E-18B9CEF245AF}"/>
              </a:ext>
            </a:extLst>
          </p:cNvPr>
          <p:cNvSpPr>
            <a:spLocks xmlns:a="http://schemas.openxmlformats.org/drawingml/2006/main" noGrp="1"/>
          </p:cNvSpPr>
          <p:nvPr/>
        </p:nvSpPr>
        <p:spPr>
          <a:xfrm xmlns:a="http://schemas.openxmlformats.org/drawingml/2006/main">
            <a:off x="1143000" y="381000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DD429A9-5610-4912-9DC2-B1842DA508B9}"/>
              </a:ext>
            </a:extLst>
          </p:cNvPr>
          <p:cNvSpPr>
            <a:spLocks xmlns:a="http://schemas.openxmlformats.org/drawingml/2006/main" noGrp="1"/>
          </p:cNvSpPr>
          <p:nvPr/>
        </p:nvSpPr>
        <p:spPr>
          <a:xfrm xmlns:a="http://schemas.openxmlformats.org/drawingml/2006/main">
            <a:off x="609600" y="39909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F7FF1013-811B-4B16-920C-278896DB1D31}"/>
              </a:ext>
            </a:extLst>
          </p:cNvPr>
          <p:cNvSpPr>
            <a:spLocks xmlns:a="http://schemas.openxmlformats.org/drawingml/2006/main" noGrp="1"/>
          </p:cNvSpPr>
          <p:nvPr/>
        </p:nvSpPr>
        <p:spPr>
          <a:xfrm xmlns:a="http://schemas.openxmlformats.org/drawingml/2006/main">
            <a:off x="1143000" y="39909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287"/>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Context defines audience and source</a:t>
            </a:r>
          </a:p>
        </p:txBody>
      </p:sp>
      <p:sp>
        <p:nvSpPr>
          <p:cNvPr id="19" name="">
            <a:extLst xmlns:a="http://schemas.openxmlformats.org/drawingml/2006/main">
              <a:ext uri="{FF2B5EF4-FFF2-40B4-BE49-F238E27FC236}">
                <a16:creationId xmlns:a16="http://schemas.microsoft.com/office/drawing/2014/main" id="{34723C92-B916-4900-B5FC-DC840F70592F}"/>
              </a:ext>
            </a:extLst>
          </p:cNvPr>
          <p:cNvSpPr>
            <a:spLocks xmlns:a="http://schemas.openxmlformats.org/drawingml/2006/main" noGrp="1"/>
          </p:cNvSpPr>
          <p:nvPr/>
        </p:nvSpPr>
        <p:spPr>
          <a:xfrm xmlns:a="http://schemas.openxmlformats.org/drawingml/2006/main">
            <a:off x="3857625" y="39909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Provide only approved context needed for the task. Tell the tool which supplied material is authoritative and who will read the result. Never use prompt detail to bypass data-handling rules.</a:t>
            </a:r>
          </a:p>
        </p:txBody>
      </p:sp>
      <p:sp>
        <p:nvSpPr>
          <p:cNvPr id="20" name="">
            <a:extLst xmlns:a="http://schemas.openxmlformats.org/drawingml/2006/main">
              <a:ext uri="{FF2B5EF4-FFF2-40B4-BE49-F238E27FC236}">
                <a16:creationId xmlns:a16="http://schemas.microsoft.com/office/drawing/2014/main" id="{AB7B5A62-A5B0-448F-A9EF-A63780B5A720}"/>
              </a:ext>
            </a:extLst>
          </p:cNvPr>
          <p:cNvSpPr>
            <a:spLocks xmlns:a="http://schemas.openxmlformats.org/drawingml/2006/main" noGrp="1"/>
          </p:cNvSpPr>
          <p:nvPr/>
        </p:nvSpPr>
        <p:spPr>
          <a:xfrm xmlns:a="http://schemas.openxmlformats.org/drawingml/2006/main">
            <a:off x="1143000" y="48196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F45136F-130F-40C2-A2F9-457143B0303D}"/>
              </a:ext>
            </a:extLst>
          </p:cNvPr>
          <p:cNvSpPr>
            <a:spLocks xmlns:a="http://schemas.openxmlformats.org/drawingml/2006/main" noGrp="1"/>
          </p:cNvSpPr>
          <p:nvPr/>
        </p:nvSpPr>
        <p:spPr>
          <a:xfrm xmlns:a="http://schemas.openxmlformats.org/drawingml/2006/main">
            <a:off x="609600" y="5000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DF36C566-9ADF-40FC-88F7-A372A1786B5F}"/>
              </a:ext>
            </a:extLst>
          </p:cNvPr>
          <p:cNvSpPr>
            <a:spLocks xmlns:a="http://schemas.openxmlformats.org/drawingml/2006/main" noGrp="1"/>
          </p:cNvSpPr>
          <p:nvPr/>
        </p:nvSpPr>
        <p:spPr>
          <a:xfrm xmlns:a="http://schemas.openxmlformats.org/drawingml/2006/main">
            <a:off x="1143000" y="50006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25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Format and constraint shape review</a:t>
            </a:r>
          </a:p>
        </p:txBody>
      </p:sp>
      <p:sp>
        <p:nvSpPr>
          <p:cNvPr id="23" name="">
            <a:extLst xmlns:a="http://schemas.openxmlformats.org/drawingml/2006/main">
              <a:ext uri="{FF2B5EF4-FFF2-40B4-BE49-F238E27FC236}">
                <a16:creationId xmlns:a16="http://schemas.microsoft.com/office/drawing/2014/main" id="{C2456A1D-6A64-49F5-B83E-47B79950CEDE}"/>
              </a:ext>
            </a:extLst>
          </p:cNvPr>
          <p:cNvSpPr>
            <a:spLocks xmlns:a="http://schemas.openxmlformats.org/drawingml/2006/main" noGrp="1"/>
          </p:cNvSpPr>
          <p:nvPr/>
        </p:nvSpPr>
        <p:spPr>
          <a:xfrm xmlns:a="http://schemas.openxmlformats.org/drawingml/2006/main">
            <a:off x="3857625" y="50006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Specify headings, length or structure. Add limits such as “use only supplied text,” “flag missing facts,” and “do not add deadlines or commitments.” Then verify the result anyway.</a:t>
            </a:r>
          </a:p>
        </p:txBody>
      </p:sp>
    </p:spTree>
    <p:extLst>
      <p:ext uri="{BB962C8B-B14F-4D97-AF65-F5344CB8AC3E}">
        <p14:creationId xmlns:p14="http://schemas.microsoft.com/office/powerpoint/2010/main" val="1412892690"/>
      </p:ext>
    </p:extLst>
  </p:cSld>
</p:sld>
</file>

<file path=ppt/slides/slide13.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7080CACC-88E9-42F8-8E34-840133C193CE}"/>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3 / MODULE 4</a:t>
            </a:r>
          </a:p>
        </p:txBody>
      </p:sp>
      <p:sp>
        <p:nvSpPr>
          <p:cNvPr id="2" name="">
            <a:extLst xmlns:a="http://schemas.openxmlformats.org/drawingml/2006/main">
              <a:ext uri="{FF2B5EF4-FFF2-40B4-BE49-F238E27FC236}">
                <a16:creationId xmlns:a16="http://schemas.microsoft.com/office/drawing/2014/main" id="{58DAE194-2F15-4D37-B908-67E9E868C75D}"/>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S3  |  Instructor walkthrough</a:t>
            </a:r>
          </a:p>
        </p:txBody>
      </p:sp>
      <p:sp>
        <p:nvSpPr>
          <p:cNvPr id="3" name="">
            <a:extLst xmlns:a="http://schemas.openxmlformats.org/drawingml/2006/main">
              <a:ext uri="{FF2B5EF4-FFF2-40B4-BE49-F238E27FC236}">
                <a16:creationId xmlns:a16="http://schemas.microsoft.com/office/drawing/2014/main" id="{A76B9C51-D77E-439E-847E-19A46C581E54}"/>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92CF2D3-FEAC-44B1-8375-50DD9373D0E4}"/>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D216CA1-3959-45CE-9B60-098CEF099FA6}"/>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E0888F96-4C79-497F-A8DB-D44E401FFBCA}"/>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13</a:t>
            </a:r>
          </a:p>
        </p:txBody>
      </p:sp>
      <p:sp>
        <p:nvSpPr>
          <p:cNvPr id="7" name="">
            <a:extLst xmlns:a="http://schemas.openxmlformats.org/drawingml/2006/main">
              <a:ext uri="{FF2B5EF4-FFF2-40B4-BE49-F238E27FC236}">
                <a16:creationId xmlns:a16="http://schemas.microsoft.com/office/drawing/2014/main" id="{D017967F-413F-4758-924F-00EA17903670}"/>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4 and proposal p. 7. The example prompt is instructional and uses no real DWIHN record.</a:t>
            </a:r>
          </a:p>
        </p:txBody>
      </p:sp>
      <p:sp>
        <p:nvSpPr>
          <p:cNvPr id="8" name="">
            <a:extLst xmlns:a="http://schemas.openxmlformats.org/drawingml/2006/main">
              <a:ext uri="{FF2B5EF4-FFF2-40B4-BE49-F238E27FC236}">
                <a16:creationId xmlns:a16="http://schemas.microsoft.com/office/drawing/2014/main" id="{BE48EFC8-46E2-409F-95F3-C979E047083B}"/>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Prompting Skills for DWIHN Roles</a:t>
            </a:r>
          </a:p>
        </p:txBody>
      </p:sp>
      <p:sp>
        <p:nvSpPr>
          <p:cNvPr id="9" name="">
            <a:extLst xmlns:a="http://schemas.openxmlformats.org/drawingml/2006/main">
              <a:ext uri="{FF2B5EF4-FFF2-40B4-BE49-F238E27FC236}">
                <a16:creationId xmlns:a16="http://schemas.microsoft.com/office/drawing/2014/main" id="{6F939500-9FC5-450A-BA6C-D118935CD991}"/>
              </a:ext>
            </a:extLst>
          </p:cNvPr>
          <p:cNvSpPr>
            <a:spLocks xmlns:a="http://schemas.openxmlformats.org/drawingml/2006/main" noGrp="1"/>
          </p:cNvSpPr>
          <p:nvPr/>
        </p:nvSpPr>
        <p:spPr>
          <a:xfrm xmlns:a="http://schemas.openxmlformats.org/drawingml/2006/main">
            <a:off x="60960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0" name="">
            <a:extLst xmlns:a="http://schemas.openxmlformats.org/drawingml/2006/main">
              <a:ext uri="{FF2B5EF4-FFF2-40B4-BE49-F238E27FC236}">
                <a16:creationId xmlns:a16="http://schemas.microsoft.com/office/drawing/2014/main" id="{031F1DEB-46A5-4B32-8A85-D89840FA002C}"/>
              </a:ext>
            </a:extLst>
          </p:cNvPr>
          <p:cNvSpPr>
            <a:spLocks xmlns:a="http://schemas.openxmlformats.org/drawingml/2006/main" noGrp="1"/>
          </p:cNvSpPr>
          <p:nvPr/>
        </p:nvSpPr>
        <p:spPr>
          <a:xfrm xmlns:a="http://schemas.openxmlformats.org/drawingml/2006/main">
            <a:off x="74295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F0B7D4E7-8CE7-4CBF-B326-8D23216F3127}"/>
              </a:ext>
            </a:extLst>
          </p:cNvPr>
          <p:cNvSpPr>
            <a:spLocks xmlns:a="http://schemas.openxmlformats.org/drawingml/2006/main" noGrp="1"/>
          </p:cNvSpPr>
          <p:nvPr/>
        </p:nvSpPr>
        <p:spPr>
          <a:xfrm xmlns:a="http://schemas.openxmlformats.org/drawingml/2006/main">
            <a:off x="74295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Vague request</a:t>
            </a:r>
          </a:p>
        </p:txBody>
      </p:sp>
      <p:sp>
        <p:nvSpPr>
          <p:cNvPr id="12" name="">
            <a:extLst xmlns:a="http://schemas.openxmlformats.org/drawingml/2006/main">
              <a:ext uri="{FF2B5EF4-FFF2-40B4-BE49-F238E27FC236}">
                <a16:creationId xmlns:a16="http://schemas.microsoft.com/office/drawing/2014/main" id="{31E07D77-F42E-4C24-80C1-21F0202AAD65}"/>
              </a:ext>
            </a:extLst>
          </p:cNvPr>
          <p:cNvSpPr>
            <a:spLocks xmlns:a="http://schemas.openxmlformats.org/drawingml/2006/main" noGrp="1"/>
          </p:cNvSpPr>
          <p:nvPr/>
        </p:nvSpPr>
        <p:spPr>
          <a:xfrm xmlns:a="http://schemas.openxmlformats.org/drawingml/2006/main">
            <a:off x="74295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“Write an update.” The system has no audience, source, purpose or review standard.</a:t>
            </a:r>
          </a:p>
        </p:txBody>
      </p:sp>
      <p:sp>
        <p:nvSpPr>
          <p:cNvPr id="13" name="">
            <a:extLst xmlns:a="http://schemas.openxmlformats.org/drawingml/2006/main">
              <a:ext uri="{FF2B5EF4-FFF2-40B4-BE49-F238E27FC236}">
                <a16:creationId xmlns:a16="http://schemas.microsoft.com/office/drawing/2014/main" id="{D7ADC5C7-41F9-4A14-B0C0-083DCF3FC8C5}"/>
              </a:ext>
            </a:extLst>
          </p:cNvPr>
          <p:cNvSpPr>
            <a:spLocks xmlns:a="http://schemas.openxmlformats.org/drawingml/2006/main" noGrp="1"/>
          </p:cNvSpPr>
          <p:nvPr/>
        </p:nvSpPr>
        <p:spPr>
          <a:xfrm xmlns:a="http://schemas.openxmlformats.org/drawingml/2006/main">
            <a:off x="303847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449D24F-9903-4F84-B935-F4CE0C19AFCD}"/>
              </a:ext>
            </a:extLst>
          </p:cNvPr>
          <p:cNvSpPr>
            <a:spLocks xmlns:a="http://schemas.openxmlformats.org/drawingml/2006/main" noGrp="1"/>
          </p:cNvSpPr>
          <p:nvPr/>
        </p:nvSpPr>
        <p:spPr>
          <a:xfrm xmlns:a="http://schemas.openxmlformats.org/drawingml/2006/main">
            <a:off x="338137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5" name="">
            <a:extLst xmlns:a="http://schemas.openxmlformats.org/drawingml/2006/main">
              <a:ext uri="{FF2B5EF4-FFF2-40B4-BE49-F238E27FC236}">
                <a16:creationId xmlns:a16="http://schemas.microsoft.com/office/drawing/2014/main" id="{82979BD6-D026-4581-BE02-9A61ECA8411B}"/>
              </a:ext>
            </a:extLst>
          </p:cNvPr>
          <p:cNvSpPr>
            <a:spLocks xmlns:a="http://schemas.openxmlformats.org/drawingml/2006/main" noGrp="1"/>
          </p:cNvSpPr>
          <p:nvPr/>
        </p:nvSpPr>
        <p:spPr>
          <a:xfrm xmlns:a="http://schemas.openxmlformats.org/drawingml/2006/main">
            <a:off x="351472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6991A9B0-9344-4931-A164-C852F8D9D41E}"/>
              </a:ext>
            </a:extLst>
          </p:cNvPr>
          <p:cNvSpPr>
            <a:spLocks xmlns:a="http://schemas.openxmlformats.org/drawingml/2006/main" noGrp="1"/>
          </p:cNvSpPr>
          <p:nvPr/>
        </p:nvSpPr>
        <p:spPr>
          <a:xfrm xmlns:a="http://schemas.openxmlformats.org/drawingml/2006/main">
            <a:off x="351472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Add role and task</a:t>
            </a:r>
          </a:p>
        </p:txBody>
      </p:sp>
      <p:sp>
        <p:nvSpPr>
          <p:cNvPr id="17" name="">
            <a:extLst xmlns:a="http://schemas.openxmlformats.org/drawingml/2006/main">
              <a:ext uri="{FF2B5EF4-FFF2-40B4-BE49-F238E27FC236}">
                <a16:creationId xmlns:a16="http://schemas.microsoft.com/office/drawing/2014/main" id="{9129D1EC-34AD-45E6-AF54-AB688D9028D5}"/>
              </a:ext>
            </a:extLst>
          </p:cNvPr>
          <p:cNvSpPr>
            <a:spLocks xmlns:a="http://schemas.openxmlformats.org/drawingml/2006/main" noGrp="1"/>
          </p:cNvSpPr>
          <p:nvPr/>
        </p:nvSpPr>
        <p:spPr>
          <a:xfrm xmlns:a="http://schemas.openxmlformats.org/drawingml/2006/main">
            <a:off x="351472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Ask for help as an internal communications editor and name the specific draft needed.</a:t>
            </a:r>
          </a:p>
        </p:txBody>
      </p:sp>
      <p:sp>
        <p:nvSpPr>
          <p:cNvPr id="18" name="">
            <a:extLst xmlns:a="http://schemas.openxmlformats.org/drawingml/2006/main">
              <a:ext uri="{FF2B5EF4-FFF2-40B4-BE49-F238E27FC236}">
                <a16:creationId xmlns:a16="http://schemas.microsoft.com/office/drawing/2014/main" id="{F31A5CC6-DA83-4050-A2C1-371DA203EDDD}"/>
              </a:ext>
            </a:extLst>
          </p:cNvPr>
          <p:cNvSpPr>
            <a:spLocks xmlns:a="http://schemas.openxmlformats.org/drawingml/2006/main" noGrp="1"/>
          </p:cNvSpPr>
          <p:nvPr/>
        </p:nvSpPr>
        <p:spPr>
          <a:xfrm xmlns:a="http://schemas.openxmlformats.org/drawingml/2006/main">
            <a:off x="5810250"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BA562DE-21F9-4AC5-AB3A-B7479FC0A5E9}"/>
              </a:ext>
            </a:extLst>
          </p:cNvPr>
          <p:cNvSpPr>
            <a:spLocks xmlns:a="http://schemas.openxmlformats.org/drawingml/2006/main" noGrp="1"/>
          </p:cNvSpPr>
          <p:nvPr/>
        </p:nvSpPr>
        <p:spPr>
          <a:xfrm xmlns:a="http://schemas.openxmlformats.org/drawingml/2006/main">
            <a:off x="615315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0" name="">
            <a:extLst xmlns:a="http://schemas.openxmlformats.org/drawingml/2006/main">
              <a:ext uri="{FF2B5EF4-FFF2-40B4-BE49-F238E27FC236}">
                <a16:creationId xmlns:a16="http://schemas.microsoft.com/office/drawing/2014/main" id="{4ACB28A8-13BC-40EF-B533-33902164C75E}"/>
              </a:ext>
            </a:extLst>
          </p:cNvPr>
          <p:cNvSpPr>
            <a:spLocks xmlns:a="http://schemas.openxmlformats.org/drawingml/2006/main" noGrp="1"/>
          </p:cNvSpPr>
          <p:nvPr/>
        </p:nvSpPr>
        <p:spPr>
          <a:xfrm xmlns:a="http://schemas.openxmlformats.org/drawingml/2006/main">
            <a:off x="628650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21" name="">
            <a:extLst xmlns:a="http://schemas.openxmlformats.org/drawingml/2006/main">
              <a:ext uri="{FF2B5EF4-FFF2-40B4-BE49-F238E27FC236}">
                <a16:creationId xmlns:a16="http://schemas.microsoft.com/office/drawing/2014/main" id="{7EAE73C6-69F5-46D1-A5C9-B8DD5F2CD56E}"/>
              </a:ext>
            </a:extLst>
          </p:cNvPr>
          <p:cNvSpPr>
            <a:spLocks xmlns:a="http://schemas.openxmlformats.org/drawingml/2006/main" noGrp="1"/>
          </p:cNvSpPr>
          <p:nvPr/>
        </p:nvSpPr>
        <p:spPr>
          <a:xfrm xmlns:a="http://schemas.openxmlformats.org/drawingml/2006/main">
            <a:off x="628650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Add context and format</a:t>
            </a:r>
          </a:p>
        </p:txBody>
      </p:sp>
      <p:sp>
        <p:nvSpPr>
          <p:cNvPr id="22" name="">
            <a:extLst xmlns:a="http://schemas.openxmlformats.org/drawingml/2006/main">
              <a:ext uri="{FF2B5EF4-FFF2-40B4-BE49-F238E27FC236}">
                <a16:creationId xmlns:a16="http://schemas.microsoft.com/office/drawing/2014/main" id="{A0EC50CC-069D-46A0-85D1-78BF5BED9DA9}"/>
              </a:ext>
            </a:extLst>
          </p:cNvPr>
          <p:cNvSpPr>
            <a:spLocks xmlns:a="http://schemas.openxmlformats.org/drawingml/2006/main" noGrp="1"/>
          </p:cNvSpPr>
          <p:nvPr/>
        </p:nvSpPr>
        <p:spPr>
          <a:xfrm xmlns:a="http://schemas.openxmlformats.org/drawingml/2006/main">
            <a:off x="628650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Identify the audience and authorized source. Request a short heading, decisions, owners and open questions.</a:t>
            </a:r>
          </a:p>
        </p:txBody>
      </p:sp>
      <p:sp>
        <p:nvSpPr>
          <p:cNvPr id="23" name="">
            <a:extLst xmlns:a="http://schemas.openxmlformats.org/drawingml/2006/main">
              <a:ext uri="{FF2B5EF4-FFF2-40B4-BE49-F238E27FC236}">
                <a16:creationId xmlns:a16="http://schemas.microsoft.com/office/drawing/2014/main" id="{9AF4C545-59B8-4109-A7A1-C48A25F3E8C5}"/>
              </a:ext>
            </a:extLst>
          </p:cNvPr>
          <p:cNvSpPr>
            <a:spLocks xmlns:a="http://schemas.openxmlformats.org/drawingml/2006/main" noGrp="1"/>
          </p:cNvSpPr>
          <p:nvPr/>
        </p:nvSpPr>
        <p:spPr>
          <a:xfrm xmlns:a="http://schemas.openxmlformats.org/drawingml/2006/main">
            <a:off x="858202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BCFAF62-16AE-4ADF-AC07-0DEF738CA736}"/>
              </a:ext>
            </a:extLst>
          </p:cNvPr>
          <p:cNvSpPr>
            <a:spLocks xmlns:a="http://schemas.openxmlformats.org/drawingml/2006/main" noGrp="1"/>
          </p:cNvSpPr>
          <p:nvPr/>
        </p:nvSpPr>
        <p:spPr>
          <a:xfrm xmlns:a="http://schemas.openxmlformats.org/drawingml/2006/main">
            <a:off x="892492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5" name="">
            <a:extLst xmlns:a="http://schemas.openxmlformats.org/drawingml/2006/main">
              <a:ext uri="{FF2B5EF4-FFF2-40B4-BE49-F238E27FC236}">
                <a16:creationId xmlns:a16="http://schemas.microsoft.com/office/drawing/2014/main" id="{DA2F7231-E64C-49C2-9EE4-B2800EE88DDC}"/>
              </a:ext>
            </a:extLst>
          </p:cNvPr>
          <p:cNvSpPr>
            <a:spLocks xmlns:a="http://schemas.openxmlformats.org/drawingml/2006/main" noGrp="1"/>
          </p:cNvSpPr>
          <p:nvPr/>
        </p:nvSpPr>
        <p:spPr>
          <a:xfrm xmlns:a="http://schemas.openxmlformats.org/drawingml/2006/main">
            <a:off x="905827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04</a:t>
            </a:r>
          </a:p>
        </p:txBody>
      </p:sp>
      <p:sp>
        <p:nvSpPr>
          <p:cNvPr id="26" name="">
            <a:extLst xmlns:a="http://schemas.openxmlformats.org/drawingml/2006/main">
              <a:ext uri="{FF2B5EF4-FFF2-40B4-BE49-F238E27FC236}">
                <a16:creationId xmlns:a16="http://schemas.microsoft.com/office/drawing/2014/main" id="{98F1F3F3-922D-4062-B4D8-62CCCE72D2A5}"/>
              </a:ext>
            </a:extLst>
          </p:cNvPr>
          <p:cNvSpPr>
            <a:spLocks xmlns:a="http://schemas.openxmlformats.org/drawingml/2006/main" noGrp="1"/>
          </p:cNvSpPr>
          <p:nvPr/>
        </p:nvSpPr>
        <p:spPr>
          <a:xfrm xmlns:a="http://schemas.openxmlformats.org/drawingml/2006/main">
            <a:off x="905827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Add constraints and review</a:t>
            </a:r>
          </a:p>
        </p:txBody>
      </p:sp>
      <p:sp>
        <p:nvSpPr>
          <p:cNvPr id="27" name="">
            <a:extLst xmlns:a="http://schemas.openxmlformats.org/drawingml/2006/main">
              <a:ext uri="{FF2B5EF4-FFF2-40B4-BE49-F238E27FC236}">
                <a16:creationId xmlns:a16="http://schemas.microsoft.com/office/drawing/2014/main" id="{1FA5D945-C850-49B9-9240-DE8116D29FD5}"/>
              </a:ext>
            </a:extLst>
          </p:cNvPr>
          <p:cNvSpPr>
            <a:spLocks xmlns:a="http://schemas.openxmlformats.org/drawingml/2006/main" noGrp="1"/>
          </p:cNvSpPr>
          <p:nvPr/>
        </p:nvSpPr>
        <p:spPr>
          <a:xfrm xmlns:a="http://schemas.openxmlformats.org/drawingml/2006/main">
            <a:off x="905827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Preserve uncertainty, invent no details and mark gaps. Compare the draft with the source before use.</a:t>
            </a:r>
          </a:p>
        </p:txBody>
      </p:sp>
      <p:sp>
        <p:nvSpPr>
          <p:cNvPr id="28" name="">
            <a:extLst xmlns:a="http://schemas.openxmlformats.org/drawingml/2006/main">
              <a:ext uri="{FF2B5EF4-FFF2-40B4-BE49-F238E27FC236}">
                <a16:creationId xmlns:a16="http://schemas.microsoft.com/office/drawing/2014/main" id="{8171DFD9-A891-4598-BE8F-63572A113FA0}"/>
              </a:ext>
            </a:extLst>
          </p:cNvPr>
          <p:cNvSpPr>
            <a:spLocks xmlns:a="http://schemas.openxmlformats.org/drawingml/2006/main" noGrp="1"/>
          </p:cNvSpPr>
          <p:nvPr/>
        </p:nvSpPr>
        <p:spPr>
          <a:xfrm xmlns:a="http://schemas.openxmlformats.org/drawingml/2006/main">
            <a:off x="609600" y="364807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WORKED EXAMPLE</a:t>
            </a:r>
          </a:p>
        </p:txBody>
      </p:sp>
      <p:sp>
        <p:nvSpPr>
          <p:cNvPr id="29" name="">
            <a:extLst xmlns:a="http://schemas.openxmlformats.org/drawingml/2006/main">
              <a:ext uri="{FF2B5EF4-FFF2-40B4-BE49-F238E27FC236}">
                <a16:creationId xmlns:a16="http://schemas.microsoft.com/office/drawing/2014/main" id="{FC2B2B84-19F3-4A8D-B060-7108B6109F87}"/>
              </a:ext>
            </a:extLst>
          </p:cNvPr>
          <p:cNvSpPr>
            <a:spLocks xmlns:a="http://schemas.openxmlformats.org/drawingml/2006/main" noGrp="1"/>
          </p:cNvSpPr>
          <p:nvPr/>
        </p:nvSpPr>
        <p:spPr>
          <a:xfrm xmlns:a="http://schemas.openxmlformats.org/drawingml/2006/main">
            <a:off x="609600" y="3943350"/>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00" b="0">
                <a:solidFill>
                  <a:srgbClr val="142F42"/>
                </a:solidFill>
                <a:latin typeface="Arial"/>
                <a:ea typeface="Arial"/>
                <a:cs typeface="Arial"/>
              </a:defRPr>
            </a:pPr>
            <a:r>
              <a:rPr sz="1500" b="0">
                <a:solidFill>
                  <a:srgbClr val="142F42"/>
                </a:solidFill>
                <a:latin typeface="Arial"/>
                <a:ea typeface="Arial"/>
                <a:cs typeface="Arial"/>
              </a:rPr>
              <a:t>Hypothetical improved prompt: “Act as a plain-language editor. Draft an internal staff update from the approved notes below. Keep the policy meaning unchanged. Return a heading, confirmed decisions, owners and open questions. Use only those notes. Flag missing owners and add no dates, commitments or recommendations.”</a:t>
            </a:r>
          </a:p>
        </p:txBody>
      </p:sp>
    </p:spTree>
    <p:extLst>
      <p:ext uri="{BB962C8B-B14F-4D97-AF65-F5344CB8AC3E}">
        <p14:creationId xmlns:p14="http://schemas.microsoft.com/office/powerpoint/2010/main" val="836060480"/>
      </p:ext>
    </p:extLst>
  </p:cSld>
</p:sld>
</file>

<file path=ppt/slides/slide14.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79E81F8-AE70-480F-9CA5-8E4800CA4AF1}"/>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3 / MODULE 4</a:t>
            </a:r>
          </a:p>
        </p:txBody>
      </p:sp>
      <p:sp>
        <p:nvSpPr>
          <p:cNvPr id="2" name="">
            <a:extLst xmlns:a="http://schemas.openxmlformats.org/drawingml/2006/main">
              <a:ext uri="{FF2B5EF4-FFF2-40B4-BE49-F238E27FC236}">
                <a16:creationId xmlns:a16="http://schemas.microsoft.com/office/drawing/2014/main" id="{BC5C349A-D647-4253-B15B-D60E6202676A}"/>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S3  |  Practical scenario &amp; exercise</a:t>
            </a:r>
          </a:p>
        </p:txBody>
      </p:sp>
      <p:sp>
        <p:nvSpPr>
          <p:cNvPr id="3" name="">
            <a:extLst xmlns:a="http://schemas.openxmlformats.org/drawingml/2006/main">
              <a:ext uri="{FF2B5EF4-FFF2-40B4-BE49-F238E27FC236}">
                <a16:creationId xmlns:a16="http://schemas.microsoft.com/office/drawing/2014/main" id="{6658D045-334D-4B59-880F-4C5D70CB8149}"/>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3AFE6CB-78D4-492C-98E6-E9D72E7FA236}"/>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51A0526-00B5-41BE-B269-653DE1D79882}"/>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AC27FE87-053E-4633-93CD-CFA9F3FE0D75}"/>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14</a:t>
            </a:r>
          </a:p>
        </p:txBody>
      </p:sp>
      <p:sp>
        <p:nvSpPr>
          <p:cNvPr id="7" name="">
            <a:extLst xmlns:a="http://schemas.openxmlformats.org/drawingml/2006/main">
              <a:ext uri="{FF2B5EF4-FFF2-40B4-BE49-F238E27FC236}">
                <a16:creationId xmlns:a16="http://schemas.microsoft.com/office/drawing/2014/main" id="{0BFF39D3-ABE9-44BB-9FE9-2E7BD76D6F12}"/>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4 and proposal p. 7. The example prompt is instructional and uses no real DWIHN record.</a:t>
            </a:r>
          </a:p>
        </p:txBody>
      </p:sp>
      <p:sp>
        <p:nvSpPr>
          <p:cNvPr id="8" name="">
            <a:extLst xmlns:a="http://schemas.openxmlformats.org/drawingml/2006/main">
              <a:ext uri="{FF2B5EF4-FFF2-40B4-BE49-F238E27FC236}">
                <a16:creationId xmlns:a16="http://schemas.microsoft.com/office/drawing/2014/main" id="{38FCBD78-DD35-47CE-8058-2EE014BDB20D}"/>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Prompting Skills for DWIHN Roles</a:t>
            </a:r>
          </a:p>
        </p:txBody>
      </p:sp>
      <p:sp>
        <p:nvSpPr>
          <p:cNvPr id="9" name="">
            <a:extLst xmlns:a="http://schemas.openxmlformats.org/drawingml/2006/main">
              <a:ext uri="{FF2B5EF4-FFF2-40B4-BE49-F238E27FC236}">
                <a16:creationId xmlns:a16="http://schemas.microsoft.com/office/drawing/2014/main" id="{8D90F256-0E49-407F-A5B0-13E911648F8E}"/>
              </a:ext>
            </a:extLst>
          </p:cNvPr>
          <p:cNvSpPr>
            <a:spLocks xmlns:a="http://schemas.openxmlformats.org/drawingml/2006/main" noGrp="1"/>
          </p:cNvSpPr>
          <p:nvPr/>
        </p:nvSpPr>
        <p:spPr>
          <a:xfrm xmlns:a="http://schemas.openxmlformats.org/drawingml/2006/main">
            <a:off x="609600" y="1981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SCENARIO</a:t>
            </a:r>
          </a:p>
        </p:txBody>
      </p:sp>
      <p:sp>
        <p:nvSpPr>
          <p:cNvPr id="10" name="">
            <a:extLst xmlns:a="http://schemas.openxmlformats.org/drawingml/2006/main">
              <a:ext uri="{FF2B5EF4-FFF2-40B4-BE49-F238E27FC236}">
                <a16:creationId xmlns:a16="http://schemas.microsoft.com/office/drawing/2014/main" id="{0025FE20-A49D-4BC7-939E-01CA384436D6}"/>
              </a:ext>
            </a:extLst>
          </p:cNvPr>
          <p:cNvSpPr>
            <a:spLocks xmlns:a="http://schemas.openxmlformats.org/drawingml/2006/main" noGrp="1"/>
          </p:cNvSpPr>
          <p:nvPr/>
        </p:nvSpPr>
        <p:spPr>
          <a:xfrm xmlns:a="http://schemas.openxmlformats.org/drawingml/2006/main">
            <a:off x="609600" y="2266950"/>
            <a:ext cx="109728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D4DFE3"/>
            </a:solidFill>
          </a:ln>
        </p:spPr>
      </p:sp>
      <p:sp>
        <p:nvSpPr>
          <p:cNvPr id="11" name="">
            <a:extLst xmlns:a="http://schemas.openxmlformats.org/drawingml/2006/main">
              <a:ext uri="{FF2B5EF4-FFF2-40B4-BE49-F238E27FC236}">
                <a16:creationId xmlns:a16="http://schemas.microsoft.com/office/drawing/2014/main" id="{477DC474-18D9-4B44-9AFA-E8CC01FE704A}"/>
              </a:ext>
            </a:extLst>
          </p:cNvPr>
          <p:cNvSpPr>
            <a:spLocks xmlns:a="http://schemas.openxmlformats.org/drawingml/2006/main" noGrp="1"/>
          </p:cNvSpPr>
          <p:nvPr/>
        </p:nvSpPr>
        <p:spPr>
          <a:xfrm xmlns:a="http://schemas.openxmlformats.org/drawingml/2006/main">
            <a:off x="819150" y="2447925"/>
            <a:ext cx="10525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142F42"/>
                </a:solidFill>
                <a:latin typeface="Arial"/>
                <a:ea typeface="Arial"/>
                <a:cs typeface="Arial"/>
              </a:defRPr>
            </a:pPr>
            <a:r>
              <a:rPr sz="1425" b="0">
                <a:solidFill>
                  <a:srgbClr val="142F42"/>
                </a:solidFill>
                <a:latin typeface="Arial"/>
                <a:ea typeface="Arial"/>
                <a:cs typeface="Arial"/>
              </a:rPr>
              <a:t>A manager wants a weekly program update for leadership. The source notes include accomplishments, two risks and one pending decision. The first prompt says only “summarize this.”</a:t>
            </a:r>
          </a:p>
        </p:txBody>
      </p:sp>
      <p:sp>
        <p:nvSpPr>
          <p:cNvPr id="12" name="">
            <a:extLst xmlns:a="http://schemas.openxmlformats.org/drawingml/2006/main">
              <a:ext uri="{FF2B5EF4-FFF2-40B4-BE49-F238E27FC236}">
                <a16:creationId xmlns:a16="http://schemas.microsoft.com/office/drawing/2014/main" id="{2C8BB4FD-D64D-4EA5-9CD8-E3F36E2C0E5B}"/>
              </a:ext>
            </a:extLst>
          </p:cNvPr>
          <p:cNvSpPr>
            <a:spLocks xmlns:a="http://schemas.openxmlformats.org/drawingml/2006/main" noGrp="1"/>
          </p:cNvSpPr>
          <p:nvPr/>
        </p:nvSpPr>
        <p:spPr>
          <a:xfrm xmlns:a="http://schemas.openxmlformats.org/drawingml/2006/main">
            <a:off x="609600" y="34861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 THE CASE</a:t>
            </a:r>
          </a:p>
        </p:txBody>
      </p:sp>
      <p:sp>
        <p:nvSpPr>
          <p:cNvPr id="13" name="">
            <a:extLst xmlns:a="http://schemas.openxmlformats.org/drawingml/2006/main">
              <a:ext uri="{FF2B5EF4-FFF2-40B4-BE49-F238E27FC236}">
                <a16:creationId xmlns:a16="http://schemas.microsoft.com/office/drawing/2014/main" id="{165FF618-3A5B-4A33-A221-8E613A8A8D06}"/>
              </a:ext>
            </a:extLst>
          </p:cNvPr>
          <p:cNvSpPr>
            <a:spLocks xmlns:a="http://schemas.openxmlformats.org/drawingml/2006/main" noGrp="1"/>
          </p:cNvSpPr>
          <p:nvPr/>
        </p:nvSpPr>
        <p:spPr>
          <a:xfrm xmlns:a="http://schemas.openxmlformats.org/drawingml/2006/main">
            <a:off x="609600" y="38195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4" name="">
            <a:extLst xmlns:a="http://schemas.openxmlformats.org/drawingml/2006/main">
              <a:ext uri="{FF2B5EF4-FFF2-40B4-BE49-F238E27FC236}">
                <a16:creationId xmlns:a16="http://schemas.microsoft.com/office/drawing/2014/main" id="{3B3C2BFC-254E-4A64-A12C-16B9796AEE26}"/>
              </a:ext>
            </a:extLst>
          </p:cNvPr>
          <p:cNvSpPr>
            <a:spLocks xmlns:a="http://schemas.openxmlformats.org/drawingml/2006/main" noGrp="1"/>
          </p:cNvSpPr>
          <p:nvPr/>
        </p:nvSpPr>
        <p:spPr>
          <a:xfrm xmlns:a="http://schemas.openxmlformats.org/drawingml/2006/main">
            <a:off x="1066800" y="38195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Write a five-part prompt for this task using approved, fictional notes.</a:t>
            </a:r>
          </a:p>
        </p:txBody>
      </p:sp>
      <p:sp>
        <p:nvSpPr>
          <p:cNvPr id="15" name="">
            <a:extLst xmlns:a="http://schemas.openxmlformats.org/drawingml/2006/main">
              <a:ext uri="{FF2B5EF4-FFF2-40B4-BE49-F238E27FC236}">
                <a16:creationId xmlns:a16="http://schemas.microsoft.com/office/drawing/2014/main" id="{27DBE774-B1FC-47C5-B68E-4F7875C95362}"/>
              </a:ext>
            </a:extLst>
          </p:cNvPr>
          <p:cNvSpPr>
            <a:spLocks xmlns:a="http://schemas.openxmlformats.org/drawingml/2006/main" noGrp="1"/>
          </p:cNvSpPr>
          <p:nvPr/>
        </p:nvSpPr>
        <p:spPr>
          <a:xfrm xmlns:a="http://schemas.openxmlformats.org/drawingml/2006/main">
            <a:off x="609600" y="43338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3B730B49-44E0-4D9C-9E26-24203EBC2EC0}"/>
              </a:ext>
            </a:extLst>
          </p:cNvPr>
          <p:cNvSpPr>
            <a:spLocks xmlns:a="http://schemas.openxmlformats.org/drawingml/2006/main" noGrp="1"/>
          </p:cNvSpPr>
          <p:nvPr/>
        </p:nvSpPr>
        <p:spPr>
          <a:xfrm xmlns:a="http://schemas.openxmlformats.org/drawingml/2006/main">
            <a:off x="1066800" y="433387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Ask the tool to preserve the pending decision as unresolved.</a:t>
            </a:r>
          </a:p>
        </p:txBody>
      </p:sp>
      <p:sp>
        <p:nvSpPr>
          <p:cNvPr id="17" name="">
            <a:extLst xmlns:a="http://schemas.openxmlformats.org/drawingml/2006/main">
              <a:ext uri="{FF2B5EF4-FFF2-40B4-BE49-F238E27FC236}">
                <a16:creationId xmlns:a16="http://schemas.microsoft.com/office/drawing/2014/main" id="{4C3439EB-E799-4437-9362-6ECF6A784B46}"/>
              </a:ext>
            </a:extLst>
          </p:cNvPr>
          <p:cNvSpPr>
            <a:spLocks xmlns:a="http://schemas.openxmlformats.org/drawingml/2006/main" noGrp="1"/>
          </p:cNvSpPr>
          <p:nvPr/>
        </p:nvSpPr>
        <p:spPr>
          <a:xfrm xmlns:a="http://schemas.openxmlformats.org/drawingml/2006/main">
            <a:off x="609600" y="4848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2030B9C4-8E56-4F9C-80E2-D2CDA82F71E8}"/>
              </a:ext>
            </a:extLst>
          </p:cNvPr>
          <p:cNvSpPr>
            <a:spLocks xmlns:a="http://schemas.openxmlformats.org/drawingml/2006/main" noGrp="1"/>
          </p:cNvSpPr>
          <p:nvPr/>
        </p:nvSpPr>
        <p:spPr>
          <a:xfrm xmlns:a="http://schemas.openxmlformats.org/drawingml/2006/main">
            <a:off x="1066800" y="48482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Review the draft for added claims, omitted risks and audience-appropriate tone.</a:t>
            </a:r>
          </a:p>
        </p:txBody>
      </p:sp>
      <p:sp>
        <p:nvSpPr>
          <p:cNvPr id="19" name="">
            <a:extLst xmlns:a="http://schemas.openxmlformats.org/drawingml/2006/main">
              <a:ext uri="{FF2B5EF4-FFF2-40B4-BE49-F238E27FC236}">
                <a16:creationId xmlns:a16="http://schemas.microsoft.com/office/drawing/2014/main" id="{7E73AB68-F8D9-45A7-8BE2-30FA42F17AFC}"/>
              </a:ext>
            </a:extLst>
          </p:cNvPr>
          <p:cNvSpPr>
            <a:spLocks xmlns:a="http://schemas.openxmlformats.org/drawingml/2006/main" noGrp="1"/>
          </p:cNvSpPr>
          <p:nvPr/>
        </p:nvSpPr>
        <p:spPr>
          <a:xfrm xmlns:a="http://schemas.openxmlformats.org/drawingml/2006/main">
            <a:off x="7886700" y="3486150"/>
            <a:ext cx="19050" cy="219075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5847980-66F0-4543-AB63-5D5F2B0255C5}"/>
              </a:ext>
            </a:extLst>
          </p:cNvPr>
          <p:cNvSpPr>
            <a:spLocks xmlns:a="http://schemas.openxmlformats.org/drawingml/2006/main" noGrp="1"/>
          </p:cNvSpPr>
          <p:nvPr/>
        </p:nvSpPr>
        <p:spPr>
          <a:xfrm xmlns:a="http://schemas.openxmlformats.org/drawingml/2006/main">
            <a:off x="8229600" y="3505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EXPECTED DELIVERABLE</a:t>
            </a:r>
          </a:p>
        </p:txBody>
      </p:sp>
      <p:sp>
        <p:nvSpPr>
          <p:cNvPr id="21" name="">
            <a:extLst xmlns:a="http://schemas.openxmlformats.org/drawingml/2006/main">
              <a:ext uri="{FF2B5EF4-FFF2-40B4-BE49-F238E27FC236}">
                <a16:creationId xmlns:a16="http://schemas.microsoft.com/office/drawing/2014/main" id="{D52DB2AF-614B-4646-873D-000A14994192}"/>
              </a:ext>
            </a:extLst>
          </p:cNvPr>
          <p:cNvSpPr>
            <a:spLocks xmlns:a="http://schemas.openxmlformats.org/drawingml/2006/main" noGrp="1"/>
          </p:cNvSpPr>
          <p:nvPr/>
        </p:nvSpPr>
        <p:spPr>
          <a:xfrm xmlns:a="http://schemas.openxmlformats.org/drawingml/2006/main">
            <a:off x="8229600" y="3819525"/>
            <a:ext cx="3086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719"/>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Three improved prompts: one for an email, one for a meeting summary and one for a structured status update.</a:t>
            </a:r>
          </a:p>
        </p:txBody>
      </p:sp>
      <p:sp>
        <p:nvSpPr>
          <p:cNvPr id="22" name="">
            <a:extLst xmlns:a="http://schemas.openxmlformats.org/drawingml/2006/main">
              <a:ext uri="{FF2B5EF4-FFF2-40B4-BE49-F238E27FC236}">
                <a16:creationId xmlns:a16="http://schemas.microsoft.com/office/drawing/2014/main" id="{93125DDA-3FBE-4D24-A049-218093571E79}"/>
              </a:ext>
            </a:extLst>
          </p:cNvPr>
          <p:cNvSpPr>
            <a:spLocks xmlns:a="http://schemas.openxmlformats.org/drawingml/2006/main" noGrp="1"/>
          </p:cNvSpPr>
          <p:nvPr/>
        </p:nvSpPr>
        <p:spPr>
          <a:xfrm xmlns:a="http://schemas.openxmlformats.org/drawingml/2006/main">
            <a:off x="8229600" y="469582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REVIEW CRITERIA</a:t>
            </a:r>
          </a:p>
        </p:txBody>
      </p:sp>
      <p:sp>
        <p:nvSpPr>
          <p:cNvPr id="23" name="">
            <a:extLst xmlns:a="http://schemas.openxmlformats.org/drawingml/2006/main">
              <a:ext uri="{FF2B5EF4-FFF2-40B4-BE49-F238E27FC236}">
                <a16:creationId xmlns:a16="http://schemas.microsoft.com/office/drawing/2014/main" id="{A1B9F51E-A09D-42A9-B33C-00D826B0A91C}"/>
              </a:ext>
            </a:extLst>
          </p:cNvPr>
          <p:cNvSpPr>
            <a:spLocks xmlns:a="http://schemas.openxmlformats.org/drawingml/2006/main" noGrp="1"/>
          </p:cNvSpPr>
          <p:nvPr/>
        </p:nvSpPr>
        <p:spPr>
          <a:xfrm xmlns:a="http://schemas.openxmlformats.org/drawingml/2006/main">
            <a:off x="8229600" y="4991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7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All five prompt parts are present where useful.</a:t>
            </a:r>
          </a:p>
        </p:txBody>
      </p:sp>
      <p:sp>
        <p:nvSpPr>
          <p:cNvPr id="24" name="">
            <a:extLst xmlns:a="http://schemas.openxmlformats.org/drawingml/2006/main">
              <a:ext uri="{FF2B5EF4-FFF2-40B4-BE49-F238E27FC236}">
                <a16:creationId xmlns:a16="http://schemas.microsoft.com/office/drawing/2014/main" id="{1D78FC51-F91A-4C17-9F59-56CCFBCD812B}"/>
              </a:ext>
            </a:extLst>
          </p:cNvPr>
          <p:cNvSpPr>
            <a:spLocks xmlns:a="http://schemas.openxmlformats.org/drawingml/2006/main" noGrp="1"/>
          </p:cNvSpPr>
          <p:nvPr/>
        </p:nvSpPr>
        <p:spPr>
          <a:xfrm xmlns:a="http://schemas.openxmlformats.org/drawingml/2006/main">
            <a:off x="8229600" y="5372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The prompt limits the output to authorized source material.</a:t>
            </a:r>
          </a:p>
        </p:txBody>
      </p:sp>
      <p:sp>
        <p:nvSpPr>
          <p:cNvPr id="25" name="">
            <a:extLst xmlns:a="http://schemas.openxmlformats.org/drawingml/2006/main">
              <a:ext uri="{FF2B5EF4-FFF2-40B4-BE49-F238E27FC236}">
                <a16:creationId xmlns:a16="http://schemas.microsoft.com/office/drawing/2014/main" id="{8115B682-13DC-4B97-9618-250869D6BC8B}"/>
              </a:ext>
            </a:extLst>
          </p:cNvPr>
          <p:cNvSpPr>
            <a:spLocks xmlns:a="http://schemas.openxmlformats.org/drawingml/2006/main" noGrp="1"/>
          </p:cNvSpPr>
          <p:nvPr/>
        </p:nvSpPr>
        <p:spPr>
          <a:xfrm xmlns:a="http://schemas.openxmlformats.org/drawingml/2006/main">
            <a:off x="8229600" y="5753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The learner defines how to check accuracy and missing information.</a:t>
            </a:r>
          </a:p>
        </p:txBody>
      </p:sp>
    </p:spTree>
    <p:extLst>
      <p:ext uri="{BB962C8B-B14F-4D97-AF65-F5344CB8AC3E}">
        <p14:creationId xmlns:p14="http://schemas.microsoft.com/office/powerpoint/2010/main" val="527736820"/>
      </p:ext>
    </p:extLst>
  </p:cSld>
</p:sld>
</file>

<file path=ppt/slides/slide15.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F9581689-4608-4985-B548-372D0EF0D932}"/>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3 / MODULE 4</a:t>
            </a:r>
          </a:p>
        </p:txBody>
      </p:sp>
      <p:sp>
        <p:nvSpPr>
          <p:cNvPr id="2" name="">
            <a:extLst xmlns:a="http://schemas.openxmlformats.org/drawingml/2006/main">
              <a:ext uri="{FF2B5EF4-FFF2-40B4-BE49-F238E27FC236}">
                <a16:creationId xmlns:a16="http://schemas.microsoft.com/office/drawing/2014/main" id="{FE39CF1D-0C78-466B-9472-389CE1F12798}"/>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S3  |  Q&amp;A and knowledge check</a:t>
            </a:r>
          </a:p>
        </p:txBody>
      </p:sp>
      <p:sp>
        <p:nvSpPr>
          <p:cNvPr id="3" name="">
            <a:extLst xmlns:a="http://schemas.openxmlformats.org/drawingml/2006/main">
              <a:ext uri="{FF2B5EF4-FFF2-40B4-BE49-F238E27FC236}">
                <a16:creationId xmlns:a16="http://schemas.microsoft.com/office/drawing/2014/main" id="{FF489E69-87AD-4CC3-B7A1-3608E5AA2D9A}"/>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0835EC5-BF06-44E3-858F-1588882DB0FA}"/>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C90AF75-461F-4F2A-9E31-774514BDF2BB}"/>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0A1F2DEF-837D-4279-92CB-30F86A831AA6}"/>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15</a:t>
            </a:r>
          </a:p>
        </p:txBody>
      </p:sp>
      <p:sp>
        <p:nvSpPr>
          <p:cNvPr id="7" name="">
            <a:extLst xmlns:a="http://schemas.openxmlformats.org/drawingml/2006/main">
              <a:ext uri="{FF2B5EF4-FFF2-40B4-BE49-F238E27FC236}">
                <a16:creationId xmlns:a16="http://schemas.microsoft.com/office/drawing/2014/main" id="{C461F5F4-8179-49DC-8249-676BFAC34615}"/>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4 and proposal p. 7. The example prompt is instructional and uses no real DWIHN record.</a:t>
            </a:r>
          </a:p>
        </p:txBody>
      </p:sp>
      <p:sp>
        <p:nvSpPr>
          <p:cNvPr id="8" name="">
            <a:extLst xmlns:a="http://schemas.openxmlformats.org/drawingml/2006/main">
              <a:ext uri="{FF2B5EF4-FFF2-40B4-BE49-F238E27FC236}">
                <a16:creationId xmlns:a16="http://schemas.microsoft.com/office/drawing/2014/main" id="{A8BC0D79-997E-4A55-A7BC-F84B2314CDAE}"/>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Prompting Skills for DWIHN Roles</a:t>
            </a:r>
          </a:p>
        </p:txBody>
      </p:sp>
      <p:sp>
        <p:nvSpPr>
          <p:cNvPr id="9" name="">
            <a:extLst xmlns:a="http://schemas.openxmlformats.org/drawingml/2006/main">
              <a:ext uri="{FF2B5EF4-FFF2-40B4-BE49-F238E27FC236}">
                <a16:creationId xmlns:a16="http://schemas.microsoft.com/office/drawing/2014/main" id="{42B327A3-EDB3-47BE-80EF-C5BA32AF737E}"/>
              </a:ext>
            </a:extLst>
          </p:cNvPr>
          <p:cNvSpPr>
            <a:spLocks xmlns:a="http://schemas.openxmlformats.org/drawingml/2006/main" noGrp="1"/>
          </p:cNvSpPr>
          <p:nvPr/>
        </p:nvSpPr>
        <p:spPr>
          <a:xfrm xmlns:a="http://schemas.openxmlformats.org/drawingml/2006/main">
            <a:off x="609600" y="19240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Invite questions first. Use the answer cues to clarify the principle; route local policy questions to the right DWIHN owner.</a:t>
            </a:r>
          </a:p>
        </p:txBody>
      </p:sp>
      <p:sp>
        <p:nvSpPr>
          <p:cNvPr id="10" name="">
            <a:extLst xmlns:a="http://schemas.openxmlformats.org/drawingml/2006/main">
              <a:ext uri="{FF2B5EF4-FFF2-40B4-BE49-F238E27FC236}">
                <a16:creationId xmlns:a16="http://schemas.microsoft.com/office/drawing/2014/main" id="{7E131B9E-A649-465F-8A33-C320F9606224}"/>
              </a:ext>
            </a:extLst>
          </p:cNvPr>
          <p:cNvSpPr>
            <a:spLocks xmlns:a="http://schemas.openxmlformats.org/drawingml/2006/main" noGrp="1"/>
          </p:cNvSpPr>
          <p:nvPr/>
        </p:nvSpPr>
        <p:spPr>
          <a:xfrm xmlns:a="http://schemas.openxmlformats.org/drawingml/2006/main">
            <a:off x="609600" y="26384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Q1</a:t>
            </a:r>
          </a:p>
        </p:txBody>
      </p:sp>
      <p:sp>
        <p:nvSpPr>
          <p:cNvPr id="11" name="">
            <a:extLst xmlns:a="http://schemas.openxmlformats.org/drawingml/2006/main">
              <a:ext uri="{FF2B5EF4-FFF2-40B4-BE49-F238E27FC236}">
                <a16:creationId xmlns:a16="http://schemas.microsoft.com/office/drawing/2014/main" id="{464AF742-4DC7-42D4-85E4-446B234E7F45}"/>
              </a:ext>
            </a:extLst>
          </p:cNvPr>
          <p:cNvSpPr>
            <a:spLocks xmlns:a="http://schemas.openxmlformats.org/drawingml/2006/main" noGrp="1"/>
          </p:cNvSpPr>
          <p:nvPr/>
        </p:nvSpPr>
        <p:spPr>
          <a:xfrm xmlns:a="http://schemas.openxmlformats.org/drawingml/2006/main">
            <a:off x="1162050" y="26384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Does a detailed prompt guarantee a correct answer?</a:t>
            </a:r>
          </a:p>
        </p:txBody>
      </p:sp>
      <p:sp>
        <p:nvSpPr>
          <p:cNvPr id="12" name="">
            <a:extLst xmlns:a="http://schemas.openxmlformats.org/drawingml/2006/main">
              <a:ext uri="{FF2B5EF4-FFF2-40B4-BE49-F238E27FC236}">
                <a16:creationId xmlns:a16="http://schemas.microsoft.com/office/drawing/2014/main" id="{DA961104-C0D3-41D2-9693-3A29C9295896}"/>
              </a:ext>
            </a:extLst>
          </p:cNvPr>
          <p:cNvSpPr>
            <a:spLocks xmlns:a="http://schemas.openxmlformats.org/drawingml/2006/main" noGrp="1"/>
          </p:cNvSpPr>
          <p:nvPr/>
        </p:nvSpPr>
        <p:spPr>
          <a:xfrm xmlns:a="http://schemas.openxmlformats.org/drawingml/2006/main">
            <a:off x="6000750" y="26384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3" name="">
            <a:extLst xmlns:a="http://schemas.openxmlformats.org/drawingml/2006/main">
              <a:ext uri="{FF2B5EF4-FFF2-40B4-BE49-F238E27FC236}">
                <a16:creationId xmlns:a16="http://schemas.microsoft.com/office/drawing/2014/main" id="{118716DC-B2CA-4A16-BCF3-8ED7F51B1768}"/>
              </a:ext>
            </a:extLst>
          </p:cNvPr>
          <p:cNvSpPr>
            <a:spLocks xmlns:a="http://schemas.openxmlformats.org/drawingml/2006/main" noGrp="1"/>
          </p:cNvSpPr>
          <p:nvPr/>
        </p:nvSpPr>
        <p:spPr>
          <a:xfrm xmlns:a="http://schemas.openxmlformats.org/drawingml/2006/main">
            <a:off x="6000750" y="28765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No. It reduces ambiguity, but the user must still validate facts and policy fit.</a:t>
            </a:r>
          </a:p>
        </p:txBody>
      </p:sp>
      <p:sp>
        <p:nvSpPr>
          <p:cNvPr id="14" name="">
            <a:extLst xmlns:a="http://schemas.openxmlformats.org/drawingml/2006/main">
              <a:ext uri="{FF2B5EF4-FFF2-40B4-BE49-F238E27FC236}">
                <a16:creationId xmlns:a16="http://schemas.microsoft.com/office/drawing/2014/main" id="{7EBA3482-6639-4872-9C4A-4C39DB305284}"/>
              </a:ext>
            </a:extLst>
          </p:cNvPr>
          <p:cNvSpPr>
            <a:spLocks xmlns:a="http://schemas.openxmlformats.org/drawingml/2006/main" noGrp="1"/>
          </p:cNvSpPr>
          <p:nvPr/>
        </p:nvSpPr>
        <p:spPr>
          <a:xfrm xmlns:a="http://schemas.openxmlformats.org/drawingml/2006/main">
            <a:off x="609600" y="343852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89C184E-94C5-4286-832E-63229689A498}"/>
              </a:ext>
            </a:extLst>
          </p:cNvPr>
          <p:cNvSpPr>
            <a:spLocks xmlns:a="http://schemas.openxmlformats.org/drawingml/2006/main" noGrp="1"/>
          </p:cNvSpPr>
          <p:nvPr/>
        </p:nvSpPr>
        <p:spPr>
          <a:xfrm xmlns:a="http://schemas.openxmlformats.org/drawingml/2006/main">
            <a:off x="609600" y="35718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Q2</a:t>
            </a:r>
          </a:p>
        </p:txBody>
      </p:sp>
      <p:sp>
        <p:nvSpPr>
          <p:cNvPr id="16" name="">
            <a:extLst xmlns:a="http://schemas.openxmlformats.org/drawingml/2006/main">
              <a:ext uri="{FF2B5EF4-FFF2-40B4-BE49-F238E27FC236}">
                <a16:creationId xmlns:a16="http://schemas.microsoft.com/office/drawing/2014/main" id="{1D4EEDC0-53D8-49A7-9899-5B329DB832AF}"/>
              </a:ext>
            </a:extLst>
          </p:cNvPr>
          <p:cNvSpPr>
            <a:spLocks xmlns:a="http://schemas.openxmlformats.org/drawingml/2006/main" noGrp="1"/>
          </p:cNvSpPr>
          <p:nvPr/>
        </p:nvSpPr>
        <p:spPr>
          <a:xfrm xmlns:a="http://schemas.openxmlformats.org/drawingml/2006/main">
            <a:off x="1162050" y="357187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Should I include a client record to give better context?</a:t>
            </a:r>
          </a:p>
        </p:txBody>
      </p:sp>
      <p:sp>
        <p:nvSpPr>
          <p:cNvPr id="17" name="">
            <a:extLst xmlns:a="http://schemas.openxmlformats.org/drawingml/2006/main">
              <a:ext uri="{FF2B5EF4-FFF2-40B4-BE49-F238E27FC236}">
                <a16:creationId xmlns:a16="http://schemas.microsoft.com/office/drawing/2014/main" id="{F673E4E0-AAD8-4E46-AF19-CE809409D809}"/>
              </a:ext>
            </a:extLst>
          </p:cNvPr>
          <p:cNvSpPr>
            <a:spLocks xmlns:a="http://schemas.openxmlformats.org/drawingml/2006/main" noGrp="1"/>
          </p:cNvSpPr>
          <p:nvPr/>
        </p:nvSpPr>
        <p:spPr>
          <a:xfrm xmlns:a="http://schemas.openxmlformats.org/drawingml/2006/main">
            <a:off x="6000750" y="357187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8" name="">
            <a:extLst xmlns:a="http://schemas.openxmlformats.org/drawingml/2006/main">
              <a:ext uri="{FF2B5EF4-FFF2-40B4-BE49-F238E27FC236}">
                <a16:creationId xmlns:a16="http://schemas.microsoft.com/office/drawing/2014/main" id="{355720B7-CDE7-42E7-9506-B5D586B6F2AF}"/>
              </a:ext>
            </a:extLst>
          </p:cNvPr>
          <p:cNvSpPr>
            <a:spLocks xmlns:a="http://schemas.openxmlformats.org/drawingml/2006/main" noGrp="1"/>
          </p:cNvSpPr>
          <p:nvPr/>
        </p:nvSpPr>
        <p:spPr>
          <a:xfrm xmlns:a="http://schemas.openxmlformats.org/drawingml/2006/main">
            <a:off x="6000750" y="381000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Only if the specific approved workflow permits it. Prompting does not change data permissions.</a:t>
            </a:r>
          </a:p>
        </p:txBody>
      </p:sp>
      <p:sp>
        <p:nvSpPr>
          <p:cNvPr id="19" name="">
            <a:extLst xmlns:a="http://schemas.openxmlformats.org/drawingml/2006/main">
              <a:ext uri="{FF2B5EF4-FFF2-40B4-BE49-F238E27FC236}">
                <a16:creationId xmlns:a16="http://schemas.microsoft.com/office/drawing/2014/main" id="{AD2F8833-960E-46C9-981E-EF34A58A6B38}"/>
              </a:ext>
            </a:extLst>
          </p:cNvPr>
          <p:cNvSpPr>
            <a:spLocks xmlns:a="http://schemas.openxmlformats.org/drawingml/2006/main" noGrp="1"/>
          </p:cNvSpPr>
          <p:nvPr/>
        </p:nvSpPr>
        <p:spPr>
          <a:xfrm xmlns:a="http://schemas.openxmlformats.org/drawingml/2006/main">
            <a:off x="609600" y="437197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D362E89-9C6D-4B7D-9D16-8FD7B7293294}"/>
              </a:ext>
            </a:extLst>
          </p:cNvPr>
          <p:cNvSpPr>
            <a:spLocks xmlns:a="http://schemas.openxmlformats.org/drawingml/2006/main" noGrp="1"/>
          </p:cNvSpPr>
          <p:nvPr/>
        </p:nvSpPr>
        <p:spPr>
          <a:xfrm xmlns:a="http://schemas.openxmlformats.org/drawingml/2006/main">
            <a:off x="609600" y="45053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Q3</a:t>
            </a:r>
          </a:p>
        </p:txBody>
      </p:sp>
      <p:sp>
        <p:nvSpPr>
          <p:cNvPr id="21" name="">
            <a:extLst xmlns:a="http://schemas.openxmlformats.org/drawingml/2006/main">
              <a:ext uri="{FF2B5EF4-FFF2-40B4-BE49-F238E27FC236}">
                <a16:creationId xmlns:a16="http://schemas.microsoft.com/office/drawing/2014/main" id="{2BCDAC74-B516-45C2-A2DF-87A6377B8200}"/>
              </a:ext>
            </a:extLst>
          </p:cNvPr>
          <p:cNvSpPr>
            <a:spLocks xmlns:a="http://schemas.openxmlformats.org/drawingml/2006/main" noGrp="1"/>
          </p:cNvSpPr>
          <p:nvPr/>
        </p:nvSpPr>
        <p:spPr>
          <a:xfrm xmlns:a="http://schemas.openxmlformats.org/drawingml/2006/main">
            <a:off x="1162050" y="45053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What is a useful constraint for meeting notes?</a:t>
            </a:r>
          </a:p>
        </p:txBody>
      </p:sp>
      <p:sp>
        <p:nvSpPr>
          <p:cNvPr id="22" name="">
            <a:extLst xmlns:a="http://schemas.openxmlformats.org/drawingml/2006/main">
              <a:ext uri="{FF2B5EF4-FFF2-40B4-BE49-F238E27FC236}">
                <a16:creationId xmlns:a16="http://schemas.microsoft.com/office/drawing/2014/main" id="{16DFAECB-7B0D-49A6-9C89-C6B916586807}"/>
              </a:ext>
            </a:extLst>
          </p:cNvPr>
          <p:cNvSpPr>
            <a:spLocks xmlns:a="http://schemas.openxmlformats.org/drawingml/2006/main" noGrp="1"/>
          </p:cNvSpPr>
          <p:nvPr/>
        </p:nvSpPr>
        <p:spPr>
          <a:xfrm xmlns:a="http://schemas.openxmlformats.org/drawingml/2006/main">
            <a:off x="6000750" y="45053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23" name="">
            <a:extLst xmlns:a="http://schemas.openxmlformats.org/drawingml/2006/main">
              <a:ext uri="{FF2B5EF4-FFF2-40B4-BE49-F238E27FC236}">
                <a16:creationId xmlns:a16="http://schemas.microsoft.com/office/drawing/2014/main" id="{25D18FDB-EC77-450D-88B9-FA229827013D}"/>
              </a:ext>
            </a:extLst>
          </p:cNvPr>
          <p:cNvSpPr>
            <a:spLocks xmlns:a="http://schemas.openxmlformats.org/drawingml/2006/main" noGrp="1"/>
          </p:cNvSpPr>
          <p:nvPr/>
        </p:nvSpPr>
        <p:spPr>
          <a:xfrm xmlns:a="http://schemas.openxmlformats.org/drawingml/2006/main">
            <a:off x="6000750" y="47434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Use only the notes, distinguish decisions from discussion and flag missing owners instead of guessing.</a:t>
            </a:r>
          </a:p>
        </p:txBody>
      </p:sp>
      <p:sp>
        <p:nvSpPr>
          <p:cNvPr id="24" name="">
            <a:extLst xmlns:a="http://schemas.openxmlformats.org/drawingml/2006/main">
              <a:ext uri="{FF2B5EF4-FFF2-40B4-BE49-F238E27FC236}">
                <a16:creationId xmlns:a16="http://schemas.microsoft.com/office/drawing/2014/main" id="{69196902-6427-4E69-AE19-7D343864D2B7}"/>
              </a:ext>
            </a:extLst>
          </p:cNvPr>
          <p:cNvSpPr>
            <a:spLocks xmlns:a="http://schemas.openxmlformats.org/drawingml/2006/main" noGrp="1"/>
          </p:cNvSpPr>
          <p:nvPr/>
        </p:nvSpPr>
        <p:spPr>
          <a:xfrm xmlns:a="http://schemas.openxmlformats.org/drawingml/2006/main">
            <a:off x="609600" y="55435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C4D3A6A8-C21F-4699-9408-21BBA61B693C}"/>
              </a:ext>
            </a:extLst>
          </p:cNvPr>
          <p:cNvSpPr>
            <a:spLocks xmlns:a="http://schemas.openxmlformats.org/drawingml/2006/main" noGrp="1"/>
          </p:cNvSpPr>
          <p:nvPr/>
        </p:nvSpPr>
        <p:spPr>
          <a:xfrm xmlns:a="http://schemas.openxmlformats.org/drawingml/2006/main">
            <a:off x="609600" y="57150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Remember</a:t>
            </a:r>
          </a:p>
        </p:txBody>
      </p:sp>
      <p:sp>
        <p:nvSpPr>
          <p:cNvPr id="26" name="">
            <a:extLst xmlns:a="http://schemas.openxmlformats.org/drawingml/2006/main">
              <a:ext uri="{FF2B5EF4-FFF2-40B4-BE49-F238E27FC236}">
                <a16:creationId xmlns:a16="http://schemas.microsoft.com/office/drawing/2014/main" id="{6388D9AC-C63B-4878-B063-BF7EBA27C2F4}"/>
              </a:ext>
            </a:extLst>
          </p:cNvPr>
          <p:cNvSpPr>
            <a:spLocks xmlns:a="http://schemas.openxmlformats.org/drawingml/2006/main" noGrp="1"/>
          </p:cNvSpPr>
          <p:nvPr/>
        </p:nvSpPr>
        <p:spPr>
          <a:xfrm xmlns:a="http://schemas.openxmlformats.org/drawingml/2006/main">
            <a:off x="1924050" y="5686425"/>
            <a:ext cx="9429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Specific instructions improve relevance.   •   Use only approved context.   •   Make review criteria explicit and check the result.</a:t>
            </a:r>
          </a:p>
        </p:txBody>
      </p:sp>
    </p:spTree>
    <p:extLst>
      <p:ext uri="{BB962C8B-B14F-4D97-AF65-F5344CB8AC3E}">
        <p14:creationId xmlns:p14="http://schemas.microsoft.com/office/powerpoint/2010/main" val="1516682984"/>
      </p:ext>
    </p:extLst>
  </p:cSld>
</p:sld>
</file>

<file path=ppt/slides/slide16.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7AEFA25-DC38-4807-9C90-7FED48DF637B}"/>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3 / MODULE 5</a:t>
            </a:r>
          </a:p>
        </p:txBody>
      </p:sp>
      <p:sp>
        <p:nvSpPr>
          <p:cNvPr id="2" name="">
            <a:extLst xmlns:a="http://schemas.openxmlformats.org/drawingml/2006/main">
              <a:ext uri="{FF2B5EF4-FFF2-40B4-BE49-F238E27FC236}">
                <a16:creationId xmlns:a16="http://schemas.microsoft.com/office/drawing/2014/main" id="{F7177238-5B7A-45F2-B4DB-9876980900B4}"/>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S4  |  Purpose &amp; outcomes</a:t>
            </a:r>
          </a:p>
        </p:txBody>
      </p:sp>
      <p:sp>
        <p:nvSpPr>
          <p:cNvPr id="3" name="">
            <a:extLst xmlns:a="http://schemas.openxmlformats.org/drawingml/2006/main">
              <a:ext uri="{FF2B5EF4-FFF2-40B4-BE49-F238E27FC236}">
                <a16:creationId xmlns:a16="http://schemas.microsoft.com/office/drawing/2014/main" id="{0C388A53-10A1-4AF5-8F77-021CFB82317A}"/>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FB62FE4-6CA7-42A6-B05E-5C0131FE417B}"/>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C7A9A89-7239-4604-A0EA-02C16379AC5D}"/>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4156104A-A114-416E-A6C9-63845ED452FC}"/>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16</a:t>
            </a:r>
          </a:p>
        </p:txBody>
      </p:sp>
      <p:sp>
        <p:nvSpPr>
          <p:cNvPr id="7" name="">
            <a:extLst xmlns:a="http://schemas.openxmlformats.org/drawingml/2006/main">
              <a:ext uri="{FF2B5EF4-FFF2-40B4-BE49-F238E27FC236}">
                <a16:creationId xmlns:a16="http://schemas.microsoft.com/office/drawing/2014/main" id="{B9BC7767-2295-47A5-97F2-14152696FA49}"/>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5, Daily AI Checklist and Practice Lab; proposal p. 7.</a:t>
            </a:r>
          </a:p>
        </p:txBody>
      </p:sp>
      <p:sp>
        <p:nvSpPr>
          <p:cNvPr id="8" name="">
            <a:extLst xmlns:a="http://schemas.openxmlformats.org/drawingml/2006/main">
              <a:ext uri="{FF2B5EF4-FFF2-40B4-BE49-F238E27FC236}">
                <a16:creationId xmlns:a16="http://schemas.microsoft.com/office/drawing/2014/main" id="{44813F26-A856-445D-BDA8-B8C10BCA2522}"/>
              </a:ext>
            </a:extLst>
          </p:cNvPr>
          <p:cNvSpPr>
            <a:spLocks xmlns:a="http://schemas.openxmlformats.org/drawingml/2006/main" noGrp="1"/>
          </p:cNvSpPr>
          <p:nvPr/>
        </p:nvSpPr>
        <p:spPr>
          <a:xfrm xmlns:a="http://schemas.openxmlformats.org/drawingml/2006/main">
            <a:off x="609600" y="1619250"/>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0A2438"/>
                </a:solidFill>
                <a:latin typeface="Arial"/>
                <a:ea typeface="Arial"/>
                <a:cs typeface="Arial"/>
              </a:defRPr>
            </a:pPr>
            <a:r>
              <a:rPr sz="1875" b="1">
                <a:solidFill>
                  <a:srgbClr val="0A2438"/>
                </a:solidFill>
                <a:latin typeface="Arial"/>
                <a:ea typeface="Arial"/>
                <a:cs typeface="Arial"/>
              </a:rPr>
              <a:t>AI in Your Daily DWIHN Work</a:t>
            </a:r>
          </a:p>
        </p:txBody>
      </p:sp>
      <p:sp>
        <p:nvSpPr>
          <p:cNvPr id="9" name="">
            <a:extLst xmlns:a="http://schemas.openxmlformats.org/drawingml/2006/main">
              <a:ext uri="{FF2B5EF4-FFF2-40B4-BE49-F238E27FC236}">
                <a16:creationId xmlns:a16="http://schemas.microsoft.com/office/drawing/2014/main" id="{78EA8091-4A37-41B9-858A-5A86A04B275E}"/>
              </a:ext>
            </a:extLst>
          </p:cNvPr>
          <p:cNvSpPr>
            <a:spLocks xmlns:a="http://schemas.openxmlformats.org/drawingml/2006/main" noGrp="1"/>
          </p:cNvSpPr>
          <p:nvPr/>
        </p:nvSpPr>
        <p:spPr>
          <a:xfrm xmlns:a="http://schemas.openxmlformats.org/drawingml/2006/main">
            <a:off x="609600" y="2057400"/>
            <a:ext cx="695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506473"/>
                </a:solidFill>
                <a:latin typeface="Arial"/>
                <a:ea typeface="Arial"/>
                <a:cs typeface="Arial"/>
              </a:defRPr>
            </a:pPr>
            <a:r>
              <a:rPr sz="1425" b="0">
                <a:solidFill>
                  <a:srgbClr val="506473"/>
                </a:solidFill>
                <a:latin typeface="Arial"/>
                <a:ea typeface="Arial"/>
                <a:cs typeface="Arial"/>
              </a:rPr>
              <a:t>Participants identify suitable everyday tasks, map a controlled workflow and practice reviewing AI output before it becomes an official communication or record.</a:t>
            </a:r>
          </a:p>
        </p:txBody>
      </p:sp>
      <p:sp>
        <p:nvSpPr>
          <p:cNvPr id="10" name="">
            <a:extLst xmlns:a="http://schemas.openxmlformats.org/drawingml/2006/main">
              <a:ext uri="{FF2B5EF4-FFF2-40B4-BE49-F238E27FC236}">
                <a16:creationId xmlns:a16="http://schemas.microsoft.com/office/drawing/2014/main" id="{66DB8FDC-0375-4074-AA04-9C67D6AB9FDC}"/>
              </a:ext>
            </a:extLst>
          </p:cNvPr>
          <p:cNvSpPr>
            <a:spLocks xmlns:a="http://schemas.openxmlformats.org/drawingml/2006/main" noGrp="1"/>
          </p:cNvSpPr>
          <p:nvPr/>
        </p:nvSpPr>
        <p:spPr>
          <a:xfrm xmlns:a="http://schemas.openxmlformats.org/drawingml/2006/main">
            <a:off x="609600" y="30861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BY THE END, LEARNERS CAN</a:t>
            </a:r>
          </a:p>
        </p:txBody>
      </p:sp>
      <p:sp>
        <p:nvSpPr>
          <p:cNvPr id="11" name="">
            <a:extLst xmlns:a="http://schemas.openxmlformats.org/drawingml/2006/main">
              <a:ext uri="{FF2B5EF4-FFF2-40B4-BE49-F238E27FC236}">
                <a16:creationId xmlns:a16="http://schemas.microsoft.com/office/drawing/2014/main" id="{3D7422E0-6F04-4566-946A-B0426A0A6CCE}"/>
              </a:ext>
            </a:extLst>
          </p:cNvPr>
          <p:cNvSpPr>
            <a:spLocks xmlns:a="http://schemas.openxmlformats.org/drawingml/2006/main" noGrp="1"/>
          </p:cNvSpPr>
          <p:nvPr/>
        </p:nvSpPr>
        <p:spPr>
          <a:xfrm xmlns:a="http://schemas.openxmlformats.org/drawingml/2006/main">
            <a:off x="609600" y="3429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01</a:t>
            </a:r>
          </a:p>
        </p:txBody>
      </p:sp>
      <p:sp>
        <p:nvSpPr>
          <p:cNvPr id="12" name="">
            <a:extLst xmlns:a="http://schemas.openxmlformats.org/drawingml/2006/main">
              <a:ext uri="{FF2B5EF4-FFF2-40B4-BE49-F238E27FC236}">
                <a16:creationId xmlns:a16="http://schemas.microsoft.com/office/drawing/2014/main" id="{7BC7FAF6-16E1-44B2-A065-734A6629607C}"/>
              </a:ext>
            </a:extLst>
          </p:cNvPr>
          <p:cNvSpPr>
            <a:spLocks xmlns:a="http://schemas.openxmlformats.org/drawingml/2006/main" noGrp="1"/>
          </p:cNvSpPr>
          <p:nvPr/>
        </p:nvSpPr>
        <p:spPr>
          <a:xfrm xmlns:a="http://schemas.openxmlformats.org/drawingml/2006/main">
            <a:off x="1104900" y="34290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Screen candidate tasks for data sensitivity, consequence of error and reviewability.</a:t>
            </a:r>
          </a:p>
        </p:txBody>
      </p:sp>
      <p:sp>
        <p:nvSpPr>
          <p:cNvPr id="13" name="">
            <a:extLst xmlns:a="http://schemas.openxmlformats.org/drawingml/2006/main">
              <a:ext uri="{FF2B5EF4-FFF2-40B4-BE49-F238E27FC236}">
                <a16:creationId xmlns:a16="http://schemas.microsoft.com/office/drawing/2014/main" id="{6461BF31-399B-4AAF-9778-6262601CA4DD}"/>
              </a:ext>
            </a:extLst>
          </p:cNvPr>
          <p:cNvSpPr>
            <a:spLocks xmlns:a="http://schemas.openxmlformats.org/drawingml/2006/main" noGrp="1"/>
          </p:cNvSpPr>
          <p:nvPr/>
        </p:nvSpPr>
        <p:spPr>
          <a:xfrm xmlns:a="http://schemas.openxmlformats.org/drawingml/2006/main">
            <a:off x="609600" y="40767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1B2B519D-D07A-47D8-A38B-F307BC96A95C}"/>
              </a:ext>
            </a:extLst>
          </p:cNvPr>
          <p:cNvSpPr>
            <a:spLocks xmlns:a="http://schemas.openxmlformats.org/drawingml/2006/main" noGrp="1"/>
          </p:cNvSpPr>
          <p:nvPr/>
        </p:nvSpPr>
        <p:spPr>
          <a:xfrm xmlns:a="http://schemas.openxmlformats.org/drawingml/2006/main">
            <a:off x="1104900" y="40767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Use AI for a bounded draft or organization task when the approved workflow permits.</a:t>
            </a:r>
          </a:p>
        </p:txBody>
      </p:sp>
      <p:sp>
        <p:nvSpPr>
          <p:cNvPr id="15" name="">
            <a:extLst xmlns:a="http://schemas.openxmlformats.org/drawingml/2006/main">
              <a:ext uri="{FF2B5EF4-FFF2-40B4-BE49-F238E27FC236}">
                <a16:creationId xmlns:a16="http://schemas.microsoft.com/office/drawing/2014/main" id="{612156EA-1FA1-4CB1-A711-F1C67E590C87}"/>
              </a:ext>
            </a:extLst>
          </p:cNvPr>
          <p:cNvSpPr>
            <a:spLocks xmlns:a="http://schemas.openxmlformats.org/drawingml/2006/main" noGrp="1"/>
          </p:cNvSpPr>
          <p:nvPr/>
        </p:nvSpPr>
        <p:spPr>
          <a:xfrm xmlns:a="http://schemas.openxmlformats.org/drawingml/2006/main">
            <a:off x="609600" y="47244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0FB52A8C-C4C8-4EB8-8E59-9BA56436DB2F}"/>
              </a:ext>
            </a:extLst>
          </p:cNvPr>
          <p:cNvSpPr>
            <a:spLocks xmlns:a="http://schemas.openxmlformats.org/drawingml/2006/main" noGrp="1"/>
          </p:cNvSpPr>
          <p:nvPr/>
        </p:nvSpPr>
        <p:spPr>
          <a:xfrm xmlns:a="http://schemas.openxmlformats.org/drawingml/2006/main">
            <a:off x="1104900" y="47244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Apply a repeatable pre-use and post-output checklist.</a:t>
            </a:r>
          </a:p>
        </p:txBody>
      </p:sp>
      <p:sp>
        <p:nvSpPr>
          <p:cNvPr id="17" name="">
            <a:extLst xmlns:a="http://schemas.openxmlformats.org/drawingml/2006/main">
              <a:ext uri="{FF2B5EF4-FFF2-40B4-BE49-F238E27FC236}">
                <a16:creationId xmlns:a16="http://schemas.microsoft.com/office/drawing/2014/main" id="{C58D4190-7165-4B4B-AE98-E988B2EF625D}"/>
              </a:ext>
            </a:extLst>
          </p:cNvPr>
          <p:cNvSpPr>
            <a:spLocks xmlns:a="http://schemas.openxmlformats.org/drawingml/2006/main" noGrp="1"/>
          </p:cNvSpPr>
          <p:nvPr/>
        </p:nvSpPr>
        <p:spPr>
          <a:xfrm xmlns:a="http://schemas.openxmlformats.org/drawingml/2006/main">
            <a:off x="609600" y="5476875"/>
            <a:ext cx="6953250" cy="476250"/>
          </a:xfrm>
          <a:prstGeom xmlns:a="http://schemas.openxmlformats.org/drawingml/2006/main" prst="rect">
            <a:avLst/>
          </a:prstGeom>
          <a:noFill xmlns:a="http://schemas.openxmlformats.org/drawingml/2006/main"/>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6A7919A-C200-4675-BCC2-40D63155C051}"/>
              </a:ext>
            </a:extLst>
          </p:cNvPr>
          <p:cNvSpPr>
            <a:spLocks xmlns:a="http://schemas.openxmlformats.org/drawingml/2006/main" noGrp="1"/>
          </p:cNvSpPr>
          <p:nvPr/>
        </p:nvSpPr>
        <p:spPr>
          <a:xfrm xmlns:a="http://schemas.openxmlformats.org/drawingml/2006/main">
            <a:off x="781050" y="5591175"/>
            <a:ext cx="659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91"/>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Session length: at least 1 hour, including Q&amp;A. Guided practice and discussion can extend it.</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2636c62ef04d4c9c"/>
          <a:srcRect xmlns:a="http://schemas.openxmlformats.org/drawingml/2006/main" l="0" t="7407" r="0" b="7407"/>
          <a:stretch xmlns:a="http://schemas.openxmlformats.org/drawingml/2006/main">
            <a:fillRect l="0" t="0" r="0" b="0"/>
          </a:stretch>
        </p:blipFill>
        <p:spPr>
          <a:xfrm xmlns:a="http://schemas.openxmlformats.org/drawingml/2006/main">
            <a:off x="7981950" y="2247900"/>
            <a:ext cx="3429000" cy="219075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B9DE48DF-2635-417F-8652-4F97E6C08EBE}"/>
              </a:ext>
            </a:extLst>
          </p:cNvPr>
          <p:cNvSpPr>
            <a:spLocks xmlns:a="http://schemas.openxmlformats.org/drawingml/2006/main" noGrp="1"/>
          </p:cNvSpPr>
          <p:nvPr/>
        </p:nvSpPr>
        <p:spPr>
          <a:xfrm xmlns:a="http://schemas.openxmlformats.org/drawingml/2006/main">
            <a:off x="7981950" y="4524375"/>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0">
                <a:solidFill>
                  <a:srgbClr val="6D7E89"/>
                </a:solidFill>
                <a:latin typeface="Arial"/>
                <a:ea typeface="Arial"/>
                <a:cs typeface="Arial"/>
              </a:defRPr>
            </a:pPr>
            <a:r>
              <a:rPr sz="900" b="0">
                <a:solidFill>
                  <a:srgbClr val="6D7E89"/>
                </a:solidFill>
                <a:latin typeface="Arial"/>
                <a:ea typeface="Arial"/>
                <a:cs typeface="Arial"/>
              </a:rPr>
              <a:t>NetSeed training image from the proposal; illustrative of group practice.</a:t>
            </a:r>
          </a:p>
        </p:txBody>
      </p:sp>
    </p:spTree>
    <p:extLst>
      <p:ext uri="{BB962C8B-B14F-4D97-AF65-F5344CB8AC3E}">
        <p14:creationId xmlns:p14="http://schemas.microsoft.com/office/powerpoint/2010/main" val="1658975662"/>
      </p:ext>
    </p:extLst>
  </p:cSld>
</p:sld>
</file>

<file path=ppt/slides/slide17.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24C4FD2-DA62-4C90-9905-7449DD18FEB5}"/>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3 / MODULE 5</a:t>
            </a:r>
          </a:p>
        </p:txBody>
      </p:sp>
      <p:sp>
        <p:nvSpPr>
          <p:cNvPr id="2" name="">
            <a:extLst xmlns:a="http://schemas.openxmlformats.org/drawingml/2006/main">
              <a:ext uri="{FF2B5EF4-FFF2-40B4-BE49-F238E27FC236}">
                <a16:creationId xmlns:a16="http://schemas.microsoft.com/office/drawing/2014/main" id="{FFBB76E3-C145-47A9-8F67-C151A0E0A3C3}"/>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S4  |  Core concepts</a:t>
            </a:r>
          </a:p>
        </p:txBody>
      </p:sp>
      <p:sp>
        <p:nvSpPr>
          <p:cNvPr id="3" name="">
            <a:extLst xmlns:a="http://schemas.openxmlformats.org/drawingml/2006/main">
              <a:ext uri="{FF2B5EF4-FFF2-40B4-BE49-F238E27FC236}">
                <a16:creationId xmlns:a16="http://schemas.microsoft.com/office/drawing/2014/main" id="{BD95D214-D7BB-4F71-A475-F171CC9E1E85}"/>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26D0027-6F63-4A37-9C52-D0F9E3F2EE11}"/>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6C3DC2C-ADB8-4C69-B32D-DF5DE50BE260}"/>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46E6A5E2-7E12-4F66-9219-0C565DD34580}"/>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17</a:t>
            </a:r>
          </a:p>
        </p:txBody>
      </p:sp>
      <p:sp>
        <p:nvSpPr>
          <p:cNvPr id="7" name="">
            <a:extLst xmlns:a="http://schemas.openxmlformats.org/drawingml/2006/main">
              <a:ext uri="{FF2B5EF4-FFF2-40B4-BE49-F238E27FC236}">
                <a16:creationId xmlns:a16="http://schemas.microsoft.com/office/drawing/2014/main" id="{65797674-78FD-496A-ACC9-22B5B699B7F0}"/>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5, Daily AI Checklist and Practice Lab; proposal p. 7.</a:t>
            </a:r>
          </a:p>
        </p:txBody>
      </p:sp>
      <p:sp>
        <p:nvSpPr>
          <p:cNvPr id="8" name="">
            <a:extLst xmlns:a="http://schemas.openxmlformats.org/drawingml/2006/main">
              <a:ext uri="{FF2B5EF4-FFF2-40B4-BE49-F238E27FC236}">
                <a16:creationId xmlns:a16="http://schemas.microsoft.com/office/drawing/2014/main" id="{214B9629-6DBB-4C85-B86B-0B0C99B855D7}"/>
              </a:ext>
            </a:extLst>
          </p:cNvPr>
          <p:cNvSpPr>
            <a:spLocks xmlns:a="http://schemas.openxmlformats.org/drawingml/2006/main" noGrp="1"/>
          </p:cNvSpPr>
          <p:nvPr/>
        </p:nvSpPr>
        <p:spPr>
          <a:xfrm xmlns:a="http://schemas.openxmlformats.org/drawingml/2006/main">
            <a:off x="609600" y="15811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AI in Your Daily DWIHN Work</a:t>
            </a:r>
          </a:p>
        </p:txBody>
      </p:sp>
      <p:sp>
        <p:nvSpPr>
          <p:cNvPr id="9" name="">
            <a:extLst xmlns:a="http://schemas.openxmlformats.org/drawingml/2006/main">
              <a:ext uri="{FF2B5EF4-FFF2-40B4-BE49-F238E27FC236}">
                <a16:creationId xmlns:a16="http://schemas.microsoft.com/office/drawing/2014/main" id="{ABC9F72F-76FD-4755-8B34-4C117F0FC197}"/>
              </a:ext>
            </a:extLst>
          </p:cNvPr>
          <p:cNvSpPr>
            <a:spLocks xmlns:a="http://schemas.openxmlformats.org/drawingml/2006/main" noGrp="1"/>
          </p:cNvSpPr>
          <p:nvPr/>
        </p:nvSpPr>
        <p:spPr>
          <a:xfrm xmlns:a="http://schemas.openxmlformats.org/drawingml/2006/main">
            <a:off x="609600" y="19716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C2782B49-6DAD-43AF-93B7-517714218667}"/>
              </a:ext>
            </a:extLst>
          </p:cNvPr>
          <p:cNvSpPr>
            <a:spLocks xmlns:a="http://schemas.openxmlformats.org/drawingml/2006/main" noGrp="1"/>
          </p:cNvSpPr>
          <p:nvPr/>
        </p:nvSpPr>
        <p:spPr>
          <a:xfrm xmlns:a="http://schemas.openxmlformats.org/drawingml/2006/main">
            <a:off x="1143000" y="19716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434"/>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Start with the work, not the tool</a:t>
            </a:r>
          </a:p>
        </p:txBody>
      </p:sp>
      <p:sp>
        <p:nvSpPr>
          <p:cNvPr id="11" name="">
            <a:extLst xmlns:a="http://schemas.openxmlformats.org/drawingml/2006/main">
              <a:ext uri="{FF2B5EF4-FFF2-40B4-BE49-F238E27FC236}">
                <a16:creationId xmlns:a16="http://schemas.microsoft.com/office/drawing/2014/main" id="{C4F4B397-5702-40B6-AF08-B5F49151D5DC}"/>
              </a:ext>
            </a:extLst>
          </p:cNvPr>
          <p:cNvSpPr>
            <a:spLocks xmlns:a="http://schemas.openxmlformats.org/drawingml/2006/main" noGrp="1"/>
          </p:cNvSpPr>
          <p:nvPr/>
        </p:nvSpPr>
        <p:spPr>
          <a:xfrm xmlns:a="http://schemas.openxmlformats.org/drawingml/2006/main">
            <a:off x="3857625" y="19716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Describe the task, audience, information and final destination first. A tool feature is not a reason to automate a step that needs professional judgment or a required approval.</a:t>
            </a:r>
          </a:p>
        </p:txBody>
      </p:sp>
      <p:sp>
        <p:nvSpPr>
          <p:cNvPr id="12" name="">
            <a:extLst xmlns:a="http://schemas.openxmlformats.org/drawingml/2006/main">
              <a:ext uri="{FF2B5EF4-FFF2-40B4-BE49-F238E27FC236}">
                <a16:creationId xmlns:a16="http://schemas.microsoft.com/office/drawing/2014/main" id="{21EDB1FA-EBE3-422E-908F-6957FACCB66C}"/>
              </a:ext>
            </a:extLst>
          </p:cNvPr>
          <p:cNvSpPr>
            <a:spLocks xmlns:a="http://schemas.openxmlformats.org/drawingml/2006/main" noGrp="1"/>
          </p:cNvSpPr>
          <p:nvPr/>
        </p:nvSpPr>
        <p:spPr>
          <a:xfrm xmlns:a="http://schemas.openxmlformats.org/drawingml/2006/main">
            <a:off x="1143000" y="28003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25A2141-E59C-4DDD-B306-92A1AF5AE08F}"/>
              </a:ext>
            </a:extLst>
          </p:cNvPr>
          <p:cNvSpPr>
            <a:spLocks xmlns:a="http://schemas.openxmlformats.org/drawingml/2006/main" noGrp="1"/>
          </p:cNvSpPr>
          <p:nvPr/>
        </p:nvSpPr>
        <p:spPr>
          <a:xfrm xmlns:a="http://schemas.openxmlformats.org/drawingml/2006/main">
            <a:off x="609600" y="29813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9A4E980E-89E1-42DB-8035-22EC72417DF9}"/>
              </a:ext>
            </a:extLst>
          </p:cNvPr>
          <p:cNvSpPr>
            <a:spLocks xmlns:a="http://schemas.openxmlformats.org/drawingml/2006/main" noGrp="1"/>
          </p:cNvSpPr>
          <p:nvPr/>
        </p:nvSpPr>
        <p:spPr>
          <a:xfrm xmlns:a="http://schemas.openxmlformats.org/drawingml/2006/main">
            <a:off x="1143000" y="29813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4408"/>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Low-risk drafts can still create risk</a:t>
            </a:r>
          </a:p>
        </p:txBody>
      </p:sp>
      <p:sp>
        <p:nvSpPr>
          <p:cNvPr id="15" name="">
            <a:extLst xmlns:a="http://schemas.openxmlformats.org/drawingml/2006/main">
              <a:ext uri="{FF2B5EF4-FFF2-40B4-BE49-F238E27FC236}">
                <a16:creationId xmlns:a16="http://schemas.microsoft.com/office/drawing/2014/main" id="{5C5966B1-18D1-4B05-B6FD-078F113F1037}"/>
              </a:ext>
            </a:extLst>
          </p:cNvPr>
          <p:cNvSpPr>
            <a:spLocks xmlns:a="http://schemas.openxmlformats.org/drawingml/2006/main" noGrp="1"/>
          </p:cNvSpPr>
          <p:nvPr/>
        </p:nvSpPr>
        <p:spPr>
          <a:xfrm xmlns:a="http://schemas.openxmlformats.org/drawingml/2006/main">
            <a:off x="3857625" y="29813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 routine email can include a promise, sensitive detail or misleading statement. The sender checks names, dates, commitments, tone and audience before sending.</a:t>
            </a:r>
          </a:p>
        </p:txBody>
      </p:sp>
      <p:sp>
        <p:nvSpPr>
          <p:cNvPr id="16" name="">
            <a:extLst xmlns:a="http://schemas.openxmlformats.org/drawingml/2006/main">
              <a:ext uri="{FF2B5EF4-FFF2-40B4-BE49-F238E27FC236}">
                <a16:creationId xmlns:a16="http://schemas.microsoft.com/office/drawing/2014/main" id="{1734EDCD-6DE4-47E9-AD6F-3E517F503795}"/>
              </a:ext>
            </a:extLst>
          </p:cNvPr>
          <p:cNvSpPr>
            <a:spLocks xmlns:a="http://schemas.openxmlformats.org/drawingml/2006/main" noGrp="1"/>
          </p:cNvSpPr>
          <p:nvPr/>
        </p:nvSpPr>
        <p:spPr>
          <a:xfrm xmlns:a="http://schemas.openxmlformats.org/drawingml/2006/main">
            <a:off x="1143000" y="381000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678F8AB-B255-4003-8E34-032D58AC47D3}"/>
              </a:ext>
            </a:extLst>
          </p:cNvPr>
          <p:cNvSpPr>
            <a:spLocks xmlns:a="http://schemas.openxmlformats.org/drawingml/2006/main" noGrp="1"/>
          </p:cNvSpPr>
          <p:nvPr/>
        </p:nvSpPr>
        <p:spPr>
          <a:xfrm xmlns:a="http://schemas.openxmlformats.org/drawingml/2006/main">
            <a:off x="609600" y="39909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39A7DCD8-F846-4341-8716-34866981F25E}"/>
              </a:ext>
            </a:extLst>
          </p:cNvPr>
          <p:cNvSpPr>
            <a:spLocks xmlns:a="http://schemas.openxmlformats.org/drawingml/2006/main" noGrp="1"/>
          </p:cNvSpPr>
          <p:nvPr/>
        </p:nvSpPr>
        <p:spPr>
          <a:xfrm xmlns:a="http://schemas.openxmlformats.org/drawingml/2006/main">
            <a:off x="1143000" y="39909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866"/>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Build review into the workflow</a:t>
            </a:r>
          </a:p>
        </p:txBody>
      </p:sp>
      <p:sp>
        <p:nvSpPr>
          <p:cNvPr id="19" name="">
            <a:extLst xmlns:a="http://schemas.openxmlformats.org/drawingml/2006/main">
              <a:ext uri="{FF2B5EF4-FFF2-40B4-BE49-F238E27FC236}">
                <a16:creationId xmlns:a16="http://schemas.microsoft.com/office/drawing/2014/main" id="{E447326F-B3FA-4007-A91F-68D6D922EF5D}"/>
              </a:ext>
            </a:extLst>
          </p:cNvPr>
          <p:cNvSpPr>
            <a:spLocks xmlns:a="http://schemas.openxmlformats.org/drawingml/2006/main" noGrp="1"/>
          </p:cNvSpPr>
          <p:nvPr/>
        </p:nvSpPr>
        <p:spPr>
          <a:xfrm xmlns:a="http://schemas.openxmlformats.org/drawingml/2006/main">
            <a:off x="3857625" y="39909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Keep the original source nearby. Compare important facts and meaning, identify missing points, edit the response and record or disclose AI assistance if policy requires it.</a:t>
            </a:r>
          </a:p>
        </p:txBody>
      </p:sp>
      <p:sp>
        <p:nvSpPr>
          <p:cNvPr id="20" name="">
            <a:extLst xmlns:a="http://schemas.openxmlformats.org/drawingml/2006/main">
              <a:ext uri="{FF2B5EF4-FFF2-40B4-BE49-F238E27FC236}">
                <a16:creationId xmlns:a16="http://schemas.microsoft.com/office/drawing/2014/main" id="{58426B04-10B0-4CF9-9D73-F87BFAF9B992}"/>
              </a:ext>
            </a:extLst>
          </p:cNvPr>
          <p:cNvSpPr>
            <a:spLocks xmlns:a="http://schemas.openxmlformats.org/drawingml/2006/main" noGrp="1"/>
          </p:cNvSpPr>
          <p:nvPr/>
        </p:nvSpPr>
        <p:spPr>
          <a:xfrm xmlns:a="http://schemas.openxmlformats.org/drawingml/2006/main">
            <a:off x="1143000" y="48196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EA768CA-278B-4245-9BF7-877F58ED4A2A}"/>
              </a:ext>
            </a:extLst>
          </p:cNvPr>
          <p:cNvSpPr>
            <a:spLocks xmlns:a="http://schemas.openxmlformats.org/drawingml/2006/main" noGrp="1"/>
          </p:cNvSpPr>
          <p:nvPr/>
        </p:nvSpPr>
        <p:spPr>
          <a:xfrm xmlns:a="http://schemas.openxmlformats.org/drawingml/2006/main">
            <a:off x="609600" y="5000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C81207B2-E863-40D0-A89E-361414E04E5B}"/>
              </a:ext>
            </a:extLst>
          </p:cNvPr>
          <p:cNvSpPr>
            <a:spLocks xmlns:a="http://schemas.openxmlformats.org/drawingml/2006/main" noGrp="1"/>
          </p:cNvSpPr>
          <p:nvPr/>
        </p:nvSpPr>
        <p:spPr>
          <a:xfrm xmlns:a="http://schemas.openxmlformats.org/drawingml/2006/main">
            <a:off x="1143000" y="50006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Use a daily safety check</a:t>
            </a:r>
          </a:p>
        </p:txBody>
      </p:sp>
      <p:sp>
        <p:nvSpPr>
          <p:cNvPr id="23" name="">
            <a:extLst xmlns:a="http://schemas.openxmlformats.org/drawingml/2006/main">
              <a:ext uri="{FF2B5EF4-FFF2-40B4-BE49-F238E27FC236}">
                <a16:creationId xmlns:a16="http://schemas.microsoft.com/office/drawing/2014/main" id="{30B304A6-0CBF-4945-ADFE-454A2A24CC2B}"/>
              </a:ext>
            </a:extLst>
          </p:cNvPr>
          <p:cNvSpPr>
            <a:spLocks xmlns:a="http://schemas.openxmlformats.org/drawingml/2006/main" noGrp="1"/>
          </p:cNvSpPr>
          <p:nvPr/>
        </p:nvSpPr>
        <p:spPr>
          <a:xfrm xmlns:a="http://schemas.openxmlformats.org/drawingml/2006/main">
            <a:off x="3857625" y="50006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Before: define the task, classify the information and confirm the tool. After: verify facts, remove unsupported content, consider privacy and keep the human owner clear.</a:t>
            </a:r>
          </a:p>
        </p:txBody>
      </p:sp>
    </p:spTree>
    <p:extLst>
      <p:ext uri="{BB962C8B-B14F-4D97-AF65-F5344CB8AC3E}">
        <p14:creationId xmlns:p14="http://schemas.microsoft.com/office/powerpoint/2010/main" val="782436965"/>
      </p:ext>
    </p:extLst>
  </p:cSld>
</p:sld>
</file>

<file path=ppt/slides/slide18.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CCF79D15-ECC2-431E-87FB-CB91CA665AAD}"/>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3 / MODULE 5</a:t>
            </a:r>
          </a:p>
        </p:txBody>
      </p:sp>
      <p:sp>
        <p:nvSpPr>
          <p:cNvPr id="2" name="">
            <a:extLst xmlns:a="http://schemas.openxmlformats.org/drawingml/2006/main">
              <a:ext uri="{FF2B5EF4-FFF2-40B4-BE49-F238E27FC236}">
                <a16:creationId xmlns:a16="http://schemas.microsoft.com/office/drawing/2014/main" id="{00AA8394-9F3A-43D9-8410-BF3DC9912609}"/>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S4  |  Instructor walkthrough</a:t>
            </a:r>
          </a:p>
        </p:txBody>
      </p:sp>
      <p:sp>
        <p:nvSpPr>
          <p:cNvPr id="3" name="">
            <a:extLst xmlns:a="http://schemas.openxmlformats.org/drawingml/2006/main">
              <a:ext uri="{FF2B5EF4-FFF2-40B4-BE49-F238E27FC236}">
                <a16:creationId xmlns:a16="http://schemas.microsoft.com/office/drawing/2014/main" id="{7619EBA3-195D-4DF3-A33A-13CDCBB70D6F}"/>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F3EEB68-7295-46A7-846F-A9A72995C243}"/>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429F98B-1A27-4F37-9AFD-C6C0E8042E2A}"/>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B77B2B39-5725-4022-A06C-C53A13241942}"/>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18</a:t>
            </a:r>
          </a:p>
        </p:txBody>
      </p:sp>
      <p:sp>
        <p:nvSpPr>
          <p:cNvPr id="7" name="">
            <a:extLst xmlns:a="http://schemas.openxmlformats.org/drawingml/2006/main">
              <a:ext uri="{FF2B5EF4-FFF2-40B4-BE49-F238E27FC236}">
                <a16:creationId xmlns:a16="http://schemas.microsoft.com/office/drawing/2014/main" id="{24DB0171-F3E4-441D-80D3-81392E690022}"/>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5, Daily AI Checklist and Practice Lab; proposal p. 7.</a:t>
            </a:r>
          </a:p>
        </p:txBody>
      </p:sp>
      <p:sp>
        <p:nvSpPr>
          <p:cNvPr id="8" name="">
            <a:extLst xmlns:a="http://schemas.openxmlformats.org/drawingml/2006/main">
              <a:ext uri="{FF2B5EF4-FFF2-40B4-BE49-F238E27FC236}">
                <a16:creationId xmlns:a16="http://schemas.microsoft.com/office/drawing/2014/main" id="{4BCD558B-D9F7-47DE-8773-BC3918D7FF6D}"/>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AI in Your Daily DWIHN Work</a:t>
            </a:r>
          </a:p>
        </p:txBody>
      </p:sp>
      <p:sp>
        <p:nvSpPr>
          <p:cNvPr id="9" name="">
            <a:extLst xmlns:a="http://schemas.openxmlformats.org/drawingml/2006/main">
              <a:ext uri="{FF2B5EF4-FFF2-40B4-BE49-F238E27FC236}">
                <a16:creationId xmlns:a16="http://schemas.microsoft.com/office/drawing/2014/main" id="{7BD020AB-0B22-4E0B-9B2A-8CB2F8514F46}"/>
              </a:ext>
            </a:extLst>
          </p:cNvPr>
          <p:cNvSpPr>
            <a:spLocks xmlns:a="http://schemas.openxmlformats.org/drawingml/2006/main" noGrp="1"/>
          </p:cNvSpPr>
          <p:nvPr/>
        </p:nvSpPr>
        <p:spPr>
          <a:xfrm xmlns:a="http://schemas.openxmlformats.org/drawingml/2006/main">
            <a:off x="60960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0" name="">
            <a:extLst xmlns:a="http://schemas.openxmlformats.org/drawingml/2006/main">
              <a:ext uri="{FF2B5EF4-FFF2-40B4-BE49-F238E27FC236}">
                <a16:creationId xmlns:a16="http://schemas.microsoft.com/office/drawing/2014/main" id="{15916E8D-D98E-4611-ACAE-393DF732D4DC}"/>
              </a:ext>
            </a:extLst>
          </p:cNvPr>
          <p:cNvSpPr>
            <a:spLocks xmlns:a="http://schemas.openxmlformats.org/drawingml/2006/main" noGrp="1"/>
          </p:cNvSpPr>
          <p:nvPr/>
        </p:nvSpPr>
        <p:spPr>
          <a:xfrm xmlns:a="http://schemas.openxmlformats.org/drawingml/2006/main">
            <a:off x="74295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30659FB0-40B8-4EAE-9F89-9F2D272699F8}"/>
              </a:ext>
            </a:extLst>
          </p:cNvPr>
          <p:cNvSpPr>
            <a:spLocks xmlns:a="http://schemas.openxmlformats.org/drawingml/2006/main" noGrp="1"/>
          </p:cNvSpPr>
          <p:nvPr/>
        </p:nvSpPr>
        <p:spPr>
          <a:xfrm xmlns:a="http://schemas.openxmlformats.org/drawingml/2006/main">
            <a:off x="74295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Choose a repeatable task</a:t>
            </a:r>
          </a:p>
        </p:txBody>
      </p:sp>
      <p:sp>
        <p:nvSpPr>
          <p:cNvPr id="12" name="">
            <a:extLst xmlns:a="http://schemas.openxmlformats.org/drawingml/2006/main">
              <a:ext uri="{FF2B5EF4-FFF2-40B4-BE49-F238E27FC236}">
                <a16:creationId xmlns:a16="http://schemas.microsoft.com/office/drawing/2014/main" id="{A4150331-8DBF-4E1B-BA2F-462C26A5135F}"/>
              </a:ext>
            </a:extLst>
          </p:cNvPr>
          <p:cNvSpPr>
            <a:spLocks xmlns:a="http://schemas.openxmlformats.org/drawingml/2006/main" noGrp="1"/>
          </p:cNvSpPr>
          <p:nvPr/>
        </p:nvSpPr>
        <p:spPr>
          <a:xfrm xmlns:a="http://schemas.openxmlformats.org/drawingml/2006/main">
            <a:off x="74295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Use a fictional internal meeting recap, not client data. Define the requested output.</a:t>
            </a:r>
          </a:p>
        </p:txBody>
      </p:sp>
      <p:sp>
        <p:nvSpPr>
          <p:cNvPr id="13" name="">
            <a:extLst xmlns:a="http://schemas.openxmlformats.org/drawingml/2006/main">
              <a:ext uri="{FF2B5EF4-FFF2-40B4-BE49-F238E27FC236}">
                <a16:creationId xmlns:a16="http://schemas.microsoft.com/office/drawing/2014/main" id="{462EB352-A911-49F1-8C1B-1C3DBF83170D}"/>
              </a:ext>
            </a:extLst>
          </p:cNvPr>
          <p:cNvSpPr>
            <a:spLocks xmlns:a="http://schemas.openxmlformats.org/drawingml/2006/main" noGrp="1"/>
          </p:cNvSpPr>
          <p:nvPr/>
        </p:nvSpPr>
        <p:spPr>
          <a:xfrm xmlns:a="http://schemas.openxmlformats.org/drawingml/2006/main">
            <a:off x="303847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C3E4BA3-E1D9-4B63-8285-ADB93F15392C}"/>
              </a:ext>
            </a:extLst>
          </p:cNvPr>
          <p:cNvSpPr>
            <a:spLocks xmlns:a="http://schemas.openxmlformats.org/drawingml/2006/main" noGrp="1"/>
          </p:cNvSpPr>
          <p:nvPr/>
        </p:nvSpPr>
        <p:spPr>
          <a:xfrm xmlns:a="http://schemas.openxmlformats.org/drawingml/2006/main">
            <a:off x="338137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5" name="">
            <a:extLst xmlns:a="http://schemas.openxmlformats.org/drawingml/2006/main">
              <a:ext uri="{FF2B5EF4-FFF2-40B4-BE49-F238E27FC236}">
                <a16:creationId xmlns:a16="http://schemas.microsoft.com/office/drawing/2014/main" id="{0385890A-B44D-45F0-9735-A7399E084D6A}"/>
              </a:ext>
            </a:extLst>
          </p:cNvPr>
          <p:cNvSpPr>
            <a:spLocks xmlns:a="http://schemas.openxmlformats.org/drawingml/2006/main" noGrp="1"/>
          </p:cNvSpPr>
          <p:nvPr/>
        </p:nvSpPr>
        <p:spPr>
          <a:xfrm xmlns:a="http://schemas.openxmlformats.org/drawingml/2006/main">
            <a:off x="351472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AEA59FCF-51DF-4135-B397-B1A45AAAC4AC}"/>
              </a:ext>
            </a:extLst>
          </p:cNvPr>
          <p:cNvSpPr>
            <a:spLocks xmlns:a="http://schemas.openxmlformats.org/drawingml/2006/main" noGrp="1"/>
          </p:cNvSpPr>
          <p:nvPr/>
        </p:nvSpPr>
        <p:spPr>
          <a:xfrm xmlns:a="http://schemas.openxmlformats.org/drawingml/2006/main">
            <a:off x="351472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Check suitability</a:t>
            </a:r>
          </a:p>
        </p:txBody>
      </p:sp>
      <p:sp>
        <p:nvSpPr>
          <p:cNvPr id="17" name="">
            <a:extLst xmlns:a="http://schemas.openxmlformats.org/drawingml/2006/main">
              <a:ext uri="{FF2B5EF4-FFF2-40B4-BE49-F238E27FC236}">
                <a16:creationId xmlns:a16="http://schemas.microsoft.com/office/drawing/2014/main" id="{40BA08AF-010A-48E5-9778-FA32F87A77C4}"/>
              </a:ext>
            </a:extLst>
          </p:cNvPr>
          <p:cNvSpPr>
            <a:spLocks xmlns:a="http://schemas.openxmlformats.org/drawingml/2006/main" noGrp="1"/>
          </p:cNvSpPr>
          <p:nvPr/>
        </p:nvSpPr>
        <p:spPr>
          <a:xfrm xmlns:a="http://schemas.openxmlformats.org/drawingml/2006/main">
            <a:off x="351472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Confirm that the input and use are allowed and that errors can be caught by a reviewer.</a:t>
            </a:r>
          </a:p>
        </p:txBody>
      </p:sp>
      <p:sp>
        <p:nvSpPr>
          <p:cNvPr id="18" name="">
            <a:extLst xmlns:a="http://schemas.openxmlformats.org/drawingml/2006/main">
              <a:ext uri="{FF2B5EF4-FFF2-40B4-BE49-F238E27FC236}">
                <a16:creationId xmlns:a16="http://schemas.microsoft.com/office/drawing/2014/main" id="{66A928A9-8FCB-4FB4-A7DD-B59E32CBFDAA}"/>
              </a:ext>
            </a:extLst>
          </p:cNvPr>
          <p:cNvSpPr>
            <a:spLocks xmlns:a="http://schemas.openxmlformats.org/drawingml/2006/main" noGrp="1"/>
          </p:cNvSpPr>
          <p:nvPr/>
        </p:nvSpPr>
        <p:spPr>
          <a:xfrm xmlns:a="http://schemas.openxmlformats.org/drawingml/2006/main">
            <a:off x="5810250"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827316B-78FD-41AD-B0A0-81BD64914987}"/>
              </a:ext>
            </a:extLst>
          </p:cNvPr>
          <p:cNvSpPr>
            <a:spLocks xmlns:a="http://schemas.openxmlformats.org/drawingml/2006/main" noGrp="1"/>
          </p:cNvSpPr>
          <p:nvPr/>
        </p:nvSpPr>
        <p:spPr>
          <a:xfrm xmlns:a="http://schemas.openxmlformats.org/drawingml/2006/main">
            <a:off x="615315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0" name="">
            <a:extLst xmlns:a="http://schemas.openxmlformats.org/drawingml/2006/main">
              <a:ext uri="{FF2B5EF4-FFF2-40B4-BE49-F238E27FC236}">
                <a16:creationId xmlns:a16="http://schemas.microsoft.com/office/drawing/2014/main" id="{55646163-8D33-47A6-8A93-966F8AE7D98D}"/>
              </a:ext>
            </a:extLst>
          </p:cNvPr>
          <p:cNvSpPr>
            <a:spLocks xmlns:a="http://schemas.openxmlformats.org/drawingml/2006/main" noGrp="1"/>
          </p:cNvSpPr>
          <p:nvPr/>
        </p:nvSpPr>
        <p:spPr>
          <a:xfrm xmlns:a="http://schemas.openxmlformats.org/drawingml/2006/main">
            <a:off x="628650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21" name="">
            <a:extLst xmlns:a="http://schemas.openxmlformats.org/drawingml/2006/main">
              <a:ext uri="{FF2B5EF4-FFF2-40B4-BE49-F238E27FC236}">
                <a16:creationId xmlns:a16="http://schemas.microsoft.com/office/drawing/2014/main" id="{B11576B3-D490-4455-84E7-1E68014704A8}"/>
              </a:ext>
            </a:extLst>
          </p:cNvPr>
          <p:cNvSpPr>
            <a:spLocks xmlns:a="http://schemas.openxmlformats.org/drawingml/2006/main" noGrp="1"/>
          </p:cNvSpPr>
          <p:nvPr/>
        </p:nvSpPr>
        <p:spPr>
          <a:xfrm xmlns:a="http://schemas.openxmlformats.org/drawingml/2006/main">
            <a:off x="628650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Generate a first draft</a:t>
            </a:r>
          </a:p>
        </p:txBody>
      </p:sp>
      <p:sp>
        <p:nvSpPr>
          <p:cNvPr id="22" name="">
            <a:extLst xmlns:a="http://schemas.openxmlformats.org/drawingml/2006/main">
              <a:ext uri="{FF2B5EF4-FFF2-40B4-BE49-F238E27FC236}">
                <a16:creationId xmlns:a16="http://schemas.microsoft.com/office/drawing/2014/main" id="{48FD67E3-B597-4376-B3E2-572827E3305C}"/>
              </a:ext>
            </a:extLst>
          </p:cNvPr>
          <p:cNvSpPr>
            <a:spLocks xmlns:a="http://schemas.openxmlformats.org/drawingml/2006/main" noGrp="1"/>
          </p:cNvSpPr>
          <p:nvPr/>
        </p:nvSpPr>
        <p:spPr>
          <a:xfrm xmlns:a="http://schemas.openxmlformats.org/drawingml/2006/main">
            <a:off x="628650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Request actions, owners and open questions, with unknown details left blank.</a:t>
            </a:r>
          </a:p>
        </p:txBody>
      </p:sp>
      <p:sp>
        <p:nvSpPr>
          <p:cNvPr id="23" name="">
            <a:extLst xmlns:a="http://schemas.openxmlformats.org/drawingml/2006/main">
              <a:ext uri="{FF2B5EF4-FFF2-40B4-BE49-F238E27FC236}">
                <a16:creationId xmlns:a16="http://schemas.microsoft.com/office/drawing/2014/main" id="{A0529B97-9924-4DAD-B25F-286A1E5C1B34}"/>
              </a:ext>
            </a:extLst>
          </p:cNvPr>
          <p:cNvSpPr>
            <a:spLocks xmlns:a="http://schemas.openxmlformats.org/drawingml/2006/main" noGrp="1"/>
          </p:cNvSpPr>
          <p:nvPr/>
        </p:nvSpPr>
        <p:spPr>
          <a:xfrm xmlns:a="http://schemas.openxmlformats.org/drawingml/2006/main">
            <a:off x="858202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A424449E-E567-421D-BBB0-B76CF78929BC}"/>
              </a:ext>
            </a:extLst>
          </p:cNvPr>
          <p:cNvSpPr>
            <a:spLocks xmlns:a="http://schemas.openxmlformats.org/drawingml/2006/main" noGrp="1"/>
          </p:cNvSpPr>
          <p:nvPr/>
        </p:nvSpPr>
        <p:spPr>
          <a:xfrm xmlns:a="http://schemas.openxmlformats.org/drawingml/2006/main">
            <a:off x="892492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5" name="">
            <a:extLst xmlns:a="http://schemas.openxmlformats.org/drawingml/2006/main">
              <a:ext uri="{FF2B5EF4-FFF2-40B4-BE49-F238E27FC236}">
                <a16:creationId xmlns:a16="http://schemas.microsoft.com/office/drawing/2014/main" id="{4A172579-656D-4DAA-90A5-6A0FF3D680B6}"/>
              </a:ext>
            </a:extLst>
          </p:cNvPr>
          <p:cNvSpPr>
            <a:spLocks xmlns:a="http://schemas.openxmlformats.org/drawingml/2006/main" noGrp="1"/>
          </p:cNvSpPr>
          <p:nvPr/>
        </p:nvSpPr>
        <p:spPr>
          <a:xfrm xmlns:a="http://schemas.openxmlformats.org/drawingml/2006/main">
            <a:off x="905827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04</a:t>
            </a:r>
          </a:p>
        </p:txBody>
      </p:sp>
      <p:sp>
        <p:nvSpPr>
          <p:cNvPr id="26" name="">
            <a:extLst xmlns:a="http://schemas.openxmlformats.org/drawingml/2006/main">
              <a:ext uri="{FF2B5EF4-FFF2-40B4-BE49-F238E27FC236}">
                <a16:creationId xmlns:a16="http://schemas.microsoft.com/office/drawing/2014/main" id="{BE85EF4D-C311-4017-A860-D7A2C60F35D2}"/>
              </a:ext>
            </a:extLst>
          </p:cNvPr>
          <p:cNvSpPr>
            <a:spLocks xmlns:a="http://schemas.openxmlformats.org/drawingml/2006/main" noGrp="1"/>
          </p:cNvSpPr>
          <p:nvPr/>
        </p:nvSpPr>
        <p:spPr>
          <a:xfrm xmlns:a="http://schemas.openxmlformats.org/drawingml/2006/main">
            <a:off x="905827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Review before release</a:t>
            </a:r>
          </a:p>
        </p:txBody>
      </p:sp>
      <p:sp>
        <p:nvSpPr>
          <p:cNvPr id="27" name="">
            <a:extLst xmlns:a="http://schemas.openxmlformats.org/drawingml/2006/main">
              <a:ext uri="{FF2B5EF4-FFF2-40B4-BE49-F238E27FC236}">
                <a16:creationId xmlns:a16="http://schemas.microsoft.com/office/drawing/2014/main" id="{CA7C06D5-556F-4A74-B36F-4B60997EE64D}"/>
              </a:ext>
            </a:extLst>
          </p:cNvPr>
          <p:cNvSpPr>
            <a:spLocks xmlns:a="http://schemas.openxmlformats.org/drawingml/2006/main" noGrp="1"/>
          </p:cNvSpPr>
          <p:nvPr/>
        </p:nvSpPr>
        <p:spPr>
          <a:xfrm xmlns:a="http://schemas.openxmlformats.org/drawingml/2006/main">
            <a:off x="905827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Compare every action and commitment with the notes, then edit for tone and intended audience.</a:t>
            </a:r>
          </a:p>
        </p:txBody>
      </p:sp>
      <p:sp>
        <p:nvSpPr>
          <p:cNvPr id="28" name="">
            <a:extLst xmlns:a="http://schemas.openxmlformats.org/drawingml/2006/main">
              <a:ext uri="{FF2B5EF4-FFF2-40B4-BE49-F238E27FC236}">
                <a16:creationId xmlns:a16="http://schemas.microsoft.com/office/drawing/2014/main" id="{46454078-3BB1-48A8-8D57-6CD83E32243C}"/>
              </a:ext>
            </a:extLst>
          </p:cNvPr>
          <p:cNvSpPr>
            <a:spLocks xmlns:a="http://schemas.openxmlformats.org/drawingml/2006/main" noGrp="1"/>
          </p:cNvSpPr>
          <p:nvPr/>
        </p:nvSpPr>
        <p:spPr>
          <a:xfrm xmlns:a="http://schemas.openxmlformats.org/drawingml/2006/main">
            <a:off x="609600" y="364807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WORKED EXAMPLE</a:t>
            </a:r>
          </a:p>
        </p:txBody>
      </p:sp>
      <p:sp>
        <p:nvSpPr>
          <p:cNvPr id="29" name="">
            <a:extLst xmlns:a="http://schemas.openxmlformats.org/drawingml/2006/main">
              <a:ext uri="{FF2B5EF4-FFF2-40B4-BE49-F238E27FC236}">
                <a16:creationId xmlns:a16="http://schemas.microsoft.com/office/drawing/2014/main" id="{F4D12E45-0569-476B-86A6-7281A7ED0177}"/>
              </a:ext>
            </a:extLst>
          </p:cNvPr>
          <p:cNvSpPr>
            <a:spLocks xmlns:a="http://schemas.openxmlformats.org/drawingml/2006/main" noGrp="1"/>
          </p:cNvSpPr>
          <p:nvPr/>
        </p:nvSpPr>
        <p:spPr>
          <a:xfrm xmlns:a="http://schemas.openxmlformats.org/drawingml/2006/main">
            <a:off x="609600" y="3943350"/>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00" b="0">
                <a:solidFill>
                  <a:srgbClr val="142F42"/>
                </a:solidFill>
                <a:latin typeface="Arial"/>
                <a:ea typeface="Arial"/>
                <a:cs typeface="Arial"/>
              </a:defRPr>
            </a:pPr>
            <a:r>
              <a:rPr sz="1500" b="0">
                <a:solidFill>
                  <a:srgbClr val="142F42"/>
                </a:solidFill>
                <a:latin typeface="Arial"/>
                <a:ea typeface="Arial"/>
                <a:cs typeface="Arial"/>
              </a:rPr>
              <a:t>Hypothetical example: meeting notes say a new process was proposed, not approved. The generated email says “starting Monday.” The reviewer removes the date, clarifies that the team is still reviewing the proposal and asks the authorized owner to confirm next steps.</a:t>
            </a:r>
          </a:p>
        </p:txBody>
      </p:sp>
    </p:spTree>
    <p:extLst>
      <p:ext uri="{BB962C8B-B14F-4D97-AF65-F5344CB8AC3E}">
        <p14:creationId xmlns:p14="http://schemas.microsoft.com/office/powerpoint/2010/main" val="1383759675"/>
      </p:ext>
    </p:extLst>
  </p:cSld>
</p:sld>
</file>

<file path=ppt/slides/slide19.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1D7813A-F994-4650-A275-B24A929BCAC7}"/>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3 / MODULE 5</a:t>
            </a:r>
          </a:p>
        </p:txBody>
      </p:sp>
      <p:sp>
        <p:nvSpPr>
          <p:cNvPr id="2" name="">
            <a:extLst xmlns:a="http://schemas.openxmlformats.org/drawingml/2006/main">
              <a:ext uri="{FF2B5EF4-FFF2-40B4-BE49-F238E27FC236}">
                <a16:creationId xmlns:a16="http://schemas.microsoft.com/office/drawing/2014/main" id="{4AC874AE-DE54-447B-965D-A18B06AABD1E}"/>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S4  |  Practical scenario &amp; exercise</a:t>
            </a:r>
          </a:p>
        </p:txBody>
      </p:sp>
      <p:sp>
        <p:nvSpPr>
          <p:cNvPr id="3" name="">
            <a:extLst xmlns:a="http://schemas.openxmlformats.org/drawingml/2006/main">
              <a:ext uri="{FF2B5EF4-FFF2-40B4-BE49-F238E27FC236}">
                <a16:creationId xmlns:a16="http://schemas.microsoft.com/office/drawing/2014/main" id="{7B36B3CD-B36A-4893-9466-A842DEEB411E}"/>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5F171F7-E1F3-42A0-82FC-7964143F8DF6}"/>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AD10BB5-0552-4D19-8659-55047891C387}"/>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83D4A633-7BD0-4ED3-ABB5-E3C23736ED5D}"/>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19</a:t>
            </a:r>
          </a:p>
        </p:txBody>
      </p:sp>
      <p:sp>
        <p:nvSpPr>
          <p:cNvPr id="7" name="">
            <a:extLst xmlns:a="http://schemas.openxmlformats.org/drawingml/2006/main">
              <a:ext uri="{FF2B5EF4-FFF2-40B4-BE49-F238E27FC236}">
                <a16:creationId xmlns:a16="http://schemas.microsoft.com/office/drawing/2014/main" id="{F8FCCAF1-4DED-445C-8B50-A27431A320AE}"/>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5, Daily AI Checklist and Practice Lab; proposal p. 7.</a:t>
            </a:r>
          </a:p>
        </p:txBody>
      </p:sp>
      <p:sp>
        <p:nvSpPr>
          <p:cNvPr id="8" name="">
            <a:extLst xmlns:a="http://schemas.openxmlformats.org/drawingml/2006/main">
              <a:ext uri="{FF2B5EF4-FFF2-40B4-BE49-F238E27FC236}">
                <a16:creationId xmlns:a16="http://schemas.microsoft.com/office/drawing/2014/main" id="{ADDBC9A7-088F-4688-841A-D75288DBFEC4}"/>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AI in Your Daily DWIHN Work</a:t>
            </a:r>
          </a:p>
        </p:txBody>
      </p:sp>
      <p:sp>
        <p:nvSpPr>
          <p:cNvPr id="9" name="">
            <a:extLst xmlns:a="http://schemas.openxmlformats.org/drawingml/2006/main">
              <a:ext uri="{FF2B5EF4-FFF2-40B4-BE49-F238E27FC236}">
                <a16:creationId xmlns:a16="http://schemas.microsoft.com/office/drawing/2014/main" id="{34290A79-747A-4B00-95EA-7CF878FCA781}"/>
              </a:ext>
            </a:extLst>
          </p:cNvPr>
          <p:cNvSpPr>
            <a:spLocks xmlns:a="http://schemas.openxmlformats.org/drawingml/2006/main" noGrp="1"/>
          </p:cNvSpPr>
          <p:nvPr/>
        </p:nvSpPr>
        <p:spPr>
          <a:xfrm xmlns:a="http://schemas.openxmlformats.org/drawingml/2006/main">
            <a:off x="609600" y="1981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SCENARIO</a:t>
            </a:r>
          </a:p>
        </p:txBody>
      </p:sp>
      <p:sp>
        <p:nvSpPr>
          <p:cNvPr id="10" name="">
            <a:extLst xmlns:a="http://schemas.openxmlformats.org/drawingml/2006/main">
              <a:ext uri="{FF2B5EF4-FFF2-40B4-BE49-F238E27FC236}">
                <a16:creationId xmlns:a16="http://schemas.microsoft.com/office/drawing/2014/main" id="{6145C1FC-B216-41C3-8CBE-424A6156B4D8}"/>
              </a:ext>
            </a:extLst>
          </p:cNvPr>
          <p:cNvSpPr>
            <a:spLocks xmlns:a="http://schemas.openxmlformats.org/drawingml/2006/main" noGrp="1"/>
          </p:cNvSpPr>
          <p:nvPr/>
        </p:nvSpPr>
        <p:spPr>
          <a:xfrm xmlns:a="http://schemas.openxmlformats.org/drawingml/2006/main">
            <a:off x="609600" y="2266950"/>
            <a:ext cx="109728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D4DFE3"/>
            </a:solidFill>
          </a:ln>
        </p:spPr>
      </p:sp>
      <p:sp>
        <p:nvSpPr>
          <p:cNvPr id="11" name="">
            <a:extLst xmlns:a="http://schemas.openxmlformats.org/drawingml/2006/main">
              <a:ext uri="{FF2B5EF4-FFF2-40B4-BE49-F238E27FC236}">
                <a16:creationId xmlns:a16="http://schemas.microsoft.com/office/drawing/2014/main" id="{84587CD6-3D3F-4451-8570-14A0690DE088}"/>
              </a:ext>
            </a:extLst>
          </p:cNvPr>
          <p:cNvSpPr>
            <a:spLocks xmlns:a="http://schemas.openxmlformats.org/drawingml/2006/main" noGrp="1"/>
          </p:cNvSpPr>
          <p:nvPr/>
        </p:nvSpPr>
        <p:spPr>
          <a:xfrm xmlns:a="http://schemas.openxmlformats.org/drawingml/2006/main">
            <a:off x="819150" y="2447925"/>
            <a:ext cx="10525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142F42"/>
                </a:solidFill>
                <a:latin typeface="Arial"/>
                <a:ea typeface="Arial"/>
                <a:cs typeface="Arial"/>
              </a:defRPr>
            </a:pPr>
            <a:r>
              <a:rPr sz="1425" b="0">
                <a:solidFill>
                  <a:srgbClr val="142F42"/>
                </a:solidFill>
                <a:latin typeface="Arial"/>
                <a:ea typeface="Arial"/>
                <a:cs typeface="Arial"/>
              </a:rPr>
              <a:t>An operations employee has recurring notes from an internal planning meeting and wants an action list. The notes include named staff assignments and an unresolved compliance question.</a:t>
            </a:r>
          </a:p>
        </p:txBody>
      </p:sp>
      <p:sp>
        <p:nvSpPr>
          <p:cNvPr id="12" name="">
            <a:extLst xmlns:a="http://schemas.openxmlformats.org/drawingml/2006/main">
              <a:ext uri="{FF2B5EF4-FFF2-40B4-BE49-F238E27FC236}">
                <a16:creationId xmlns:a16="http://schemas.microsoft.com/office/drawing/2014/main" id="{502D64AD-B712-45D2-B7A1-961B93F363C2}"/>
              </a:ext>
            </a:extLst>
          </p:cNvPr>
          <p:cNvSpPr>
            <a:spLocks xmlns:a="http://schemas.openxmlformats.org/drawingml/2006/main" noGrp="1"/>
          </p:cNvSpPr>
          <p:nvPr/>
        </p:nvSpPr>
        <p:spPr>
          <a:xfrm xmlns:a="http://schemas.openxmlformats.org/drawingml/2006/main">
            <a:off x="609600" y="34861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 THE CASE</a:t>
            </a:r>
          </a:p>
        </p:txBody>
      </p:sp>
      <p:sp>
        <p:nvSpPr>
          <p:cNvPr id="13" name="">
            <a:extLst xmlns:a="http://schemas.openxmlformats.org/drawingml/2006/main">
              <a:ext uri="{FF2B5EF4-FFF2-40B4-BE49-F238E27FC236}">
                <a16:creationId xmlns:a16="http://schemas.microsoft.com/office/drawing/2014/main" id="{3A8D404C-1FB7-453F-A435-CF36E1A466D0}"/>
              </a:ext>
            </a:extLst>
          </p:cNvPr>
          <p:cNvSpPr>
            <a:spLocks xmlns:a="http://schemas.openxmlformats.org/drawingml/2006/main" noGrp="1"/>
          </p:cNvSpPr>
          <p:nvPr/>
        </p:nvSpPr>
        <p:spPr>
          <a:xfrm xmlns:a="http://schemas.openxmlformats.org/drawingml/2006/main">
            <a:off x="609600" y="38195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4" name="">
            <a:extLst xmlns:a="http://schemas.openxmlformats.org/drawingml/2006/main">
              <a:ext uri="{FF2B5EF4-FFF2-40B4-BE49-F238E27FC236}">
                <a16:creationId xmlns:a16="http://schemas.microsoft.com/office/drawing/2014/main" id="{22E8E969-7930-4B47-AC12-9E3011B53ED2}"/>
              </a:ext>
            </a:extLst>
          </p:cNvPr>
          <p:cNvSpPr>
            <a:spLocks xmlns:a="http://schemas.openxmlformats.org/drawingml/2006/main" noGrp="1"/>
          </p:cNvSpPr>
          <p:nvPr/>
        </p:nvSpPr>
        <p:spPr>
          <a:xfrm xmlns:a="http://schemas.openxmlformats.org/drawingml/2006/main">
            <a:off x="1066800" y="38195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Map the workflow from source to tool, reviewer and destination.</a:t>
            </a:r>
          </a:p>
        </p:txBody>
      </p:sp>
      <p:sp>
        <p:nvSpPr>
          <p:cNvPr id="15" name="">
            <a:extLst xmlns:a="http://schemas.openxmlformats.org/drawingml/2006/main">
              <a:ext uri="{FF2B5EF4-FFF2-40B4-BE49-F238E27FC236}">
                <a16:creationId xmlns:a16="http://schemas.microsoft.com/office/drawing/2014/main" id="{5AA14601-6411-4B17-8135-86DA4EA8AFDB}"/>
              </a:ext>
            </a:extLst>
          </p:cNvPr>
          <p:cNvSpPr>
            <a:spLocks xmlns:a="http://schemas.openxmlformats.org/drawingml/2006/main" noGrp="1"/>
          </p:cNvSpPr>
          <p:nvPr/>
        </p:nvSpPr>
        <p:spPr>
          <a:xfrm xmlns:a="http://schemas.openxmlformats.org/drawingml/2006/main">
            <a:off x="609600" y="43338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F317EBF9-FA5C-4261-9CE8-BBDF7C6CC133}"/>
              </a:ext>
            </a:extLst>
          </p:cNvPr>
          <p:cNvSpPr>
            <a:spLocks xmlns:a="http://schemas.openxmlformats.org/drawingml/2006/main" noGrp="1"/>
          </p:cNvSpPr>
          <p:nvPr/>
        </p:nvSpPr>
        <p:spPr>
          <a:xfrm xmlns:a="http://schemas.openxmlformats.org/drawingml/2006/main">
            <a:off x="1066800" y="433387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Mark what information can be used under the selected approved tool’s rules.</a:t>
            </a:r>
          </a:p>
        </p:txBody>
      </p:sp>
      <p:sp>
        <p:nvSpPr>
          <p:cNvPr id="17" name="">
            <a:extLst xmlns:a="http://schemas.openxmlformats.org/drawingml/2006/main">
              <a:ext uri="{FF2B5EF4-FFF2-40B4-BE49-F238E27FC236}">
                <a16:creationId xmlns:a16="http://schemas.microsoft.com/office/drawing/2014/main" id="{92EF5723-DB2E-4E04-8BE4-B92B485CE5D6}"/>
              </a:ext>
            </a:extLst>
          </p:cNvPr>
          <p:cNvSpPr>
            <a:spLocks xmlns:a="http://schemas.openxmlformats.org/drawingml/2006/main" noGrp="1"/>
          </p:cNvSpPr>
          <p:nvPr/>
        </p:nvSpPr>
        <p:spPr>
          <a:xfrm xmlns:a="http://schemas.openxmlformats.org/drawingml/2006/main">
            <a:off x="609600" y="4848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C106BD60-C5D0-4A37-9F36-F0A4F19434C1}"/>
              </a:ext>
            </a:extLst>
          </p:cNvPr>
          <p:cNvSpPr>
            <a:spLocks xmlns:a="http://schemas.openxmlformats.org/drawingml/2006/main" noGrp="1"/>
          </p:cNvSpPr>
          <p:nvPr/>
        </p:nvSpPr>
        <p:spPr>
          <a:xfrm xmlns:a="http://schemas.openxmlformats.org/drawingml/2006/main">
            <a:off x="1066800" y="48482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Review a sample output for invented owners, deadlines and certainty.</a:t>
            </a:r>
          </a:p>
        </p:txBody>
      </p:sp>
      <p:sp>
        <p:nvSpPr>
          <p:cNvPr id="19" name="">
            <a:extLst xmlns:a="http://schemas.openxmlformats.org/drawingml/2006/main">
              <a:ext uri="{FF2B5EF4-FFF2-40B4-BE49-F238E27FC236}">
                <a16:creationId xmlns:a16="http://schemas.microsoft.com/office/drawing/2014/main" id="{C2CA21D5-ED91-4ABC-9335-6834F7C5C473}"/>
              </a:ext>
            </a:extLst>
          </p:cNvPr>
          <p:cNvSpPr>
            <a:spLocks xmlns:a="http://schemas.openxmlformats.org/drawingml/2006/main" noGrp="1"/>
          </p:cNvSpPr>
          <p:nvPr/>
        </p:nvSpPr>
        <p:spPr>
          <a:xfrm xmlns:a="http://schemas.openxmlformats.org/drawingml/2006/main">
            <a:off x="7886700" y="3486150"/>
            <a:ext cx="19050" cy="219075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217E76C-D5DC-4C68-B649-BAFDDB8C38A8}"/>
              </a:ext>
            </a:extLst>
          </p:cNvPr>
          <p:cNvSpPr>
            <a:spLocks xmlns:a="http://schemas.openxmlformats.org/drawingml/2006/main" noGrp="1"/>
          </p:cNvSpPr>
          <p:nvPr/>
        </p:nvSpPr>
        <p:spPr>
          <a:xfrm xmlns:a="http://schemas.openxmlformats.org/drawingml/2006/main">
            <a:off x="8229600" y="3505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EXPECTED DELIVERABLE</a:t>
            </a:r>
          </a:p>
        </p:txBody>
      </p:sp>
      <p:sp>
        <p:nvSpPr>
          <p:cNvPr id="21" name="">
            <a:extLst xmlns:a="http://schemas.openxmlformats.org/drawingml/2006/main">
              <a:ext uri="{FF2B5EF4-FFF2-40B4-BE49-F238E27FC236}">
                <a16:creationId xmlns:a16="http://schemas.microsoft.com/office/drawing/2014/main" id="{46039128-5005-4B0D-990A-774947114EB9}"/>
              </a:ext>
            </a:extLst>
          </p:cNvPr>
          <p:cNvSpPr>
            <a:spLocks xmlns:a="http://schemas.openxmlformats.org/drawingml/2006/main" noGrp="1"/>
          </p:cNvSpPr>
          <p:nvPr/>
        </p:nvSpPr>
        <p:spPr>
          <a:xfrm xmlns:a="http://schemas.openxmlformats.org/drawingml/2006/main">
            <a:off x="8229600" y="3819525"/>
            <a:ext cx="3086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A one-page daily AI checklist and a safe workflow map for one candidate task.</a:t>
            </a:r>
          </a:p>
        </p:txBody>
      </p:sp>
      <p:sp>
        <p:nvSpPr>
          <p:cNvPr id="22" name="">
            <a:extLst xmlns:a="http://schemas.openxmlformats.org/drawingml/2006/main">
              <a:ext uri="{FF2B5EF4-FFF2-40B4-BE49-F238E27FC236}">
                <a16:creationId xmlns:a16="http://schemas.microsoft.com/office/drawing/2014/main" id="{A04552E1-11AF-41AF-87B2-2D8895332A03}"/>
              </a:ext>
            </a:extLst>
          </p:cNvPr>
          <p:cNvSpPr>
            <a:spLocks xmlns:a="http://schemas.openxmlformats.org/drawingml/2006/main" noGrp="1"/>
          </p:cNvSpPr>
          <p:nvPr/>
        </p:nvSpPr>
        <p:spPr>
          <a:xfrm xmlns:a="http://schemas.openxmlformats.org/drawingml/2006/main">
            <a:off x="8229600" y="469582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REVIEW CRITERIA</a:t>
            </a:r>
          </a:p>
        </p:txBody>
      </p:sp>
      <p:sp>
        <p:nvSpPr>
          <p:cNvPr id="23" name="">
            <a:extLst xmlns:a="http://schemas.openxmlformats.org/drawingml/2006/main">
              <a:ext uri="{FF2B5EF4-FFF2-40B4-BE49-F238E27FC236}">
                <a16:creationId xmlns:a16="http://schemas.microsoft.com/office/drawing/2014/main" id="{C6872013-BE97-40BD-9406-505CC876EC94}"/>
              </a:ext>
            </a:extLst>
          </p:cNvPr>
          <p:cNvSpPr>
            <a:spLocks xmlns:a="http://schemas.openxmlformats.org/drawingml/2006/main" noGrp="1"/>
          </p:cNvSpPr>
          <p:nvPr/>
        </p:nvSpPr>
        <p:spPr>
          <a:xfrm xmlns:a="http://schemas.openxmlformats.org/drawingml/2006/main">
            <a:off x="8229600" y="4991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The task is bounded and low enough risk for the proposed use.</a:t>
            </a:r>
          </a:p>
        </p:txBody>
      </p:sp>
      <p:sp>
        <p:nvSpPr>
          <p:cNvPr id="24" name="">
            <a:extLst xmlns:a="http://schemas.openxmlformats.org/drawingml/2006/main">
              <a:ext uri="{FF2B5EF4-FFF2-40B4-BE49-F238E27FC236}">
                <a16:creationId xmlns:a16="http://schemas.microsoft.com/office/drawing/2014/main" id="{DB0210A0-171C-47FE-83B0-0AE241ABD3BD}"/>
              </a:ext>
            </a:extLst>
          </p:cNvPr>
          <p:cNvSpPr>
            <a:spLocks xmlns:a="http://schemas.openxmlformats.org/drawingml/2006/main" noGrp="1"/>
          </p:cNvSpPr>
          <p:nvPr/>
        </p:nvSpPr>
        <p:spPr>
          <a:xfrm xmlns:a="http://schemas.openxmlformats.org/drawingml/2006/main">
            <a:off x="8229600" y="5372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Sensitive details follow the approved handling rule.</a:t>
            </a:r>
          </a:p>
        </p:txBody>
      </p:sp>
      <p:sp>
        <p:nvSpPr>
          <p:cNvPr id="25" name="">
            <a:extLst xmlns:a="http://schemas.openxmlformats.org/drawingml/2006/main">
              <a:ext uri="{FF2B5EF4-FFF2-40B4-BE49-F238E27FC236}">
                <a16:creationId xmlns:a16="http://schemas.microsoft.com/office/drawing/2014/main" id="{4D84EF06-9D8F-4F19-9C5E-24DD9DD6BF13}"/>
              </a:ext>
            </a:extLst>
          </p:cNvPr>
          <p:cNvSpPr>
            <a:spLocks xmlns:a="http://schemas.openxmlformats.org/drawingml/2006/main" noGrp="1"/>
          </p:cNvSpPr>
          <p:nvPr/>
        </p:nvSpPr>
        <p:spPr>
          <a:xfrm xmlns:a="http://schemas.openxmlformats.org/drawingml/2006/main">
            <a:off x="8229600" y="5753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A human verifies and owns the final output.</a:t>
            </a:r>
          </a:p>
        </p:txBody>
      </p:sp>
    </p:spTree>
    <p:extLst>
      <p:ext uri="{BB962C8B-B14F-4D97-AF65-F5344CB8AC3E}">
        <p14:creationId xmlns:p14="http://schemas.microsoft.com/office/powerpoint/2010/main" val="161836778"/>
      </p:ext>
    </p:extLst>
  </p:cSld>
</p:sld>
</file>

<file path=ppt/slides/slide20.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41881FD-7C85-472E-878F-04AA0C6E7930}"/>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3 / MODULE 5</a:t>
            </a:r>
          </a:p>
        </p:txBody>
      </p:sp>
      <p:sp>
        <p:nvSpPr>
          <p:cNvPr id="2" name="">
            <a:extLst xmlns:a="http://schemas.openxmlformats.org/drawingml/2006/main">
              <a:ext uri="{FF2B5EF4-FFF2-40B4-BE49-F238E27FC236}">
                <a16:creationId xmlns:a16="http://schemas.microsoft.com/office/drawing/2014/main" id="{E5AF2D4C-0937-4EE3-A1CF-6655198591B3}"/>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S4  |  Q&amp;A and knowledge check</a:t>
            </a:r>
          </a:p>
        </p:txBody>
      </p:sp>
      <p:sp>
        <p:nvSpPr>
          <p:cNvPr id="3" name="">
            <a:extLst xmlns:a="http://schemas.openxmlformats.org/drawingml/2006/main">
              <a:ext uri="{FF2B5EF4-FFF2-40B4-BE49-F238E27FC236}">
                <a16:creationId xmlns:a16="http://schemas.microsoft.com/office/drawing/2014/main" id="{A8B8E480-400E-4FBE-A86A-8CE455ECDAD6}"/>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49AE6C1-37AC-49CA-8036-A38F6D9E3326}"/>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33323D7-0B27-48DC-B031-9D4BE6899131}"/>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8481D760-C4B6-479C-832B-F529BFC431B1}"/>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20</a:t>
            </a:r>
          </a:p>
        </p:txBody>
      </p:sp>
      <p:sp>
        <p:nvSpPr>
          <p:cNvPr id="7" name="">
            <a:extLst xmlns:a="http://schemas.openxmlformats.org/drawingml/2006/main">
              <a:ext uri="{FF2B5EF4-FFF2-40B4-BE49-F238E27FC236}">
                <a16:creationId xmlns:a16="http://schemas.microsoft.com/office/drawing/2014/main" id="{CED8C489-1AC0-4838-AAFA-72B0568C0E9C}"/>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5, Daily AI Checklist and Practice Lab; proposal p. 7.</a:t>
            </a:r>
          </a:p>
        </p:txBody>
      </p:sp>
      <p:sp>
        <p:nvSpPr>
          <p:cNvPr id="8" name="">
            <a:extLst xmlns:a="http://schemas.openxmlformats.org/drawingml/2006/main">
              <a:ext uri="{FF2B5EF4-FFF2-40B4-BE49-F238E27FC236}">
                <a16:creationId xmlns:a16="http://schemas.microsoft.com/office/drawing/2014/main" id="{EB64609D-43E2-48F0-8CB0-FB7E6CE18045}"/>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AI in Your Daily DWIHN Work</a:t>
            </a:r>
          </a:p>
        </p:txBody>
      </p:sp>
      <p:sp>
        <p:nvSpPr>
          <p:cNvPr id="9" name="">
            <a:extLst xmlns:a="http://schemas.openxmlformats.org/drawingml/2006/main">
              <a:ext uri="{FF2B5EF4-FFF2-40B4-BE49-F238E27FC236}">
                <a16:creationId xmlns:a16="http://schemas.microsoft.com/office/drawing/2014/main" id="{B415EAA1-26D0-4D96-B80A-55ADE634894F}"/>
              </a:ext>
            </a:extLst>
          </p:cNvPr>
          <p:cNvSpPr>
            <a:spLocks xmlns:a="http://schemas.openxmlformats.org/drawingml/2006/main" noGrp="1"/>
          </p:cNvSpPr>
          <p:nvPr/>
        </p:nvSpPr>
        <p:spPr>
          <a:xfrm xmlns:a="http://schemas.openxmlformats.org/drawingml/2006/main">
            <a:off x="609600" y="19240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Invite questions first. Use the answer cues to clarify the principle; route local policy questions to the right DWIHN owner.</a:t>
            </a:r>
          </a:p>
        </p:txBody>
      </p:sp>
      <p:sp>
        <p:nvSpPr>
          <p:cNvPr id="10" name="">
            <a:extLst xmlns:a="http://schemas.openxmlformats.org/drawingml/2006/main">
              <a:ext uri="{FF2B5EF4-FFF2-40B4-BE49-F238E27FC236}">
                <a16:creationId xmlns:a16="http://schemas.microsoft.com/office/drawing/2014/main" id="{73593BDA-9211-48F5-BD34-55742E6AA9F3}"/>
              </a:ext>
            </a:extLst>
          </p:cNvPr>
          <p:cNvSpPr>
            <a:spLocks xmlns:a="http://schemas.openxmlformats.org/drawingml/2006/main" noGrp="1"/>
          </p:cNvSpPr>
          <p:nvPr/>
        </p:nvSpPr>
        <p:spPr>
          <a:xfrm xmlns:a="http://schemas.openxmlformats.org/drawingml/2006/main">
            <a:off x="609600" y="26384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Q1</a:t>
            </a:r>
          </a:p>
        </p:txBody>
      </p:sp>
      <p:sp>
        <p:nvSpPr>
          <p:cNvPr id="11" name="">
            <a:extLst xmlns:a="http://schemas.openxmlformats.org/drawingml/2006/main">
              <a:ext uri="{FF2B5EF4-FFF2-40B4-BE49-F238E27FC236}">
                <a16:creationId xmlns:a16="http://schemas.microsoft.com/office/drawing/2014/main" id="{D47B456D-C2E0-4D03-895C-F2C3C2AA7824}"/>
              </a:ext>
            </a:extLst>
          </p:cNvPr>
          <p:cNvSpPr>
            <a:spLocks xmlns:a="http://schemas.openxmlformats.org/drawingml/2006/main" noGrp="1"/>
          </p:cNvSpPr>
          <p:nvPr/>
        </p:nvSpPr>
        <p:spPr>
          <a:xfrm xmlns:a="http://schemas.openxmlformats.org/drawingml/2006/main">
            <a:off x="1162050" y="26384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Can we automate all recurring emails?</a:t>
            </a:r>
          </a:p>
        </p:txBody>
      </p:sp>
      <p:sp>
        <p:nvSpPr>
          <p:cNvPr id="12" name="">
            <a:extLst xmlns:a="http://schemas.openxmlformats.org/drawingml/2006/main">
              <a:ext uri="{FF2B5EF4-FFF2-40B4-BE49-F238E27FC236}">
                <a16:creationId xmlns:a16="http://schemas.microsoft.com/office/drawing/2014/main" id="{63D413CC-EE78-4124-AEFA-809264169CF7}"/>
              </a:ext>
            </a:extLst>
          </p:cNvPr>
          <p:cNvSpPr>
            <a:spLocks xmlns:a="http://schemas.openxmlformats.org/drawingml/2006/main" noGrp="1"/>
          </p:cNvSpPr>
          <p:nvPr/>
        </p:nvSpPr>
        <p:spPr>
          <a:xfrm xmlns:a="http://schemas.openxmlformats.org/drawingml/2006/main">
            <a:off x="6000750" y="26384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3" name="">
            <a:extLst xmlns:a="http://schemas.openxmlformats.org/drawingml/2006/main">
              <a:ext uri="{FF2B5EF4-FFF2-40B4-BE49-F238E27FC236}">
                <a16:creationId xmlns:a16="http://schemas.microsoft.com/office/drawing/2014/main" id="{BBEF1828-A80E-4384-A839-949E68694B00}"/>
              </a:ext>
            </a:extLst>
          </p:cNvPr>
          <p:cNvSpPr>
            <a:spLocks xmlns:a="http://schemas.openxmlformats.org/drawingml/2006/main" noGrp="1"/>
          </p:cNvSpPr>
          <p:nvPr/>
        </p:nvSpPr>
        <p:spPr>
          <a:xfrm xmlns:a="http://schemas.openxmlformats.org/drawingml/2006/main">
            <a:off x="6000750" y="28765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Only where policy and workflow allow, and a responsible sender still checks the content.</a:t>
            </a:r>
          </a:p>
        </p:txBody>
      </p:sp>
      <p:sp>
        <p:nvSpPr>
          <p:cNvPr id="14" name="">
            <a:extLst xmlns:a="http://schemas.openxmlformats.org/drawingml/2006/main">
              <a:ext uri="{FF2B5EF4-FFF2-40B4-BE49-F238E27FC236}">
                <a16:creationId xmlns:a16="http://schemas.microsoft.com/office/drawing/2014/main" id="{C33A0880-7727-4442-810F-9720B31D58D4}"/>
              </a:ext>
            </a:extLst>
          </p:cNvPr>
          <p:cNvSpPr>
            <a:spLocks xmlns:a="http://schemas.openxmlformats.org/drawingml/2006/main" noGrp="1"/>
          </p:cNvSpPr>
          <p:nvPr/>
        </p:nvSpPr>
        <p:spPr>
          <a:xfrm xmlns:a="http://schemas.openxmlformats.org/drawingml/2006/main">
            <a:off x="609600" y="343852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7969F82-6A13-44C1-BDF6-43BAED27E91D}"/>
              </a:ext>
            </a:extLst>
          </p:cNvPr>
          <p:cNvSpPr>
            <a:spLocks xmlns:a="http://schemas.openxmlformats.org/drawingml/2006/main" noGrp="1"/>
          </p:cNvSpPr>
          <p:nvPr/>
        </p:nvSpPr>
        <p:spPr>
          <a:xfrm xmlns:a="http://schemas.openxmlformats.org/drawingml/2006/main">
            <a:off x="609600" y="35718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Q2</a:t>
            </a:r>
          </a:p>
        </p:txBody>
      </p:sp>
      <p:sp>
        <p:nvSpPr>
          <p:cNvPr id="16" name="">
            <a:extLst xmlns:a="http://schemas.openxmlformats.org/drawingml/2006/main">
              <a:ext uri="{FF2B5EF4-FFF2-40B4-BE49-F238E27FC236}">
                <a16:creationId xmlns:a16="http://schemas.microsoft.com/office/drawing/2014/main" id="{EC8C3D01-7A90-459D-8979-48633F59648C}"/>
              </a:ext>
            </a:extLst>
          </p:cNvPr>
          <p:cNvSpPr>
            <a:spLocks xmlns:a="http://schemas.openxmlformats.org/drawingml/2006/main" noGrp="1"/>
          </p:cNvSpPr>
          <p:nvPr/>
        </p:nvSpPr>
        <p:spPr>
          <a:xfrm xmlns:a="http://schemas.openxmlformats.org/drawingml/2006/main">
            <a:off x="1162050" y="357187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What if the AI adds a deadline that was never agreed?</a:t>
            </a:r>
          </a:p>
        </p:txBody>
      </p:sp>
      <p:sp>
        <p:nvSpPr>
          <p:cNvPr id="17" name="">
            <a:extLst xmlns:a="http://schemas.openxmlformats.org/drawingml/2006/main">
              <a:ext uri="{FF2B5EF4-FFF2-40B4-BE49-F238E27FC236}">
                <a16:creationId xmlns:a16="http://schemas.microsoft.com/office/drawing/2014/main" id="{750B4F84-E818-46FE-A0C3-A08D486F47D0}"/>
              </a:ext>
            </a:extLst>
          </p:cNvPr>
          <p:cNvSpPr>
            <a:spLocks xmlns:a="http://schemas.openxmlformats.org/drawingml/2006/main" noGrp="1"/>
          </p:cNvSpPr>
          <p:nvPr/>
        </p:nvSpPr>
        <p:spPr>
          <a:xfrm xmlns:a="http://schemas.openxmlformats.org/drawingml/2006/main">
            <a:off x="6000750" y="357187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8" name="">
            <a:extLst xmlns:a="http://schemas.openxmlformats.org/drawingml/2006/main">
              <a:ext uri="{FF2B5EF4-FFF2-40B4-BE49-F238E27FC236}">
                <a16:creationId xmlns:a16="http://schemas.microsoft.com/office/drawing/2014/main" id="{E9B7A268-439E-459D-9F3B-D4C5E62B9B27}"/>
              </a:ext>
            </a:extLst>
          </p:cNvPr>
          <p:cNvSpPr>
            <a:spLocks xmlns:a="http://schemas.openxmlformats.org/drawingml/2006/main" noGrp="1"/>
          </p:cNvSpPr>
          <p:nvPr/>
        </p:nvSpPr>
        <p:spPr>
          <a:xfrm xmlns:a="http://schemas.openxmlformats.org/drawingml/2006/main">
            <a:off x="6000750" y="381000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Remove it and correct the prompt; check the full output against source notes.</a:t>
            </a:r>
          </a:p>
        </p:txBody>
      </p:sp>
      <p:sp>
        <p:nvSpPr>
          <p:cNvPr id="19" name="">
            <a:extLst xmlns:a="http://schemas.openxmlformats.org/drawingml/2006/main">
              <a:ext uri="{FF2B5EF4-FFF2-40B4-BE49-F238E27FC236}">
                <a16:creationId xmlns:a16="http://schemas.microsoft.com/office/drawing/2014/main" id="{062BC0D6-FDEE-4EBA-A6BA-D176B4E81D26}"/>
              </a:ext>
            </a:extLst>
          </p:cNvPr>
          <p:cNvSpPr>
            <a:spLocks xmlns:a="http://schemas.openxmlformats.org/drawingml/2006/main" noGrp="1"/>
          </p:cNvSpPr>
          <p:nvPr/>
        </p:nvSpPr>
        <p:spPr>
          <a:xfrm xmlns:a="http://schemas.openxmlformats.org/drawingml/2006/main">
            <a:off x="609600" y="437197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70F8069-9DE3-4107-B083-D1A2B1D96B84}"/>
              </a:ext>
            </a:extLst>
          </p:cNvPr>
          <p:cNvSpPr>
            <a:spLocks xmlns:a="http://schemas.openxmlformats.org/drawingml/2006/main" noGrp="1"/>
          </p:cNvSpPr>
          <p:nvPr/>
        </p:nvSpPr>
        <p:spPr>
          <a:xfrm xmlns:a="http://schemas.openxmlformats.org/drawingml/2006/main">
            <a:off x="609600" y="45053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Q3</a:t>
            </a:r>
          </a:p>
        </p:txBody>
      </p:sp>
      <p:sp>
        <p:nvSpPr>
          <p:cNvPr id="21" name="">
            <a:extLst xmlns:a="http://schemas.openxmlformats.org/drawingml/2006/main">
              <a:ext uri="{FF2B5EF4-FFF2-40B4-BE49-F238E27FC236}">
                <a16:creationId xmlns:a16="http://schemas.microsoft.com/office/drawing/2014/main" id="{BECFB5A8-5970-47F8-9893-80391BEDBCE5}"/>
              </a:ext>
            </a:extLst>
          </p:cNvPr>
          <p:cNvSpPr>
            <a:spLocks xmlns:a="http://schemas.openxmlformats.org/drawingml/2006/main" noGrp="1"/>
          </p:cNvSpPr>
          <p:nvPr/>
        </p:nvSpPr>
        <p:spPr>
          <a:xfrm xmlns:a="http://schemas.openxmlformats.org/drawingml/2006/main">
            <a:off x="1162050" y="45053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Where should I ask about an uncertain workflow?</a:t>
            </a:r>
          </a:p>
        </p:txBody>
      </p:sp>
      <p:sp>
        <p:nvSpPr>
          <p:cNvPr id="22" name="">
            <a:extLst xmlns:a="http://schemas.openxmlformats.org/drawingml/2006/main">
              <a:ext uri="{FF2B5EF4-FFF2-40B4-BE49-F238E27FC236}">
                <a16:creationId xmlns:a16="http://schemas.microsoft.com/office/drawing/2014/main" id="{36039170-C5D2-4F67-97B3-151D005C89E9}"/>
              </a:ext>
            </a:extLst>
          </p:cNvPr>
          <p:cNvSpPr>
            <a:spLocks xmlns:a="http://schemas.openxmlformats.org/drawingml/2006/main" noGrp="1"/>
          </p:cNvSpPr>
          <p:nvPr/>
        </p:nvSpPr>
        <p:spPr>
          <a:xfrm xmlns:a="http://schemas.openxmlformats.org/drawingml/2006/main">
            <a:off x="6000750" y="45053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23" name="">
            <a:extLst xmlns:a="http://schemas.openxmlformats.org/drawingml/2006/main">
              <a:ext uri="{FF2B5EF4-FFF2-40B4-BE49-F238E27FC236}">
                <a16:creationId xmlns:a16="http://schemas.microsoft.com/office/drawing/2014/main" id="{D31A321F-5C2E-488B-8DD3-722FCD959AF5}"/>
              </a:ext>
            </a:extLst>
          </p:cNvPr>
          <p:cNvSpPr>
            <a:spLocks xmlns:a="http://schemas.openxmlformats.org/drawingml/2006/main" noGrp="1"/>
          </p:cNvSpPr>
          <p:nvPr/>
        </p:nvSpPr>
        <p:spPr>
          <a:xfrm xmlns:a="http://schemas.openxmlformats.org/drawingml/2006/main">
            <a:off x="6000750" y="47434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Use the DWIHN tool catalog, manager or designated governance/privacy channel.</a:t>
            </a:r>
          </a:p>
        </p:txBody>
      </p:sp>
      <p:sp>
        <p:nvSpPr>
          <p:cNvPr id="24" name="">
            <a:extLst xmlns:a="http://schemas.openxmlformats.org/drawingml/2006/main">
              <a:ext uri="{FF2B5EF4-FFF2-40B4-BE49-F238E27FC236}">
                <a16:creationId xmlns:a16="http://schemas.microsoft.com/office/drawing/2014/main" id="{B3DE03DD-8AB6-4EAD-843E-C8B81F2C8ACA}"/>
              </a:ext>
            </a:extLst>
          </p:cNvPr>
          <p:cNvSpPr>
            <a:spLocks xmlns:a="http://schemas.openxmlformats.org/drawingml/2006/main" noGrp="1"/>
          </p:cNvSpPr>
          <p:nvPr/>
        </p:nvSpPr>
        <p:spPr>
          <a:xfrm xmlns:a="http://schemas.openxmlformats.org/drawingml/2006/main">
            <a:off x="609600" y="55435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D807B2F6-8148-4EE4-B525-41541C51A0D5}"/>
              </a:ext>
            </a:extLst>
          </p:cNvPr>
          <p:cNvSpPr>
            <a:spLocks xmlns:a="http://schemas.openxmlformats.org/drawingml/2006/main" noGrp="1"/>
          </p:cNvSpPr>
          <p:nvPr/>
        </p:nvSpPr>
        <p:spPr>
          <a:xfrm xmlns:a="http://schemas.openxmlformats.org/drawingml/2006/main">
            <a:off x="609600" y="57150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Remember</a:t>
            </a:r>
          </a:p>
        </p:txBody>
      </p:sp>
      <p:sp>
        <p:nvSpPr>
          <p:cNvPr id="26" name="">
            <a:extLst xmlns:a="http://schemas.openxmlformats.org/drawingml/2006/main">
              <a:ext uri="{FF2B5EF4-FFF2-40B4-BE49-F238E27FC236}">
                <a16:creationId xmlns:a16="http://schemas.microsoft.com/office/drawing/2014/main" id="{B970B083-4458-42F1-BAE3-D029BFC5D5E6}"/>
              </a:ext>
            </a:extLst>
          </p:cNvPr>
          <p:cNvSpPr>
            <a:spLocks xmlns:a="http://schemas.openxmlformats.org/drawingml/2006/main" noGrp="1"/>
          </p:cNvSpPr>
          <p:nvPr/>
        </p:nvSpPr>
        <p:spPr>
          <a:xfrm xmlns:a="http://schemas.openxmlformats.org/drawingml/2006/main">
            <a:off x="1924050" y="5686425"/>
            <a:ext cx="9429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Map the workflow before using a tool.   •   Keep the source and reviewer visible.   •   Use a checklist before and after generation.</a:t>
            </a:r>
          </a:p>
        </p:txBody>
      </p:sp>
    </p:spTree>
    <p:extLst>
      <p:ext uri="{BB962C8B-B14F-4D97-AF65-F5344CB8AC3E}">
        <p14:creationId xmlns:p14="http://schemas.microsoft.com/office/powerpoint/2010/main" val="1289411629"/>
      </p:ext>
    </p:extLst>
  </p:cSld>
</p:sld>
</file>

<file path=ppt/slides/slide21.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087A79C-509B-4C16-8211-DBC86EA1DD7C}"/>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WEEKS 4–5 / MODULE 6</a:t>
            </a:r>
          </a:p>
        </p:txBody>
      </p:sp>
      <p:sp>
        <p:nvSpPr>
          <p:cNvPr id="2" name="">
            <a:extLst xmlns:a="http://schemas.openxmlformats.org/drawingml/2006/main">
              <a:ext uri="{FF2B5EF4-FFF2-40B4-BE49-F238E27FC236}">
                <a16:creationId xmlns:a16="http://schemas.microsoft.com/office/drawing/2014/main" id="{6FFDE7BB-CF3E-4E81-9538-7D57D61C950E}"/>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S5  |  Purpose &amp; outcomes</a:t>
            </a:r>
          </a:p>
        </p:txBody>
      </p:sp>
      <p:sp>
        <p:nvSpPr>
          <p:cNvPr id="3" name="">
            <a:extLst xmlns:a="http://schemas.openxmlformats.org/drawingml/2006/main">
              <a:ext uri="{FF2B5EF4-FFF2-40B4-BE49-F238E27FC236}">
                <a16:creationId xmlns:a16="http://schemas.microsoft.com/office/drawing/2014/main" id="{FEFD1FF8-B9DC-4D61-9BD9-63F5EBA182C5}"/>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8FAD71D-CCCD-4498-B0B5-D26D301D0EC5}"/>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C7676B4-87F3-479D-832B-C27335291779}"/>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8C2FCD66-A4C5-4CF9-8F4E-DDDFCD00ADB9}"/>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21</a:t>
            </a:r>
          </a:p>
        </p:txBody>
      </p:sp>
      <p:sp>
        <p:nvSpPr>
          <p:cNvPr id="7" name="">
            <a:extLst xmlns:a="http://schemas.openxmlformats.org/drawingml/2006/main">
              <a:ext uri="{FF2B5EF4-FFF2-40B4-BE49-F238E27FC236}">
                <a16:creationId xmlns:a16="http://schemas.microsoft.com/office/drawing/2014/main" id="{72504833-F4A0-433B-BE6F-203DD240F2C1}"/>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6 topic 6.1 and proposal p. 8. Lumenore features must be confirmed in DWIHN’s licensed environment.</a:t>
            </a:r>
          </a:p>
        </p:txBody>
      </p:sp>
      <p:sp>
        <p:nvSpPr>
          <p:cNvPr id="8" name="">
            <a:extLst xmlns:a="http://schemas.openxmlformats.org/drawingml/2006/main">
              <a:ext uri="{FF2B5EF4-FFF2-40B4-BE49-F238E27FC236}">
                <a16:creationId xmlns:a16="http://schemas.microsoft.com/office/drawing/2014/main" id="{B765F711-8309-4EE8-AF65-7C3D3BE9BB3E}"/>
              </a:ext>
            </a:extLst>
          </p:cNvPr>
          <p:cNvSpPr>
            <a:spLocks xmlns:a="http://schemas.openxmlformats.org/drawingml/2006/main" noGrp="1"/>
          </p:cNvSpPr>
          <p:nvPr/>
        </p:nvSpPr>
        <p:spPr>
          <a:xfrm xmlns:a="http://schemas.openxmlformats.org/drawingml/2006/main">
            <a:off x="609600" y="1619250"/>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0A2438"/>
                </a:solidFill>
                <a:latin typeface="Arial"/>
                <a:ea typeface="Arial"/>
                <a:cs typeface="Arial"/>
              </a:defRPr>
            </a:pPr>
            <a:r>
              <a:rPr sz="1875" b="1">
                <a:solidFill>
                  <a:srgbClr val="0A2438"/>
                </a:solidFill>
                <a:latin typeface="Arial"/>
                <a:ea typeface="Arial"/>
                <a:cs typeface="Arial"/>
              </a:rPr>
              <a:t>Lumenore: Ask a Better Question</a:t>
            </a:r>
          </a:p>
        </p:txBody>
      </p:sp>
      <p:sp>
        <p:nvSpPr>
          <p:cNvPr id="9" name="">
            <a:extLst xmlns:a="http://schemas.openxmlformats.org/drawingml/2006/main">
              <a:ext uri="{FF2B5EF4-FFF2-40B4-BE49-F238E27FC236}">
                <a16:creationId xmlns:a16="http://schemas.microsoft.com/office/drawing/2014/main" id="{261EE80C-8738-4944-9425-BD88C3CAE8B9}"/>
              </a:ext>
            </a:extLst>
          </p:cNvPr>
          <p:cNvSpPr>
            <a:spLocks xmlns:a="http://schemas.openxmlformats.org/drawingml/2006/main" noGrp="1"/>
          </p:cNvSpPr>
          <p:nvPr/>
        </p:nvSpPr>
        <p:spPr>
          <a:xfrm xmlns:a="http://schemas.openxmlformats.org/drawingml/2006/main">
            <a:off x="609600" y="2057400"/>
            <a:ext cx="695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506473"/>
                </a:solidFill>
                <a:latin typeface="Arial"/>
                <a:ea typeface="Arial"/>
                <a:cs typeface="Arial"/>
              </a:defRPr>
            </a:pPr>
            <a:r>
              <a:rPr sz="1425" b="0">
                <a:solidFill>
                  <a:srgbClr val="506473"/>
                </a:solidFill>
                <a:latin typeface="Arial"/>
                <a:ea typeface="Arial"/>
                <a:cs typeface="Arial"/>
              </a:rPr>
              <a:t>Participants turn broad operational questions into answerable questions, use available Lumenore query features in a confirmed environment and inspect the filters behind a result.</a:t>
            </a:r>
          </a:p>
        </p:txBody>
      </p:sp>
      <p:sp>
        <p:nvSpPr>
          <p:cNvPr id="10" name="">
            <a:extLst xmlns:a="http://schemas.openxmlformats.org/drawingml/2006/main">
              <a:ext uri="{FF2B5EF4-FFF2-40B4-BE49-F238E27FC236}">
                <a16:creationId xmlns:a16="http://schemas.microsoft.com/office/drawing/2014/main" id="{400747C3-2077-45C0-B0A9-930B64DFF832}"/>
              </a:ext>
            </a:extLst>
          </p:cNvPr>
          <p:cNvSpPr>
            <a:spLocks xmlns:a="http://schemas.openxmlformats.org/drawingml/2006/main" noGrp="1"/>
          </p:cNvSpPr>
          <p:nvPr/>
        </p:nvSpPr>
        <p:spPr>
          <a:xfrm xmlns:a="http://schemas.openxmlformats.org/drawingml/2006/main">
            <a:off x="609600" y="30861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BY THE END, LEARNERS CAN</a:t>
            </a:r>
          </a:p>
        </p:txBody>
      </p:sp>
      <p:sp>
        <p:nvSpPr>
          <p:cNvPr id="11" name="">
            <a:extLst xmlns:a="http://schemas.openxmlformats.org/drawingml/2006/main">
              <a:ext uri="{FF2B5EF4-FFF2-40B4-BE49-F238E27FC236}">
                <a16:creationId xmlns:a16="http://schemas.microsoft.com/office/drawing/2014/main" id="{2C2BE001-E386-49BC-A0F8-E34552EA38E7}"/>
              </a:ext>
            </a:extLst>
          </p:cNvPr>
          <p:cNvSpPr>
            <a:spLocks xmlns:a="http://schemas.openxmlformats.org/drawingml/2006/main" noGrp="1"/>
          </p:cNvSpPr>
          <p:nvPr/>
        </p:nvSpPr>
        <p:spPr>
          <a:xfrm xmlns:a="http://schemas.openxmlformats.org/drawingml/2006/main">
            <a:off x="609600" y="3429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01</a:t>
            </a:r>
          </a:p>
        </p:txBody>
      </p:sp>
      <p:sp>
        <p:nvSpPr>
          <p:cNvPr id="12" name="">
            <a:extLst xmlns:a="http://schemas.openxmlformats.org/drawingml/2006/main">
              <a:ext uri="{FF2B5EF4-FFF2-40B4-BE49-F238E27FC236}">
                <a16:creationId xmlns:a16="http://schemas.microsoft.com/office/drawing/2014/main" id="{D30ACF11-267F-45F6-8A12-58F6462CC825}"/>
              </a:ext>
            </a:extLst>
          </p:cNvPr>
          <p:cNvSpPr>
            <a:spLocks xmlns:a="http://schemas.openxmlformats.org/drawingml/2006/main" noGrp="1"/>
          </p:cNvSpPr>
          <p:nvPr/>
        </p:nvSpPr>
        <p:spPr>
          <a:xfrm xmlns:a="http://schemas.openxmlformats.org/drawingml/2006/main">
            <a:off x="1104900" y="34290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Define a question with a measure, population, time period and comparison.</a:t>
            </a:r>
          </a:p>
        </p:txBody>
      </p:sp>
      <p:sp>
        <p:nvSpPr>
          <p:cNvPr id="13" name="">
            <a:extLst xmlns:a="http://schemas.openxmlformats.org/drawingml/2006/main">
              <a:ext uri="{FF2B5EF4-FFF2-40B4-BE49-F238E27FC236}">
                <a16:creationId xmlns:a16="http://schemas.microsoft.com/office/drawing/2014/main" id="{F2FFE968-305F-42D7-85BC-7D4436618ED0}"/>
              </a:ext>
            </a:extLst>
          </p:cNvPr>
          <p:cNvSpPr>
            <a:spLocks xmlns:a="http://schemas.openxmlformats.org/drawingml/2006/main" noGrp="1"/>
          </p:cNvSpPr>
          <p:nvPr/>
        </p:nvSpPr>
        <p:spPr>
          <a:xfrm xmlns:a="http://schemas.openxmlformats.org/drawingml/2006/main">
            <a:off x="609600" y="40767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1416AEFC-E153-443D-BCA0-44DE471CB752}"/>
              </a:ext>
            </a:extLst>
          </p:cNvPr>
          <p:cNvSpPr>
            <a:spLocks xmlns:a="http://schemas.openxmlformats.org/drawingml/2006/main" noGrp="1"/>
          </p:cNvSpPr>
          <p:nvPr/>
        </p:nvSpPr>
        <p:spPr>
          <a:xfrm xmlns:a="http://schemas.openxmlformats.org/drawingml/2006/main">
            <a:off x="1104900" y="40767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Use “Ask Me” only where enabled and approved in the DWIHN environment.</a:t>
            </a:r>
          </a:p>
        </p:txBody>
      </p:sp>
      <p:sp>
        <p:nvSpPr>
          <p:cNvPr id="15" name="">
            <a:extLst xmlns:a="http://schemas.openxmlformats.org/drawingml/2006/main">
              <a:ext uri="{FF2B5EF4-FFF2-40B4-BE49-F238E27FC236}">
                <a16:creationId xmlns:a16="http://schemas.microsoft.com/office/drawing/2014/main" id="{6C0AF382-5D45-4674-8EEE-5B0CC4F73C2C}"/>
              </a:ext>
            </a:extLst>
          </p:cNvPr>
          <p:cNvSpPr>
            <a:spLocks xmlns:a="http://schemas.openxmlformats.org/drawingml/2006/main" noGrp="1"/>
          </p:cNvSpPr>
          <p:nvPr/>
        </p:nvSpPr>
        <p:spPr>
          <a:xfrm xmlns:a="http://schemas.openxmlformats.org/drawingml/2006/main">
            <a:off x="609600" y="47244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295D60FD-1631-42CA-B087-E9FE304E195C}"/>
              </a:ext>
            </a:extLst>
          </p:cNvPr>
          <p:cNvSpPr>
            <a:spLocks xmlns:a="http://schemas.openxmlformats.org/drawingml/2006/main" noGrp="1"/>
          </p:cNvSpPr>
          <p:nvPr/>
        </p:nvSpPr>
        <p:spPr>
          <a:xfrm xmlns:a="http://schemas.openxmlformats.org/drawingml/2006/main">
            <a:off x="1104900" y="47244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Verify the response against dashboard definitions and filters.</a:t>
            </a:r>
          </a:p>
        </p:txBody>
      </p:sp>
      <p:sp>
        <p:nvSpPr>
          <p:cNvPr id="17" name="">
            <a:extLst xmlns:a="http://schemas.openxmlformats.org/drawingml/2006/main">
              <a:ext uri="{FF2B5EF4-FFF2-40B4-BE49-F238E27FC236}">
                <a16:creationId xmlns:a16="http://schemas.microsoft.com/office/drawing/2014/main" id="{E88102A0-570A-4C08-8F18-6D6312F3912B}"/>
              </a:ext>
            </a:extLst>
          </p:cNvPr>
          <p:cNvSpPr>
            <a:spLocks xmlns:a="http://schemas.openxmlformats.org/drawingml/2006/main" noGrp="1"/>
          </p:cNvSpPr>
          <p:nvPr/>
        </p:nvSpPr>
        <p:spPr>
          <a:xfrm xmlns:a="http://schemas.openxmlformats.org/drawingml/2006/main">
            <a:off x="609600" y="5476875"/>
            <a:ext cx="6953250" cy="476250"/>
          </a:xfrm>
          <a:prstGeom xmlns:a="http://schemas.openxmlformats.org/drawingml/2006/main" prst="rect">
            <a:avLst/>
          </a:prstGeom>
          <a:noFill xmlns:a="http://schemas.openxmlformats.org/drawingml/2006/main"/>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2471533-C983-4D1B-9E13-15D0BA3A13A5}"/>
              </a:ext>
            </a:extLst>
          </p:cNvPr>
          <p:cNvSpPr>
            <a:spLocks xmlns:a="http://schemas.openxmlformats.org/drawingml/2006/main" noGrp="1"/>
          </p:cNvSpPr>
          <p:nvPr/>
        </p:nvSpPr>
        <p:spPr>
          <a:xfrm xmlns:a="http://schemas.openxmlformats.org/drawingml/2006/main">
            <a:off x="781050" y="5591175"/>
            <a:ext cx="659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91"/>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Session length: at least 1 hour, including Q&amp;A. Guided practice and discussion can extend it.</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56aebb3828a5418d"/>
          <a:srcRect xmlns:a="http://schemas.openxmlformats.org/drawingml/2006/main" l="0" t="7390" r="0" b="7390"/>
          <a:stretch xmlns:a="http://schemas.openxmlformats.org/drawingml/2006/main">
            <a:fillRect l="0" t="0" r="0" b="0"/>
          </a:stretch>
        </p:blipFill>
        <p:spPr>
          <a:xfrm xmlns:a="http://schemas.openxmlformats.org/drawingml/2006/main">
            <a:off x="7981950" y="2247900"/>
            <a:ext cx="3429000" cy="219075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746220DA-5C97-4C11-8EEF-179CEC1F7DBA}"/>
              </a:ext>
            </a:extLst>
          </p:cNvPr>
          <p:cNvSpPr>
            <a:spLocks xmlns:a="http://schemas.openxmlformats.org/drawingml/2006/main" noGrp="1"/>
          </p:cNvSpPr>
          <p:nvPr/>
        </p:nvSpPr>
        <p:spPr>
          <a:xfrm xmlns:a="http://schemas.openxmlformats.org/drawingml/2006/main">
            <a:off x="7981950" y="4524375"/>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0">
                <a:solidFill>
                  <a:srgbClr val="6D7E89"/>
                </a:solidFill>
                <a:latin typeface="Arial"/>
                <a:ea typeface="Arial"/>
                <a:cs typeface="Arial"/>
              </a:defRPr>
            </a:pPr>
            <a:r>
              <a:rPr sz="900" b="0">
                <a:solidFill>
                  <a:srgbClr val="6D7E89"/>
                </a:solidFill>
                <a:latin typeface="Arial"/>
                <a:ea typeface="Arial"/>
                <a:cs typeface="Arial"/>
              </a:rPr>
              <a:t>Proposal training image, not a DWIHN Lumenore screenshot.</a:t>
            </a:r>
          </a:p>
        </p:txBody>
      </p:sp>
    </p:spTree>
    <p:extLst>
      <p:ext uri="{BB962C8B-B14F-4D97-AF65-F5344CB8AC3E}">
        <p14:creationId xmlns:p14="http://schemas.microsoft.com/office/powerpoint/2010/main" val="1567085615"/>
      </p:ext>
    </p:extLst>
  </p:cSld>
</p:sld>
</file>

<file path=ppt/slides/slide22.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69AD6A7-012C-4008-8F8D-E32B2B275A46}"/>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WEEKS 4–5 / MODULE 6</a:t>
            </a:r>
          </a:p>
        </p:txBody>
      </p:sp>
      <p:sp>
        <p:nvSpPr>
          <p:cNvPr id="2" name="">
            <a:extLst xmlns:a="http://schemas.openxmlformats.org/drawingml/2006/main">
              <a:ext uri="{FF2B5EF4-FFF2-40B4-BE49-F238E27FC236}">
                <a16:creationId xmlns:a16="http://schemas.microsoft.com/office/drawing/2014/main" id="{BE8E7A25-A14C-4FB4-951D-E1C27042EFFE}"/>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S5  |  Core concepts</a:t>
            </a:r>
          </a:p>
        </p:txBody>
      </p:sp>
      <p:sp>
        <p:nvSpPr>
          <p:cNvPr id="3" name="">
            <a:extLst xmlns:a="http://schemas.openxmlformats.org/drawingml/2006/main">
              <a:ext uri="{FF2B5EF4-FFF2-40B4-BE49-F238E27FC236}">
                <a16:creationId xmlns:a16="http://schemas.microsoft.com/office/drawing/2014/main" id="{4BA8FCB6-1DFB-456C-9C81-874B9356DDA6}"/>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771BD7C-3441-41EA-8777-EF6DB7402DD8}"/>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CB37AE7-F7EB-4C14-A36B-880E2DC01DA8}"/>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9405B614-73FB-4252-BE34-F40A363D51C2}"/>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22</a:t>
            </a:r>
          </a:p>
        </p:txBody>
      </p:sp>
      <p:sp>
        <p:nvSpPr>
          <p:cNvPr id="7" name="">
            <a:extLst xmlns:a="http://schemas.openxmlformats.org/drawingml/2006/main">
              <a:ext uri="{FF2B5EF4-FFF2-40B4-BE49-F238E27FC236}">
                <a16:creationId xmlns:a16="http://schemas.microsoft.com/office/drawing/2014/main" id="{DE3B382E-3389-41DA-9228-90E40746A5B7}"/>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6 topic 6.1 and proposal p. 8. Lumenore features must be confirmed in DWIHN’s licensed environment.</a:t>
            </a:r>
          </a:p>
        </p:txBody>
      </p:sp>
      <p:sp>
        <p:nvSpPr>
          <p:cNvPr id="8" name="">
            <a:extLst xmlns:a="http://schemas.openxmlformats.org/drawingml/2006/main">
              <a:ext uri="{FF2B5EF4-FFF2-40B4-BE49-F238E27FC236}">
                <a16:creationId xmlns:a16="http://schemas.microsoft.com/office/drawing/2014/main" id="{EF6BB82F-AA36-4FC1-9C10-00EE03B0364B}"/>
              </a:ext>
            </a:extLst>
          </p:cNvPr>
          <p:cNvSpPr>
            <a:spLocks xmlns:a="http://schemas.openxmlformats.org/drawingml/2006/main" noGrp="1"/>
          </p:cNvSpPr>
          <p:nvPr/>
        </p:nvSpPr>
        <p:spPr>
          <a:xfrm xmlns:a="http://schemas.openxmlformats.org/drawingml/2006/main">
            <a:off x="609600" y="15811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Lumenore: Ask a Better Question</a:t>
            </a:r>
          </a:p>
        </p:txBody>
      </p:sp>
      <p:sp>
        <p:nvSpPr>
          <p:cNvPr id="9" name="">
            <a:extLst xmlns:a="http://schemas.openxmlformats.org/drawingml/2006/main">
              <a:ext uri="{FF2B5EF4-FFF2-40B4-BE49-F238E27FC236}">
                <a16:creationId xmlns:a16="http://schemas.microsoft.com/office/drawing/2014/main" id="{09A87032-44D9-479F-B893-E0A11ADD4AAF}"/>
              </a:ext>
            </a:extLst>
          </p:cNvPr>
          <p:cNvSpPr>
            <a:spLocks xmlns:a="http://schemas.openxmlformats.org/drawingml/2006/main" noGrp="1"/>
          </p:cNvSpPr>
          <p:nvPr/>
        </p:nvSpPr>
        <p:spPr>
          <a:xfrm xmlns:a="http://schemas.openxmlformats.org/drawingml/2006/main">
            <a:off x="609600" y="19716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79B41E15-82A7-42FE-A77A-D4CC5A38CD9D}"/>
              </a:ext>
            </a:extLst>
          </p:cNvPr>
          <p:cNvSpPr>
            <a:spLocks xmlns:a="http://schemas.openxmlformats.org/drawingml/2006/main" noGrp="1"/>
          </p:cNvSpPr>
          <p:nvPr/>
        </p:nvSpPr>
        <p:spPr>
          <a:xfrm xmlns:a="http://schemas.openxmlformats.org/drawingml/2006/main">
            <a:off x="1143000" y="19716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Name the decision first</a:t>
            </a:r>
          </a:p>
        </p:txBody>
      </p:sp>
      <p:sp>
        <p:nvSpPr>
          <p:cNvPr id="11" name="">
            <a:extLst xmlns:a="http://schemas.openxmlformats.org/drawingml/2006/main">
              <a:ext uri="{FF2B5EF4-FFF2-40B4-BE49-F238E27FC236}">
                <a16:creationId xmlns:a16="http://schemas.microsoft.com/office/drawing/2014/main" id="{DE9E12EC-A22B-439A-A2FE-74EA8EDDD3D8}"/>
              </a:ext>
            </a:extLst>
          </p:cNvPr>
          <p:cNvSpPr>
            <a:spLocks xmlns:a="http://schemas.openxmlformats.org/drawingml/2006/main" noGrp="1"/>
          </p:cNvSpPr>
          <p:nvPr/>
        </p:nvSpPr>
        <p:spPr>
          <a:xfrm xmlns:a="http://schemas.openxmlformats.org/drawingml/2006/main">
            <a:off x="3857625" y="19716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 question should connect to a decision or follow-up. “Where should we investigate access?” is more useful when the team agrees what evidence would inform that investigation.</a:t>
            </a:r>
          </a:p>
        </p:txBody>
      </p:sp>
      <p:sp>
        <p:nvSpPr>
          <p:cNvPr id="12" name="">
            <a:extLst xmlns:a="http://schemas.openxmlformats.org/drawingml/2006/main">
              <a:ext uri="{FF2B5EF4-FFF2-40B4-BE49-F238E27FC236}">
                <a16:creationId xmlns:a16="http://schemas.microsoft.com/office/drawing/2014/main" id="{04C00CCA-FD48-44E6-9421-A34AFD919852}"/>
              </a:ext>
            </a:extLst>
          </p:cNvPr>
          <p:cNvSpPr>
            <a:spLocks xmlns:a="http://schemas.openxmlformats.org/drawingml/2006/main" noGrp="1"/>
          </p:cNvSpPr>
          <p:nvPr/>
        </p:nvSpPr>
        <p:spPr>
          <a:xfrm xmlns:a="http://schemas.openxmlformats.org/drawingml/2006/main">
            <a:off x="1143000" y="28003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0A190C4-4F58-4800-83DF-1B51DDBAC8AE}"/>
              </a:ext>
            </a:extLst>
          </p:cNvPr>
          <p:cNvSpPr>
            <a:spLocks xmlns:a="http://schemas.openxmlformats.org/drawingml/2006/main" noGrp="1"/>
          </p:cNvSpPr>
          <p:nvPr/>
        </p:nvSpPr>
        <p:spPr>
          <a:xfrm xmlns:a="http://schemas.openxmlformats.org/drawingml/2006/main">
            <a:off x="609600" y="29813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87F76AD9-7F96-44EF-8A9E-44D6C3CD354E}"/>
              </a:ext>
            </a:extLst>
          </p:cNvPr>
          <p:cNvSpPr>
            <a:spLocks xmlns:a="http://schemas.openxmlformats.org/drawingml/2006/main" noGrp="1"/>
          </p:cNvSpPr>
          <p:nvPr/>
        </p:nvSpPr>
        <p:spPr>
          <a:xfrm xmlns:a="http://schemas.openxmlformats.org/drawingml/2006/main">
            <a:off x="1143000" y="29813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145"/>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Specify the measure and population</a:t>
            </a:r>
          </a:p>
        </p:txBody>
      </p:sp>
      <p:sp>
        <p:nvSpPr>
          <p:cNvPr id="15" name="">
            <a:extLst xmlns:a="http://schemas.openxmlformats.org/drawingml/2006/main">
              <a:ext uri="{FF2B5EF4-FFF2-40B4-BE49-F238E27FC236}">
                <a16:creationId xmlns:a16="http://schemas.microsoft.com/office/drawing/2014/main" id="{316D14E9-C5A0-43C2-8C54-EC4B58B3E7A4}"/>
              </a:ext>
            </a:extLst>
          </p:cNvPr>
          <p:cNvSpPr>
            <a:spLocks xmlns:a="http://schemas.openxmlformats.org/drawingml/2006/main" noGrp="1"/>
          </p:cNvSpPr>
          <p:nvPr/>
        </p:nvSpPr>
        <p:spPr>
          <a:xfrm xmlns:a="http://schemas.openxmlformats.org/drawingml/2006/main">
            <a:off x="3857625" y="29813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Define what is counted, who is included and what is excluded. Ask which program, service group or status applies rather than relying on ambiguous labels.</a:t>
            </a:r>
          </a:p>
        </p:txBody>
      </p:sp>
      <p:sp>
        <p:nvSpPr>
          <p:cNvPr id="16" name="">
            <a:extLst xmlns:a="http://schemas.openxmlformats.org/drawingml/2006/main">
              <a:ext uri="{FF2B5EF4-FFF2-40B4-BE49-F238E27FC236}">
                <a16:creationId xmlns:a16="http://schemas.microsoft.com/office/drawing/2014/main" id="{8FC3453C-255E-49F5-B273-DE713965FA0A}"/>
              </a:ext>
            </a:extLst>
          </p:cNvPr>
          <p:cNvSpPr>
            <a:spLocks xmlns:a="http://schemas.openxmlformats.org/drawingml/2006/main" noGrp="1"/>
          </p:cNvSpPr>
          <p:nvPr/>
        </p:nvSpPr>
        <p:spPr>
          <a:xfrm xmlns:a="http://schemas.openxmlformats.org/drawingml/2006/main">
            <a:off x="1143000" y="381000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ACC520A-23F7-4D67-8C35-B7E1EEDBD8FB}"/>
              </a:ext>
            </a:extLst>
          </p:cNvPr>
          <p:cNvSpPr>
            <a:spLocks xmlns:a="http://schemas.openxmlformats.org/drawingml/2006/main" noGrp="1"/>
          </p:cNvSpPr>
          <p:nvPr/>
        </p:nvSpPr>
        <p:spPr>
          <a:xfrm xmlns:a="http://schemas.openxmlformats.org/drawingml/2006/main">
            <a:off x="609600" y="39909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998D50D1-69B8-49D8-B168-BF61CA5D2C44}"/>
              </a:ext>
            </a:extLst>
          </p:cNvPr>
          <p:cNvSpPr>
            <a:spLocks xmlns:a="http://schemas.openxmlformats.org/drawingml/2006/main" noGrp="1"/>
          </p:cNvSpPr>
          <p:nvPr/>
        </p:nvSpPr>
        <p:spPr>
          <a:xfrm xmlns:a="http://schemas.openxmlformats.org/drawingml/2006/main">
            <a:off x="1143000" y="39909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Set the time and comparison</a:t>
            </a:r>
          </a:p>
        </p:txBody>
      </p:sp>
      <p:sp>
        <p:nvSpPr>
          <p:cNvPr id="19" name="">
            <a:extLst xmlns:a="http://schemas.openxmlformats.org/drawingml/2006/main">
              <a:ext uri="{FF2B5EF4-FFF2-40B4-BE49-F238E27FC236}">
                <a16:creationId xmlns:a16="http://schemas.microsoft.com/office/drawing/2014/main" id="{E8F1DE7A-FEEA-4203-9008-D0B9270D7EF3}"/>
              </a:ext>
            </a:extLst>
          </p:cNvPr>
          <p:cNvSpPr>
            <a:spLocks xmlns:a="http://schemas.openxmlformats.org/drawingml/2006/main" noGrp="1"/>
          </p:cNvSpPr>
          <p:nvPr/>
        </p:nvSpPr>
        <p:spPr>
          <a:xfrm xmlns:a="http://schemas.openxmlformats.org/drawingml/2006/main">
            <a:off x="3857625" y="39909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 trend needs a period and a comparison basis, such as the prior quarter. Confirm whether filters and refresh dates support that comparison.</a:t>
            </a:r>
          </a:p>
        </p:txBody>
      </p:sp>
      <p:sp>
        <p:nvSpPr>
          <p:cNvPr id="20" name="">
            <a:extLst xmlns:a="http://schemas.openxmlformats.org/drawingml/2006/main">
              <a:ext uri="{FF2B5EF4-FFF2-40B4-BE49-F238E27FC236}">
                <a16:creationId xmlns:a16="http://schemas.microsoft.com/office/drawing/2014/main" id="{356D5A1B-611C-40CD-AE77-62BAC065102E}"/>
              </a:ext>
            </a:extLst>
          </p:cNvPr>
          <p:cNvSpPr>
            <a:spLocks xmlns:a="http://schemas.openxmlformats.org/drawingml/2006/main" noGrp="1"/>
          </p:cNvSpPr>
          <p:nvPr/>
        </p:nvSpPr>
        <p:spPr>
          <a:xfrm xmlns:a="http://schemas.openxmlformats.org/drawingml/2006/main">
            <a:off x="1143000" y="48196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7BC98D3-AF40-4F54-8275-958DF77A9A50}"/>
              </a:ext>
            </a:extLst>
          </p:cNvPr>
          <p:cNvSpPr>
            <a:spLocks xmlns:a="http://schemas.openxmlformats.org/drawingml/2006/main" noGrp="1"/>
          </p:cNvSpPr>
          <p:nvPr/>
        </p:nvSpPr>
        <p:spPr>
          <a:xfrm xmlns:a="http://schemas.openxmlformats.org/drawingml/2006/main">
            <a:off x="609600" y="5000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D6551350-D53C-4FB1-B418-0E3279207007}"/>
              </a:ext>
            </a:extLst>
          </p:cNvPr>
          <p:cNvSpPr>
            <a:spLocks xmlns:a="http://schemas.openxmlformats.org/drawingml/2006/main" noGrp="1"/>
          </p:cNvSpPr>
          <p:nvPr/>
        </p:nvSpPr>
        <p:spPr>
          <a:xfrm xmlns:a="http://schemas.openxmlformats.org/drawingml/2006/main">
            <a:off x="1143000" y="50006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4382"/>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Treat a generated answer as a lead</a:t>
            </a:r>
          </a:p>
        </p:txBody>
      </p:sp>
      <p:sp>
        <p:nvSpPr>
          <p:cNvPr id="23" name="">
            <a:extLst xmlns:a="http://schemas.openxmlformats.org/drawingml/2006/main">
              <a:ext uri="{FF2B5EF4-FFF2-40B4-BE49-F238E27FC236}">
                <a16:creationId xmlns:a16="http://schemas.microsoft.com/office/drawing/2014/main" id="{D413A421-9DC7-4F87-88C2-40D4A40B85F7}"/>
              </a:ext>
            </a:extLst>
          </p:cNvPr>
          <p:cNvSpPr>
            <a:spLocks xmlns:a="http://schemas.openxmlformats.org/drawingml/2006/main" noGrp="1"/>
          </p:cNvSpPr>
          <p:nvPr/>
        </p:nvSpPr>
        <p:spPr>
          <a:xfrm xmlns:a="http://schemas.openxmlformats.org/drawingml/2006/main">
            <a:off x="3857625" y="50006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 natural-language result can help locate a view or summarize a pattern. It does not replace metric definitions, data-quality checks or interpretation by the person responsible.</a:t>
            </a:r>
          </a:p>
        </p:txBody>
      </p:sp>
    </p:spTree>
    <p:extLst>
      <p:ext uri="{BB962C8B-B14F-4D97-AF65-F5344CB8AC3E}">
        <p14:creationId xmlns:p14="http://schemas.microsoft.com/office/powerpoint/2010/main" val="1672588259"/>
      </p:ext>
    </p:extLst>
  </p:cSld>
</p:sld>
</file>

<file path=ppt/slides/slide23.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46E1C7E9-7A08-4BB4-AC8D-D62C2CCF7A0A}"/>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WEEKS 4–5 / MODULE 6</a:t>
            </a:r>
          </a:p>
        </p:txBody>
      </p:sp>
      <p:sp>
        <p:nvSpPr>
          <p:cNvPr id="2" name="">
            <a:extLst xmlns:a="http://schemas.openxmlformats.org/drawingml/2006/main">
              <a:ext uri="{FF2B5EF4-FFF2-40B4-BE49-F238E27FC236}">
                <a16:creationId xmlns:a16="http://schemas.microsoft.com/office/drawing/2014/main" id="{6AFDFB62-9413-4AA9-A46F-8C170D7DA07B}"/>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S5  |  Instructor walkthrough</a:t>
            </a:r>
          </a:p>
        </p:txBody>
      </p:sp>
      <p:sp>
        <p:nvSpPr>
          <p:cNvPr id="3" name="">
            <a:extLst xmlns:a="http://schemas.openxmlformats.org/drawingml/2006/main">
              <a:ext uri="{FF2B5EF4-FFF2-40B4-BE49-F238E27FC236}">
                <a16:creationId xmlns:a16="http://schemas.microsoft.com/office/drawing/2014/main" id="{A3AAF553-AD90-4F7C-ADB2-8E223831B279}"/>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E992669-C568-4A86-AD1C-9D9B976BC249}"/>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4C0302B-493A-407D-93E3-12910919BB1D}"/>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2D943596-DAE5-4F64-AF48-3430A74FB991}"/>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23</a:t>
            </a:r>
          </a:p>
        </p:txBody>
      </p:sp>
      <p:sp>
        <p:nvSpPr>
          <p:cNvPr id="7" name="">
            <a:extLst xmlns:a="http://schemas.openxmlformats.org/drawingml/2006/main">
              <a:ext uri="{FF2B5EF4-FFF2-40B4-BE49-F238E27FC236}">
                <a16:creationId xmlns:a16="http://schemas.microsoft.com/office/drawing/2014/main" id="{92B144D8-189F-48C9-B8CF-845A9F5C2FFF}"/>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6 topic 6.1 and proposal p. 8. Lumenore features must be confirmed in DWIHN’s licensed environment.</a:t>
            </a:r>
          </a:p>
        </p:txBody>
      </p:sp>
      <p:sp>
        <p:nvSpPr>
          <p:cNvPr id="8" name="">
            <a:extLst xmlns:a="http://schemas.openxmlformats.org/drawingml/2006/main">
              <a:ext uri="{FF2B5EF4-FFF2-40B4-BE49-F238E27FC236}">
                <a16:creationId xmlns:a16="http://schemas.microsoft.com/office/drawing/2014/main" id="{A7654543-9F96-48D5-9F68-C6A0FDDC360B}"/>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Lumenore: Ask a Better Question</a:t>
            </a:r>
          </a:p>
        </p:txBody>
      </p:sp>
      <p:sp>
        <p:nvSpPr>
          <p:cNvPr id="9" name="">
            <a:extLst xmlns:a="http://schemas.openxmlformats.org/drawingml/2006/main">
              <a:ext uri="{FF2B5EF4-FFF2-40B4-BE49-F238E27FC236}">
                <a16:creationId xmlns:a16="http://schemas.microsoft.com/office/drawing/2014/main" id="{E2554F0E-92D4-419E-BE2B-89828C95FB37}"/>
              </a:ext>
            </a:extLst>
          </p:cNvPr>
          <p:cNvSpPr>
            <a:spLocks xmlns:a="http://schemas.openxmlformats.org/drawingml/2006/main" noGrp="1"/>
          </p:cNvSpPr>
          <p:nvPr/>
        </p:nvSpPr>
        <p:spPr>
          <a:xfrm xmlns:a="http://schemas.openxmlformats.org/drawingml/2006/main">
            <a:off x="60960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0" name="">
            <a:extLst xmlns:a="http://schemas.openxmlformats.org/drawingml/2006/main">
              <a:ext uri="{FF2B5EF4-FFF2-40B4-BE49-F238E27FC236}">
                <a16:creationId xmlns:a16="http://schemas.microsoft.com/office/drawing/2014/main" id="{838D2379-00FF-4969-B419-4562D891C91A}"/>
              </a:ext>
            </a:extLst>
          </p:cNvPr>
          <p:cNvSpPr>
            <a:spLocks xmlns:a="http://schemas.openxmlformats.org/drawingml/2006/main" noGrp="1"/>
          </p:cNvSpPr>
          <p:nvPr/>
        </p:nvSpPr>
        <p:spPr>
          <a:xfrm xmlns:a="http://schemas.openxmlformats.org/drawingml/2006/main">
            <a:off x="74295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2C86FC36-5A61-431C-9757-3DF46E2B19AD}"/>
              </a:ext>
            </a:extLst>
          </p:cNvPr>
          <p:cNvSpPr>
            <a:spLocks xmlns:a="http://schemas.openxmlformats.org/drawingml/2006/main" noGrp="1"/>
          </p:cNvSpPr>
          <p:nvPr/>
        </p:nvSpPr>
        <p:spPr>
          <a:xfrm xmlns:a="http://schemas.openxmlformats.org/drawingml/2006/main">
            <a:off x="74295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Start broad</a:t>
            </a:r>
          </a:p>
        </p:txBody>
      </p:sp>
      <p:sp>
        <p:nvSpPr>
          <p:cNvPr id="12" name="">
            <a:extLst xmlns:a="http://schemas.openxmlformats.org/drawingml/2006/main">
              <a:ext uri="{FF2B5EF4-FFF2-40B4-BE49-F238E27FC236}">
                <a16:creationId xmlns:a16="http://schemas.microsoft.com/office/drawing/2014/main" id="{1A69F925-F798-4362-AC74-D0A9394A71CC}"/>
              </a:ext>
            </a:extLst>
          </p:cNvPr>
          <p:cNvSpPr>
            <a:spLocks xmlns:a="http://schemas.openxmlformats.org/drawingml/2006/main" noGrp="1"/>
          </p:cNvSpPr>
          <p:nvPr/>
        </p:nvSpPr>
        <p:spPr>
          <a:xfrm xmlns:a="http://schemas.openxmlformats.org/drawingml/2006/main">
            <a:off x="74295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272"/>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“How are we doing?” Capture why this cannot be answered consistently.</a:t>
            </a:r>
          </a:p>
        </p:txBody>
      </p:sp>
      <p:sp>
        <p:nvSpPr>
          <p:cNvPr id="13" name="">
            <a:extLst xmlns:a="http://schemas.openxmlformats.org/drawingml/2006/main">
              <a:ext uri="{FF2B5EF4-FFF2-40B4-BE49-F238E27FC236}">
                <a16:creationId xmlns:a16="http://schemas.microsoft.com/office/drawing/2014/main" id="{F99FCCBB-187A-4F40-97CF-ACE741C208FB}"/>
              </a:ext>
            </a:extLst>
          </p:cNvPr>
          <p:cNvSpPr>
            <a:spLocks xmlns:a="http://schemas.openxmlformats.org/drawingml/2006/main" noGrp="1"/>
          </p:cNvSpPr>
          <p:nvPr/>
        </p:nvSpPr>
        <p:spPr>
          <a:xfrm xmlns:a="http://schemas.openxmlformats.org/drawingml/2006/main">
            <a:off x="303847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1291475-25C0-4F3F-B63D-DBD9FBC6FAC1}"/>
              </a:ext>
            </a:extLst>
          </p:cNvPr>
          <p:cNvSpPr>
            <a:spLocks xmlns:a="http://schemas.openxmlformats.org/drawingml/2006/main" noGrp="1"/>
          </p:cNvSpPr>
          <p:nvPr/>
        </p:nvSpPr>
        <p:spPr>
          <a:xfrm xmlns:a="http://schemas.openxmlformats.org/drawingml/2006/main">
            <a:off x="338137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5" name="">
            <a:extLst xmlns:a="http://schemas.openxmlformats.org/drawingml/2006/main">
              <a:ext uri="{FF2B5EF4-FFF2-40B4-BE49-F238E27FC236}">
                <a16:creationId xmlns:a16="http://schemas.microsoft.com/office/drawing/2014/main" id="{6BC6123C-D8F1-4BE9-A406-5AEBF2AA8A52}"/>
              </a:ext>
            </a:extLst>
          </p:cNvPr>
          <p:cNvSpPr>
            <a:spLocks xmlns:a="http://schemas.openxmlformats.org/drawingml/2006/main" noGrp="1"/>
          </p:cNvSpPr>
          <p:nvPr/>
        </p:nvSpPr>
        <p:spPr>
          <a:xfrm xmlns:a="http://schemas.openxmlformats.org/drawingml/2006/main">
            <a:off x="351472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A179F910-FD8C-4648-80F1-F8E452135F3C}"/>
              </a:ext>
            </a:extLst>
          </p:cNvPr>
          <p:cNvSpPr>
            <a:spLocks xmlns:a="http://schemas.openxmlformats.org/drawingml/2006/main" noGrp="1"/>
          </p:cNvSpPr>
          <p:nvPr/>
        </p:nvSpPr>
        <p:spPr>
          <a:xfrm xmlns:a="http://schemas.openxmlformats.org/drawingml/2006/main">
            <a:off x="351472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Make it answerable</a:t>
            </a:r>
          </a:p>
        </p:txBody>
      </p:sp>
      <p:sp>
        <p:nvSpPr>
          <p:cNvPr id="17" name="">
            <a:extLst xmlns:a="http://schemas.openxmlformats.org/drawingml/2006/main">
              <a:ext uri="{FF2B5EF4-FFF2-40B4-BE49-F238E27FC236}">
                <a16:creationId xmlns:a16="http://schemas.microsoft.com/office/drawing/2014/main" id="{B42A12CB-274F-45CA-A01D-89B0173DEE9F}"/>
              </a:ext>
            </a:extLst>
          </p:cNvPr>
          <p:cNvSpPr>
            <a:spLocks xmlns:a="http://schemas.openxmlformats.org/drawingml/2006/main" noGrp="1"/>
          </p:cNvSpPr>
          <p:nvPr/>
        </p:nvSpPr>
        <p:spPr>
          <a:xfrm xmlns:a="http://schemas.openxmlformats.org/drawingml/2006/main">
            <a:off x="351472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828"/>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Ask for a defined program measure over a specified period and group.</a:t>
            </a:r>
          </a:p>
        </p:txBody>
      </p:sp>
      <p:sp>
        <p:nvSpPr>
          <p:cNvPr id="18" name="">
            <a:extLst xmlns:a="http://schemas.openxmlformats.org/drawingml/2006/main">
              <a:ext uri="{FF2B5EF4-FFF2-40B4-BE49-F238E27FC236}">
                <a16:creationId xmlns:a16="http://schemas.microsoft.com/office/drawing/2014/main" id="{6791E68A-FBD5-4EEB-848C-2E1D031CB9CB}"/>
              </a:ext>
            </a:extLst>
          </p:cNvPr>
          <p:cNvSpPr>
            <a:spLocks xmlns:a="http://schemas.openxmlformats.org/drawingml/2006/main" noGrp="1"/>
          </p:cNvSpPr>
          <p:nvPr/>
        </p:nvSpPr>
        <p:spPr>
          <a:xfrm xmlns:a="http://schemas.openxmlformats.org/drawingml/2006/main">
            <a:off x="5810250"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78630A1-BE5E-4B35-B146-1E93AFBB1894}"/>
              </a:ext>
            </a:extLst>
          </p:cNvPr>
          <p:cNvSpPr>
            <a:spLocks xmlns:a="http://schemas.openxmlformats.org/drawingml/2006/main" noGrp="1"/>
          </p:cNvSpPr>
          <p:nvPr/>
        </p:nvSpPr>
        <p:spPr>
          <a:xfrm xmlns:a="http://schemas.openxmlformats.org/drawingml/2006/main">
            <a:off x="615315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0" name="">
            <a:extLst xmlns:a="http://schemas.openxmlformats.org/drawingml/2006/main">
              <a:ext uri="{FF2B5EF4-FFF2-40B4-BE49-F238E27FC236}">
                <a16:creationId xmlns:a16="http://schemas.microsoft.com/office/drawing/2014/main" id="{CCF605B6-6B39-42AD-933A-0894BCEAB6D6}"/>
              </a:ext>
            </a:extLst>
          </p:cNvPr>
          <p:cNvSpPr>
            <a:spLocks xmlns:a="http://schemas.openxmlformats.org/drawingml/2006/main" noGrp="1"/>
          </p:cNvSpPr>
          <p:nvPr/>
        </p:nvSpPr>
        <p:spPr>
          <a:xfrm xmlns:a="http://schemas.openxmlformats.org/drawingml/2006/main">
            <a:off x="628650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21" name="">
            <a:extLst xmlns:a="http://schemas.openxmlformats.org/drawingml/2006/main">
              <a:ext uri="{FF2B5EF4-FFF2-40B4-BE49-F238E27FC236}">
                <a16:creationId xmlns:a16="http://schemas.microsoft.com/office/drawing/2014/main" id="{B45F789E-B3F3-4A28-AB23-8D4BF8906C07}"/>
              </a:ext>
            </a:extLst>
          </p:cNvPr>
          <p:cNvSpPr>
            <a:spLocks xmlns:a="http://schemas.openxmlformats.org/drawingml/2006/main" noGrp="1"/>
          </p:cNvSpPr>
          <p:nvPr/>
        </p:nvSpPr>
        <p:spPr>
          <a:xfrm xmlns:a="http://schemas.openxmlformats.org/drawingml/2006/main">
            <a:off x="628650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Inspect the result</a:t>
            </a:r>
          </a:p>
        </p:txBody>
      </p:sp>
      <p:sp>
        <p:nvSpPr>
          <p:cNvPr id="22" name="">
            <a:extLst xmlns:a="http://schemas.openxmlformats.org/drawingml/2006/main">
              <a:ext uri="{FF2B5EF4-FFF2-40B4-BE49-F238E27FC236}">
                <a16:creationId xmlns:a16="http://schemas.microsoft.com/office/drawing/2014/main" id="{F933C958-7A45-4CB8-A2D5-78FAB958A0EA}"/>
              </a:ext>
            </a:extLst>
          </p:cNvPr>
          <p:cNvSpPr>
            <a:spLocks xmlns:a="http://schemas.openxmlformats.org/drawingml/2006/main" noGrp="1"/>
          </p:cNvSpPr>
          <p:nvPr/>
        </p:nvSpPr>
        <p:spPr>
          <a:xfrm xmlns:a="http://schemas.openxmlformats.org/drawingml/2006/main">
            <a:off x="628650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Read the dashboard title, measure definition, date range, filters and data refresh information.</a:t>
            </a:r>
          </a:p>
        </p:txBody>
      </p:sp>
      <p:sp>
        <p:nvSpPr>
          <p:cNvPr id="23" name="">
            <a:extLst xmlns:a="http://schemas.openxmlformats.org/drawingml/2006/main">
              <a:ext uri="{FF2B5EF4-FFF2-40B4-BE49-F238E27FC236}">
                <a16:creationId xmlns:a16="http://schemas.microsoft.com/office/drawing/2014/main" id="{33370FF9-6FEF-4BBB-AA65-8DB5AF4B752C}"/>
              </a:ext>
            </a:extLst>
          </p:cNvPr>
          <p:cNvSpPr>
            <a:spLocks xmlns:a="http://schemas.openxmlformats.org/drawingml/2006/main" noGrp="1"/>
          </p:cNvSpPr>
          <p:nvPr/>
        </p:nvSpPr>
        <p:spPr>
          <a:xfrm xmlns:a="http://schemas.openxmlformats.org/drawingml/2006/main">
            <a:off x="858202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AB01A65-90E2-41B2-9FF6-79433035F6D2}"/>
              </a:ext>
            </a:extLst>
          </p:cNvPr>
          <p:cNvSpPr>
            <a:spLocks xmlns:a="http://schemas.openxmlformats.org/drawingml/2006/main" noGrp="1"/>
          </p:cNvSpPr>
          <p:nvPr/>
        </p:nvSpPr>
        <p:spPr>
          <a:xfrm xmlns:a="http://schemas.openxmlformats.org/drawingml/2006/main">
            <a:off x="892492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5" name="">
            <a:extLst xmlns:a="http://schemas.openxmlformats.org/drawingml/2006/main">
              <a:ext uri="{FF2B5EF4-FFF2-40B4-BE49-F238E27FC236}">
                <a16:creationId xmlns:a16="http://schemas.microsoft.com/office/drawing/2014/main" id="{D969B2FD-52F2-4000-AF8F-C4A7FCCF526F}"/>
              </a:ext>
            </a:extLst>
          </p:cNvPr>
          <p:cNvSpPr>
            <a:spLocks xmlns:a="http://schemas.openxmlformats.org/drawingml/2006/main" noGrp="1"/>
          </p:cNvSpPr>
          <p:nvPr/>
        </p:nvSpPr>
        <p:spPr>
          <a:xfrm xmlns:a="http://schemas.openxmlformats.org/drawingml/2006/main">
            <a:off x="905827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04</a:t>
            </a:r>
          </a:p>
        </p:txBody>
      </p:sp>
      <p:sp>
        <p:nvSpPr>
          <p:cNvPr id="26" name="">
            <a:extLst xmlns:a="http://schemas.openxmlformats.org/drawingml/2006/main">
              <a:ext uri="{FF2B5EF4-FFF2-40B4-BE49-F238E27FC236}">
                <a16:creationId xmlns:a16="http://schemas.microsoft.com/office/drawing/2014/main" id="{929B889A-9507-4F0A-80DB-F5A5DEE96C5C}"/>
              </a:ext>
            </a:extLst>
          </p:cNvPr>
          <p:cNvSpPr>
            <a:spLocks xmlns:a="http://schemas.openxmlformats.org/drawingml/2006/main" noGrp="1"/>
          </p:cNvSpPr>
          <p:nvPr/>
        </p:nvSpPr>
        <p:spPr>
          <a:xfrm xmlns:a="http://schemas.openxmlformats.org/drawingml/2006/main">
            <a:off x="905827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State limits</a:t>
            </a:r>
          </a:p>
        </p:txBody>
      </p:sp>
      <p:sp>
        <p:nvSpPr>
          <p:cNvPr id="27" name="">
            <a:extLst xmlns:a="http://schemas.openxmlformats.org/drawingml/2006/main">
              <a:ext uri="{FF2B5EF4-FFF2-40B4-BE49-F238E27FC236}">
                <a16:creationId xmlns:a16="http://schemas.microsoft.com/office/drawing/2014/main" id="{742C41AC-A7AC-4CA6-A780-D5B1408C9A6C}"/>
              </a:ext>
            </a:extLst>
          </p:cNvPr>
          <p:cNvSpPr>
            <a:spLocks xmlns:a="http://schemas.openxmlformats.org/drawingml/2006/main" noGrp="1"/>
          </p:cNvSpPr>
          <p:nvPr/>
        </p:nvSpPr>
        <p:spPr>
          <a:xfrm xmlns:a="http://schemas.openxmlformats.org/drawingml/2006/main">
            <a:off x="905827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Describe the observed pattern and identify what the view does not explain.</a:t>
            </a:r>
          </a:p>
        </p:txBody>
      </p:sp>
      <p:sp>
        <p:nvSpPr>
          <p:cNvPr id="28" name="">
            <a:extLst xmlns:a="http://schemas.openxmlformats.org/drawingml/2006/main">
              <a:ext uri="{FF2B5EF4-FFF2-40B4-BE49-F238E27FC236}">
                <a16:creationId xmlns:a16="http://schemas.microsoft.com/office/drawing/2014/main" id="{F481F2E7-B0CF-43DE-9487-7882886824FB}"/>
              </a:ext>
            </a:extLst>
          </p:cNvPr>
          <p:cNvSpPr>
            <a:spLocks xmlns:a="http://schemas.openxmlformats.org/drawingml/2006/main" noGrp="1"/>
          </p:cNvSpPr>
          <p:nvPr/>
        </p:nvSpPr>
        <p:spPr>
          <a:xfrm xmlns:a="http://schemas.openxmlformats.org/drawingml/2006/main">
            <a:off x="609600" y="364807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WORKED EXAMPLE</a:t>
            </a:r>
          </a:p>
        </p:txBody>
      </p:sp>
      <p:sp>
        <p:nvSpPr>
          <p:cNvPr id="29" name="">
            <a:extLst xmlns:a="http://schemas.openxmlformats.org/drawingml/2006/main">
              <a:ext uri="{FF2B5EF4-FFF2-40B4-BE49-F238E27FC236}">
                <a16:creationId xmlns:a16="http://schemas.microsoft.com/office/drawing/2014/main" id="{D11BB0CD-C38B-4006-9B95-DA9D5FD1195D}"/>
              </a:ext>
            </a:extLst>
          </p:cNvPr>
          <p:cNvSpPr>
            <a:spLocks xmlns:a="http://schemas.openxmlformats.org/drawingml/2006/main" noGrp="1"/>
          </p:cNvSpPr>
          <p:nvPr/>
        </p:nvSpPr>
        <p:spPr>
          <a:xfrm xmlns:a="http://schemas.openxmlformats.org/drawingml/2006/main">
            <a:off x="609600" y="3943350"/>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00" b="0">
                <a:solidFill>
                  <a:srgbClr val="142F42"/>
                </a:solidFill>
                <a:latin typeface="Arial"/>
                <a:ea typeface="Arial"/>
                <a:cs typeface="Arial"/>
              </a:defRPr>
            </a:pPr>
            <a:r>
              <a:rPr sz="1500" b="0">
                <a:solidFill>
                  <a:srgbClr val="142F42"/>
                </a:solidFill>
                <a:latin typeface="Arial"/>
                <a:ea typeface="Arial"/>
                <a:cs typeface="Arial"/>
              </a:rPr>
              <a:t>Illustrative question: “For the selected program, how did completed referrals change from the last quarter to this quarter, using the dashboard’s published completion definition?” Before discussing an answer, verify that the program, completion status and quarter filters match the question.</a:t>
            </a:r>
          </a:p>
        </p:txBody>
      </p:sp>
    </p:spTree>
    <p:extLst>
      <p:ext uri="{BB962C8B-B14F-4D97-AF65-F5344CB8AC3E}">
        <p14:creationId xmlns:p14="http://schemas.microsoft.com/office/powerpoint/2010/main" val="405992269"/>
      </p:ext>
    </p:extLst>
  </p:cSld>
</p:sld>
</file>

<file path=ppt/slides/slide24.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2D5A05F8-9B85-4807-8D9A-28D22D17B40B}"/>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WEEKS 4–5 / MODULE 6</a:t>
            </a:r>
          </a:p>
        </p:txBody>
      </p:sp>
      <p:sp>
        <p:nvSpPr>
          <p:cNvPr id="2" name="">
            <a:extLst xmlns:a="http://schemas.openxmlformats.org/drawingml/2006/main">
              <a:ext uri="{FF2B5EF4-FFF2-40B4-BE49-F238E27FC236}">
                <a16:creationId xmlns:a16="http://schemas.microsoft.com/office/drawing/2014/main" id="{208116F7-D9A4-4A35-9D34-9E0990B905F8}"/>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S5  |  Practical scenario &amp; exercise</a:t>
            </a:r>
          </a:p>
        </p:txBody>
      </p:sp>
      <p:sp>
        <p:nvSpPr>
          <p:cNvPr id="3" name="">
            <a:extLst xmlns:a="http://schemas.openxmlformats.org/drawingml/2006/main">
              <a:ext uri="{FF2B5EF4-FFF2-40B4-BE49-F238E27FC236}">
                <a16:creationId xmlns:a16="http://schemas.microsoft.com/office/drawing/2014/main" id="{E8765AAB-947B-4501-82F7-3F627E1DD8B3}"/>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80B20CC-C2ED-4C39-89B8-0E929377F7E6}"/>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790D974-93AE-414B-A120-9B613B3AC350}"/>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7BD05C2F-3453-4046-A25D-F73BACED5FE9}"/>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24</a:t>
            </a:r>
          </a:p>
        </p:txBody>
      </p:sp>
      <p:sp>
        <p:nvSpPr>
          <p:cNvPr id="7" name="">
            <a:extLst xmlns:a="http://schemas.openxmlformats.org/drawingml/2006/main">
              <a:ext uri="{FF2B5EF4-FFF2-40B4-BE49-F238E27FC236}">
                <a16:creationId xmlns:a16="http://schemas.microsoft.com/office/drawing/2014/main" id="{2B0204DA-7280-4EB4-897E-79C4EFD61D16}"/>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6 topic 6.1 and proposal p. 8. Lumenore features must be confirmed in DWIHN’s licensed environment.</a:t>
            </a:r>
          </a:p>
        </p:txBody>
      </p:sp>
      <p:sp>
        <p:nvSpPr>
          <p:cNvPr id="8" name="">
            <a:extLst xmlns:a="http://schemas.openxmlformats.org/drawingml/2006/main">
              <a:ext uri="{FF2B5EF4-FFF2-40B4-BE49-F238E27FC236}">
                <a16:creationId xmlns:a16="http://schemas.microsoft.com/office/drawing/2014/main" id="{B4ED818A-ECD2-432F-861A-1FDE328B3652}"/>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Lumenore: Ask a Better Question</a:t>
            </a:r>
          </a:p>
        </p:txBody>
      </p:sp>
      <p:sp>
        <p:nvSpPr>
          <p:cNvPr id="9" name="">
            <a:extLst xmlns:a="http://schemas.openxmlformats.org/drawingml/2006/main">
              <a:ext uri="{FF2B5EF4-FFF2-40B4-BE49-F238E27FC236}">
                <a16:creationId xmlns:a16="http://schemas.microsoft.com/office/drawing/2014/main" id="{E7642B5E-C33B-485A-BD1F-B827ED3911C8}"/>
              </a:ext>
            </a:extLst>
          </p:cNvPr>
          <p:cNvSpPr>
            <a:spLocks xmlns:a="http://schemas.openxmlformats.org/drawingml/2006/main" noGrp="1"/>
          </p:cNvSpPr>
          <p:nvPr/>
        </p:nvSpPr>
        <p:spPr>
          <a:xfrm xmlns:a="http://schemas.openxmlformats.org/drawingml/2006/main">
            <a:off x="609600" y="1981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SCENARIO</a:t>
            </a:r>
          </a:p>
        </p:txBody>
      </p:sp>
      <p:sp>
        <p:nvSpPr>
          <p:cNvPr id="10" name="">
            <a:extLst xmlns:a="http://schemas.openxmlformats.org/drawingml/2006/main">
              <a:ext uri="{FF2B5EF4-FFF2-40B4-BE49-F238E27FC236}">
                <a16:creationId xmlns:a16="http://schemas.microsoft.com/office/drawing/2014/main" id="{D4808354-D021-4525-8D65-62F44580DF84}"/>
              </a:ext>
            </a:extLst>
          </p:cNvPr>
          <p:cNvSpPr>
            <a:spLocks xmlns:a="http://schemas.openxmlformats.org/drawingml/2006/main" noGrp="1"/>
          </p:cNvSpPr>
          <p:nvPr/>
        </p:nvSpPr>
        <p:spPr>
          <a:xfrm xmlns:a="http://schemas.openxmlformats.org/drawingml/2006/main">
            <a:off x="609600" y="2266950"/>
            <a:ext cx="109728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D4DFE3"/>
            </a:solidFill>
          </a:ln>
        </p:spPr>
      </p:sp>
      <p:sp>
        <p:nvSpPr>
          <p:cNvPr id="11" name="">
            <a:extLst xmlns:a="http://schemas.openxmlformats.org/drawingml/2006/main">
              <a:ext uri="{FF2B5EF4-FFF2-40B4-BE49-F238E27FC236}">
                <a16:creationId xmlns:a16="http://schemas.microsoft.com/office/drawing/2014/main" id="{5A81880B-2B8E-4697-BB5A-DC36F53F611A}"/>
              </a:ext>
            </a:extLst>
          </p:cNvPr>
          <p:cNvSpPr>
            <a:spLocks xmlns:a="http://schemas.openxmlformats.org/drawingml/2006/main" noGrp="1"/>
          </p:cNvSpPr>
          <p:nvPr/>
        </p:nvSpPr>
        <p:spPr>
          <a:xfrm xmlns:a="http://schemas.openxmlformats.org/drawingml/2006/main">
            <a:off x="819150" y="2447925"/>
            <a:ext cx="10525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142F42"/>
                </a:solidFill>
                <a:latin typeface="Arial"/>
                <a:ea typeface="Arial"/>
                <a:cs typeface="Arial"/>
              </a:defRPr>
            </a:pPr>
            <a:r>
              <a:rPr sz="1425" b="0">
                <a:solidFill>
                  <a:srgbClr val="142F42"/>
                </a:solidFill>
                <a:latin typeface="Arial"/>
                <a:ea typeface="Arial"/>
                <a:cs typeface="Arial"/>
              </a:rPr>
              <a:t>A manager sees a number change after selecting a program filter. A colleague says the change proves the program is less effective, but the date range and completion definition have not been checked.</a:t>
            </a:r>
          </a:p>
        </p:txBody>
      </p:sp>
      <p:sp>
        <p:nvSpPr>
          <p:cNvPr id="12" name="">
            <a:extLst xmlns:a="http://schemas.openxmlformats.org/drawingml/2006/main">
              <a:ext uri="{FF2B5EF4-FFF2-40B4-BE49-F238E27FC236}">
                <a16:creationId xmlns:a16="http://schemas.microsoft.com/office/drawing/2014/main" id="{855F260E-C54E-48D3-8147-858BE2F95C45}"/>
              </a:ext>
            </a:extLst>
          </p:cNvPr>
          <p:cNvSpPr>
            <a:spLocks xmlns:a="http://schemas.openxmlformats.org/drawingml/2006/main" noGrp="1"/>
          </p:cNvSpPr>
          <p:nvPr/>
        </p:nvSpPr>
        <p:spPr>
          <a:xfrm xmlns:a="http://schemas.openxmlformats.org/drawingml/2006/main">
            <a:off x="609600" y="34861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 THE CASE</a:t>
            </a:r>
          </a:p>
        </p:txBody>
      </p:sp>
      <p:sp>
        <p:nvSpPr>
          <p:cNvPr id="13" name="">
            <a:extLst xmlns:a="http://schemas.openxmlformats.org/drawingml/2006/main">
              <a:ext uri="{FF2B5EF4-FFF2-40B4-BE49-F238E27FC236}">
                <a16:creationId xmlns:a16="http://schemas.microsoft.com/office/drawing/2014/main" id="{C136F380-603A-43AA-8089-54D27AF383B9}"/>
              </a:ext>
            </a:extLst>
          </p:cNvPr>
          <p:cNvSpPr>
            <a:spLocks xmlns:a="http://schemas.openxmlformats.org/drawingml/2006/main" noGrp="1"/>
          </p:cNvSpPr>
          <p:nvPr/>
        </p:nvSpPr>
        <p:spPr>
          <a:xfrm xmlns:a="http://schemas.openxmlformats.org/drawingml/2006/main">
            <a:off x="609600" y="38195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4" name="">
            <a:extLst xmlns:a="http://schemas.openxmlformats.org/drawingml/2006/main">
              <a:ext uri="{FF2B5EF4-FFF2-40B4-BE49-F238E27FC236}">
                <a16:creationId xmlns:a16="http://schemas.microsoft.com/office/drawing/2014/main" id="{E5D2DF69-D5B1-4F24-9D39-A2D9EFE8B24B}"/>
              </a:ext>
            </a:extLst>
          </p:cNvPr>
          <p:cNvSpPr>
            <a:spLocks xmlns:a="http://schemas.openxmlformats.org/drawingml/2006/main" noGrp="1"/>
          </p:cNvSpPr>
          <p:nvPr/>
        </p:nvSpPr>
        <p:spPr>
          <a:xfrm xmlns:a="http://schemas.openxmlformats.org/drawingml/2006/main">
            <a:off x="1066800" y="38195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Write a precise question from the decision the manager needs to support.</a:t>
            </a:r>
          </a:p>
        </p:txBody>
      </p:sp>
      <p:sp>
        <p:nvSpPr>
          <p:cNvPr id="15" name="">
            <a:extLst xmlns:a="http://schemas.openxmlformats.org/drawingml/2006/main">
              <a:ext uri="{FF2B5EF4-FFF2-40B4-BE49-F238E27FC236}">
                <a16:creationId xmlns:a16="http://schemas.microsoft.com/office/drawing/2014/main" id="{143BAF02-45ED-419C-9B22-6962176BDCA8}"/>
              </a:ext>
            </a:extLst>
          </p:cNvPr>
          <p:cNvSpPr>
            <a:spLocks xmlns:a="http://schemas.openxmlformats.org/drawingml/2006/main" noGrp="1"/>
          </p:cNvSpPr>
          <p:nvPr/>
        </p:nvSpPr>
        <p:spPr>
          <a:xfrm xmlns:a="http://schemas.openxmlformats.org/drawingml/2006/main">
            <a:off x="609600" y="43338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4A4C6D9D-834C-4FE6-B9F8-782131C0D127}"/>
              </a:ext>
            </a:extLst>
          </p:cNvPr>
          <p:cNvSpPr>
            <a:spLocks xmlns:a="http://schemas.openxmlformats.org/drawingml/2006/main" noGrp="1"/>
          </p:cNvSpPr>
          <p:nvPr/>
        </p:nvSpPr>
        <p:spPr>
          <a:xfrm xmlns:a="http://schemas.openxmlformats.org/drawingml/2006/main">
            <a:off x="1066800" y="433387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074"/>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Inspect the simulated query result and identify its measure, population, time range and filters.</a:t>
            </a:r>
          </a:p>
        </p:txBody>
      </p:sp>
      <p:sp>
        <p:nvSpPr>
          <p:cNvPr id="17" name="">
            <a:extLst xmlns:a="http://schemas.openxmlformats.org/drawingml/2006/main">
              <a:ext uri="{FF2B5EF4-FFF2-40B4-BE49-F238E27FC236}">
                <a16:creationId xmlns:a16="http://schemas.microsoft.com/office/drawing/2014/main" id="{D31A356D-3DD7-45F4-937A-FB1AACACFADB}"/>
              </a:ext>
            </a:extLst>
          </p:cNvPr>
          <p:cNvSpPr>
            <a:spLocks xmlns:a="http://schemas.openxmlformats.org/drawingml/2006/main" noGrp="1"/>
          </p:cNvSpPr>
          <p:nvPr/>
        </p:nvSpPr>
        <p:spPr>
          <a:xfrm xmlns:a="http://schemas.openxmlformats.org/drawingml/2006/main">
            <a:off x="609600" y="4848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09EC24DA-4017-4327-B711-9A4F23421600}"/>
              </a:ext>
            </a:extLst>
          </p:cNvPr>
          <p:cNvSpPr>
            <a:spLocks xmlns:a="http://schemas.openxmlformats.org/drawingml/2006/main" noGrp="1"/>
          </p:cNvSpPr>
          <p:nvPr/>
        </p:nvSpPr>
        <p:spPr>
          <a:xfrm xmlns:a="http://schemas.openxmlformats.org/drawingml/2006/main">
            <a:off x="1066800" y="48482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Draft a neutral summary and one follow-up question for the data owner.</a:t>
            </a:r>
          </a:p>
        </p:txBody>
      </p:sp>
      <p:sp>
        <p:nvSpPr>
          <p:cNvPr id="19" name="">
            <a:extLst xmlns:a="http://schemas.openxmlformats.org/drawingml/2006/main">
              <a:ext uri="{FF2B5EF4-FFF2-40B4-BE49-F238E27FC236}">
                <a16:creationId xmlns:a16="http://schemas.microsoft.com/office/drawing/2014/main" id="{2561F219-3434-4800-ADE6-0771AC995315}"/>
              </a:ext>
            </a:extLst>
          </p:cNvPr>
          <p:cNvSpPr>
            <a:spLocks xmlns:a="http://schemas.openxmlformats.org/drawingml/2006/main" noGrp="1"/>
          </p:cNvSpPr>
          <p:nvPr/>
        </p:nvSpPr>
        <p:spPr>
          <a:xfrm xmlns:a="http://schemas.openxmlformats.org/drawingml/2006/main">
            <a:off x="7886700" y="3486150"/>
            <a:ext cx="19050" cy="219075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D7AAC31-ED5E-4E48-861F-44D8B724169B}"/>
              </a:ext>
            </a:extLst>
          </p:cNvPr>
          <p:cNvSpPr>
            <a:spLocks xmlns:a="http://schemas.openxmlformats.org/drawingml/2006/main" noGrp="1"/>
          </p:cNvSpPr>
          <p:nvPr/>
        </p:nvSpPr>
        <p:spPr>
          <a:xfrm xmlns:a="http://schemas.openxmlformats.org/drawingml/2006/main">
            <a:off x="8229600" y="3505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EXPECTED DELIVERABLE</a:t>
            </a:r>
          </a:p>
        </p:txBody>
      </p:sp>
      <p:sp>
        <p:nvSpPr>
          <p:cNvPr id="21" name="">
            <a:extLst xmlns:a="http://schemas.openxmlformats.org/drawingml/2006/main">
              <a:ext uri="{FF2B5EF4-FFF2-40B4-BE49-F238E27FC236}">
                <a16:creationId xmlns:a16="http://schemas.microsoft.com/office/drawing/2014/main" id="{B5319C45-1E4D-404A-B625-8C1CE61D953C}"/>
              </a:ext>
            </a:extLst>
          </p:cNvPr>
          <p:cNvSpPr>
            <a:spLocks xmlns:a="http://schemas.openxmlformats.org/drawingml/2006/main" noGrp="1"/>
          </p:cNvSpPr>
          <p:nvPr/>
        </p:nvSpPr>
        <p:spPr>
          <a:xfrm xmlns:a="http://schemas.openxmlformats.org/drawingml/2006/main">
            <a:off x="8229600" y="3819525"/>
            <a:ext cx="3086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A question card with the decision, measure, population, period, comparison and verification checks.</a:t>
            </a:r>
          </a:p>
        </p:txBody>
      </p:sp>
      <p:sp>
        <p:nvSpPr>
          <p:cNvPr id="22" name="">
            <a:extLst xmlns:a="http://schemas.openxmlformats.org/drawingml/2006/main">
              <a:ext uri="{FF2B5EF4-FFF2-40B4-BE49-F238E27FC236}">
                <a16:creationId xmlns:a16="http://schemas.microsoft.com/office/drawing/2014/main" id="{F1F07B9D-139E-4316-9623-FC3A8F464015}"/>
              </a:ext>
            </a:extLst>
          </p:cNvPr>
          <p:cNvSpPr>
            <a:spLocks xmlns:a="http://schemas.openxmlformats.org/drawingml/2006/main" noGrp="1"/>
          </p:cNvSpPr>
          <p:nvPr/>
        </p:nvSpPr>
        <p:spPr>
          <a:xfrm xmlns:a="http://schemas.openxmlformats.org/drawingml/2006/main">
            <a:off x="8229600" y="469582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REVIEW CRITERIA</a:t>
            </a:r>
          </a:p>
        </p:txBody>
      </p:sp>
      <p:sp>
        <p:nvSpPr>
          <p:cNvPr id="23" name="">
            <a:extLst xmlns:a="http://schemas.openxmlformats.org/drawingml/2006/main">
              <a:ext uri="{FF2B5EF4-FFF2-40B4-BE49-F238E27FC236}">
                <a16:creationId xmlns:a16="http://schemas.microsoft.com/office/drawing/2014/main" id="{4FE9F9F5-2776-4885-9414-ECE6AE6E19EF}"/>
              </a:ext>
            </a:extLst>
          </p:cNvPr>
          <p:cNvSpPr>
            <a:spLocks xmlns:a="http://schemas.openxmlformats.org/drawingml/2006/main" noGrp="1"/>
          </p:cNvSpPr>
          <p:nvPr/>
        </p:nvSpPr>
        <p:spPr>
          <a:xfrm xmlns:a="http://schemas.openxmlformats.org/drawingml/2006/main">
            <a:off x="8229600" y="4991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The question can be answered using a defined measure.</a:t>
            </a:r>
          </a:p>
        </p:txBody>
      </p:sp>
      <p:sp>
        <p:nvSpPr>
          <p:cNvPr id="24" name="">
            <a:extLst xmlns:a="http://schemas.openxmlformats.org/drawingml/2006/main">
              <a:ext uri="{FF2B5EF4-FFF2-40B4-BE49-F238E27FC236}">
                <a16:creationId xmlns:a16="http://schemas.microsoft.com/office/drawing/2014/main" id="{8369753F-0589-433A-83D5-6041D40373BC}"/>
              </a:ext>
            </a:extLst>
          </p:cNvPr>
          <p:cNvSpPr>
            <a:spLocks xmlns:a="http://schemas.openxmlformats.org/drawingml/2006/main" noGrp="1"/>
          </p:cNvSpPr>
          <p:nvPr/>
        </p:nvSpPr>
        <p:spPr>
          <a:xfrm xmlns:a="http://schemas.openxmlformats.org/drawingml/2006/main">
            <a:off x="8229600" y="5372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The learner checks filters and period rather than trusting a natural-language response.</a:t>
            </a:r>
          </a:p>
        </p:txBody>
      </p:sp>
      <p:sp>
        <p:nvSpPr>
          <p:cNvPr id="25" name="">
            <a:extLst xmlns:a="http://schemas.openxmlformats.org/drawingml/2006/main">
              <a:ext uri="{FF2B5EF4-FFF2-40B4-BE49-F238E27FC236}">
                <a16:creationId xmlns:a16="http://schemas.microsoft.com/office/drawing/2014/main" id="{1CA20B09-5B04-4C34-951C-1D9EE1CF7E17}"/>
              </a:ext>
            </a:extLst>
          </p:cNvPr>
          <p:cNvSpPr>
            <a:spLocks xmlns:a="http://schemas.openxmlformats.org/drawingml/2006/main" noGrp="1"/>
          </p:cNvSpPr>
          <p:nvPr/>
        </p:nvSpPr>
        <p:spPr>
          <a:xfrm xmlns:a="http://schemas.openxmlformats.org/drawingml/2006/main">
            <a:off x="8229600" y="5753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The interpretation does not claim a cause without evidence.</a:t>
            </a:r>
          </a:p>
        </p:txBody>
      </p:sp>
    </p:spTree>
    <p:extLst>
      <p:ext uri="{BB962C8B-B14F-4D97-AF65-F5344CB8AC3E}">
        <p14:creationId xmlns:p14="http://schemas.microsoft.com/office/powerpoint/2010/main" val="1497643076"/>
      </p:ext>
    </p:extLst>
  </p:cSld>
</p:sld>
</file>

<file path=ppt/slides/slide25.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82CCD11A-D6DC-4896-B59D-27D56A01E95F}"/>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WEEKS 4–5 / MODULE 6</a:t>
            </a:r>
          </a:p>
        </p:txBody>
      </p:sp>
      <p:sp>
        <p:nvSpPr>
          <p:cNvPr id="2" name="">
            <a:extLst xmlns:a="http://schemas.openxmlformats.org/drawingml/2006/main">
              <a:ext uri="{FF2B5EF4-FFF2-40B4-BE49-F238E27FC236}">
                <a16:creationId xmlns:a16="http://schemas.microsoft.com/office/drawing/2014/main" id="{4577A662-7FE0-4C2B-A65F-3E13DA2E0A3A}"/>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S5  |  Q&amp;A and knowledge check</a:t>
            </a:r>
          </a:p>
        </p:txBody>
      </p:sp>
      <p:sp>
        <p:nvSpPr>
          <p:cNvPr id="3" name="">
            <a:extLst xmlns:a="http://schemas.openxmlformats.org/drawingml/2006/main">
              <a:ext uri="{FF2B5EF4-FFF2-40B4-BE49-F238E27FC236}">
                <a16:creationId xmlns:a16="http://schemas.microsoft.com/office/drawing/2014/main" id="{8875D480-915F-4B9A-BFE0-DEBC17E610E8}"/>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A56A47F-5939-44BB-86A5-8795CA9C0E28}"/>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42ABA5D-9F1B-455D-9B61-147E6D552997}"/>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CE480E75-674A-486B-9CF6-3B2A1F9FD29A}"/>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25</a:t>
            </a:r>
          </a:p>
        </p:txBody>
      </p:sp>
      <p:sp>
        <p:nvSpPr>
          <p:cNvPr id="7" name="">
            <a:extLst xmlns:a="http://schemas.openxmlformats.org/drawingml/2006/main">
              <a:ext uri="{FF2B5EF4-FFF2-40B4-BE49-F238E27FC236}">
                <a16:creationId xmlns:a16="http://schemas.microsoft.com/office/drawing/2014/main" id="{EABB00CF-3822-44AC-8F85-4FB80004413E}"/>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6 topic 6.1 and proposal p. 8. Lumenore features must be confirmed in DWIHN’s licensed environment.</a:t>
            </a:r>
          </a:p>
        </p:txBody>
      </p:sp>
      <p:sp>
        <p:nvSpPr>
          <p:cNvPr id="8" name="">
            <a:extLst xmlns:a="http://schemas.openxmlformats.org/drawingml/2006/main">
              <a:ext uri="{FF2B5EF4-FFF2-40B4-BE49-F238E27FC236}">
                <a16:creationId xmlns:a16="http://schemas.microsoft.com/office/drawing/2014/main" id="{3BE9DFBD-C1E6-4634-A643-49E83076A76A}"/>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Lumenore: Ask a Better Question</a:t>
            </a:r>
          </a:p>
        </p:txBody>
      </p:sp>
      <p:sp>
        <p:nvSpPr>
          <p:cNvPr id="9" name="">
            <a:extLst xmlns:a="http://schemas.openxmlformats.org/drawingml/2006/main">
              <a:ext uri="{FF2B5EF4-FFF2-40B4-BE49-F238E27FC236}">
                <a16:creationId xmlns:a16="http://schemas.microsoft.com/office/drawing/2014/main" id="{3E421DB9-B1C7-4747-8738-17C409761A49}"/>
              </a:ext>
            </a:extLst>
          </p:cNvPr>
          <p:cNvSpPr>
            <a:spLocks xmlns:a="http://schemas.openxmlformats.org/drawingml/2006/main" noGrp="1"/>
          </p:cNvSpPr>
          <p:nvPr/>
        </p:nvSpPr>
        <p:spPr>
          <a:xfrm xmlns:a="http://schemas.openxmlformats.org/drawingml/2006/main">
            <a:off x="609600" y="19240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Invite questions first. Use the answer cues to clarify the principle; route local policy questions to the right DWIHN owner.</a:t>
            </a:r>
          </a:p>
        </p:txBody>
      </p:sp>
      <p:sp>
        <p:nvSpPr>
          <p:cNvPr id="10" name="">
            <a:extLst xmlns:a="http://schemas.openxmlformats.org/drawingml/2006/main">
              <a:ext uri="{FF2B5EF4-FFF2-40B4-BE49-F238E27FC236}">
                <a16:creationId xmlns:a16="http://schemas.microsoft.com/office/drawing/2014/main" id="{38CBE180-E1E7-4F6E-9E81-60B4BCAF7EEA}"/>
              </a:ext>
            </a:extLst>
          </p:cNvPr>
          <p:cNvSpPr>
            <a:spLocks xmlns:a="http://schemas.openxmlformats.org/drawingml/2006/main" noGrp="1"/>
          </p:cNvSpPr>
          <p:nvPr/>
        </p:nvSpPr>
        <p:spPr>
          <a:xfrm xmlns:a="http://schemas.openxmlformats.org/drawingml/2006/main">
            <a:off x="609600" y="26384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Q1</a:t>
            </a:r>
          </a:p>
        </p:txBody>
      </p:sp>
      <p:sp>
        <p:nvSpPr>
          <p:cNvPr id="11" name="">
            <a:extLst xmlns:a="http://schemas.openxmlformats.org/drawingml/2006/main">
              <a:ext uri="{FF2B5EF4-FFF2-40B4-BE49-F238E27FC236}">
                <a16:creationId xmlns:a16="http://schemas.microsoft.com/office/drawing/2014/main" id="{0054BA8C-10D0-4CCD-A024-3CB0A790BF0E}"/>
              </a:ext>
            </a:extLst>
          </p:cNvPr>
          <p:cNvSpPr>
            <a:spLocks xmlns:a="http://schemas.openxmlformats.org/drawingml/2006/main" noGrp="1"/>
          </p:cNvSpPr>
          <p:nvPr/>
        </p:nvSpPr>
        <p:spPr>
          <a:xfrm xmlns:a="http://schemas.openxmlformats.org/drawingml/2006/main">
            <a:off x="1162050" y="26384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Can Ask Me answer any DWIHN question?</a:t>
            </a:r>
          </a:p>
        </p:txBody>
      </p:sp>
      <p:sp>
        <p:nvSpPr>
          <p:cNvPr id="12" name="">
            <a:extLst xmlns:a="http://schemas.openxmlformats.org/drawingml/2006/main">
              <a:ext uri="{FF2B5EF4-FFF2-40B4-BE49-F238E27FC236}">
                <a16:creationId xmlns:a16="http://schemas.microsoft.com/office/drawing/2014/main" id="{8F1F2D07-FB44-449A-963E-874A45A928E7}"/>
              </a:ext>
            </a:extLst>
          </p:cNvPr>
          <p:cNvSpPr>
            <a:spLocks xmlns:a="http://schemas.openxmlformats.org/drawingml/2006/main" noGrp="1"/>
          </p:cNvSpPr>
          <p:nvPr/>
        </p:nvSpPr>
        <p:spPr>
          <a:xfrm xmlns:a="http://schemas.openxmlformats.org/drawingml/2006/main">
            <a:off x="6000750" y="26384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3" name="">
            <a:extLst xmlns:a="http://schemas.openxmlformats.org/drawingml/2006/main">
              <a:ext uri="{FF2B5EF4-FFF2-40B4-BE49-F238E27FC236}">
                <a16:creationId xmlns:a16="http://schemas.microsoft.com/office/drawing/2014/main" id="{1B622D76-4334-4688-864E-5DB1CAE90A87}"/>
              </a:ext>
            </a:extLst>
          </p:cNvPr>
          <p:cNvSpPr>
            <a:spLocks xmlns:a="http://schemas.openxmlformats.org/drawingml/2006/main" noGrp="1"/>
          </p:cNvSpPr>
          <p:nvPr/>
        </p:nvSpPr>
        <p:spPr>
          <a:xfrm xmlns:a="http://schemas.openxmlformats.org/drawingml/2006/main">
            <a:off x="6000750" y="28765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No. The feature and data available depend on licensing and configuration; check what is enabled.</a:t>
            </a:r>
          </a:p>
        </p:txBody>
      </p:sp>
      <p:sp>
        <p:nvSpPr>
          <p:cNvPr id="14" name="">
            <a:extLst xmlns:a="http://schemas.openxmlformats.org/drawingml/2006/main">
              <a:ext uri="{FF2B5EF4-FFF2-40B4-BE49-F238E27FC236}">
                <a16:creationId xmlns:a16="http://schemas.microsoft.com/office/drawing/2014/main" id="{D2573218-31FF-4F94-A297-197FBE4E109C}"/>
              </a:ext>
            </a:extLst>
          </p:cNvPr>
          <p:cNvSpPr>
            <a:spLocks xmlns:a="http://schemas.openxmlformats.org/drawingml/2006/main" noGrp="1"/>
          </p:cNvSpPr>
          <p:nvPr/>
        </p:nvSpPr>
        <p:spPr>
          <a:xfrm xmlns:a="http://schemas.openxmlformats.org/drawingml/2006/main">
            <a:off x="609600" y="343852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C36DD58-5A1B-45AD-A067-1837900254E1}"/>
              </a:ext>
            </a:extLst>
          </p:cNvPr>
          <p:cNvSpPr>
            <a:spLocks xmlns:a="http://schemas.openxmlformats.org/drawingml/2006/main" noGrp="1"/>
          </p:cNvSpPr>
          <p:nvPr/>
        </p:nvSpPr>
        <p:spPr>
          <a:xfrm xmlns:a="http://schemas.openxmlformats.org/drawingml/2006/main">
            <a:off x="609600" y="35718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Q2</a:t>
            </a:r>
          </a:p>
        </p:txBody>
      </p:sp>
      <p:sp>
        <p:nvSpPr>
          <p:cNvPr id="16" name="">
            <a:extLst xmlns:a="http://schemas.openxmlformats.org/drawingml/2006/main">
              <a:ext uri="{FF2B5EF4-FFF2-40B4-BE49-F238E27FC236}">
                <a16:creationId xmlns:a16="http://schemas.microsoft.com/office/drawing/2014/main" id="{D4CE279A-5A8B-453D-8D12-F1C0DD31F296}"/>
              </a:ext>
            </a:extLst>
          </p:cNvPr>
          <p:cNvSpPr>
            <a:spLocks xmlns:a="http://schemas.openxmlformats.org/drawingml/2006/main" noGrp="1"/>
          </p:cNvSpPr>
          <p:nvPr/>
        </p:nvSpPr>
        <p:spPr>
          <a:xfrm xmlns:a="http://schemas.openxmlformats.org/drawingml/2006/main">
            <a:off x="1162050" y="357187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Why can two valid views show different numbers?</a:t>
            </a:r>
          </a:p>
        </p:txBody>
      </p:sp>
      <p:sp>
        <p:nvSpPr>
          <p:cNvPr id="17" name="">
            <a:extLst xmlns:a="http://schemas.openxmlformats.org/drawingml/2006/main">
              <a:ext uri="{FF2B5EF4-FFF2-40B4-BE49-F238E27FC236}">
                <a16:creationId xmlns:a16="http://schemas.microsoft.com/office/drawing/2014/main" id="{2CAB5A9A-84B8-43FB-85B9-225F9B5123DC}"/>
              </a:ext>
            </a:extLst>
          </p:cNvPr>
          <p:cNvSpPr>
            <a:spLocks xmlns:a="http://schemas.openxmlformats.org/drawingml/2006/main" noGrp="1"/>
          </p:cNvSpPr>
          <p:nvPr/>
        </p:nvSpPr>
        <p:spPr>
          <a:xfrm xmlns:a="http://schemas.openxmlformats.org/drawingml/2006/main">
            <a:off x="6000750" y="357187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8" name="">
            <a:extLst xmlns:a="http://schemas.openxmlformats.org/drawingml/2006/main">
              <a:ext uri="{FF2B5EF4-FFF2-40B4-BE49-F238E27FC236}">
                <a16:creationId xmlns:a16="http://schemas.microsoft.com/office/drawing/2014/main" id="{B859D914-2404-4DD3-930D-730D1F3B54E9}"/>
              </a:ext>
            </a:extLst>
          </p:cNvPr>
          <p:cNvSpPr>
            <a:spLocks xmlns:a="http://schemas.openxmlformats.org/drawingml/2006/main" noGrp="1"/>
          </p:cNvSpPr>
          <p:nvPr/>
        </p:nvSpPr>
        <p:spPr>
          <a:xfrm xmlns:a="http://schemas.openxmlformats.org/drawingml/2006/main">
            <a:off x="6000750" y="381000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They may use different definitions, periods, populations, filters or refresh dates.</a:t>
            </a:r>
          </a:p>
        </p:txBody>
      </p:sp>
      <p:sp>
        <p:nvSpPr>
          <p:cNvPr id="19" name="">
            <a:extLst xmlns:a="http://schemas.openxmlformats.org/drawingml/2006/main">
              <a:ext uri="{FF2B5EF4-FFF2-40B4-BE49-F238E27FC236}">
                <a16:creationId xmlns:a16="http://schemas.microsoft.com/office/drawing/2014/main" id="{2A009D6A-A24C-46F0-83F7-A6930C6AAD54}"/>
              </a:ext>
            </a:extLst>
          </p:cNvPr>
          <p:cNvSpPr>
            <a:spLocks xmlns:a="http://schemas.openxmlformats.org/drawingml/2006/main" noGrp="1"/>
          </p:cNvSpPr>
          <p:nvPr/>
        </p:nvSpPr>
        <p:spPr>
          <a:xfrm xmlns:a="http://schemas.openxmlformats.org/drawingml/2006/main">
            <a:off x="609600" y="437197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8D9EAD4-5F82-4791-B861-0D76675006AF}"/>
              </a:ext>
            </a:extLst>
          </p:cNvPr>
          <p:cNvSpPr>
            <a:spLocks xmlns:a="http://schemas.openxmlformats.org/drawingml/2006/main" noGrp="1"/>
          </p:cNvSpPr>
          <p:nvPr/>
        </p:nvSpPr>
        <p:spPr>
          <a:xfrm xmlns:a="http://schemas.openxmlformats.org/drawingml/2006/main">
            <a:off x="609600" y="45053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Q3</a:t>
            </a:r>
          </a:p>
        </p:txBody>
      </p:sp>
      <p:sp>
        <p:nvSpPr>
          <p:cNvPr id="21" name="">
            <a:extLst xmlns:a="http://schemas.openxmlformats.org/drawingml/2006/main">
              <a:ext uri="{FF2B5EF4-FFF2-40B4-BE49-F238E27FC236}">
                <a16:creationId xmlns:a16="http://schemas.microsoft.com/office/drawing/2014/main" id="{AFB9322A-4FFE-4082-BB07-AFB438A2E7F9}"/>
              </a:ext>
            </a:extLst>
          </p:cNvPr>
          <p:cNvSpPr>
            <a:spLocks xmlns:a="http://schemas.openxmlformats.org/drawingml/2006/main" noGrp="1"/>
          </p:cNvSpPr>
          <p:nvPr/>
        </p:nvSpPr>
        <p:spPr>
          <a:xfrm xmlns:a="http://schemas.openxmlformats.org/drawingml/2006/main">
            <a:off x="1162050" y="45053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What if the result does not match a known dashboard?</a:t>
            </a:r>
          </a:p>
        </p:txBody>
      </p:sp>
      <p:sp>
        <p:nvSpPr>
          <p:cNvPr id="22" name="">
            <a:extLst xmlns:a="http://schemas.openxmlformats.org/drawingml/2006/main">
              <a:ext uri="{FF2B5EF4-FFF2-40B4-BE49-F238E27FC236}">
                <a16:creationId xmlns:a16="http://schemas.microsoft.com/office/drawing/2014/main" id="{4898862E-D4DB-4A5B-A82F-BFB1F5D79FC3}"/>
              </a:ext>
            </a:extLst>
          </p:cNvPr>
          <p:cNvSpPr>
            <a:spLocks xmlns:a="http://schemas.openxmlformats.org/drawingml/2006/main" noGrp="1"/>
          </p:cNvSpPr>
          <p:nvPr/>
        </p:nvSpPr>
        <p:spPr>
          <a:xfrm xmlns:a="http://schemas.openxmlformats.org/drawingml/2006/main">
            <a:off x="6000750" y="45053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23" name="">
            <a:extLst xmlns:a="http://schemas.openxmlformats.org/drawingml/2006/main">
              <a:ext uri="{FF2B5EF4-FFF2-40B4-BE49-F238E27FC236}">
                <a16:creationId xmlns:a16="http://schemas.microsoft.com/office/drawing/2014/main" id="{C87014E8-5467-4B6E-BF11-973F29C7B29F}"/>
              </a:ext>
            </a:extLst>
          </p:cNvPr>
          <p:cNvSpPr>
            <a:spLocks xmlns:a="http://schemas.openxmlformats.org/drawingml/2006/main" noGrp="1"/>
          </p:cNvSpPr>
          <p:nvPr/>
        </p:nvSpPr>
        <p:spPr>
          <a:xfrm xmlns:a="http://schemas.openxmlformats.org/drawingml/2006/main">
            <a:off x="6000750" y="47434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Pause, compare filters and definitions, then ask the data or platform owner to investigate.</a:t>
            </a:r>
          </a:p>
        </p:txBody>
      </p:sp>
      <p:sp>
        <p:nvSpPr>
          <p:cNvPr id="24" name="">
            <a:extLst xmlns:a="http://schemas.openxmlformats.org/drawingml/2006/main">
              <a:ext uri="{FF2B5EF4-FFF2-40B4-BE49-F238E27FC236}">
                <a16:creationId xmlns:a16="http://schemas.microsoft.com/office/drawing/2014/main" id="{968302C9-4BEA-4877-88F4-A6E2758065D8}"/>
              </a:ext>
            </a:extLst>
          </p:cNvPr>
          <p:cNvSpPr>
            <a:spLocks xmlns:a="http://schemas.openxmlformats.org/drawingml/2006/main" noGrp="1"/>
          </p:cNvSpPr>
          <p:nvPr/>
        </p:nvSpPr>
        <p:spPr>
          <a:xfrm xmlns:a="http://schemas.openxmlformats.org/drawingml/2006/main">
            <a:off x="609600" y="55435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10C6261A-D97D-4E08-8F22-D655F6076231}"/>
              </a:ext>
            </a:extLst>
          </p:cNvPr>
          <p:cNvSpPr>
            <a:spLocks xmlns:a="http://schemas.openxmlformats.org/drawingml/2006/main" noGrp="1"/>
          </p:cNvSpPr>
          <p:nvPr/>
        </p:nvSpPr>
        <p:spPr>
          <a:xfrm xmlns:a="http://schemas.openxmlformats.org/drawingml/2006/main">
            <a:off x="609600" y="57150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Remember</a:t>
            </a:r>
          </a:p>
        </p:txBody>
      </p:sp>
      <p:sp>
        <p:nvSpPr>
          <p:cNvPr id="26" name="">
            <a:extLst xmlns:a="http://schemas.openxmlformats.org/drawingml/2006/main">
              <a:ext uri="{FF2B5EF4-FFF2-40B4-BE49-F238E27FC236}">
                <a16:creationId xmlns:a16="http://schemas.microsoft.com/office/drawing/2014/main" id="{6F1BF47D-C12F-4305-A9E3-315DF656EB5A}"/>
              </a:ext>
            </a:extLst>
          </p:cNvPr>
          <p:cNvSpPr>
            <a:spLocks xmlns:a="http://schemas.openxmlformats.org/drawingml/2006/main" noGrp="1"/>
          </p:cNvSpPr>
          <p:nvPr/>
        </p:nvSpPr>
        <p:spPr>
          <a:xfrm xmlns:a="http://schemas.openxmlformats.org/drawingml/2006/main">
            <a:off x="1924050" y="5686425"/>
            <a:ext cx="9429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039"/>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Make the question specific enough to reproduce.   •   Verify the view before interpreting it.   •   Use findings to focus inquiry, not to invent a cause.</a:t>
            </a:r>
          </a:p>
        </p:txBody>
      </p:sp>
    </p:spTree>
    <p:extLst>
      <p:ext uri="{BB962C8B-B14F-4D97-AF65-F5344CB8AC3E}">
        <p14:creationId xmlns:p14="http://schemas.microsoft.com/office/powerpoint/2010/main" val="1528400692"/>
      </p:ext>
    </p:extLst>
  </p:cSld>
</p:sld>
</file>

<file path=ppt/slides/slide26.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381A88B-82FE-4404-A078-67B28CB073E7}"/>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WEEKS 4–5 / MODULE 6</a:t>
            </a:r>
          </a:p>
        </p:txBody>
      </p:sp>
      <p:sp>
        <p:nvSpPr>
          <p:cNvPr id="2" name="">
            <a:extLst xmlns:a="http://schemas.openxmlformats.org/drawingml/2006/main">
              <a:ext uri="{FF2B5EF4-FFF2-40B4-BE49-F238E27FC236}">
                <a16:creationId xmlns:a16="http://schemas.microsoft.com/office/drawing/2014/main" id="{126F41FC-5AC9-425A-A7BA-051399B28E73}"/>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S6  |  Purpose &amp; outcomes</a:t>
            </a:r>
          </a:p>
        </p:txBody>
      </p:sp>
      <p:sp>
        <p:nvSpPr>
          <p:cNvPr id="3" name="">
            <a:extLst xmlns:a="http://schemas.openxmlformats.org/drawingml/2006/main">
              <a:ext uri="{FF2B5EF4-FFF2-40B4-BE49-F238E27FC236}">
                <a16:creationId xmlns:a16="http://schemas.microsoft.com/office/drawing/2014/main" id="{3D931A82-FF62-47CE-90EE-492876069C03}"/>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3206728-ADE6-49EA-B81B-01A29BAD1ACA}"/>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583FECF-7EA5-43EA-9A49-BA42B774B621}"/>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07CE3305-257D-4BFB-B567-A8637430EE02}"/>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26</a:t>
            </a:r>
          </a:p>
        </p:txBody>
      </p:sp>
      <p:sp>
        <p:nvSpPr>
          <p:cNvPr id="7" name="">
            <a:extLst xmlns:a="http://schemas.openxmlformats.org/drawingml/2006/main">
              <a:ext uri="{FF2B5EF4-FFF2-40B4-BE49-F238E27FC236}">
                <a16:creationId xmlns:a16="http://schemas.microsoft.com/office/drawing/2014/main" id="{182A6432-75E7-4A83-962D-6CBA40A1DA95}"/>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6 topic 6.2 and proposal p. 8. Dashboard configuration should be confirmed with DWIHN.</a:t>
            </a:r>
          </a:p>
        </p:txBody>
      </p:sp>
      <p:sp>
        <p:nvSpPr>
          <p:cNvPr id="8" name="">
            <a:extLst xmlns:a="http://schemas.openxmlformats.org/drawingml/2006/main">
              <a:ext uri="{FF2B5EF4-FFF2-40B4-BE49-F238E27FC236}">
                <a16:creationId xmlns:a16="http://schemas.microsoft.com/office/drawing/2014/main" id="{C90880F9-95AA-4BDE-BBB8-2262E9FCA4AC}"/>
              </a:ext>
            </a:extLst>
          </p:cNvPr>
          <p:cNvSpPr>
            <a:spLocks xmlns:a="http://schemas.openxmlformats.org/drawingml/2006/main" noGrp="1"/>
          </p:cNvSpPr>
          <p:nvPr/>
        </p:nvSpPr>
        <p:spPr>
          <a:xfrm xmlns:a="http://schemas.openxmlformats.org/drawingml/2006/main">
            <a:off x="609600" y="1619250"/>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0A2438"/>
                </a:solidFill>
                <a:latin typeface="Arial"/>
                <a:ea typeface="Arial"/>
                <a:cs typeface="Arial"/>
              </a:defRPr>
            </a:pPr>
            <a:r>
              <a:rPr sz="1875" b="1">
                <a:solidFill>
                  <a:srgbClr val="0A2438"/>
                </a:solidFill>
                <a:latin typeface="Arial"/>
                <a:ea typeface="Arial"/>
                <a:cs typeface="Arial"/>
              </a:rPr>
              <a:t>Lumenore: Build a Useful Dashboard</a:t>
            </a:r>
          </a:p>
        </p:txBody>
      </p:sp>
      <p:sp>
        <p:nvSpPr>
          <p:cNvPr id="9" name="">
            <a:extLst xmlns:a="http://schemas.openxmlformats.org/drawingml/2006/main">
              <a:ext uri="{FF2B5EF4-FFF2-40B4-BE49-F238E27FC236}">
                <a16:creationId xmlns:a16="http://schemas.microsoft.com/office/drawing/2014/main" id="{FC00BFA0-27F6-4D5C-8E59-3DB0199DB84D}"/>
              </a:ext>
            </a:extLst>
          </p:cNvPr>
          <p:cNvSpPr>
            <a:spLocks xmlns:a="http://schemas.openxmlformats.org/drawingml/2006/main" noGrp="1"/>
          </p:cNvSpPr>
          <p:nvPr/>
        </p:nvSpPr>
        <p:spPr>
          <a:xfrm xmlns:a="http://schemas.openxmlformats.org/drawingml/2006/main">
            <a:off x="609600" y="2057400"/>
            <a:ext cx="695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506473"/>
                </a:solidFill>
                <a:latin typeface="Arial"/>
                <a:ea typeface="Arial"/>
                <a:cs typeface="Arial"/>
              </a:defRPr>
            </a:pPr>
            <a:r>
              <a:rPr sz="1425" b="0">
                <a:solidFill>
                  <a:srgbClr val="506473"/>
                </a:solidFill>
                <a:latin typeface="Arial"/>
                <a:ea typeface="Arial"/>
                <a:cs typeface="Arial"/>
              </a:rPr>
              <a:t>Participants learn to organize a program dashboard so that a colleague can understand the measures, population, period and actions the view is meant to support.</a:t>
            </a:r>
          </a:p>
        </p:txBody>
      </p:sp>
      <p:sp>
        <p:nvSpPr>
          <p:cNvPr id="10" name="">
            <a:extLst xmlns:a="http://schemas.openxmlformats.org/drawingml/2006/main">
              <a:ext uri="{FF2B5EF4-FFF2-40B4-BE49-F238E27FC236}">
                <a16:creationId xmlns:a16="http://schemas.microsoft.com/office/drawing/2014/main" id="{DBFF38BE-B444-499B-BEE7-4C126AB3FCDB}"/>
              </a:ext>
            </a:extLst>
          </p:cNvPr>
          <p:cNvSpPr>
            <a:spLocks xmlns:a="http://schemas.openxmlformats.org/drawingml/2006/main" noGrp="1"/>
          </p:cNvSpPr>
          <p:nvPr/>
        </p:nvSpPr>
        <p:spPr>
          <a:xfrm xmlns:a="http://schemas.openxmlformats.org/drawingml/2006/main">
            <a:off x="609600" y="30861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BY THE END, LEARNERS CAN</a:t>
            </a:r>
          </a:p>
        </p:txBody>
      </p:sp>
      <p:sp>
        <p:nvSpPr>
          <p:cNvPr id="11" name="">
            <a:extLst xmlns:a="http://schemas.openxmlformats.org/drawingml/2006/main">
              <a:ext uri="{FF2B5EF4-FFF2-40B4-BE49-F238E27FC236}">
                <a16:creationId xmlns:a16="http://schemas.microsoft.com/office/drawing/2014/main" id="{47B1822C-B8B0-4F4F-ABF5-D24CCB550CE2}"/>
              </a:ext>
            </a:extLst>
          </p:cNvPr>
          <p:cNvSpPr>
            <a:spLocks xmlns:a="http://schemas.openxmlformats.org/drawingml/2006/main" noGrp="1"/>
          </p:cNvSpPr>
          <p:nvPr/>
        </p:nvSpPr>
        <p:spPr>
          <a:xfrm xmlns:a="http://schemas.openxmlformats.org/drawingml/2006/main">
            <a:off x="609600" y="3429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01</a:t>
            </a:r>
          </a:p>
        </p:txBody>
      </p:sp>
      <p:sp>
        <p:nvSpPr>
          <p:cNvPr id="12" name="">
            <a:extLst xmlns:a="http://schemas.openxmlformats.org/drawingml/2006/main">
              <a:ext uri="{FF2B5EF4-FFF2-40B4-BE49-F238E27FC236}">
                <a16:creationId xmlns:a16="http://schemas.microsoft.com/office/drawing/2014/main" id="{92622E7D-FC15-45BE-BD1D-DC33221741F2}"/>
              </a:ext>
            </a:extLst>
          </p:cNvPr>
          <p:cNvSpPr>
            <a:spLocks xmlns:a="http://schemas.openxmlformats.org/drawingml/2006/main" noGrp="1"/>
          </p:cNvSpPr>
          <p:nvPr/>
        </p:nvSpPr>
        <p:spPr>
          <a:xfrm xmlns:a="http://schemas.openxmlformats.org/drawingml/2006/main">
            <a:off x="1104900" y="34290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Choose a small set of measures connected to a real decision.</a:t>
            </a:r>
          </a:p>
        </p:txBody>
      </p:sp>
      <p:sp>
        <p:nvSpPr>
          <p:cNvPr id="13" name="">
            <a:extLst xmlns:a="http://schemas.openxmlformats.org/drawingml/2006/main">
              <a:ext uri="{FF2B5EF4-FFF2-40B4-BE49-F238E27FC236}">
                <a16:creationId xmlns:a16="http://schemas.microsoft.com/office/drawing/2014/main" id="{3CDE23DD-B616-4128-BDE7-EFCE087547E7}"/>
              </a:ext>
            </a:extLst>
          </p:cNvPr>
          <p:cNvSpPr>
            <a:spLocks xmlns:a="http://schemas.openxmlformats.org/drawingml/2006/main" noGrp="1"/>
          </p:cNvSpPr>
          <p:nvPr/>
        </p:nvSpPr>
        <p:spPr>
          <a:xfrm xmlns:a="http://schemas.openxmlformats.org/drawingml/2006/main">
            <a:off x="609600" y="40767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E1467B87-C86F-4113-8988-D61E48FD9BA9}"/>
              </a:ext>
            </a:extLst>
          </p:cNvPr>
          <p:cNvSpPr>
            <a:spLocks xmlns:a="http://schemas.openxmlformats.org/drawingml/2006/main" noGrp="1"/>
          </p:cNvSpPr>
          <p:nvPr/>
        </p:nvSpPr>
        <p:spPr>
          <a:xfrm xmlns:a="http://schemas.openxmlformats.org/drawingml/2006/main">
            <a:off x="1104900" y="40767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Describe a KPI definition, source, owner, refresh and intended audience.</a:t>
            </a:r>
          </a:p>
        </p:txBody>
      </p:sp>
      <p:sp>
        <p:nvSpPr>
          <p:cNvPr id="15" name="">
            <a:extLst xmlns:a="http://schemas.openxmlformats.org/drawingml/2006/main">
              <a:ext uri="{FF2B5EF4-FFF2-40B4-BE49-F238E27FC236}">
                <a16:creationId xmlns:a16="http://schemas.microsoft.com/office/drawing/2014/main" id="{2A25A793-3F12-46ED-8B8F-AA8EE7DD5DC1}"/>
              </a:ext>
            </a:extLst>
          </p:cNvPr>
          <p:cNvSpPr>
            <a:spLocks xmlns:a="http://schemas.openxmlformats.org/drawingml/2006/main" noGrp="1"/>
          </p:cNvSpPr>
          <p:nvPr/>
        </p:nvSpPr>
        <p:spPr>
          <a:xfrm xmlns:a="http://schemas.openxmlformats.org/drawingml/2006/main">
            <a:off x="609600" y="47244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141B7D29-8B8B-4F3F-BFDD-29AF65EB3010}"/>
              </a:ext>
            </a:extLst>
          </p:cNvPr>
          <p:cNvSpPr>
            <a:spLocks xmlns:a="http://schemas.openxmlformats.org/drawingml/2006/main" noGrp="1"/>
          </p:cNvSpPr>
          <p:nvPr/>
        </p:nvSpPr>
        <p:spPr>
          <a:xfrm xmlns:a="http://schemas.openxmlformats.org/drawingml/2006/main">
            <a:off x="1104900" y="47244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Review a dashboard for clarity, missing context and access risk.</a:t>
            </a:r>
          </a:p>
        </p:txBody>
      </p:sp>
      <p:sp>
        <p:nvSpPr>
          <p:cNvPr id="17" name="">
            <a:extLst xmlns:a="http://schemas.openxmlformats.org/drawingml/2006/main">
              <a:ext uri="{FF2B5EF4-FFF2-40B4-BE49-F238E27FC236}">
                <a16:creationId xmlns:a16="http://schemas.microsoft.com/office/drawing/2014/main" id="{06329527-D2FD-49DD-A7A5-8806689B961F}"/>
              </a:ext>
            </a:extLst>
          </p:cNvPr>
          <p:cNvSpPr>
            <a:spLocks xmlns:a="http://schemas.openxmlformats.org/drawingml/2006/main" noGrp="1"/>
          </p:cNvSpPr>
          <p:nvPr/>
        </p:nvSpPr>
        <p:spPr>
          <a:xfrm xmlns:a="http://schemas.openxmlformats.org/drawingml/2006/main">
            <a:off x="609600" y="5476875"/>
            <a:ext cx="6953250" cy="476250"/>
          </a:xfrm>
          <a:prstGeom xmlns:a="http://schemas.openxmlformats.org/drawingml/2006/main" prst="rect">
            <a:avLst/>
          </a:prstGeom>
          <a:noFill xmlns:a="http://schemas.openxmlformats.org/drawingml/2006/main"/>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573EADA-D842-4172-AD33-07EBA0955B80}"/>
              </a:ext>
            </a:extLst>
          </p:cNvPr>
          <p:cNvSpPr>
            <a:spLocks xmlns:a="http://schemas.openxmlformats.org/drawingml/2006/main" noGrp="1"/>
          </p:cNvSpPr>
          <p:nvPr/>
        </p:nvSpPr>
        <p:spPr>
          <a:xfrm xmlns:a="http://schemas.openxmlformats.org/drawingml/2006/main">
            <a:off x="781050" y="5591175"/>
            <a:ext cx="659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91"/>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Session length: at least 1 hour, including Q&amp;A. Guided practice and discussion can extend it.</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72e0fea747764ec2"/>
          <a:srcRect xmlns:a="http://schemas.openxmlformats.org/drawingml/2006/main" l="0" t="2083" r="0" b="2083"/>
          <a:stretch xmlns:a="http://schemas.openxmlformats.org/drawingml/2006/main">
            <a:fillRect l="0" t="0" r="0" b="0"/>
          </a:stretch>
        </p:blipFill>
        <p:spPr>
          <a:xfrm xmlns:a="http://schemas.openxmlformats.org/drawingml/2006/main">
            <a:off x="7981950" y="2247900"/>
            <a:ext cx="3429000" cy="219075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D64977A4-0C28-4A07-8BB4-CE12C5430786}"/>
              </a:ext>
            </a:extLst>
          </p:cNvPr>
          <p:cNvSpPr>
            <a:spLocks xmlns:a="http://schemas.openxmlformats.org/drawingml/2006/main" noGrp="1"/>
          </p:cNvSpPr>
          <p:nvPr/>
        </p:nvSpPr>
        <p:spPr>
          <a:xfrm xmlns:a="http://schemas.openxmlformats.org/drawingml/2006/main">
            <a:off x="7981950" y="4524375"/>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0">
                <a:solidFill>
                  <a:srgbClr val="6D7E89"/>
                </a:solidFill>
                <a:latin typeface="Arial"/>
                <a:ea typeface="Arial"/>
                <a:cs typeface="Arial"/>
              </a:defRPr>
            </a:pPr>
            <a:r>
              <a:rPr sz="900" b="0">
                <a:solidFill>
                  <a:srgbClr val="6D7E89"/>
                </a:solidFill>
                <a:latin typeface="Arial"/>
                <a:ea typeface="Arial"/>
                <a:cs typeface="Arial"/>
              </a:rPr>
              <a:t>NetSeed training photograph from the proposal; not a Lumenore product screen.</a:t>
            </a:r>
          </a:p>
        </p:txBody>
      </p:sp>
    </p:spTree>
    <p:extLst>
      <p:ext uri="{BB962C8B-B14F-4D97-AF65-F5344CB8AC3E}">
        <p14:creationId xmlns:p14="http://schemas.microsoft.com/office/powerpoint/2010/main" val="1635699909"/>
      </p:ext>
    </p:extLst>
  </p:cSld>
</p:sld>
</file>

<file path=ppt/slides/slide27.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04DCE9B-9677-4FD0-A8C2-931649CC2ADD}"/>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WEEKS 4–5 / MODULE 6</a:t>
            </a:r>
          </a:p>
        </p:txBody>
      </p:sp>
      <p:sp>
        <p:nvSpPr>
          <p:cNvPr id="2" name="">
            <a:extLst xmlns:a="http://schemas.openxmlformats.org/drawingml/2006/main">
              <a:ext uri="{FF2B5EF4-FFF2-40B4-BE49-F238E27FC236}">
                <a16:creationId xmlns:a16="http://schemas.microsoft.com/office/drawing/2014/main" id="{EFD33ADC-D939-4AB9-B564-307976D42C58}"/>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S6  |  Core concepts</a:t>
            </a:r>
          </a:p>
        </p:txBody>
      </p:sp>
      <p:sp>
        <p:nvSpPr>
          <p:cNvPr id="3" name="">
            <a:extLst xmlns:a="http://schemas.openxmlformats.org/drawingml/2006/main">
              <a:ext uri="{FF2B5EF4-FFF2-40B4-BE49-F238E27FC236}">
                <a16:creationId xmlns:a16="http://schemas.microsoft.com/office/drawing/2014/main" id="{FF782482-0D72-4E28-9B7E-B0F3B816C843}"/>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B4EA465-B129-432A-9C73-A6D7F950C3CD}"/>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2336C59-DB10-433D-87E5-3069C61E6077}"/>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697C2377-2143-45B3-93BB-250F26CBC864}"/>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27</a:t>
            </a:r>
          </a:p>
        </p:txBody>
      </p:sp>
      <p:sp>
        <p:nvSpPr>
          <p:cNvPr id="7" name="">
            <a:extLst xmlns:a="http://schemas.openxmlformats.org/drawingml/2006/main">
              <a:ext uri="{FF2B5EF4-FFF2-40B4-BE49-F238E27FC236}">
                <a16:creationId xmlns:a16="http://schemas.microsoft.com/office/drawing/2014/main" id="{68BCC98D-5E5C-44EE-83B3-2BF32490CC4E}"/>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6 topic 6.2 and proposal p. 8. Dashboard configuration should be confirmed with DWIHN.</a:t>
            </a:r>
          </a:p>
        </p:txBody>
      </p:sp>
      <p:sp>
        <p:nvSpPr>
          <p:cNvPr id="8" name="">
            <a:extLst xmlns:a="http://schemas.openxmlformats.org/drawingml/2006/main">
              <a:ext uri="{FF2B5EF4-FFF2-40B4-BE49-F238E27FC236}">
                <a16:creationId xmlns:a16="http://schemas.microsoft.com/office/drawing/2014/main" id="{DA974E35-1A7D-427B-926C-9288D159164D}"/>
              </a:ext>
            </a:extLst>
          </p:cNvPr>
          <p:cNvSpPr>
            <a:spLocks xmlns:a="http://schemas.openxmlformats.org/drawingml/2006/main" noGrp="1"/>
          </p:cNvSpPr>
          <p:nvPr/>
        </p:nvSpPr>
        <p:spPr>
          <a:xfrm xmlns:a="http://schemas.openxmlformats.org/drawingml/2006/main">
            <a:off x="609600" y="15811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Lumenore: Build a Useful Dashboard</a:t>
            </a:r>
          </a:p>
        </p:txBody>
      </p:sp>
      <p:sp>
        <p:nvSpPr>
          <p:cNvPr id="9" name="">
            <a:extLst xmlns:a="http://schemas.openxmlformats.org/drawingml/2006/main">
              <a:ext uri="{FF2B5EF4-FFF2-40B4-BE49-F238E27FC236}">
                <a16:creationId xmlns:a16="http://schemas.microsoft.com/office/drawing/2014/main" id="{A2A12391-2C3F-4D2B-A7E3-2650C5B5A9B8}"/>
              </a:ext>
            </a:extLst>
          </p:cNvPr>
          <p:cNvSpPr>
            <a:spLocks xmlns:a="http://schemas.openxmlformats.org/drawingml/2006/main" noGrp="1"/>
          </p:cNvSpPr>
          <p:nvPr/>
        </p:nvSpPr>
        <p:spPr>
          <a:xfrm xmlns:a="http://schemas.openxmlformats.org/drawingml/2006/main">
            <a:off x="609600" y="19716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0B7D4827-1DC5-423C-AAC2-34A04C22187E}"/>
              </a:ext>
            </a:extLst>
          </p:cNvPr>
          <p:cNvSpPr>
            <a:spLocks xmlns:a="http://schemas.openxmlformats.org/drawingml/2006/main" noGrp="1"/>
          </p:cNvSpPr>
          <p:nvPr/>
        </p:nvSpPr>
        <p:spPr>
          <a:xfrm xmlns:a="http://schemas.openxmlformats.org/drawingml/2006/main">
            <a:off x="1143000" y="19716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987"/>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Dashboard starts with an audience</a:t>
            </a:r>
          </a:p>
        </p:txBody>
      </p:sp>
      <p:sp>
        <p:nvSpPr>
          <p:cNvPr id="11" name="">
            <a:extLst xmlns:a="http://schemas.openxmlformats.org/drawingml/2006/main">
              <a:ext uri="{FF2B5EF4-FFF2-40B4-BE49-F238E27FC236}">
                <a16:creationId xmlns:a16="http://schemas.microsoft.com/office/drawing/2014/main" id="{DF324AFC-D513-4DFA-8639-6EE68E30F33A}"/>
              </a:ext>
            </a:extLst>
          </p:cNvPr>
          <p:cNvSpPr>
            <a:spLocks xmlns:a="http://schemas.openxmlformats.org/drawingml/2006/main" noGrp="1"/>
          </p:cNvSpPr>
          <p:nvPr/>
        </p:nvSpPr>
        <p:spPr>
          <a:xfrm xmlns:a="http://schemas.openxmlformats.org/drawingml/2006/main">
            <a:off x="3857625" y="19716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 team’s operational view, a manager’s review and a board report may need different levels of detail. Decide who will use the view and what action it can support.</a:t>
            </a:r>
          </a:p>
        </p:txBody>
      </p:sp>
      <p:sp>
        <p:nvSpPr>
          <p:cNvPr id="12" name="">
            <a:extLst xmlns:a="http://schemas.openxmlformats.org/drawingml/2006/main">
              <a:ext uri="{FF2B5EF4-FFF2-40B4-BE49-F238E27FC236}">
                <a16:creationId xmlns:a16="http://schemas.microsoft.com/office/drawing/2014/main" id="{FD995409-41B1-47FC-B0D2-46AFB1D281BD}"/>
              </a:ext>
            </a:extLst>
          </p:cNvPr>
          <p:cNvSpPr>
            <a:spLocks xmlns:a="http://schemas.openxmlformats.org/drawingml/2006/main" noGrp="1"/>
          </p:cNvSpPr>
          <p:nvPr/>
        </p:nvSpPr>
        <p:spPr>
          <a:xfrm xmlns:a="http://schemas.openxmlformats.org/drawingml/2006/main">
            <a:off x="1143000" y="28003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472B250-32CA-4D93-9BFE-F5FF52C0802A}"/>
              </a:ext>
            </a:extLst>
          </p:cNvPr>
          <p:cNvSpPr>
            <a:spLocks xmlns:a="http://schemas.openxmlformats.org/drawingml/2006/main" noGrp="1"/>
          </p:cNvSpPr>
          <p:nvPr/>
        </p:nvSpPr>
        <p:spPr>
          <a:xfrm xmlns:a="http://schemas.openxmlformats.org/drawingml/2006/main">
            <a:off x="609600" y="29813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E3677E46-440A-40C4-B824-4061BCE96D3A}"/>
              </a:ext>
            </a:extLst>
          </p:cNvPr>
          <p:cNvSpPr>
            <a:spLocks xmlns:a="http://schemas.openxmlformats.org/drawingml/2006/main" noGrp="1"/>
          </p:cNvSpPr>
          <p:nvPr/>
        </p:nvSpPr>
        <p:spPr>
          <a:xfrm xmlns:a="http://schemas.openxmlformats.org/drawingml/2006/main">
            <a:off x="1143000" y="29813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Measures require definitions</a:t>
            </a:r>
          </a:p>
        </p:txBody>
      </p:sp>
      <p:sp>
        <p:nvSpPr>
          <p:cNvPr id="15" name="">
            <a:extLst xmlns:a="http://schemas.openxmlformats.org/drawingml/2006/main">
              <a:ext uri="{FF2B5EF4-FFF2-40B4-BE49-F238E27FC236}">
                <a16:creationId xmlns:a16="http://schemas.microsoft.com/office/drawing/2014/main" id="{030DE6EE-7583-41B4-B683-DFA8F1BBA750}"/>
              </a:ext>
            </a:extLst>
          </p:cNvPr>
          <p:cNvSpPr>
            <a:spLocks xmlns:a="http://schemas.openxmlformats.org/drawingml/2006/main" noGrp="1"/>
          </p:cNvSpPr>
          <p:nvPr/>
        </p:nvSpPr>
        <p:spPr>
          <a:xfrm xmlns:a="http://schemas.openxmlformats.org/drawingml/2006/main">
            <a:off x="3857625" y="29813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For every KPI, specify what counts, the denominator if relevant, the population, exclusions, source and refresh cadence. A label like “completed” needs a shared definition.</a:t>
            </a:r>
          </a:p>
        </p:txBody>
      </p:sp>
      <p:sp>
        <p:nvSpPr>
          <p:cNvPr id="16" name="">
            <a:extLst xmlns:a="http://schemas.openxmlformats.org/drawingml/2006/main">
              <a:ext uri="{FF2B5EF4-FFF2-40B4-BE49-F238E27FC236}">
                <a16:creationId xmlns:a16="http://schemas.microsoft.com/office/drawing/2014/main" id="{D670E5CB-D183-489C-A036-40888188DD4E}"/>
              </a:ext>
            </a:extLst>
          </p:cNvPr>
          <p:cNvSpPr>
            <a:spLocks xmlns:a="http://schemas.openxmlformats.org/drawingml/2006/main" noGrp="1"/>
          </p:cNvSpPr>
          <p:nvPr/>
        </p:nvSpPr>
        <p:spPr>
          <a:xfrm xmlns:a="http://schemas.openxmlformats.org/drawingml/2006/main">
            <a:off x="1143000" y="381000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29BFADE-96DE-4843-A986-6252094F0F82}"/>
              </a:ext>
            </a:extLst>
          </p:cNvPr>
          <p:cNvSpPr>
            <a:spLocks xmlns:a="http://schemas.openxmlformats.org/drawingml/2006/main" noGrp="1"/>
          </p:cNvSpPr>
          <p:nvPr/>
        </p:nvSpPr>
        <p:spPr>
          <a:xfrm xmlns:a="http://schemas.openxmlformats.org/drawingml/2006/main">
            <a:off x="609600" y="39909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E9CDDBCC-4BDF-42BE-B46C-99ECAA3091C2}"/>
              </a:ext>
            </a:extLst>
          </p:cNvPr>
          <p:cNvSpPr>
            <a:spLocks xmlns:a="http://schemas.openxmlformats.org/drawingml/2006/main" noGrp="1"/>
          </p:cNvSpPr>
          <p:nvPr/>
        </p:nvSpPr>
        <p:spPr>
          <a:xfrm xmlns:a="http://schemas.openxmlformats.org/drawingml/2006/main">
            <a:off x="1143000" y="39909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245"/>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Design hierarchy aids interpretation</a:t>
            </a:r>
          </a:p>
        </p:txBody>
      </p:sp>
      <p:sp>
        <p:nvSpPr>
          <p:cNvPr id="19" name="">
            <a:extLst xmlns:a="http://schemas.openxmlformats.org/drawingml/2006/main">
              <a:ext uri="{FF2B5EF4-FFF2-40B4-BE49-F238E27FC236}">
                <a16:creationId xmlns:a16="http://schemas.microsoft.com/office/drawing/2014/main" id="{202F8936-2301-4AE2-9DD4-A603BA65D16F}"/>
              </a:ext>
            </a:extLst>
          </p:cNvPr>
          <p:cNvSpPr>
            <a:spLocks xmlns:a="http://schemas.openxmlformats.org/drawingml/2006/main" noGrp="1"/>
          </p:cNvSpPr>
          <p:nvPr/>
        </p:nvSpPr>
        <p:spPr>
          <a:xfrm xmlns:a="http://schemas.openxmlformats.org/drawingml/2006/main">
            <a:off x="3857625" y="39909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Put the main decision measure where readers can find it, group supporting measures logically and use titles that name the population and period. Avoid unnecessary visual decoration that changes emphasis.</a:t>
            </a:r>
          </a:p>
        </p:txBody>
      </p:sp>
      <p:sp>
        <p:nvSpPr>
          <p:cNvPr id="20" name="">
            <a:extLst xmlns:a="http://schemas.openxmlformats.org/drawingml/2006/main">
              <a:ext uri="{FF2B5EF4-FFF2-40B4-BE49-F238E27FC236}">
                <a16:creationId xmlns:a16="http://schemas.microsoft.com/office/drawing/2014/main" id="{13AE6B2A-D5A7-4A4F-AB81-B586DB0AD7F0}"/>
              </a:ext>
            </a:extLst>
          </p:cNvPr>
          <p:cNvSpPr>
            <a:spLocks xmlns:a="http://schemas.openxmlformats.org/drawingml/2006/main" noGrp="1"/>
          </p:cNvSpPr>
          <p:nvPr/>
        </p:nvSpPr>
        <p:spPr>
          <a:xfrm xmlns:a="http://schemas.openxmlformats.org/drawingml/2006/main">
            <a:off x="1143000" y="48196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E643FA8-FD7A-442D-80A7-6CD351CCE671}"/>
              </a:ext>
            </a:extLst>
          </p:cNvPr>
          <p:cNvSpPr>
            <a:spLocks xmlns:a="http://schemas.openxmlformats.org/drawingml/2006/main" noGrp="1"/>
          </p:cNvSpPr>
          <p:nvPr/>
        </p:nvSpPr>
        <p:spPr>
          <a:xfrm xmlns:a="http://schemas.openxmlformats.org/drawingml/2006/main">
            <a:off x="609600" y="5000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A71F9184-3443-4F15-B9DB-EDC3B04E6F73}"/>
              </a:ext>
            </a:extLst>
          </p:cNvPr>
          <p:cNvSpPr>
            <a:spLocks xmlns:a="http://schemas.openxmlformats.org/drawingml/2006/main" noGrp="1"/>
          </p:cNvSpPr>
          <p:nvPr/>
        </p:nvSpPr>
        <p:spPr>
          <a:xfrm xmlns:a="http://schemas.openxmlformats.org/drawingml/2006/main">
            <a:off x="1143000" y="50006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4666"/>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Access and currency are part of quality</a:t>
            </a:r>
          </a:p>
        </p:txBody>
      </p:sp>
      <p:sp>
        <p:nvSpPr>
          <p:cNvPr id="23" name="">
            <a:extLst xmlns:a="http://schemas.openxmlformats.org/drawingml/2006/main">
              <a:ext uri="{FF2B5EF4-FFF2-40B4-BE49-F238E27FC236}">
                <a16:creationId xmlns:a16="http://schemas.microsoft.com/office/drawing/2014/main" id="{46E65A41-4EA5-4E53-A2DF-AFCF50433B20}"/>
              </a:ext>
            </a:extLst>
          </p:cNvPr>
          <p:cNvSpPr>
            <a:spLocks xmlns:a="http://schemas.openxmlformats.org/drawingml/2006/main" noGrp="1"/>
          </p:cNvSpPr>
          <p:nvPr/>
        </p:nvSpPr>
        <p:spPr>
          <a:xfrm xmlns:a="http://schemas.openxmlformats.org/drawingml/2006/main">
            <a:off x="3857625" y="50006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Confirm permissions before sharing. Show the data period or refresh date and document who maintains the view. A polished but stale dashboard can mislead.</a:t>
            </a:r>
          </a:p>
        </p:txBody>
      </p:sp>
    </p:spTree>
    <p:extLst>
      <p:ext uri="{BB962C8B-B14F-4D97-AF65-F5344CB8AC3E}">
        <p14:creationId xmlns:p14="http://schemas.microsoft.com/office/powerpoint/2010/main" val="951061253"/>
      </p:ext>
    </p:extLst>
  </p:cSld>
</p:sld>
</file>

<file path=ppt/slides/slide28.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782B724E-3256-4A2C-8B26-B99F666535D2}"/>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WEEKS 4–5 / MODULE 6</a:t>
            </a:r>
          </a:p>
        </p:txBody>
      </p:sp>
      <p:sp>
        <p:nvSpPr>
          <p:cNvPr id="2" name="">
            <a:extLst xmlns:a="http://schemas.openxmlformats.org/drawingml/2006/main">
              <a:ext uri="{FF2B5EF4-FFF2-40B4-BE49-F238E27FC236}">
                <a16:creationId xmlns:a16="http://schemas.microsoft.com/office/drawing/2014/main" id="{FE97F85B-8006-4B91-A12E-E33143F71CDB}"/>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S6  |  Instructor walkthrough</a:t>
            </a:r>
          </a:p>
        </p:txBody>
      </p:sp>
      <p:sp>
        <p:nvSpPr>
          <p:cNvPr id="3" name="">
            <a:extLst xmlns:a="http://schemas.openxmlformats.org/drawingml/2006/main">
              <a:ext uri="{FF2B5EF4-FFF2-40B4-BE49-F238E27FC236}">
                <a16:creationId xmlns:a16="http://schemas.microsoft.com/office/drawing/2014/main" id="{034C986A-812C-48AD-BF18-477D65E10863}"/>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9ABD6E2-103A-4388-9046-384253130FA1}"/>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6420829-D562-4E6B-BDC7-CB0736B03A19}"/>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03BA3F57-90BF-4AB8-ABC5-3F45C46BCED3}"/>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28</a:t>
            </a:r>
          </a:p>
        </p:txBody>
      </p:sp>
      <p:sp>
        <p:nvSpPr>
          <p:cNvPr id="7" name="">
            <a:extLst xmlns:a="http://schemas.openxmlformats.org/drawingml/2006/main">
              <a:ext uri="{FF2B5EF4-FFF2-40B4-BE49-F238E27FC236}">
                <a16:creationId xmlns:a16="http://schemas.microsoft.com/office/drawing/2014/main" id="{6B9E6B89-23ED-4635-8129-9BF33D6C9B18}"/>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6 topic 6.2 and proposal p. 8. Dashboard configuration should be confirmed with DWIHN.</a:t>
            </a:r>
          </a:p>
        </p:txBody>
      </p:sp>
      <p:sp>
        <p:nvSpPr>
          <p:cNvPr id="8" name="">
            <a:extLst xmlns:a="http://schemas.openxmlformats.org/drawingml/2006/main">
              <a:ext uri="{FF2B5EF4-FFF2-40B4-BE49-F238E27FC236}">
                <a16:creationId xmlns:a16="http://schemas.microsoft.com/office/drawing/2014/main" id="{719DC1AE-6F6D-46B4-B7BC-423794527FC5}"/>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Lumenore: Build a Useful Dashboard</a:t>
            </a:r>
          </a:p>
        </p:txBody>
      </p:sp>
      <p:sp>
        <p:nvSpPr>
          <p:cNvPr id="9" name="">
            <a:extLst xmlns:a="http://schemas.openxmlformats.org/drawingml/2006/main">
              <a:ext uri="{FF2B5EF4-FFF2-40B4-BE49-F238E27FC236}">
                <a16:creationId xmlns:a16="http://schemas.microsoft.com/office/drawing/2014/main" id="{7A8951A3-773A-4340-863F-E8B16ADB205F}"/>
              </a:ext>
            </a:extLst>
          </p:cNvPr>
          <p:cNvSpPr>
            <a:spLocks xmlns:a="http://schemas.openxmlformats.org/drawingml/2006/main" noGrp="1"/>
          </p:cNvSpPr>
          <p:nvPr/>
        </p:nvSpPr>
        <p:spPr>
          <a:xfrm xmlns:a="http://schemas.openxmlformats.org/drawingml/2006/main">
            <a:off x="60960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0" name="">
            <a:extLst xmlns:a="http://schemas.openxmlformats.org/drawingml/2006/main">
              <a:ext uri="{FF2B5EF4-FFF2-40B4-BE49-F238E27FC236}">
                <a16:creationId xmlns:a16="http://schemas.microsoft.com/office/drawing/2014/main" id="{57CC36E8-0472-4C9B-8B7C-54742F52D38D}"/>
              </a:ext>
            </a:extLst>
          </p:cNvPr>
          <p:cNvSpPr>
            <a:spLocks xmlns:a="http://schemas.openxmlformats.org/drawingml/2006/main" noGrp="1"/>
          </p:cNvSpPr>
          <p:nvPr/>
        </p:nvSpPr>
        <p:spPr>
          <a:xfrm xmlns:a="http://schemas.openxmlformats.org/drawingml/2006/main">
            <a:off x="74295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BE6D6297-D5A6-447A-8C00-52F2CBCA38FC}"/>
              </a:ext>
            </a:extLst>
          </p:cNvPr>
          <p:cNvSpPr>
            <a:spLocks xmlns:a="http://schemas.openxmlformats.org/drawingml/2006/main" noGrp="1"/>
          </p:cNvSpPr>
          <p:nvPr/>
        </p:nvSpPr>
        <p:spPr>
          <a:xfrm xmlns:a="http://schemas.openxmlformats.org/drawingml/2006/main">
            <a:off x="74295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Write the dashboard question</a:t>
            </a:r>
          </a:p>
        </p:txBody>
      </p:sp>
      <p:sp>
        <p:nvSpPr>
          <p:cNvPr id="12" name="">
            <a:extLst xmlns:a="http://schemas.openxmlformats.org/drawingml/2006/main">
              <a:ext uri="{FF2B5EF4-FFF2-40B4-BE49-F238E27FC236}">
                <a16:creationId xmlns:a16="http://schemas.microsoft.com/office/drawing/2014/main" id="{3632A5BB-E595-437B-BDCD-7066F189C2E3}"/>
              </a:ext>
            </a:extLst>
          </p:cNvPr>
          <p:cNvSpPr>
            <a:spLocks xmlns:a="http://schemas.openxmlformats.org/drawingml/2006/main" noGrp="1"/>
          </p:cNvSpPr>
          <p:nvPr/>
        </p:nvSpPr>
        <p:spPr>
          <a:xfrm xmlns:a="http://schemas.openxmlformats.org/drawingml/2006/main">
            <a:off x="74295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State the management decision and audience in one sentence.</a:t>
            </a:r>
          </a:p>
        </p:txBody>
      </p:sp>
      <p:sp>
        <p:nvSpPr>
          <p:cNvPr id="13" name="">
            <a:extLst xmlns:a="http://schemas.openxmlformats.org/drawingml/2006/main">
              <a:ext uri="{FF2B5EF4-FFF2-40B4-BE49-F238E27FC236}">
                <a16:creationId xmlns:a16="http://schemas.microsoft.com/office/drawing/2014/main" id="{7A978088-9C1B-4336-94AA-44E15DA4F137}"/>
              </a:ext>
            </a:extLst>
          </p:cNvPr>
          <p:cNvSpPr>
            <a:spLocks xmlns:a="http://schemas.openxmlformats.org/drawingml/2006/main" noGrp="1"/>
          </p:cNvSpPr>
          <p:nvPr/>
        </p:nvSpPr>
        <p:spPr>
          <a:xfrm xmlns:a="http://schemas.openxmlformats.org/drawingml/2006/main">
            <a:off x="303847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147AA72-D3C3-4FC5-8A86-E92E2FF1E05C}"/>
              </a:ext>
            </a:extLst>
          </p:cNvPr>
          <p:cNvSpPr>
            <a:spLocks xmlns:a="http://schemas.openxmlformats.org/drawingml/2006/main" noGrp="1"/>
          </p:cNvSpPr>
          <p:nvPr/>
        </p:nvSpPr>
        <p:spPr>
          <a:xfrm xmlns:a="http://schemas.openxmlformats.org/drawingml/2006/main">
            <a:off x="338137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5" name="">
            <a:extLst xmlns:a="http://schemas.openxmlformats.org/drawingml/2006/main">
              <a:ext uri="{FF2B5EF4-FFF2-40B4-BE49-F238E27FC236}">
                <a16:creationId xmlns:a16="http://schemas.microsoft.com/office/drawing/2014/main" id="{C82D0164-C53B-4C4F-B4CA-4445901ABE7B}"/>
              </a:ext>
            </a:extLst>
          </p:cNvPr>
          <p:cNvSpPr>
            <a:spLocks xmlns:a="http://schemas.openxmlformats.org/drawingml/2006/main" noGrp="1"/>
          </p:cNvSpPr>
          <p:nvPr/>
        </p:nvSpPr>
        <p:spPr>
          <a:xfrm xmlns:a="http://schemas.openxmlformats.org/drawingml/2006/main">
            <a:off x="351472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FCA937C3-1B58-40B6-B430-2297D6FCDFBC}"/>
              </a:ext>
            </a:extLst>
          </p:cNvPr>
          <p:cNvSpPr>
            <a:spLocks xmlns:a="http://schemas.openxmlformats.org/drawingml/2006/main" noGrp="1"/>
          </p:cNvSpPr>
          <p:nvPr/>
        </p:nvSpPr>
        <p:spPr>
          <a:xfrm xmlns:a="http://schemas.openxmlformats.org/drawingml/2006/main">
            <a:off x="351472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Select measures</a:t>
            </a:r>
          </a:p>
        </p:txBody>
      </p:sp>
      <p:sp>
        <p:nvSpPr>
          <p:cNvPr id="17" name="">
            <a:extLst xmlns:a="http://schemas.openxmlformats.org/drawingml/2006/main">
              <a:ext uri="{FF2B5EF4-FFF2-40B4-BE49-F238E27FC236}">
                <a16:creationId xmlns:a16="http://schemas.microsoft.com/office/drawing/2014/main" id="{EE4A6A7B-B536-48DE-BFF6-306BF1F593DE}"/>
              </a:ext>
            </a:extLst>
          </p:cNvPr>
          <p:cNvSpPr>
            <a:spLocks xmlns:a="http://schemas.openxmlformats.org/drawingml/2006/main" noGrp="1"/>
          </p:cNvSpPr>
          <p:nvPr/>
        </p:nvSpPr>
        <p:spPr>
          <a:xfrm xmlns:a="http://schemas.openxmlformats.org/drawingml/2006/main">
            <a:off x="351472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Choose a primary outcome and a limited set of supporting measures with approved definitions.</a:t>
            </a:r>
          </a:p>
        </p:txBody>
      </p:sp>
      <p:sp>
        <p:nvSpPr>
          <p:cNvPr id="18" name="">
            <a:extLst xmlns:a="http://schemas.openxmlformats.org/drawingml/2006/main">
              <a:ext uri="{FF2B5EF4-FFF2-40B4-BE49-F238E27FC236}">
                <a16:creationId xmlns:a16="http://schemas.microsoft.com/office/drawing/2014/main" id="{BCFBC0B0-20CC-40C5-90C6-32550D9735CE}"/>
              </a:ext>
            </a:extLst>
          </p:cNvPr>
          <p:cNvSpPr>
            <a:spLocks xmlns:a="http://schemas.openxmlformats.org/drawingml/2006/main" noGrp="1"/>
          </p:cNvSpPr>
          <p:nvPr/>
        </p:nvSpPr>
        <p:spPr>
          <a:xfrm xmlns:a="http://schemas.openxmlformats.org/drawingml/2006/main">
            <a:off x="5810250"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B0B09CB-1C67-4115-A438-26E07FAFA032}"/>
              </a:ext>
            </a:extLst>
          </p:cNvPr>
          <p:cNvSpPr>
            <a:spLocks xmlns:a="http://schemas.openxmlformats.org/drawingml/2006/main" noGrp="1"/>
          </p:cNvSpPr>
          <p:nvPr/>
        </p:nvSpPr>
        <p:spPr>
          <a:xfrm xmlns:a="http://schemas.openxmlformats.org/drawingml/2006/main">
            <a:off x="615315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0" name="">
            <a:extLst xmlns:a="http://schemas.openxmlformats.org/drawingml/2006/main">
              <a:ext uri="{FF2B5EF4-FFF2-40B4-BE49-F238E27FC236}">
                <a16:creationId xmlns:a16="http://schemas.microsoft.com/office/drawing/2014/main" id="{85BB020E-9BCE-49A6-93EA-C1C6B7E559D7}"/>
              </a:ext>
            </a:extLst>
          </p:cNvPr>
          <p:cNvSpPr>
            <a:spLocks xmlns:a="http://schemas.openxmlformats.org/drawingml/2006/main" noGrp="1"/>
          </p:cNvSpPr>
          <p:nvPr/>
        </p:nvSpPr>
        <p:spPr>
          <a:xfrm xmlns:a="http://schemas.openxmlformats.org/drawingml/2006/main">
            <a:off x="628650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21" name="">
            <a:extLst xmlns:a="http://schemas.openxmlformats.org/drawingml/2006/main">
              <a:ext uri="{FF2B5EF4-FFF2-40B4-BE49-F238E27FC236}">
                <a16:creationId xmlns:a16="http://schemas.microsoft.com/office/drawing/2014/main" id="{6C0E0CCD-4875-4F4A-946E-E61AAC2B09D2}"/>
              </a:ext>
            </a:extLst>
          </p:cNvPr>
          <p:cNvSpPr>
            <a:spLocks xmlns:a="http://schemas.openxmlformats.org/drawingml/2006/main" noGrp="1"/>
          </p:cNvSpPr>
          <p:nvPr/>
        </p:nvSpPr>
        <p:spPr>
          <a:xfrm xmlns:a="http://schemas.openxmlformats.org/drawingml/2006/main">
            <a:off x="628650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Build the view</a:t>
            </a:r>
          </a:p>
        </p:txBody>
      </p:sp>
      <p:sp>
        <p:nvSpPr>
          <p:cNvPr id="22" name="">
            <a:extLst xmlns:a="http://schemas.openxmlformats.org/drawingml/2006/main">
              <a:ext uri="{FF2B5EF4-FFF2-40B4-BE49-F238E27FC236}">
                <a16:creationId xmlns:a16="http://schemas.microsoft.com/office/drawing/2014/main" id="{A4C6407B-5C9E-4697-9C49-953C2A7BE524}"/>
              </a:ext>
            </a:extLst>
          </p:cNvPr>
          <p:cNvSpPr>
            <a:spLocks xmlns:a="http://schemas.openxmlformats.org/drawingml/2006/main" noGrp="1"/>
          </p:cNvSpPr>
          <p:nvPr/>
        </p:nvSpPr>
        <p:spPr>
          <a:xfrm xmlns:a="http://schemas.openxmlformats.org/drawingml/2006/main">
            <a:off x="628650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Set labels, period, filters and readable chart choices in the confirmed environment.</a:t>
            </a:r>
          </a:p>
        </p:txBody>
      </p:sp>
      <p:sp>
        <p:nvSpPr>
          <p:cNvPr id="23" name="">
            <a:extLst xmlns:a="http://schemas.openxmlformats.org/drawingml/2006/main">
              <a:ext uri="{FF2B5EF4-FFF2-40B4-BE49-F238E27FC236}">
                <a16:creationId xmlns:a16="http://schemas.microsoft.com/office/drawing/2014/main" id="{EE4D480C-52A9-43BA-8D34-8F6CD6EE8F27}"/>
              </a:ext>
            </a:extLst>
          </p:cNvPr>
          <p:cNvSpPr>
            <a:spLocks xmlns:a="http://schemas.openxmlformats.org/drawingml/2006/main" noGrp="1"/>
          </p:cNvSpPr>
          <p:nvPr/>
        </p:nvSpPr>
        <p:spPr>
          <a:xfrm xmlns:a="http://schemas.openxmlformats.org/drawingml/2006/main">
            <a:off x="858202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6567FEE5-F00A-471E-8B86-FDA8AF86FDDF}"/>
              </a:ext>
            </a:extLst>
          </p:cNvPr>
          <p:cNvSpPr>
            <a:spLocks xmlns:a="http://schemas.openxmlformats.org/drawingml/2006/main" noGrp="1"/>
          </p:cNvSpPr>
          <p:nvPr/>
        </p:nvSpPr>
        <p:spPr>
          <a:xfrm xmlns:a="http://schemas.openxmlformats.org/drawingml/2006/main">
            <a:off x="892492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5" name="">
            <a:extLst xmlns:a="http://schemas.openxmlformats.org/drawingml/2006/main">
              <a:ext uri="{FF2B5EF4-FFF2-40B4-BE49-F238E27FC236}">
                <a16:creationId xmlns:a16="http://schemas.microsoft.com/office/drawing/2014/main" id="{6BC13977-4EFA-4C2E-8438-F37BF547EE75}"/>
              </a:ext>
            </a:extLst>
          </p:cNvPr>
          <p:cNvSpPr>
            <a:spLocks xmlns:a="http://schemas.openxmlformats.org/drawingml/2006/main" noGrp="1"/>
          </p:cNvSpPr>
          <p:nvPr/>
        </p:nvSpPr>
        <p:spPr>
          <a:xfrm xmlns:a="http://schemas.openxmlformats.org/drawingml/2006/main">
            <a:off x="905827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04</a:t>
            </a:r>
          </a:p>
        </p:txBody>
      </p:sp>
      <p:sp>
        <p:nvSpPr>
          <p:cNvPr id="26" name="">
            <a:extLst xmlns:a="http://schemas.openxmlformats.org/drawingml/2006/main">
              <a:ext uri="{FF2B5EF4-FFF2-40B4-BE49-F238E27FC236}">
                <a16:creationId xmlns:a16="http://schemas.microsoft.com/office/drawing/2014/main" id="{D8B71C8A-B4FF-40F5-85D7-68CB8EC7B90F}"/>
              </a:ext>
            </a:extLst>
          </p:cNvPr>
          <p:cNvSpPr>
            <a:spLocks xmlns:a="http://schemas.openxmlformats.org/drawingml/2006/main" noGrp="1"/>
          </p:cNvSpPr>
          <p:nvPr/>
        </p:nvSpPr>
        <p:spPr>
          <a:xfrm xmlns:a="http://schemas.openxmlformats.org/drawingml/2006/main">
            <a:off x="905827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Review as a colleague</a:t>
            </a:r>
          </a:p>
        </p:txBody>
      </p:sp>
      <p:sp>
        <p:nvSpPr>
          <p:cNvPr id="27" name="">
            <a:extLst xmlns:a="http://schemas.openxmlformats.org/drawingml/2006/main">
              <a:ext uri="{FF2B5EF4-FFF2-40B4-BE49-F238E27FC236}">
                <a16:creationId xmlns:a16="http://schemas.microsoft.com/office/drawing/2014/main" id="{86CD6AFD-05E0-44FC-A4A1-2CDFD8060F5D}"/>
              </a:ext>
            </a:extLst>
          </p:cNvPr>
          <p:cNvSpPr>
            <a:spLocks xmlns:a="http://schemas.openxmlformats.org/drawingml/2006/main" noGrp="1"/>
          </p:cNvSpPr>
          <p:nvPr/>
        </p:nvSpPr>
        <p:spPr>
          <a:xfrm xmlns:a="http://schemas.openxmlformats.org/drawingml/2006/main">
            <a:off x="905827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Ask a second learner to explain what the page shows and what action it supports.</a:t>
            </a:r>
          </a:p>
        </p:txBody>
      </p:sp>
      <p:sp>
        <p:nvSpPr>
          <p:cNvPr id="28" name="">
            <a:extLst xmlns:a="http://schemas.openxmlformats.org/drawingml/2006/main">
              <a:ext uri="{FF2B5EF4-FFF2-40B4-BE49-F238E27FC236}">
                <a16:creationId xmlns:a16="http://schemas.microsoft.com/office/drawing/2014/main" id="{6D64AC12-98F6-4663-ADEF-60A3123899E2}"/>
              </a:ext>
            </a:extLst>
          </p:cNvPr>
          <p:cNvSpPr>
            <a:spLocks xmlns:a="http://schemas.openxmlformats.org/drawingml/2006/main" noGrp="1"/>
          </p:cNvSpPr>
          <p:nvPr/>
        </p:nvSpPr>
        <p:spPr>
          <a:xfrm xmlns:a="http://schemas.openxmlformats.org/drawingml/2006/main">
            <a:off x="609600" y="364807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WORKED EXAMPLE</a:t>
            </a:r>
          </a:p>
        </p:txBody>
      </p:sp>
      <p:sp>
        <p:nvSpPr>
          <p:cNvPr id="29" name="">
            <a:extLst xmlns:a="http://schemas.openxmlformats.org/drawingml/2006/main">
              <a:ext uri="{FF2B5EF4-FFF2-40B4-BE49-F238E27FC236}">
                <a16:creationId xmlns:a16="http://schemas.microsoft.com/office/drawing/2014/main" id="{6FB04E73-4EBA-4511-AC8A-8C6998A55B4A}"/>
              </a:ext>
            </a:extLst>
          </p:cNvPr>
          <p:cNvSpPr>
            <a:spLocks xmlns:a="http://schemas.openxmlformats.org/drawingml/2006/main" noGrp="1"/>
          </p:cNvSpPr>
          <p:nvPr/>
        </p:nvSpPr>
        <p:spPr>
          <a:xfrm xmlns:a="http://schemas.openxmlformats.org/drawingml/2006/main">
            <a:off x="609600" y="3943350"/>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00" b="0">
                <a:solidFill>
                  <a:srgbClr val="142F42"/>
                </a:solidFill>
                <a:latin typeface="Arial"/>
                <a:ea typeface="Arial"/>
                <a:cs typeface="Arial"/>
              </a:defRPr>
            </a:pPr>
            <a:r>
              <a:rPr sz="1500" b="0">
                <a:solidFill>
                  <a:srgbClr val="142F42"/>
                </a:solidFill>
                <a:latin typeface="Arial"/>
                <a:ea typeface="Arial"/>
                <a:cs typeface="Arial"/>
              </a:rPr>
              <a:t>Hypothetical dashboard brief: a program manager wants to review referral completion each quarter. The dashboard draft defines completed referrals, shows the quarter and program filter, displays the current and prior period, identifies refresh date and keeps member-level records out of the management view.</a:t>
            </a:r>
          </a:p>
        </p:txBody>
      </p:sp>
    </p:spTree>
    <p:extLst>
      <p:ext uri="{BB962C8B-B14F-4D97-AF65-F5344CB8AC3E}">
        <p14:creationId xmlns:p14="http://schemas.microsoft.com/office/powerpoint/2010/main" val="51580853"/>
      </p:ext>
    </p:extLst>
  </p:cSld>
</p:sld>
</file>

<file path=ppt/slides/slide29.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97C5E910-FBDC-4072-9451-09FB5B3FCA11}"/>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WEEKS 4–5 / MODULE 6</a:t>
            </a:r>
          </a:p>
        </p:txBody>
      </p:sp>
      <p:sp>
        <p:nvSpPr>
          <p:cNvPr id="2" name="">
            <a:extLst xmlns:a="http://schemas.openxmlformats.org/drawingml/2006/main">
              <a:ext uri="{FF2B5EF4-FFF2-40B4-BE49-F238E27FC236}">
                <a16:creationId xmlns:a16="http://schemas.microsoft.com/office/drawing/2014/main" id="{4AF241BD-DF8C-4D64-ACCA-0F2E1107A112}"/>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S6  |  Practical scenario &amp; exercise</a:t>
            </a:r>
          </a:p>
        </p:txBody>
      </p:sp>
      <p:sp>
        <p:nvSpPr>
          <p:cNvPr id="3" name="">
            <a:extLst xmlns:a="http://schemas.openxmlformats.org/drawingml/2006/main">
              <a:ext uri="{FF2B5EF4-FFF2-40B4-BE49-F238E27FC236}">
                <a16:creationId xmlns:a16="http://schemas.microsoft.com/office/drawing/2014/main" id="{E50E90DC-DC27-4850-AEBC-B8855ABEB013}"/>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8C5B678-2E08-44AC-BA7D-8DF7CBEB75B9}"/>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C88C71B-7A9E-4C07-AD6C-7EC2A4158A36}"/>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1E7DD076-3592-4F80-9070-F19F5485C80E}"/>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29</a:t>
            </a:r>
          </a:p>
        </p:txBody>
      </p:sp>
      <p:sp>
        <p:nvSpPr>
          <p:cNvPr id="7" name="">
            <a:extLst xmlns:a="http://schemas.openxmlformats.org/drawingml/2006/main">
              <a:ext uri="{FF2B5EF4-FFF2-40B4-BE49-F238E27FC236}">
                <a16:creationId xmlns:a16="http://schemas.microsoft.com/office/drawing/2014/main" id="{420D2F30-9912-477D-BDFF-79328D29F708}"/>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6 topic 6.2 and proposal p. 8. Dashboard configuration should be confirmed with DWIHN.</a:t>
            </a:r>
          </a:p>
        </p:txBody>
      </p:sp>
      <p:sp>
        <p:nvSpPr>
          <p:cNvPr id="8" name="">
            <a:extLst xmlns:a="http://schemas.openxmlformats.org/drawingml/2006/main">
              <a:ext uri="{FF2B5EF4-FFF2-40B4-BE49-F238E27FC236}">
                <a16:creationId xmlns:a16="http://schemas.microsoft.com/office/drawing/2014/main" id="{D738A613-E5BB-456E-92AE-5AE9BCC87CC2}"/>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Lumenore: Build a Useful Dashboard</a:t>
            </a:r>
          </a:p>
        </p:txBody>
      </p:sp>
      <p:sp>
        <p:nvSpPr>
          <p:cNvPr id="9" name="">
            <a:extLst xmlns:a="http://schemas.openxmlformats.org/drawingml/2006/main">
              <a:ext uri="{FF2B5EF4-FFF2-40B4-BE49-F238E27FC236}">
                <a16:creationId xmlns:a16="http://schemas.microsoft.com/office/drawing/2014/main" id="{FCA32256-DB5B-44E7-8456-741145934259}"/>
              </a:ext>
            </a:extLst>
          </p:cNvPr>
          <p:cNvSpPr>
            <a:spLocks xmlns:a="http://schemas.openxmlformats.org/drawingml/2006/main" noGrp="1"/>
          </p:cNvSpPr>
          <p:nvPr/>
        </p:nvSpPr>
        <p:spPr>
          <a:xfrm xmlns:a="http://schemas.openxmlformats.org/drawingml/2006/main">
            <a:off x="609600" y="1981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SCENARIO</a:t>
            </a:r>
          </a:p>
        </p:txBody>
      </p:sp>
      <p:sp>
        <p:nvSpPr>
          <p:cNvPr id="10" name="">
            <a:extLst xmlns:a="http://schemas.openxmlformats.org/drawingml/2006/main">
              <a:ext uri="{FF2B5EF4-FFF2-40B4-BE49-F238E27FC236}">
                <a16:creationId xmlns:a16="http://schemas.microsoft.com/office/drawing/2014/main" id="{CC99CA47-9AED-40BC-A86A-866E0B1D8CCD}"/>
              </a:ext>
            </a:extLst>
          </p:cNvPr>
          <p:cNvSpPr>
            <a:spLocks xmlns:a="http://schemas.openxmlformats.org/drawingml/2006/main" noGrp="1"/>
          </p:cNvSpPr>
          <p:nvPr/>
        </p:nvSpPr>
        <p:spPr>
          <a:xfrm xmlns:a="http://schemas.openxmlformats.org/drawingml/2006/main">
            <a:off x="609600" y="2266950"/>
            <a:ext cx="109728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D4DFE3"/>
            </a:solidFill>
          </a:ln>
        </p:spPr>
      </p:sp>
      <p:sp>
        <p:nvSpPr>
          <p:cNvPr id="11" name="">
            <a:extLst xmlns:a="http://schemas.openxmlformats.org/drawingml/2006/main">
              <a:ext uri="{FF2B5EF4-FFF2-40B4-BE49-F238E27FC236}">
                <a16:creationId xmlns:a16="http://schemas.microsoft.com/office/drawing/2014/main" id="{03AC46BE-7BED-4274-B66B-42C68217022E}"/>
              </a:ext>
            </a:extLst>
          </p:cNvPr>
          <p:cNvSpPr>
            <a:spLocks xmlns:a="http://schemas.openxmlformats.org/drawingml/2006/main" noGrp="1"/>
          </p:cNvSpPr>
          <p:nvPr/>
        </p:nvSpPr>
        <p:spPr>
          <a:xfrm xmlns:a="http://schemas.openxmlformats.org/drawingml/2006/main">
            <a:off x="819150" y="2447925"/>
            <a:ext cx="10525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142F42"/>
                </a:solidFill>
                <a:latin typeface="Arial"/>
                <a:ea typeface="Arial"/>
                <a:cs typeface="Arial"/>
              </a:defRPr>
            </a:pPr>
            <a:r>
              <a:rPr sz="1425" b="0">
                <a:solidFill>
                  <a:srgbClr val="142F42"/>
                </a:solidFill>
                <a:latin typeface="Arial"/>
                <a:ea typeface="Arial"/>
                <a:cs typeface="Arial"/>
              </a:rPr>
              <a:t>A team dashboard has a large “Success” number, three charts with unclear labels and an old refresh date. Different managers calculate the underlying percentage differently.</a:t>
            </a:r>
          </a:p>
        </p:txBody>
      </p:sp>
      <p:sp>
        <p:nvSpPr>
          <p:cNvPr id="12" name="">
            <a:extLst xmlns:a="http://schemas.openxmlformats.org/drawingml/2006/main">
              <a:ext uri="{FF2B5EF4-FFF2-40B4-BE49-F238E27FC236}">
                <a16:creationId xmlns:a16="http://schemas.microsoft.com/office/drawing/2014/main" id="{9E085BF9-C294-4CCA-BA94-03C736A047DD}"/>
              </a:ext>
            </a:extLst>
          </p:cNvPr>
          <p:cNvSpPr>
            <a:spLocks xmlns:a="http://schemas.openxmlformats.org/drawingml/2006/main" noGrp="1"/>
          </p:cNvSpPr>
          <p:nvPr/>
        </p:nvSpPr>
        <p:spPr>
          <a:xfrm xmlns:a="http://schemas.openxmlformats.org/drawingml/2006/main">
            <a:off x="609600" y="34861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 THE CASE</a:t>
            </a:r>
          </a:p>
        </p:txBody>
      </p:sp>
      <p:sp>
        <p:nvSpPr>
          <p:cNvPr id="13" name="">
            <a:extLst xmlns:a="http://schemas.openxmlformats.org/drawingml/2006/main">
              <a:ext uri="{FF2B5EF4-FFF2-40B4-BE49-F238E27FC236}">
                <a16:creationId xmlns:a16="http://schemas.microsoft.com/office/drawing/2014/main" id="{F3F527F9-BE5B-4084-8294-F56775FBA1E8}"/>
              </a:ext>
            </a:extLst>
          </p:cNvPr>
          <p:cNvSpPr>
            <a:spLocks xmlns:a="http://schemas.openxmlformats.org/drawingml/2006/main" noGrp="1"/>
          </p:cNvSpPr>
          <p:nvPr/>
        </p:nvSpPr>
        <p:spPr>
          <a:xfrm xmlns:a="http://schemas.openxmlformats.org/drawingml/2006/main">
            <a:off x="609600" y="38195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4" name="">
            <a:extLst xmlns:a="http://schemas.openxmlformats.org/drawingml/2006/main">
              <a:ext uri="{FF2B5EF4-FFF2-40B4-BE49-F238E27FC236}">
                <a16:creationId xmlns:a16="http://schemas.microsoft.com/office/drawing/2014/main" id="{9A6E6DBC-BDB2-4990-9D6F-CBCB3A1B3A19}"/>
              </a:ext>
            </a:extLst>
          </p:cNvPr>
          <p:cNvSpPr>
            <a:spLocks xmlns:a="http://schemas.openxmlformats.org/drawingml/2006/main" noGrp="1"/>
          </p:cNvSpPr>
          <p:nvPr/>
        </p:nvSpPr>
        <p:spPr>
          <a:xfrm xmlns:a="http://schemas.openxmlformats.org/drawingml/2006/main">
            <a:off x="1066800" y="38195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Write a shared measure definition and identify its denominator.</a:t>
            </a:r>
          </a:p>
        </p:txBody>
      </p:sp>
      <p:sp>
        <p:nvSpPr>
          <p:cNvPr id="15" name="">
            <a:extLst xmlns:a="http://schemas.openxmlformats.org/drawingml/2006/main">
              <a:ext uri="{FF2B5EF4-FFF2-40B4-BE49-F238E27FC236}">
                <a16:creationId xmlns:a16="http://schemas.microsoft.com/office/drawing/2014/main" id="{08B97A7A-3FEC-413E-A555-1E10FFF0CEEA}"/>
              </a:ext>
            </a:extLst>
          </p:cNvPr>
          <p:cNvSpPr>
            <a:spLocks xmlns:a="http://schemas.openxmlformats.org/drawingml/2006/main" noGrp="1"/>
          </p:cNvSpPr>
          <p:nvPr/>
        </p:nvSpPr>
        <p:spPr>
          <a:xfrm xmlns:a="http://schemas.openxmlformats.org/drawingml/2006/main">
            <a:off x="609600" y="43338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B48CC653-10A7-4928-925C-26F3B7369DD6}"/>
              </a:ext>
            </a:extLst>
          </p:cNvPr>
          <p:cNvSpPr>
            <a:spLocks xmlns:a="http://schemas.openxmlformats.org/drawingml/2006/main" noGrp="1"/>
          </p:cNvSpPr>
          <p:nvPr/>
        </p:nvSpPr>
        <p:spPr>
          <a:xfrm xmlns:a="http://schemas.openxmlformats.org/drawingml/2006/main">
            <a:off x="1066800" y="433387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Redesign the page hierarchy on paper for the stated audience.</a:t>
            </a:r>
          </a:p>
        </p:txBody>
      </p:sp>
      <p:sp>
        <p:nvSpPr>
          <p:cNvPr id="17" name="">
            <a:extLst xmlns:a="http://schemas.openxmlformats.org/drawingml/2006/main">
              <a:ext uri="{FF2B5EF4-FFF2-40B4-BE49-F238E27FC236}">
                <a16:creationId xmlns:a16="http://schemas.microsoft.com/office/drawing/2014/main" id="{55FB0C1D-B86F-45A4-96D4-E3995B17EC1A}"/>
              </a:ext>
            </a:extLst>
          </p:cNvPr>
          <p:cNvSpPr>
            <a:spLocks xmlns:a="http://schemas.openxmlformats.org/drawingml/2006/main" noGrp="1"/>
          </p:cNvSpPr>
          <p:nvPr/>
        </p:nvSpPr>
        <p:spPr>
          <a:xfrm xmlns:a="http://schemas.openxmlformats.org/drawingml/2006/main">
            <a:off x="609600" y="4848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23274A8B-8537-47D0-BA2A-B0014CFA5583}"/>
              </a:ext>
            </a:extLst>
          </p:cNvPr>
          <p:cNvSpPr>
            <a:spLocks xmlns:a="http://schemas.openxmlformats.org/drawingml/2006/main" noGrp="1"/>
          </p:cNvSpPr>
          <p:nvPr/>
        </p:nvSpPr>
        <p:spPr>
          <a:xfrm xmlns:a="http://schemas.openxmlformats.org/drawingml/2006/main">
            <a:off x="1066800" y="48482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List the owner, refresh expectation, filters and access checks needed before release.</a:t>
            </a:r>
          </a:p>
        </p:txBody>
      </p:sp>
      <p:sp>
        <p:nvSpPr>
          <p:cNvPr id="19" name="">
            <a:extLst xmlns:a="http://schemas.openxmlformats.org/drawingml/2006/main">
              <a:ext uri="{FF2B5EF4-FFF2-40B4-BE49-F238E27FC236}">
                <a16:creationId xmlns:a16="http://schemas.microsoft.com/office/drawing/2014/main" id="{9C4F3E47-E775-4C55-BCAD-1E7F7A90C222}"/>
              </a:ext>
            </a:extLst>
          </p:cNvPr>
          <p:cNvSpPr>
            <a:spLocks xmlns:a="http://schemas.openxmlformats.org/drawingml/2006/main" noGrp="1"/>
          </p:cNvSpPr>
          <p:nvPr/>
        </p:nvSpPr>
        <p:spPr>
          <a:xfrm xmlns:a="http://schemas.openxmlformats.org/drawingml/2006/main">
            <a:off x="7886700" y="3486150"/>
            <a:ext cx="19050" cy="219075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DF1F92F-8200-472C-8DCF-0D0A9D63B4E3}"/>
              </a:ext>
            </a:extLst>
          </p:cNvPr>
          <p:cNvSpPr>
            <a:spLocks xmlns:a="http://schemas.openxmlformats.org/drawingml/2006/main" noGrp="1"/>
          </p:cNvSpPr>
          <p:nvPr/>
        </p:nvSpPr>
        <p:spPr>
          <a:xfrm xmlns:a="http://schemas.openxmlformats.org/drawingml/2006/main">
            <a:off x="8229600" y="3505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EXPECTED DELIVERABLE</a:t>
            </a:r>
          </a:p>
        </p:txBody>
      </p:sp>
      <p:sp>
        <p:nvSpPr>
          <p:cNvPr id="21" name="">
            <a:extLst xmlns:a="http://schemas.openxmlformats.org/drawingml/2006/main">
              <a:ext uri="{FF2B5EF4-FFF2-40B4-BE49-F238E27FC236}">
                <a16:creationId xmlns:a16="http://schemas.microsoft.com/office/drawing/2014/main" id="{D2558C5D-FBC7-487E-BD29-A4D6B8C3E8FD}"/>
              </a:ext>
            </a:extLst>
          </p:cNvPr>
          <p:cNvSpPr>
            <a:spLocks xmlns:a="http://schemas.openxmlformats.org/drawingml/2006/main" noGrp="1"/>
          </p:cNvSpPr>
          <p:nvPr/>
        </p:nvSpPr>
        <p:spPr>
          <a:xfrm xmlns:a="http://schemas.openxmlformats.org/drawingml/2006/main">
            <a:off x="8229600" y="3819525"/>
            <a:ext cx="3086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758"/>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A dashboard wireframe with title, metric definitions, period, filter, owner and a brief “how to read this view” note.</a:t>
            </a:r>
          </a:p>
        </p:txBody>
      </p:sp>
      <p:sp>
        <p:nvSpPr>
          <p:cNvPr id="22" name="">
            <a:extLst xmlns:a="http://schemas.openxmlformats.org/drawingml/2006/main">
              <a:ext uri="{FF2B5EF4-FFF2-40B4-BE49-F238E27FC236}">
                <a16:creationId xmlns:a16="http://schemas.microsoft.com/office/drawing/2014/main" id="{F2CE7A09-D96C-4666-BCF4-A01E8F3219B0}"/>
              </a:ext>
            </a:extLst>
          </p:cNvPr>
          <p:cNvSpPr>
            <a:spLocks xmlns:a="http://schemas.openxmlformats.org/drawingml/2006/main" noGrp="1"/>
          </p:cNvSpPr>
          <p:nvPr/>
        </p:nvSpPr>
        <p:spPr>
          <a:xfrm xmlns:a="http://schemas.openxmlformats.org/drawingml/2006/main">
            <a:off x="8229600" y="469582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REVIEW CRITERIA</a:t>
            </a:r>
          </a:p>
        </p:txBody>
      </p:sp>
      <p:sp>
        <p:nvSpPr>
          <p:cNvPr id="23" name="">
            <a:extLst xmlns:a="http://schemas.openxmlformats.org/drawingml/2006/main">
              <a:ext uri="{FF2B5EF4-FFF2-40B4-BE49-F238E27FC236}">
                <a16:creationId xmlns:a16="http://schemas.microsoft.com/office/drawing/2014/main" id="{DB77191F-EEBB-4B49-AF6B-29A8B6001D74}"/>
              </a:ext>
            </a:extLst>
          </p:cNvPr>
          <p:cNvSpPr>
            <a:spLocks xmlns:a="http://schemas.openxmlformats.org/drawingml/2006/main" noGrp="1"/>
          </p:cNvSpPr>
          <p:nvPr/>
        </p:nvSpPr>
        <p:spPr>
          <a:xfrm xmlns:a="http://schemas.openxmlformats.org/drawingml/2006/main">
            <a:off x="8229600" y="4991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634"/>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Every displayed metric has an agreed definition.</a:t>
            </a:r>
          </a:p>
        </p:txBody>
      </p:sp>
      <p:sp>
        <p:nvSpPr>
          <p:cNvPr id="24" name="">
            <a:extLst xmlns:a="http://schemas.openxmlformats.org/drawingml/2006/main">
              <a:ext uri="{FF2B5EF4-FFF2-40B4-BE49-F238E27FC236}">
                <a16:creationId xmlns:a16="http://schemas.microsoft.com/office/drawing/2014/main" id="{7FFBF936-A656-4994-B861-0AF6B5CB9D3F}"/>
              </a:ext>
            </a:extLst>
          </p:cNvPr>
          <p:cNvSpPr>
            <a:spLocks xmlns:a="http://schemas.openxmlformats.org/drawingml/2006/main" noGrp="1"/>
          </p:cNvSpPr>
          <p:nvPr/>
        </p:nvSpPr>
        <p:spPr>
          <a:xfrm xmlns:a="http://schemas.openxmlformats.org/drawingml/2006/main">
            <a:off x="8229600" y="5372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The most important measure is easy to locate and interpret.</a:t>
            </a:r>
          </a:p>
        </p:txBody>
      </p:sp>
      <p:sp>
        <p:nvSpPr>
          <p:cNvPr id="25" name="">
            <a:extLst xmlns:a="http://schemas.openxmlformats.org/drawingml/2006/main">
              <a:ext uri="{FF2B5EF4-FFF2-40B4-BE49-F238E27FC236}">
                <a16:creationId xmlns:a16="http://schemas.microsoft.com/office/drawing/2014/main" id="{EDE3BF55-61EA-45F1-A90C-B90DAE72D8D8}"/>
              </a:ext>
            </a:extLst>
          </p:cNvPr>
          <p:cNvSpPr>
            <a:spLocks xmlns:a="http://schemas.openxmlformats.org/drawingml/2006/main" noGrp="1"/>
          </p:cNvSpPr>
          <p:nvPr/>
        </p:nvSpPr>
        <p:spPr>
          <a:xfrm xmlns:a="http://schemas.openxmlformats.org/drawingml/2006/main">
            <a:off x="8229600" y="5753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The view shows period and refresh context and follows access rules.</a:t>
            </a:r>
          </a:p>
        </p:txBody>
      </p:sp>
    </p:spTree>
    <p:extLst>
      <p:ext uri="{BB962C8B-B14F-4D97-AF65-F5344CB8AC3E}">
        <p14:creationId xmlns:p14="http://schemas.microsoft.com/office/powerpoint/2010/main" val="2048013698"/>
      </p:ext>
    </p:extLst>
  </p:cSld>
</p:sld>
</file>

<file path=ppt/slides/slide30.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F7E0290E-9ABA-41C4-8513-48D51FAF3F26}"/>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WEEKS 4–5 / MODULE 6</a:t>
            </a:r>
          </a:p>
        </p:txBody>
      </p:sp>
      <p:sp>
        <p:nvSpPr>
          <p:cNvPr id="2" name="">
            <a:extLst xmlns:a="http://schemas.openxmlformats.org/drawingml/2006/main">
              <a:ext uri="{FF2B5EF4-FFF2-40B4-BE49-F238E27FC236}">
                <a16:creationId xmlns:a16="http://schemas.microsoft.com/office/drawing/2014/main" id="{2018FDE8-47F6-4033-BEB9-09221DDCD4A3}"/>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S6  |  Q&amp;A and knowledge check</a:t>
            </a:r>
          </a:p>
        </p:txBody>
      </p:sp>
      <p:sp>
        <p:nvSpPr>
          <p:cNvPr id="3" name="">
            <a:extLst xmlns:a="http://schemas.openxmlformats.org/drawingml/2006/main">
              <a:ext uri="{FF2B5EF4-FFF2-40B4-BE49-F238E27FC236}">
                <a16:creationId xmlns:a16="http://schemas.microsoft.com/office/drawing/2014/main" id="{14D0B392-2E88-443A-8C06-ED301BE8C1D2}"/>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D286435-8F13-41E1-AA0A-278FA19AB27C}"/>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437C905-3164-47AF-86D6-730887EA5FAB}"/>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81C530D2-4498-4D44-9DA8-F1D12705752C}"/>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30</a:t>
            </a:r>
          </a:p>
        </p:txBody>
      </p:sp>
      <p:sp>
        <p:nvSpPr>
          <p:cNvPr id="7" name="">
            <a:extLst xmlns:a="http://schemas.openxmlformats.org/drawingml/2006/main">
              <a:ext uri="{FF2B5EF4-FFF2-40B4-BE49-F238E27FC236}">
                <a16:creationId xmlns:a16="http://schemas.microsoft.com/office/drawing/2014/main" id="{885695EF-0D82-41FE-A37F-A40003A5615A}"/>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6 topic 6.2 and proposal p. 8. Dashboard configuration should be confirmed with DWIHN.</a:t>
            </a:r>
          </a:p>
        </p:txBody>
      </p:sp>
      <p:sp>
        <p:nvSpPr>
          <p:cNvPr id="8" name="">
            <a:extLst xmlns:a="http://schemas.openxmlformats.org/drawingml/2006/main">
              <a:ext uri="{FF2B5EF4-FFF2-40B4-BE49-F238E27FC236}">
                <a16:creationId xmlns:a16="http://schemas.microsoft.com/office/drawing/2014/main" id="{4FEA66F7-DB6D-4E53-B974-852388BBD1BC}"/>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Lumenore: Build a Useful Dashboard</a:t>
            </a:r>
          </a:p>
        </p:txBody>
      </p:sp>
      <p:sp>
        <p:nvSpPr>
          <p:cNvPr id="9" name="">
            <a:extLst xmlns:a="http://schemas.openxmlformats.org/drawingml/2006/main">
              <a:ext uri="{FF2B5EF4-FFF2-40B4-BE49-F238E27FC236}">
                <a16:creationId xmlns:a16="http://schemas.microsoft.com/office/drawing/2014/main" id="{F3972736-4CF2-4C46-B7BD-EA912DCA8208}"/>
              </a:ext>
            </a:extLst>
          </p:cNvPr>
          <p:cNvSpPr>
            <a:spLocks xmlns:a="http://schemas.openxmlformats.org/drawingml/2006/main" noGrp="1"/>
          </p:cNvSpPr>
          <p:nvPr/>
        </p:nvSpPr>
        <p:spPr>
          <a:xfrm xmlns:a="http://schemas.openxmlformats.org/drawingml/2006/main">
            <a:off x="609600" y="19240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Invite questions first. Use the answer cues to clarify the principle; route local policy questions to the right DWIHN owner.</a:t>
            </a:r>
          </a:p>
        </p:txBody>
      </p:sp>
      <p:sp>
        <p:nvSpPr>
          <p:cNvPr id="10" name="">
            <a:extLst xmlns:a="http://schemas.openxmlformats.org/drawingml/2006/main">
              <a:ext uri="{FF2B5EF4-FFF2-40B4-BE49-F238E27FC236}">
                <a16:creationId xmlns:a16="http://schemas.microsoft.com/office/drawing/2014/main" id="{6A10100B-9D7A-4C2C-9686-E0C01BE03FD7}"/>
              </a:ext>
            </a:extLst>
          </p:cNvPr>
          <p:cNvSpPr>
            <a:spLocks xmlns:a="http://schemas.openxmlformats.org/drawingml/2006/main" noGrp="1"/>
          </p:cNvSpPr>
          <p:nvPr/>
        </p:nvSpPr>
        <p:spPr>
          <a:xfrm xmlns:a="http://schemas.openxmlformats.org/drawingml/2006/main">
            <a:off x="609600" y="26384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Q1</a:t>
            </a:r>
          </a:p>
        </p:txBody>
      </p:sp>
      <p:sp>
        <p:nvSpPr>
          <p:cNvPr id="11" name="">
            <a:extLst xmlns:a="http://schemas.openxmlformats.org/drawingml/2006/main">
              <a:ext uri="{FF2B5EF4-FFF2-40B4-BE49-F238E27FC236}">
                <a16:creationId xmlns:a16="http://schemas.microsoft.com/office/drawing/2014/main" id="{3DE0E382-882D-457A-ADB5-551644AF339D}"/>
              </a:ext>
            </a:extLst>
          </p:cNvPr>
          <p:cNvSpPr>
            <a:spLocks xmlns:a="http://schemas.openxmlformats.org/drawingml/2006/main" noGrp="1"/>
          </p:cNvSpPr>
          <p:nvPr/>
        </p:nvSpPr>
        <p:spPr>
          <a:xfrm xmlns:a="http://schemas.openxmlformats.org/drawingml/2006/main">
            <a:off x="1162050" y="26384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Should every available KPI appear on the dashboard?</a:t>
            </a:r>
          </a:p>
        </p:txBody>
      </p:sp>
      <p:sp>
        <p:nvSpPr>
          <p:cNvPr id="12" name="">
            <a:extLst xmlns:a="http://schemas.openxmlformats.org/drawingml/2006/main">
              <a:ext uri="{FF2B5EF4-FFF2-40B4-BE49-F238E27FC236}">
                <a16:creationId xmlns:a16="http://schemas.microsoft.com/office/drawing/2014/main" id="{7D6C1250-2017-4921-ABAC-2B6B06539EED}"/>
              </a:ext>
            </a:extLst>
          </p:cNvPr>
          <p:cNvSpPr>
            <a:spLocks xmlns:a="http://schemas.openxmlformats.org/drawingml/2006/main" noGrp="1"/>
          </p:cNvSpPr>
          <p:nvPr/>
        </p:nvSpPr>
        <p:spPr>
          <a:xfrm xmlns:a="http://schemas.openxmlformats.org/drawingml/2006/main">
            <a:off x="6000750" y="26384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3" name="">
            <a:extLst xmlns:a="http://schemas.openxmlformats.org/drawingml/2006/main">
              <a:ext uri="{FF2B5EF4-FFF2-40B4-BE49-F238E27FC236}">
                <a16:creationId xmlns:a16="http://schemas.microsoft.com/office/drawing/2014/main" id="{ECDC904C-613A-4C84-B40E-0EDBEFA541F7}"/>
              </a:ext>
            </a:extLst>
          </p:cNvPr>
          <p:cNvSpPr>
            <a:spLocks xmlns:a="http://schemas.openxmlformats.org/drawingml/2006/main" noGrp="1"/>
          </p:cNvSpPr>
          <p:nvPr/>
        </p:nvSpPr>
        <p:spPr>
          <a:xfrm xmlns:a="http://schemas.openxmlformats.org/drawingml/2006/main">
            <a:off x="6000750" y="28765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No. Include measures relevant to its audience and decision.</a:t>
            </a:r>
          </a:p>
        </p:txBody>
      </p:sp>
      <p:sp>
        <p:nvSpPr>
          <p:cNvPr id="14" name="">
            <a:extLst xmlns:a="http://schemas.openxmlformats.org/drawingml/2006/main">
              <a:ext uri="{FF2B5EF4-FFF2-40B4-BE49-F238E27FC236}">
                <a16:creationId xmlns:a16="http://schemas.microsoft.com/office/drawing/2014/main" id="{570EB9AF-3252-4302-B1D4-1E4E4E4CCA7F}"/>
              </a:ext>
            </a:extLst>
          </p:cNvPr>
          <p:cNvSpPr>
            <a:spLocks xmlns:a="http://schemas.openxmlformats.org/drawingml/2006/main" noGrp="1"/>
          </p:cNvSpPr>
          <p:nvPr/>
        </p:nvSpPr>
        <p:spPr>
          <a:xfrm xmlns:a="http://schemas.openxmlformats.org/drawingml/2006/main">
            <a:off x="609600" y="343852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567B1CD-C765-4E9F-BE8B-DE34E96060A8}"/>
              </a:ext>
            </a:extLst>
          </p:cNvPr>
          <p:cNvSpPr>
            <a:spLocks xmlns:a="http://schemas.openxmlformats.org/drawingml/2006/main" noGrp="1"/>
          </p:cNvSpPr>
          <p:nvPr/>
        </p:nvSpPr>
        <p:spPr>
          <a:xfrm xmlns:a="http://schemas.openxmlformats.org/drawingml/2006/main">
            <a:off x="609600" y="35718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Q2</a:t>
            </a:r>
          </a:p>
        </p:txBody>
      </p:sp>
      <p:sp>
        <p:nvSpPr>
          <p:cNvPr id="16" name="">
            <a:extLst xmlns:a="http://schemas.openxmlformats.org/drawingml/2006/main">
              <a:ext uri="{FF2B5EF4-FFF2-40B4-BE49-F238E27FC236}">
                <a16:creationId xmlns:a16="http://schemas.microsoft.com/office/drawing/2014/main" id="{7A0A1E50-2ACD-4589-BA36-61A2A4884844}"/>
              </a:ext>
            </a:extLst>
          </p:cNvPr>
          <p:cNvSpPr>
            <a:spLocks xmlns:a="http://schemas.openxmlformats.org/drawingml/2006/main" noGrp="1"/>
          </p:cNvSpPr>
          <p:nvPr/>
        </p:nvSpPr>
        <p:spPr>
          <a:xfrm xmlns:a="http://schemas.openxmlformats.org/drawingml/2006/main">
            <a:off x="1162050" y="357187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What makes two dashboards comparable?</a:t>
            </a:r>
          </a:p>
        </p:txBody>
      </p:sp>
      <p:sp>
        <p:nvSpPr>
          <p:cNvPr id="17" name="">
            <a:extLst xmlns:a="http://schemas.openxmlformats.org/drawingml/2006/main">
              <a:ext uri="{FF2B5EF4-FFF2-40B4-BE49-F238E27FC236}">
                <a16:creationId xmlns:a16="http://schemas.microsoft.com/office/drawing/2014/main" id="{0E8A3663-F72D-4EE0-96C1-A6291621B9CA}"/>
              </a:ext>
            </a:extLst>
          </p:cNvPr>
          <p:cNvSpPr>
            <a:spLocks xmlns:a="http://schemas.openxmlformats.org/drawingml/2006/main" noGrp="1"/>
          </p:cNvSpPr>
          <p:nvPr/>
        </p:nvSpPr>
        <p:spPr>
          <a:xfrm xmlns:a="http://schemas.openxmlformats.org/drawingml/2006/main">
            <a:off x="6000750" y="357187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8" name="">
            <a:extLst xmlns:a="http://schemas.openxmlformats.org/drawingml/2006/main">
              <a:ext uri="{FF2B5EF4-FFF2-40B4-BE49-F238E27FC236}">
                <a16:creationId xmlns:a16="http://schemas.microsoft.com/office/drawing/2014/main" id="{AF36AA47-978A-466D-A449-002304D38224}"/>
              </a:ext>
            </a:extLst>
          </p:cNvPr>
          <p:cNvSpPr>
            <a:spLocks xmlns:a="http://schemas.openxmlformats.org/drawingml/2006/main" noGrp="1"/>
          </p:cNvSpPr>
          <p:nvPr/>
        </p:nvSpPr>
        <p:spPr>
          <a:xfrm xmlns:a="http://schemas.openxmlformats.org/drawingml/2006/main">
            <a:off x="6000750" y="381000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Consistent definitions, population, period and filters, with known data refresh.</a:t>
            </a:r>
          </a:p>
        </p:txBody>
      </p:sp>
      <p:sp>
        <p:nvSpPr>
          <p:cNvPr id="19" name="">
            <a:extLst xmlns:a="http://schemas.openxmlformats.org/drawingml/2006/main">
              <a:ext uri="{FF2B5EF4-FFF2-40B4-BE49-F238E27FC236}">
                <a16:creationId xmlns:a16="http://schemas.microsoft.com/office/drawing/2014/main" id="{0808826B-2460-4A63-A1CF-1CCB650A8B4E}"/>
              </a:ext>
            </a:extLst>
          </p:cNvPr>
          <p:cNvSpPr>
            <a:spLocks xmlns:a="http://schemas.openxmlformats.org/drawingml/2006/main" noGrp="1"/>
          </p:cNvSpPr>
          <p:nvPr/>
        </p:nvSpPr>
        <p:spPr>
          <a:xfrm xmlns:a="http://schemas.openxmlformats.org/drawingml/2006/main">
            <a:off x="609600" y="437197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C71F303-EFD5-46D5-B002-38B409BF6163}"/>
              </a:ext>
            </a:extLst>
          </p:cNvPr>
          <p:cNvSpPr>
            <a:spLocks xmlns:a="http://schemas.openxmlformats.org/drawingml/2006/main" noGrp="1"/>
          </p:cNvSpPr>
          <p:nvPr/>
        </p:nvSpPr>
        <p:spPr>
          <a:xfrm xmlns:a="http://schemas.openxmlformats.org/drawingml/2006/main">
            <a:off x="609600" y="45053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Q3</a:t>
            </a:r>
          </a:p>
        </p:txBody>
      </p:sp>
      <p:sp>
        <p:nvSpPr>
          <p:cNvPr id="21" name="">
            <a:extLst xmlns:a="http://schemas.openxmlformats.org/drawingml/2006/main">
              <a:ext uri="{FF2B5EF4-FFF2-40B4-BE49-F238E27FC236}">
                <a16:creationId xmlns:a16="http://schemas.microsoft.com/office/drawing/2014/main" id="{87E46B1C-6EE4-4510-9A93-7B8AC170339F}"/>
              </a:ext>
            </a:extLst>
          </p:cNvPr>
          <p:cNvSpPr>
            <a:spLocks xmlns:a="http://schemas.openxmlformats.org/drawingml/2006/main" noGrp="1"/>
          </p:cNvSpPr>
          <p:nvPr/>
        </p:nvSpPr>
        <p:spPr>
          <a:xfrm xmlns:a="http://schemas.openxmlformats.org/drawingml/2006/main">
            <a:off x="1162050" y="45053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Can I share a board-ready report with row-level records?</a:t>
            </a:r>
          </a:p>
        </p:txBody>
      </p:sp>
      <p:sp>
        <p:nvSpPr>
          <p:cNvPr id="22" name="">
            <a:extLst xmlns:a="http://schemas.openxmlformats.org/drawingml/2006/main">
              <a:ext uri="{FF2B5EF4-FFF2-40B4-BE49-F238E27FC236}">
                <a16:creationId xmlns:a16="http://schemas.microsoft.com/office/drawing/2014/main" id="{1F4B32BE-9079-4F87-A5CE-A55B3256A5A7}"/>
              </a:ext>
            </a:extLst>
          </p:cNvPr>
          <p:cNvSpPr>
            <a:spLocks xmlns:a="http://schemas.openxmlformats.org/drawingml/2006/main" noGrp="1"/>
          </p:cNvSpPr>
          <p:nvPr/>
        </p:nvSpPr>
        <p:spPr>
          <a:xfrm xmlns:a="http://schemas.openxmlformats.org/drawingml/2006/main">
            <a:off x="6000750" y="45053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23" name="">
            <a:extLst xmlns:a="http://schemas.openxmlformats.org/drawingml/2006/main">
              <a:ext uri="{FF2B5EF4-FFF2-40B4-BE49-F238E27FC236}">
                <a16:creationId xmlns:a16="http://schemas.microsoft.com/office/drawing/2014/main" id="{3868A660-8CE0-4CDC-9C7F-F25FE61FE731}"/>
              </a:ext>
            </a:extLst>
          </p:cNvPr>
          <p:cNvSpPr>
            <a:spLocks xmlns:a="http://schemas.openxmlformats.org/drawingml/2006/main" noGrp="1"/>
          </p:cNvSpPr>
          <p:nvPr/>
        </p:nvSpPr>
        <p:spPr>
          <a:xfrm xmlns:a="http://schemas.openxmlformats.org/drawingml/2006/main">
            <a:off x="6000750" y="47434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Use the approved access rules and minimum detail needed for the audience.</a:t>
            </a:r>
          </a:p>
        </p:txBody>
      </p:sp>
      <p:sp>
        <p:nvSpPr>
          <p:cNvPr id="24" name="">
            <a:extLst xmlns:a="http://schemas.openxmlformats.org/drawingml/2006/main">
              <a:ext uri="{FF2B5EF4-FFF2-40B4-BE49-F238E27FC236}">
                <a16:creationId xmlns:a16="http://schemas.microsoft.com/office/drawing/2014/main" id="{7AF0373E-2C04-4C32-94DE-A40BD5AD4EF4}"/>
              </a:ext>
            </a:extLst>
          </p:cNvPr>
          <p:cNvSpPr>
            <a:spLocks xmlns:a="http://schemas.openxmlformats.org/drawingml/2006/main" noGrp="1"/>
          </p:cNvSpPr>
          <p:nvPr/>
        </p:nvSpPr>
        <p:spPr>
          <a:xfrm xmlns:a="http://schemas.openxmlformats.org/drawingml/2006/main">
            <a:off x="609600" y="55435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0C538C75-E033-4720-98D6-5C652EF34C5F}"/>
              </a:ext>
            </a:extLst>
          </p:cNvPr>
          <p:cNvSpPr>
            <a:spLocks xmlns:a="http://schemas.openxmlformats.org/drawingml/2006/main" noGrp="1"/>
          </p:cNvSpPr>
          <p:nvPr/>
        </p:nvSpPr>
        <p:spPr>
          <a:xfrm xmlns:a="http://schemas.openxmlformats.org/drawingml/2006/main">
            <a:off x="609600" y="57150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Remember</a:t>
            </a:r>
          </a:p>
        </p:txBody>
      </p:sp>
      <p:sp>
        <p:nvSpPr>
          <p:cNvPr id="26" name="">
            <a:extLst xmlns:a="http://schemas.openxmlformats.org/drawingml/2006/main">
              <a:ext uri="{FF2B5EF4-FFF2-40B4-BE49-F238E27FC236}">
                <a16:creationId xmlns:a16="http://schemas.microsoft.com/office/drawing/2014/main" id="{D1A7BDA9-7B88-4326-A058-E042EFCDD3B8}"/>
              </a:ext>
            </a:extLst>
          </p:cNvPr>
          <p:cNvSpPr>
            <a:spLocks xmlns:a="http://schemas.openxmlformats.org/drawingml/2006/main" noGrp="1"/>
          </p:cNvSpPr>
          <p:nvPr/>
        </p:nvSpPr>
        <p:spPr>
          <a:xfrm xmlns:a="http://schemas.openxmlformats.org/drawingml/2006/main">
            <a:off x="1924050" y="5686425"/>
            <a:ext cx="9429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Begin with the audience and decision.   •   Define measures before drawing charts.   •   Make filters, refresh and ownership visible.</a:t>
            </a:r>
          </a:p>
        </p:txBody>
      </p:sp>
    </p:spTree>
    <p:extLst>
      <p:ext uri="{BB962C8B-B14F-4D97-AF65-F5344CB8AC3E}">
        <p14:creationId xmlns:p14="http://schemas.microsoft.com/office/powerpoint/2010/main" val="1342931537"/>
      </p:ext>
    </p:extLst>
  </p:cSld>
</p:sld>
</file>

<file path=ppt/slides/slide31.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0A9C226-618A-4150-9A4A-933F32566C20}"/>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WEEKS 4–5 / MODULE 6</a:t>
            </a:r>
          </a:p>
        </p:txBody>
      </p:sp>
      <p:sp>
        <p:nvSpPr>
          <p:cNvPr id="2" name="">
            <a:extLst xmlns:a="http://schemas.openxmlformats.org/drawingml/2006/main">
              <a:ext uri="{FF2B5EF4-FFF2-40B4-BE49-F238E27FC236}">
                <a16:creationId xmlns:a16="http://schemas.microsoft.com/office/drawing/2014/main" id="{62753470-1598-4B44-91D5-1C46650D269A}"/>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S7  |  Purpose &amp; outcomes</a:t>
            </a:r>
          </a:p>
        </p:txBody>
      </p:sp>
      <p:sp>
        <p:nvSpPr>
          <p:cNvPr id="3" name="">
            <a:extLst xmlns:a="http://schemas.openxmlformats.org/drawingml/2006/main">
              <a:ext uri="{FF2B5EF4-FFF2-40B4-BE49-F238E27FC236}">
                <a16:creationId xmlns:a16="http://schemas.microsoft.com/office/drawing/2014/main" id="{CE698B76-DE9D-48AF-B674-350DEBF1401F}"/>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538C690-7C07-49F1-809E-B01F03897736}"/>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4181D5C-6BFE-4A00-81A6-87DE17A7F3F4}"/>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879304BC-7491-4F92-B0B1-41F9A48BBDBC}"/>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31</a:t>
            </a:r>
          </a:p>
        </p:txBody>
      </p:sp>
      <p:sp>
        <p:nvSpPr>
          <p:cNvPr id="7" name="">
            <a:extLst xmlns:a="http://schemas.openxmlformats.org/drawingml/2006/main">
              <a:ext uri="{FF2B5EF4-FFF2-40B4-BE49-F238E27FC236}">
                <a16:creationId xmlns:a16="http://schemas.microsoft.com/office/drawing/2014/main" id="{87C4A6F1-9299-4305-8562-FF43770FE1CF}"/>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6 topics 6.3–6.4 and proposal p. 8. Geographic and alert examples are hypothetical.</a:t>
            </a:r>
          </a:p>
        </p:txBody>
      </p:sp>
      <p:sp>
        <p:nvSpPr>
          <p:cNvPr id="8" name="">
            <a:extLst xmlns:a="http://schemas.openxmlformats.org/drawingml/2006/main">
              <a:ext uri="{FF2B5EF4-FFF2-40B4-BE49-F238E27FC236}">
                <a16:creationId xmlns:a16="http://schemas.microsoft.com/office/drawing/2014/main" id="{BD4B2EF2-88A5-4E97-AA09-054FB6D55FE5}"/>
              </a:ext>
            </a:extLst>
          </p:cNvPr>
          <p:cNvSpPr>
            <a:spLocks xmlns:a="http://schemas.openxmlformats.org/drawingml/2006/main" noGrp="1"/>
          </p:cNvSpPr>
          <p:nvPr/>
        </p:nvSpPr>
        <p:spPr>
          <a:xfrm xmlns:a="http://schemas.openxmlformats.org/drawingml/2006/main">
            <a:off x="609600" y="1619250"/>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0A2438"/>
                </a:solidFill>
                <a:latin typeface="Arial"/>
                <a:ea typeface="Arial"/>
                <a:cs typeface="Arial"/>
              </a:defRPr>
            </a:pPr>
            <a:r>
              <a:rPr sz="1875" b="1">
                <a:solidFill>
                  <a:srgbClr val="0A2438"/>
                </a:solidFill>
                <a:latin typeface="Arial"/>
                <a:ea typeface="Arial"/>
                <a:cs typeface="Arial"/>
              </a:rPr>
              <a:t>Lumenore: Service Gaps, Alerts &amp; Reports</a:t>
            </a:r>
          </a:p>
        </p:txBody>
      </p:sp>
      <p:sp>
        <p:nvSpPr>
          <p:cNvPr id="9" name="">
            <a:extLst xmlns:a="http://schemas.openxmlformats.org/drawingml/2006/main">
              <a:ext uri="{FF2B5EF4-FFF2-40B4-BE49-F238E27FC236}">
                <a16:creationId xmlns:a16="http://schemas.microsoft.com/office/drawing/2014/main" id="{758FB053-3131-439A-80B4-F0FCA3654E3A}"/>
              </a:ext>
            </a:extLst>
          </p:cNvPr>
          <p:cNvSpPr>
            <a:spLocks xmlns:a="http://schemas.openxmlformats.org/drawingml/2006/main" noGrp="1"/>
          </p:cNvSpPr>
          <p:nvPr/>
        </p:nvSpPr>
        <p:spPr>
          <a:xfrm xmlns:a="http://schemas.openxmlformats.org/drawingml/2006/main">
            <a:off x="609600" y="2057400"/>
            <a:ext cx="695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506473"/>
                </a:solidFill>
                <a:latin typeface="Arial"/>
                <a:ea typeface="Arial"/>
                <a:cs typeface="Arial"/>
              </a:defRPr>
            </a:pPr>
            <a:r>
              <a:rPr sz="1425" b="0">
                <a:solidFill>
                  <a:srgbClr val="506473"/>
                </a:solidFill>
                <a:latin typeface="Arial"/>
                <a:ea typeface="Arial"/>
                <a:cs typeface="Arial"/>
              </a:rPr>
              <a:t>Participants practice cautious service-gap analysis and learn to make alerts actionable through a defined threshold, owner and response.</a:t>
            </a:r>
          </a:p>
        </p:txBody>
      </p:sp>
      <p:sp>
        <p:nvSpPr>
          <p:cNvPr id="10" name="">
            <a:extLst xmlns:a="http://schemas.openxmlformats.org/drawingml/2006/main">
              <a:ext uri="{FF2B5EF4-FFF2-40B4-BE49-F238E27FC236}">
                <a16:creationId xmlns:a16="http://schemas.microsoft.com/office/drawing/2014/main" id="{CF767D5B-F7F3-41D5-852D-9FBE231BD258}"/>
              </a:ext>
            </a:extLst>
          </p:cNvPr>
          <p:cNvSpPr>
            <a:spLocks xmlns:a="http://schemas.openxmlformats.org/drawingml/2006/main" noGrp="1"/>
          </p:cNvSpPr>
          <p:nvPr/>
        </p:nvSpPr>
        <p:spPr>
          <a:xfrm xmlns:a="http://schemas.openxmlformats.org/drawingml/2006/main">
            <a:off x="609600" y="30861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BY THE END, LEARNERS CAN</a:t>
            </a:r>
          </a:p>
        </p:txBody>
      </p:sp>
      <p:sp>
        <p:nvSpPr>
          <p:cNvPr id="11" name="">
            <a:extLst xmlns:a="http://schemas.openxmlformats.org/drawingml/2006/main">
              <a:ext uri="{FF2B5EF4-FFF2-40B4-BE49-F238E27FC236}">
                <a16:creationId xmlns:a16="http://schemas.microsoft.com/office/drawing/2014/main" id="{BF85DCFB-1B7C-4D4B-98D1-A239CFEED1FA}"/>
              </a:ext>
            </a:extLst>
          </p:cNvPr>
          <p:cNvSpPr>
            <a:spLocks xmlns:a="http://schemas.openxmlformats.org/drawingml/2006/main" noGrp="1"/>
          </p:cNvSpPr>
          <p:nvPr/>
        </p:nvSpPr>
        <p:spPr>
          <a:xfrm xmlns:a="http://schemas.openxmlformats.org/drawingml/2006/main">
            <a:off x="609600" y="3429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01</a:t>
            </a:r>
          </a:p>
        </p:txBody>
      </p:sp>
      <p:sp>
        <p:nvSpPr>
          <p:cNvPr id="12" name="">
            <a:extLst xmlns:a="http://schemas.openxmlformats.org/drawingml/2006/main">
              <a:ext uri="{FF2B5EF4-FFF2-40B4-BE49-F238E27FC236}">
                <a16:creationId xmlns:a16="http://schemas.microsoft.com/office/drawing/2014/main" id="{7AB288F4-5068-4174-8255-CC030B1704D2}"/>
              </a:ext>
            </a:extLst>
          </p:cNvPr>
          <p:cNvSpPr>
            <a:spLocks xmlns:a="http://schemas.openxmlformats.org/drawingml/2006/main" noGrp="1"/>
          </p:cNvSpPr>
          <p:nvPr/>
        </p:nvSpPr>
        <p:spPr>
          <a:xfrm xmlns:a="http://schemas.openxmlformats.org/drawingml/2006/main">
            <a:off x="1104900" y="34290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Read a geographic view with population and denominator context.</a:t>
            </a:r>
          </a:p>
        </p:txBody>
      </p:sp>
      <p:sp>
        <p:nvSpPr>
          <p:cNvPr id="13" name="">
            <a:extLst xmlns:a="http://schemas.openxmlformats.org/drawingml/2006/main">
              <a:ext uri="{FF2B5EF4-FFF2-40B4-BE49-F238E27FC236}">
                <a16:creationId xmlns:a16="http://schemas.microsoft.com/office/drawing/2014/main" id="{C0441A52-847D-48E4-A0AF-2915452AB259}"/>
              </a:ext>
            </a:extLst>
          </p:cNvPr>
          <p:cNvSpPr>
            <a:spLocks xmlns:a="http://schemas.openxmlformats.org/drawingml/2006/main" noGrp="1"/>
          </p:cNvSpPr>
          <p:nvPr/>
        </p:nvSpPr>
        <p:spPr>
          <a:xfrm xmlns:a="http://schemas.openxmlformats.org/drawingml/2006/main">
            <a:off x="609600" y="40767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736047AD-31E4-4058-ABAE-B39D5FD40739}"/>
              </a:ext>
            </a:extLst>
          </p:cNvPr>
          <p:cNvSpPr>
            <a:spLocks xmlns:a="http://schemas.openxmlformats.org/drawingml/2006/main" noGrp="1"/>
          </p:cNvSpPr>
          <p:nvPr/>
        </p:nvSpPr>
        <p:spPr>
          <a:xfrm xmlns:a="http://schemas.openxmlformats.org/drawingml/2006/main">
            <a:off x="1104900" y="40767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Separate a visible variation from an explanation of why it occurred.</a:t>
            </a:r>
          </a:p>
        </p:txBody>
      </p:sp>
      <p:sp>
        <p:nvSpPr>
          <p:cNvPr id="15" name="">
            <a:extLst xmlns:a="http://schemas.openxmlformats.org/drawingml/2006/main">
              <a:ext uri="{FF2B5EF4-FFF2-40B4-BE49-F238E27FC236}">
                <a16:creationId xmlns:a16="http://schemas.microsoft.com/office/drawing/2014/main" id="{83DE39B2-CA5D-466F-A254-753873CA7AE6}"/>
              </a:ext>
            </a:extLst>
          </p:cNvPr>
          <p:cNvSpPr>
            <a:spLocks xmlns:a="http://schemas.openxmlformats.org/drawingml/2006/main" noGrp="1"/>
          </p:cNvSpPr>
          <p:nvPr/>
        </p:nvSpPr>
        <p:spPr>
          <a:xfrm xmlns:a="http://schemas.openxmlformats.org/drawingml/2006/main">
            <a:off x="609600" y="47244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EF945BD5-E43A-40C4-95E4-96AAF51026E1}"/>
              </a:ext>
            </a:extLst>
          </p:cNvPr>
          <p:cNvSpPr>
            <a:spLocks xmlns:a="http://schemas.openxmlformats.org/drawingml/2006/main" noGrp="1"/>
          </p:cNvSpPr>
          <p:nvPr/>
        </p:nvSpPr>
        <p:spPr>
          <a:xfrm xmlns:a="http://schemas.openxmlformats.org/drawingml/2006/main">
            <a:off x="1104900" y="47244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Design an alert and report with an owner, threshold, review path and limitations.</a:t>
            </a:r>
          </a:p>
        </p:txBody>
      </p:sp>
      <p:sp>
        <p:nvSpPr>
          <p:cNvPr id="17" name="">
            <a:extLst xmlns:a="http://schemas.openxmlformats.org/drawingml/2006/main">
              <a:ext uri="{FF2B5EF4-FFF2-40B4-BE49-F238E27FC236}">
                <a16:creationId xmlns:a16="http://schemas.microsoft.com/office/drawing/2014/main" id="{39E4F52C-07F3-4EEA-9D3A-3C05CBEA2886}"/>
              </a:ext>
            </a:extLst>
          </p:cNvPr>
          <p:cNvSpPr>
            <a:spLocks xmlns:a="http://schemas.openxmlformats.org/drawingml/2006/main" noGrp="1"/>
          </p:cNvSpPr>
          <p:nvPr/>
        </p:nvSpPr>
        <p:spPr>
          <a:xfrm xmlns:a="http://schemas.openxmlformats.org/drawingml/2006/main">
            <a:off x="609600" y="5476875"/>
            <a:ext cx="6953250" cy="476250"/>
          </a:xfrm>
          <a:prstGeom xmlns:a="http://schemas.openxmlformats.org/drawingml/2006/main" prst="rect">
            <a:avLst/>
          </a:prstGeom>
          <a:noFill xmlns:a="http://schemas.openxmlformats.org/drawingml/2006/main"/>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B314362-999A-4EB7-8C50-3FC6EAA371D7}"/>
              </a:ext>
            </a:extLst>
          </p:cNvPr>
          <p:cNvSpPr>
            <a:spLocks xmlns:a="http://schemas.openxmlformats.org/drawingml/2006/main" noGrp="1"/>
          </p:cNvSpPr>
          <p:nvPr/>
        </p:nvSpPr>
        <p:spPr>
          <a:xfrm xmlns:a="http://schemas.openxmlformats.org/drawingml/2006/main">
            <a:off x="781050" y="5591175"/>
            <a:ext cx="659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91"/>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Session length: at least 1 hour, including Q&amp;A. Guided practice and discussion can extend it.</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b4c73a14531c4add"/>
          <a:srcRect xmlns:a="http://schemas.openxmlformats.org/drawingml/2006/main" l="16839" t="0" r="16839" b="0"/>
          <a:stretch xmlns:a="http://schemas.openxmlformats.org/drawingml/2006/main">
            <a:fillRect l="0" t="0" r="0" b="0"/>
          </a:stretch>
        </p:blipFill>
        <p:spPr>
          <a:xfrm xmlns:a="http://schemas.openxmlformats.org/drawingml/2006/main">
            <a:off x="7981950" y="2247900"/>
            <a:ext cx="3429000" cy="219075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08B248D5-C229-4F85-80E1-0935E1C75CBB}"/>
              </a:ext>
            </a:extLst>
          </p:cNvPr>
          <p:cNvSpPr>
            <a:spLocks xmlns:a="http://schemas.openxmlformats.org/drawingml/2006/main" noGrp="1"/>
          </p:cNvSpPr>
          <p:nvPr/>
        </p:nvSpPr>
        <p:spPr>
          <a:xfrm xmlns:a="http://schemas.openxmlformats.org/drawingml/2006/main">
            <a:off x="7981950" y="4524375"/>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0">
                <a:solidFill>
                  <a:srgbClr val="6D7E89"/>
                </a:solidFill>
                <a:latin typeface="Arial"/>
                <a:ea typeface="Arial"/>
                <a:cs typeface="Arial"/>
              </a:defRPr>
            </a:pPr>
            <a:r>
              <a:rPr sz="900" b="0">
                <a:solidFill>
                  <a:srgbClr val="6D7E89"/>
                </a:solidFill>
                <a:latin typeface="Arial"/>
                <a:ea typeface="Arial"/>
                <a:cs typeface="Arial"/>
              </a:rPr>
              <a:t>Training photograph from the proposal; not a DWIHN participant group.</a:t>
            </a:r>
          </a:p>
        </p:txBody>
      </p:sp>
    </p:spTree>
    <p:extLst>
      <p:ext uri="{BB962C8B-B14F-4D97-AF65-F5344CB8AC3E}">
        <p14:creationId xmlns:p14="http://schemas.microsoft.com/office/powerpoint/2010/main" val="1393166577"/>
      </p:ext>
    </p:extLst>
  </p:cSld>
</p:sld>
</file>

<file path=ppt/slides/slide32.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34CDC4E-75EA-4CF9-A8F1-A041B4765955}"/>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WEEKS 4–5 / MODULE 6</a:t>
            </a:r>
          </a:p>
        </p:txBody>
      </p:sp>
      <p:sp>
        <p:nvSpPr>
          <p:cNvPr id="2" name="">
            <a:extLst xmlns:a="http://schemas.openxmlformats.org/drawingml/2006/main">
              <a:ext uri="{FF2B5EF4-FFF2-40B4-BE49-F238E27FC236}">
                <a16:creationId xmlns:a16="http://schemas.microsoft.com/office/drawing/2014/main" id="{509D7762-7294-43AF-B4ED-C72BF250C92C}"/>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S7  |  Core concepts</a:t>
            </a:r>
          </a:p>
        </p:txBody>
      </p:sp>
      <p:sp>
        <p:nvSpPr>
          <p:cNvPr id="3" name="">
            <a:extLst xmlns:a="http://schemas.openxmlformats.org/drawingml/2006/main">
              <a:ext uri="{FF2B5EF4-FFF2-40B4-BE49-F238E27FC236}">
                <a16:creationId xmlns:a16="http://schemas.microsoft.com/office/drawing/2014/main" id="{6C19D700-C0CE-4E36-B559-3FD7F664E84A}"/>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BE89C7F-7C57-4894-A9EF-DAEB729C4281}"/>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77CEA53-1153-4D8F-A989-3AA41D38FF40}"/>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9A7E414F-E449-41F6-9177-B20E50C97790}"/>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32</a:t>
            </a:r>
          </a:p>
        </p:txBody>
      </p:sp>
      <p:sp>
        <p:nvSpPr>
          <p:cNvPr id="7" name="">
            <a:extLst xmlns:a="http://schemas.openxmlformats.org/drawingml/2006/main">
              <a:ext uri="{FF2B5EF4-FFF2-40B4-BE49-F238E27FC236}">
                <a16:creationId xmlns:a16="http://schemas.microsoft.com/office/drawing/2014/main" id="{E447DA30-34FD-4B90-A0BF-293C0FF87DBE}"/>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6 topics 6.3–6.4 and proposal p. 8. Geographic and alert examples are hypothetical.</a:t>
            </a:r>
          </a:p>
        </p:txBody>
      </p:sp>
      <p:sp>
        <p:nvSpPr>
          <p:cNvPr id="8" name="">
            <a:extLst xmlns:a="http://schemas.openxmlformats.org/drawingml/2006/main">
              <a:ext uri="{FF2B5EF4-FFF2-40B4-BE49-F238E27FC236}">
                <a16:creationId xmlns:a16="http://schemas.microsoft.com/office/drawing/2014/main" id="{72893BAA-2C3B-4830-B92C-645640A60F94}"/>
              </a:ext>
            </a:extLst>
          </p:cNvPr>
          <p:cNvSpPr>
            <a:spLocks xmlns:a="http://schemas.openxmlformats.org/drawingml/2006/main" noGrp="1"/>
          </p:cNvSpPr>
          <p:nvPr/>
        </p:nvSpPr>
        <p:spPr>
          <a:xfrm xmlns:a="http://schemas.openxmlformats.org/drawingml/2006/main">
            <a:off x="609600" y="15811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Lumenore: Service Gaps, Alerts &amp; Reports</a:t>
            </a:r>
          </a:p>
        </p:txBody>
      </p:sp>
      <p:sp>
        <p:nvSpPr>
          <p:cNvPr id="9" name="">
            <a:extLst xmlns:a="http://schemas.openxmlformats.org/drawingml/2006/main">
              <a:ext uri="{FF2B5EF4-FFF2-40B4-BE49-F238E27FC236}">
                <a16:creationId xmlns:a16="http://schemas.microsoft.com/office/drawing/2014/main" id="{B0C7C531-EE74-4EE5-96D8-652297967D85}"/>
              </a:ext>
            </a:extLst>
          </p:cNvPr>
          <p:cNvSpPr>
            <a:spLocks xmlns:a="http://schemas.openxmlformats.org/drawingml/2006/main" noGrp="1"/>
          </p:cNvSpPr>
          <p:nvPr/>
        </p:nvSpPr>
        <p:spPr>
          <a:xfrm xmlns:a="http://schemas.openxmlformats.org/drawingml/2006/main">
            <a:off x="609600" y="19716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F58BFB8F-BE9A-4A44-BE4C-2A65612BF294}"/>
              </a:ext>
            </a:extLst>
          </p:cNvPr>
          <p:cNvSpPr>
            <a:spLocks xmlns:a="http://schemas.openxmlformats.org/drawingml/2006/main" noGrp="1"/>
          </p:cNvSpPr>
          <p:nvPr/>
        </p:nvSpPr>
        <p:spPr>
          <a:xfrm xmlns:a="http://schemas.openxmlformats.org/drawingml/2006/main">
            <a:off x="1143000" y="19716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539"/>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Maps show recorded patterns</a:t>
            </a:r>
          </a:p>
        </p:txBody>
      </p:sp>
      <p:sp>
        <p:nvSpPr>
          <p:cNvPr id="11" name="">
            <a:extLst xmlns:a="http://schemas.openxmlformats.org/drawingml/2006/main">
              <a:ext uri="{FF2B5EF4-FFF2-40B4-BE49-F238E27FC236}">
                <a16:creationId xmlns:a16="http://schemas.microsoft.com/office/drawing/2014/main" id="{86A4E820-B298-4458-AB5F-6A4C26448015}"/>
              </a:ext>
            </a:extLst>
          </p:cNvPr>
          <p:cNvSpPr>
            <a:spLocks xmlns:a="http://schemas.openxmlformats.org/drawingml/2006/main" noGrp="1"/>
          </p:cNvSpPr>
          <p:nvPr/>
        </p:nvSpPr>
        <p:spPr>
          <a:xfrm xmlns:a="http://schemas.openxmlformats.org/drawingml/2006/main">
            <a:off x="3857625" y="19716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 geographic difference may reflect access, population size, service availability, data capture or other factors. The map identifies a place to investigate; by itself it does not establish the reason.</a:t>
            </a:r>
          </a:p>
        </p:txBody>
      </p:sp>
      <p:sp>
        <p:nvSpPr>
          <p:cNvPr id="12" name="">
            <a:extLst xmlns:a="http://schemas.openxmlformats.org/drawingml/2006/main">
              <a:ext uri="{FF2B5EF4-FFF2-40B4-BE49-F238E27FC236}">
                <a16:creationId xmlns:a16="http://schemas.microsoft.com/office/drawing/2014/main" id="{9C553028-B75F-4AE1-86C2-0D04E96F904A}"/>
              </a:ext>
            </a:extLst>
          </p:cNvPr>
          <p:cNvSpPr>
            <a:spLocks xmlns:a="http://schemas.openxmlformats.org/drawingml/2006/main" noGrp="1"/>
          </p:cNvSpPr>
          <p:nvPr/>
        </p:nvSpPr>
        <p:spPr>
          <a:xfrm xmlns:a="http://schemas.openxmlformats.org/drawingml/2006/main">
            <a:off x="1143000" y="28003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AC1551F-514E-4E37-B727-4618867A188E}"/>
              </a:ext>
            </a:extLst>
          </p:cNvPr>
          <p:cNvSpPr>
            <a:spLocks xmlns:a="http://schemas.openxmlformats.org/drawingml/2006/main" noGrp="1"/>
          </p:cNvSpPr>
          <p:nvPr/>
        </p:nvSpPr>
        <p:spPr>
          <a:xfrm xmlns:a="http://schemas.openxmlformats.org/drawingml/2006/main">
            <a:off x="609600" y="29813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42FBDBD3-7FAA-40E7-9E34-C55D8E80CF0E}"/>
              </a:ext>
            </a:extLst>
          </p:cNvPr>
          <p:cNvSpPr>
            <a:spLocks xmlns:a="http://schemas.openxmlformats.org/drawingml/2006/main" noGrp="1"/>
          </p:cNvSpPr>
          <p:nvPr/>
        </p:nvSpPr>
        <p:spPr>
          <a:xfrm xmlns:a="http://schemas.openxmlformats.org/drawingml/2006/main">
            <a:off x="1143000" y="29813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487"/>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Use denominators and context</a:t>
            </a:r>
          </a:p>
        </p:txBody>
      </p:sp>
      <p:sp>
        <p:nvSpPr>
          <p:cNvPr id="15" name="">
            <a:extLst xmlns:a="http://schemas.openxmlformats.org/drawingml/2006/main">
              <a:ext uri="{FF2B5EF4-FFF2-40B4-BE49-F238E27FC236}">
                <a16:creationId xmlns:a16="http://schemas.microsoft.com/office/drawing/2014/main" id="{B4B6915D-3805-4F20-A4A4-168DBE31190D}"/>
              </a:ext>
            </a:extLst>
          </p:cNvPr>
          <p:cNvSpPr>
            <a:spLocks xmlns:a="http://schemas.openxmlformats.org/drawingml/2006/main" noGrp="1"/>
          </p:cNvSpPr>
          <p:nvPr/>
        </p:nvSpPr>
        <p:spPr>
          <a:xfrm xmlns:a="http://schemas.openxmlformats.org/drawingml/2006/main">
            <a:off x="3857625" y="29813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Compare rates only when population definitions and time periods are appropriate. Small counts can fluctuate substantially and may require additional privacy protection or aggregation.</a:t>
            </a:r>
          </a:p>
        </p:txBody>
      </p:sp>
      <p:sp>
        <p:nvSpPr>
          <p:cNvPr id="16" name="">
            <a:extLst xmlns:a="http://schemas.openxmlformats.org/drawingml/2006/main">
              <a:ext uri="{FF2B5EF4-FFF2-40B4-BE49-F238E27FC236}">
                <a16:creationId xmlns:a16="http://schemas.microsoft.com/office/drawing/2014/main" id="{5306F9DE-DB0D-4076-9493-D92E00369303}"/>
              </a:ext>
            </a:extLst>
          </p:cNvPr>
          <p:cNvSpPr>
            <a:spLocks xmlns:a="http://schemas.openxmlformats.org/drawingml/2006/main" noGrp="1"/>
          </p:cNvSpPr>
          <p:nvPr/>
        </p:nvSpPr>
        <p:spPr>
          <a:xfrm xmlns:a="http://schemas.openxmlformats.org/drawingml/2006/main">
            <a:off x="1143000" y="381000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23E3A61-297A-4C21-A0FF-D4C6240C82AD}"/>
              </a:ext>
            </a:extLst>
          </p:cNvPr>
          <p:cNvSpPr>
            <a:spLocks xmlns:a="http://schemas.openxmlformats.org/drawingml/2006/main" noGrp="1"/>
          </p:cNvSpPr>
          <p:nvPr/>
        </p:nvSpPr>
        <p:spPr>
          <a:xfrm xmlns:a="http://schemas.openxmlformats.org/drawingml/2006/main">
            <a:off x="609600" y="39909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444CE7A0-3FD2-4817-B2B9-E28C5269AFC4}"/>
              </a:ext>
            </a:extLst>
          </p:cNvPr>
          <p:cNvSpPr>
            <a:spLocks xmlns:a="http://schemas.openxmlformats.org/drawingml/2006/main" noGrp="1"/>
          </p:cNvSpPr>
          <p:nvPr/>
        </p:nvSpPr>
        <p:spPr>
          <a:xfrm xmlns:a="http://schemas.openxmlformats.org/drawingml/2006/main">
            <a:off x="1143000" y="39909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Alerts need a response plan</a:t>
            </a:r>
          </a:p>
        </p:txBody>
      </p:sp>
      <p:sp>
        <p:nvSpPr>
          <p:cNvPr id="19" name="">
            <a:extLst xmlns:a="http://schemas.openxmlformats.org/drawingml/2006/main">
              <a:ext uri="{FF2B5EF4-FFF2-40B4-BE49-F238E27FC236}">
                <a16:creationId xmlns:a16="http://schemas.microsoft.com/office/drawing/2014/main" id="{6B2FCDC8-B69A-4486-8E71-318EC5E5A38D}"/>
              </a:ext>
            </a:extLst>
          </p:cNvPr>
          <p:cNvSpPr>
            <a:spLocks xmlns:a="http://schemas.openxmlformats.org/drawingml/2006/main" noGrp="1"/>
          </p:cNvSpPr>
          <p:nvPr/>
        </p:nvSpPr>
        <p:spPr>
          <a:xfrm xmlns:a="http://schemas.openxmlformats.org/drawingml/2006/main">
            <a:off x="3857625" y="39909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An alert should specify the measure, threshold, period, owner and follow-up route. If nobody reviews it or knows what to do, it becomes noise rather than a control.</a:t>
            </a:r>
          </a:p>
        </p:txBody>
      </p:sp>
      <p:sp>
        <p:nvSpPr>
          <p:cNvPr id="20" name="">
            <a:extLst xmlns:a="http://schemas.openxmlformats.org/drawingml/2006/main">
              <a:ext uri="{FF2B5EF4-FFF2-40B4-BE49-F238E27FC236}">
                <a16:creationId xmlns:a16="http://schemas.microsoft.com/office/drawing/2014/main" id="{43743927-BCA1-4FCD-A896-6781B79026EF}"/>
              </a:ext>
            </a:extLst>
          </p:cNvPr>
          <p:cNvSpPr>
            <a:spLocks xmlns:a="http://schemas.openxmlformats.org/drawingml/2006/main" noGrp="1"/>
          </p:cNvSpPr>
          <p:nvPr/>
        </p:nvSpPr>
        <p:spPr>
          <a:xfrm xmlns:a="http://schemas.openxmlformats.org/drawingml/2006/main">
            <a:off x="1143000" y="48196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D6356D9-C5A6-4920-A2BD-D55FCDA393A4}"/>
              </a:ext>
            </a:extLst>
          </p:cNvPr>
          <p:cNvSpPr>
            <a:spLocks xmlns:a="http://schemas.openxmlformats.org/drawingml/2006/main" noGrp="1"/>
          </p:cNvSpPr>
          <p:nvPr/>
        </p:nvSpPr>
        <p:spPr>
          <a:xfrm xmlns:a="http://schemas.openxmlformats.org/drawingml/2006/main">
            <a:off x="609600" y="5000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699EE935-A14B-438A-94F9-3C2D6D7E5620}"/>
              </a:ext>
            </a:extLst>
          </p:cNvPr>
          <p:cNvSpPr>
            <a:spLocks xmlns:a="http://schemas.openxmlformats.org/drawingml/2006/main" noGrp="1"/>
          </p:cNvSpPr>
          <p:nvPr/>
        </p:nvSpPr>
        <p:spPr>
          <a:xfrm xmlns:a="http://schemas.openxmlformats.org/drawingml/2006/main">
            <a:off x="1143000" y="50006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34"/>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Reports need a reader’s context</a:t>
            </a:r>
          </a:p>
        </p:txBody>
      </p:sp>
      <p:sp>
        <p:nvSpPr>
          <p:cNvPr id="23" name="">
            <a:extLst xmlns:a="http://schemas.openxmlformats.org/drawingml/2006/main">
              <a:ext uri="{FF2B5EF4-FFF2-40B4-BE49-F238E27FC236}">
                <a16:creationId xmlns:a16="http://schemas.microsoft.com/office/drawing/2014/main" id="{8D64543B-C309-473C-AFB7-F9697D8681F5}"/>
              </a:ext>
            </a:extLst>
          </p:cNvPr>
          <p:cNvSpPr>
            <a:spLocks xmlns:a="http://schemas.openxmlformats.org/drawingml/2006/main" noGrp="1"/>
          </p:cNvSpPr>
          <p:nvPr/>
        </p:nvSpPr>
        <p:spPr>
          <a:xfrm xmlns:a="http://schemas.openxmlformats.org/drawingml/2006/main">
            <a:off x="3857625" y="50006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 board report should state the measure, date, relevant comparison and limitation in plain language. Preserve supporting detail for traceability and follow DWIHN sharing rules.</a:t>
            </a:r>
          </a:p>
        </p:txBody>
      </p:sp>
    </p:spTree>
    <p:extLst>
      <p:ext uri="{BB962C8B-B14F-4D97-AF65-F5344CB8AC3E}">
        <p14:creationId xmlns:p14="http://schemas.microsoft.com/office/powerpoint/2010/main" val="1882556901"/>
      </p:ext>
    </p:extLst>
  </p:cSld>
</p:sld>
</file>

<file path=ppt/slides/slide33.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B880BE06-4E99-4DF1-BC3A-BDB7545289BD}"/>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WEEKS 4–5 / MODULE 6</a:t>
            </a:r>
          </a:p>
        </p:txBody>
      </p:sp>
      <p:sp>
        <p:nvSpPr>
          <p:cNvPr id="2" name="">
            <a:extLst xmlns:a="http://schemas.openxmlformats.org/drawingml/2006/main">
              <a:ext uri="{FF2B5EF4-FFF2-40B4-BE49-F238E27FC236}">
                <a16:creationId xmlns:a16="http://schemas.microsoft.com/office/drawing/2014/main" id="{A25F430A-5812-40BF-AF69-6783B2435004}"/>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S7  |  Instructor walkthrough</a:t>
            </a:r>
          </a:p>
        </p:txBody>
      </p:sp>
      <p:sp>
        <p:nvSpPr>
          <p:cNvPr id="3" name="">
            <a:extLst xmlns:a="http://schemas.openxmlformats.org/drawingml/2006/main">
              <a:ext uri="{FF2B5EF4-FFF2-40B4-BE49-F238E27FC236}">
                <a16:creationId xmlns:a16="http://schemas.microsoft.com/office/drawing/2014/main" id="{6E4739B6-D19C-4F0A-B87F-73D8241FD52C}"/>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32627B1-1048-418A-9505-62D519958657}"/>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6E6CC0A-C310-447B-8E59-EBECF4797851}"/>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41CB985C-7ED5-47DE-A038-C744014DED46}"/>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33</a:t>
            </a:r>
          </a:p>
        </p:txBody>
      </p:sp>
      <p:sp>
        <p:nvSpPr>
          <p:cNvPr id="7" name="">
            <a:extLst xmlns:a="http://schemas.openxmlformats.org/drawingml/2006/main">
              <a:ext uri="{FF2B5EF4-FFF2-40B4-BE49-F238E27FC236}">
                <a16:creationId xmlns:a16="http://schemas.microsoft.com/office/drawing/2014/main" id="{01CB006D-E151-41C8-88A0-09E816F31A16}"/>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6 topics 6.3–6.4 and proposal p. 8. Geographic and alert examples are hypothetical.</a:t>
            </a:r>
          </a:p>
        </p:txBody>
      </p:sp>
      <p:sp>
        <p:nvSpPr>
          <p:cNvPr id="8" name="">
            <a:extLst xmlns:a="http://schemas.openxmlformats.org/drawingml/2006/main">
              <a:ext uri="{FF2B5EF4-FFF2-40B4-BE49-F238E27FC236}">
                <a16:creationId xmlns:a16="http://schemas.microsoft.com/office/drawing/2014/main" id="{71F967E4-D20A-4F33-8D6B-43797F4E18CD}"/>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Lumenore: Service Gaps, Alerts &amp; Reports</a:t>
            </a:r>
          </a:p>
        </p:txBody>
      </p:sp>
      <p:sp>
        <p:nvSpPr>
          <p:cNvPr id="9" name="">
            <a:extLst xmlns:a="http://schemas.openxmlformats.org/drawingml/2006/main">
              <a:ext uri="{FF2B5EF4-FFF2-40B4-BE49-F238E27FC236}">
                <a16:creationId xmlns:a16="http://schemas.microsoft.com/office/drawing/2014/main" id="{0CD3CD6D-6EB5-45CC-8FF4-E3D3DBDC0A71}"/>
              </a:ext>
            </a:extLst>
          </p:cNvPr>
          <p:cNvSpPr>
            <a:spLocks xmlns:a="http://schemas.openxmlformats.org/drawingml/2006/main" noGrp="1"/>
          </p:cNvSpPr>
          <p:nvPr/>
        </p:nvSpPr>
        <p:spPr>
          <a:xfrm xmlns:a="http://schemas.openxmlformats.org/drawingml/2006/main">
            <a:off x="60960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0" name="">
            <a:extLst xmlns:a="http://schemas.openxmlformats.org/drawingml/2006/main">
              <a:ext uri="{FF2B5EF4-FFF2-40B4-BE49-F238E27FC236}">
                <a16:creationId xmlns:a16="http://schemas.microsoft.com/office/drawing/2014/main" id="{9ABE388D-EA81-4D6C-AB7B-A45EC9C5ACC8}"/>
              </a:ext>
            </a:extLst>
          </p:cNvPr>
          <p:cNvSpPr>
            <a:spLocks xmlns:a="http://schemas.openxmlformats.org/drawingml/2006/main" noGrp="1"/>
          </p:cNvSpPr>
          <p:nvPr/>
        </p:nvSpPr>
        <p:spPr>
          <a:xfrm xmlns:a="http://schemas.openxmlformats.org/drawingml/2006/main">
            <a:off x="74295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62DBDFA8-5680-45F0-9E25-449742861010}"/>
              </a:ext>
            </a:extLst>
          </p:cNvPr>
          <p:cNvSpPr>
            <a:spLocks xmlns:a="http://schemas.openxmlformats.org/drawingml/2006/main" noGrp="1"/>
          </p:cNvSpPr>
          <p:nvPr/>
        </p:nvSpPr>
        <p:spPr>
          <a:xfrm xmlns:a="http://schemas.openxmlformats.org/drawingml/2006/main">
            <a:off x="74295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Read the map legend</a:t>
            </a:r>
          </a:p>
        </p:txBody>
      </p:sp>
      <p:sp>
        <p:nvSpPr>
          <p:cNvPr id="12" name="">
            <a:extLst xmlns:a="http://schemas.openxmlformats.org/drawingml/2006/main">
              <a:ext uri="{FF2B5EF4-FFF2-40B4-BE49-F238E27FC236}">
                <a16:creationId xmlns:a16="http://schemas.microsoft.com/office/drawing/2014/main" id="{ADB7B19B-BBD7-4A62-90F8-B5EDB6D248D5}"/>
              </a:ext>
            </a:extLst>
          </p:cNvPr>
          <p:cNvSpPr>
            <a:spLocks xmlns:a="http://schemas.openxmlformats.org/drawingml/2006/main" noGrp="1"/>
          </p:cNvSpPr>
          <p:nvPr/>
        </p:nvSpPr>
        <p:spPr>
          <a:xfrm xmlns:a="http://schemas.openxmlformats.org/drawingml/2006/main">
            <a:off x="74295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978"/>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Check measure, geography, period, count or rate, suppression and filter.</a:t>
            </a:r>
          </a:p>
        </p:txBody>
      </p:sp>
      <p:sp>
        <p:nvSpPr>
          <p:cNvPr id="13" name="">
            <a:extLst xmlns:a="http://schemas.openxmlformats.org/drawingml/2006/main">
              <a:ext uri="{FF2B5EF4-FFF2-40B4-BE49-F238E27FC236}">
                <a16:creationId xmlns:a16="http://schemas.microsoft.com/office/drawing/2014/main" id="{877AEFFD-0118-433F-AA57-0C9FD5F9ECD1}"/>
              </a:ext>
            </a:extLst>
          </p:cNvPr>
          <p:cNvSpPr>
            <a:spLocks xmlns:a="http://schemas.openxmlformats.org/drawingml/2006/main" noGrp="1"/>
          </p:cNvSpPr>
          <p:nvPr/>
        </p:nvSpPr>
        <p:spPr>
          <a:xfrm xmlns:a="http://schemas.openxmlformats.org/drawingml/2006/main">
            <a:off x="303847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33BD941-4B23-4793-9E10-77C38519616C}"/>
              </a:ext>
            </a:extLst>
          </p:cNvPr>
          <p:cNvSpPr>
            <a:spLocks xmlns:a="http://schemas.openxmlformats.org/drawingml/2006/main" noGrp="1"/>
          </p:cNvSpPr>
          <p:nvPr/>
        </p:nvSpPr>
        <p:spPr>
          <a:xfrm xmlns:a="http://schemas.openxmlformats.org/drawingml/2006/main">
            <a:off x="338137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5" name="">
            <a:extLst xmlns:a="http://schemas.openxmlformats.org/drawingml/2006/main">
              <a:ext uri="{FF2B5EF4-FFF2-40B4-BE49-F238E27FC236}">
                <a16:creationId xmlns:a16="http://schemas.microsoft.com/office/drawing/2014/main" id="{1E510903-81F8-4350-AB71-1C72283EFF63}"/>
              </a:ext>
            </a:extLst>
          </p:cNvPr>
          <p:cNvSpPr>
            <a:spLocks xmlns:a="http://schemas.openxmlformats.org/drawingml/2006/main" noGrp="1"/>
          </p:cNvSpPr>
          <p:nvPr/>
        </p:nvSpPr>
        <p:spPr>
          <a:xfrm xmlns:a="http://schemas.openxmlformats.org/drawingml/2006/main">
            <a:off x="351472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A704CFAD-C641-470B-A181-FA44BB1E95FB}"/>
              </a:ext>
            </a:extLst>
          </p:cNvPr>
          <p:cNvSpPr>
            <a:spLocks xmlns:a="http://schemas.openxmlformats.org/drawingml/2006/main" noGrp="1"/>
          </p:cNvSpPr>
          <p:nvPr/>
        </p:nvSpPr>
        <p:spPr>
          <a:xfrm xmlns:a="http://schemas.openxmlformats.org/drawingml/2006/main">
            <a:off x="351472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Identify the pattern</a:t>
            </a:r>
          </a:p>
        </p:txBody>
      </p:sp>
      <p:sp>
        <p:nvSpPr>
          <p:cNvPr id="17" name="">
            <a:extLst xmlns:a="http://schemas.openxmlformats.org/drawingml/2006/main">
              <a:ext uri="{FF2B5EF4-FFF2-40B4-BE49-F238E27FC236}">
                <a16:creationId xmlns:a16="http://schemas.microsoft.com/office/drawing/2014/main" id="{FF3E2BFD-3F98-40A0-924D-1162131B916E}"/>
              </a:ext>
            </a:extLst>
          </p:cNvPr>
          <p:cNvSpPr>
            <a:spLocks xmlns:a="http://schemas.openxmlformats.org/drawingml/2006/main" noGrp="1"/>
          </p:cNvSpPr>
          <p:nvPr/>
        </p:nvSpPr>
        <p:spPr>
          <a:xfrm xmlns:a="http://schemas.openxmlformats.org/drawingml/2006/main">
            <a:off x="351472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303"/>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Describe only what varies on the view, without assigning a cause.</a:t>
            </a:r>
          </a:p>
        </p:txBody>
      </p:sp>
      <p:sp>
        <p:nvSpPr>
          <p:cNvPr id="18" name="">
            <a:extLst xmlns:a="http://schemas.openxmlformats.org/drawingml/2006/main">
              <a:ext uri="{FF2B5EF4-FFF2-40B4-BE49-F238E27FC236}">
                <a16:creationId xmlns:a16="http://schemas.microsoft.com/office/drawing/2014/main" id="{F73645CD-69BF-47A3-8DC9-70EA281D25EE}"/>
              </a:ext>
            </a:extLst>
          </p:cNvPr>
          <p:cNvSpPr>
            <a:spLocks xmlns:a="http://schemas.openxmlformats.org/drawingml/2006/main" noGrp="1"/>
          </p:cNvSpPr>
          <p:nvPr/>
        </p:nvSpPr>
        <p:spPr>
          <a:xfrm xmlns:a="http://schemas.openxmlformats.org/drawingml/2006/main">
            <a:off x="5810250"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FAD89A4-AEDF-4580-8B7C-080E91D6AA15}"/>
              </a:ext>
            </a:extLst>
          </p:cNvPr>
          <p:cNvSpPr>
            <a:spLocks xmlns:a="http://schemas.openxmlformats.org/drawingml/2006/main" noGrp="1"/>
          </p:cNvSpPr>
          <p:nvPr/>
        </p:nvSpPr>
        <p:spPr>
          <a:xfrm xmlns:a="http://schemas.openxmlformats.org/drawingml/2006/main">
            <a:off x="615315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0" name="">
            <a:extLst xmlns:a="http://schemas.openxmlformats.org/drawingml/2006/main">
              <a:ext uri="{FF2B5EF4-FFF2-40B4-BE49-F238E27FC236}">
                <a16:creationId xmlns:a16="http://schemas.microsoft.com/office/drawing/2014/main" id="{CCF82EA6-4D89-4B95-A2AA-DFF09BABDD30}"/>
              </a:ext>
            </a:extLst>
          </p:cNvPr>
          <p:cNvSpPr>
            <a:spLocks xmlns:a="http://schemas.openxmlformats.org/drawingml/2006/main" noGrp="1"/>
          </p:cNvSpPr>
          <p:nvPr/>
        </p:nvSpPr>
        <p:spPr>
          <a:xfrm xmlns:a="http://schemas.openxmlformats.org/drawingml/2006/main">
            <a:off x="628650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21" name="">
            <a:extLst xmlns:a="http://schemas.openxmlformats.org/drawingml/2006/main">
              <a:ext uri="{FF2B5EF4-FFF2-40B4-BE49-F238E27FC236}">
                <a16:creationId xmlns:a16="http://schemas.microsoft.com/office/drawing/2014/main" id="{B0DC25A3-372D-4FC2-90F0-058246C57197}"/>
              </a:ext>
            </a:extLst>
          </p:cNvPr>
          <p:cNvSpPr>
            <a:spLocks xmlns:a="http://schemas.openxmlformats.org/drawingml/2006/main" noGrp="1"/>
          </p:cNvSpPr>
          <p:nvPr/>
        </p:nvSpPr>
        <p:spPr>
          <a:xfrm xmlns:a="http://schemas.openxmlformats.org/drawingml/2006/main">
            <a:off x="628650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Define an alert</a:t>
            </a:r>
          </a:p>
        </p:txBody>
      </p:sp>
      <p:sp>
        <p:nvSpPr>
          <p:cNvPr id="22" name="">
            <a:extLst xmlns:a="http://schemas.openxmlformats.org/drawingml/2006/main">
              <a:ext uri="{FF2B5EF4-FFF2-40B4-BE49-F238E27FC236}">
                <a16:creationId xmlns:a16="http://schemas.microsoft.com/office/drawing/2014/main" id="{D307180F-FACA-4F5D-A01D-E17B62BE08D7}"/>
              </a:ext>
            </a:extLst>
          </p:cNvPr>
          <p:cNvSpPr>
            <a:spLocks xmlns:a="http://schemas.openxmlformats.org/drawingml/2006/main" noGrp="1"/>
          </p:cNvSpPr>
          <p:nvPr/>
        </p:nvSpPr>
        <p:spPr>
          <a:xfrm xmlns:a="http://schemas.openxmlformats.org/drawingml/2006/main">
            <a:off x="628650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891"/>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Set a meaningful threshold and identify a named role for review and response.</a:t>
            </a:r>
          </a:p>
        </p:txBody>
      </p:sp>
      <p:sp>
        <p:nvSpPr>
          <p:cNvPr id="23" name="">
            <a:extLst xmlns:a="http://schemas.openxmlformats.org/drawingml/2006/main">
              <a:ext uri="{FF2B5EF4-FFF2-40B4-BE49-F238E27FC236}">
                <a16:creationId xmlns:a16="http://schemas.microsoft.com/office/drawing/2014/main" id="{DC95F531-ADCC-45C2-B895-55B2439BE2DC}"/>
              </a:ext>
            </a:extLst>
          </p:cNvPr>
          <p:cNvSpPr>
            <a:spLocks xmlns:a="http://schemas.openxmlformats.org/drawingml/2006/main" noGrp="1"/>
          </p:cNvSpPr>
          <p:nvPr/>
        </p:nvSpPr>
        <p:spPr>
          <a:xfrm xmlns:a="http://schemas.openxmlformats.org/drawingml/2006/main">
            <a:off x="858202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6037BC08-1BE9-4594-AD22-015565DCBB36}"/>
              </a:ext>
            </a:extLst>
          </p:cNvPr>
          <p:cNvSpPr>
            <a:spLocks xmlns:a="http://schemas.openxmlformats.org/drawingml/2006/main" noGrp="1"/>
          </p:cNvSpPr>
          <p:nvPr/>
        </p:nvSpPr>
        <p:spPr>
          <a:xfrm xmlns:a="http://schemas.openxmlformats.org/drawingml/2006/main">
            <a:off x="892492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5" name="">
            <a:extLst xmlns:a="http://schemas.openxmlformats.org/drawingml/2006/main">
              <a:ext uri="{FF2B5EF4-FFF2-40B4-BE49-F238E27FC236}">
                <a16:creationId xmlns:a16="http://schemas.microsoft.com/office/drawing/2014/main" id="{7F9EB82B-5C9E-4FF4-8393-F4A06F4ECB4B}"/>
              </a:ext>
            </a:extLst>
          </p:cNvPr>
          <p:cNvSpPr>
            <a:spLocks xmlns:a="http://schemas.openxmlformats.org/drawingml/2006/main" noGrp="1"/>
          </p:cNvSpPr>
          <p:nvPr/>
        </p:nvSpPr>
        <p:spPr>
          <a:xfrm xmlns:a="http://schemas.openxmlformats.org/drawingml/2006/main">
            <a:off x="905827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04</a:t>
            </a:r>
          </a:p>
        </p:txBody>
      </p:sp>
      <p:sp>
        <p:nvSpPr>
          <p:cNvPr id="26" name="">
            <a:extLst xmlns:a="http://schemas.openxmlformats.org/drawingml/2006/main">
              <a:ext uri="{FF2B5EF4-FFF2-40B4-BE49-F238E27FC236}">
                <a16:creationId xmlns:a16="http://schemas.microsoft.com/office/drawing/2014/main" id="{E4993DCA-8AF0-4F4A-81B7-7ADC67F9B907}"/>
              </a:ext>
            </a:extLst>
          </p:cNvPr>
          <p:cNvSpPr>
            <a:spLocks xmlns:a="http://schemas.openxmlformats.org/drawingml/2006/main" noGrp="1"/>
          </p:cNvSpPr>
          <p:nvPr/>
        </p:nvSpPr>
        <p:spPr>
          <a:xfrm xmlns:a="http://schemas.openxmlformats.org/drawingml/2006/main">
            <a:off x="905827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Prepare a report</a:t>
            </a:r>
          </a:p>
        </p:txBody>
      </p:sp>
      <p:sp>
        <p:nvSpPr>
          <p:cNvPr id="27" name="">
            <a:extLst xmlns:a="http://schemas.openxmlformats.org/drawingml/2006/main">
              <a:ext uri="{FF2B5EF4-FFF2-40B4-BE49-F238E27FC236}">
                <a16:creationId xmlns:a16="http://schemas.microsoft.com/office/drawing/2014/main" id="{3126210F-C821-4F1E-BEC1-015201B018D1}"/>
              </a:ext>
            </a:extLst>
          </p:cNvPr>
          <p:cNvSpPr>
            <a:spLocks xmlns:a="http://schemas.openxmlformats.org/drawingml/2006/main" noGrp="1"/>
          </p:cNvSpPr>
          <p:nvPr/>
        </p:nvSpPr>
        <p:spPr>
          <a:xfrm xmlns:a="http://schemas.openxmlformats.org/drawingml/2006/main">
            <a:off x="905827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916"/>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State the question, observation, limitation and proposed next inquiry.</a:t>
            </a:r>
          </a:p>
        </p:txBody>
      </p:sp>
      <p:sp>
        <p:nvSpPr>
          <p:cNvPr id="28" name="">
            <a:extLst xmlns:a="http://schemas.openxmlformats.org/drawingml/2006/main">
              <a:ext uri="{FF2B5EF4-FFF2-40B4-BE49-F238E27FC236}">
                <a16:creationId xmlns:a16="http://schemas.microsoft.com/office/drawing/2014/main" id="{CFB08A0D-7B64-402A-916D-0D07D9CA5199}"/>
              </a:ext>
            </a:extLst>
          </p:cNvPr>
          <p:cNvSpPr>
            <a:spLocks xmlns:a="http://schemas.openxmlformats.org/drawingml/2006/main" noGrp="1"/>
          </p:cNvSpPr>
          <p:nvPr/>
        </p:nvSpPr>
        <p:spPr>
          <a:xfrm xmlns:a="http://schemas.openxmlformats.org/drawingml/2006/main">
            <a:off x="609600" y="364807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WORKED EXAMPLE</a:t>
            </a:r>
          </a:p>
        </p:txBody>
      </p:sp>
      <p:sp>
        <p:nvSpPr>
          <p:cNvPr id="29" name="">
            <a:extLst xmlns:a="http://schemas.openxmlformats.org/drawingml/2006/main">
              <a:ext uri="{FF2B5EF4-FFF2-40B4-BE49-F238E27FC236}">
                <a16:creationId xmlns:a16="http://schemas.microsoft.com/office/drawing/2014/main" id="{B0A38E7B-4442-4B6A-99CA-D1DFA0775E02}"/>
              </a:ext>
            </a:extLst>
          </p:cNvPr>
          <p:cNvSpPr>
            <a:spLocks xmlns:a="http://schemas.openxmlformats.org/drawingml/2006/main" noGrp="1"/>
          </p:cNvSpPr>
          <p:nvPr/>
        </p:nvSpPr>
        <p:spPr>
          <a:xfrm xmlns:a="http://schemas.openxmlformats.org/drawingml/2006/main">
            <a:off x="609600" y="3943350"/>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00" b="0">
                <a:solidFill>
                  <a:srgbClr val="142F42"/>
                </a:solidFill>
                <a:latin typeface="Arial"/>
                <a:ea typeface="Arial"/>
                <a:cs typeface="Arial"/>
              </a:defRPr>
            </a:pPr>
            <a:r>
              <a:rPr sz="1500" b="0">
                <a:solidFill>
                  <a:srgbClr val="142F42"/>
                </a:solidFill>
                <a:latin typeface="Arial"/>
                <a:ea typeface="Arial"/>
                <a:cs typeface="Arial"/>
              </a:rPr>
              <a:t>Illustrative example: one area has a lower recorded completion rate. The team checks population, referral volume, eligibility definitions and data coverage before discussing causes. A proposed alert routes a sustained change to the program owner for review; it does not automatically change an individual’s service.</a:t>
            </a:r>
          </a:p>
        </p:txBody>
      </p:sp>
    </p:spTree>
    <p:extLst>
      <p:ext uri="{BB962C8B-B14F-4D97-AF65-F5344CB8AC3E}">
        <p14:creationId xmlns:p14="http://schemas.microsoft.com/office/powerpoint/2010/main" val="1933331615"/>
      </p:ext>
    </p:extLst>
  </p:cSld>
</p:sld>
</file>

<file path=ppt/slides/slide34.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4B6C972B-8C27-4571-A90D-05D35F7B089C}"/>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WEEKS 4–5 / MODULE 6</a:t>
            </a:r>
          </a:p>
        </p:txBody>
      </p:sp>
      <p:sp>
        <p:nvSpPr>
          <p:cNvPr id="2" name="">
            <a:extLst xmlns:a="http://schemas.openxmlformats.org/drawingml/2006/main">
              <a:ext uri="{FF2B5EF4-FFF2-40B4-BE49-F238E27FC236}">
                <a16:creationId xmlns:a16="http://schemas.microsoft.com/office/drawing/2014/main" id="{EE03199A-0B52-49AF-89A9-EC9BAAD43D9C}"/>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S7  |  Practical scenario &amp; exercise</a:t>
            </a:r>
          </a:p>
        </p:txBody>
      </p:sp>
      <p:sp>
        <p:nvSpPr>
          <p:cNvPr id="3" name="">
            <a:extLst xmlns:a="http://schemas.openxmlformats.org/drawingml/2006/main">
              <a:ext uri="{FF2B5EF4-FFF2-40B4-BE49-F238E27FC236}">
                <a16:creationId xmlns:a16="http://schemas.microsoft.com/office/drawing/2014/main" id="{347E8DFC-A7A2-4AAB-AD8A-CC261989C083}"/>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E672609-6062-4191-A72B-1E03902D542B}"/>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1034E6E-AAF3-427A-9037-67D472FF8529}"/>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7D74F59B-0E69-43FC-871D-A7A1F420A3C8}"/>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34</a:t>
            </a:r>
          </a:p>
        </p:txBody>
      </p:sp>
      <p:sp>
        <p:nvSpPr>
          <p:cNvPr id="7" name="">
            <a:extLst xmlns:a="http://schemas.openxmlformats.org/drawingml/2006/main">
              <a:ext uri="{FF2B5EF4-FFF2-40B4-BE49-F238E27FC236}">
                <a16:creationId xmlns:a16="http://schemas.microsoft.com/office/drawing/2014/main" id="{1F20441F-A2AA-445D-B650-061DDCA6572F}"/>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6 topics 6.3–6.4 and proposal p. 8. Geographic and alert examples are hypothetical.</a:t>
            </a:r>
          </a:p>
        </p:txBody>
      </p:sp>
      <p:sp>
        <p:nvSpPr>
          <p:cNvPr id="8" name="">
            <a:extLst xmlns:a="http://schemas.openxmlformats.org/drawingml/2006/main">
              <a:ext uri="{FF2B5EF4-FFF2-40B4-BE49-F238E27FC236}">
                <a16:creationId xmlns:a16="http://schemas.microsoft.com/office/drawing/2014/main" id="{2401335E-80CA-4BEF-B1EC-8959A4B0B90B}"/>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Lumenore: Service Gaps, Alerts &amp; Reports</a:t>
            </a:r>
          </a:p>
        </p:txBody>
      </p:sp>
      <p:sp>
        <p:nvSpPr>
          <p:cNvPr id="9" name="">
            <a:extLst xmlns:a="http://schemas.openxmlformats.org/drawingml/2006/main">
              <a:ext uri="{FF2B5EF4-FFF2-40B4-BE49-F238E27FC236}">
                <a16:creationId xmlns:a16="http://schemas.microsoft.com/office/drawing/2014/main" id="{FA431930-A2BA-4B32-9421-EA77DC80A7BC}"/>
              </a:ext>
            </a:extLst>
          </p:cNvPr>
          <p:cNvSpPr>
            <a:spLocks xmlns:a="http://schemas.openxmlformats.org/drawingml/2006/main" noGrp="1"/>
          </p:cNvSpPr>
          <p:nvPr/>
        </p:nvSpPr>
        <p:spPr>
          <a:xfrm xmlns:a="http://schemas.openxmlformats.org/drawingml/2006/main">
            <a:off x="609600" y="1981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SCENARIO</a:t>
            </a:r>
          </a:p>
        </p:txBody>
      </p:sp>
      <p:sp>
        <p:nvSpPr>
          <p:cNvPr id="10" name="">
            <a:extLst xmlns:a="http://schemas.openxmlformats.org/drawingml/2006/main">
              <a:ext uri="{FF2B5EF4-FFF2-40B4-BE49-F238E27FC236}">
                <a16:creationId xmlns:a16="http://schemas.microsoft.com/office/drawing/2014/main" id="{0039AAA1-B2CC-4BDD-A296-22F39CA32CBA}"/>
              </a:ext>
            </a:extLst>
          </p:cNvPr>
          <p:cNvSpPr>
            <a:spLocks xmlns:a="http://schemas.openxmlformats.org/drawingml/2006/main" noGrp="1"/>
          </p:cNvSpPr>
          <p:nvPr/>
        </p:nvSpPr>
        <p:spPr>
          <a:xfrm xmlns:a="http://schemas.openxmlformats.org/drawingml/2006/main">
            <a:off x="609600" y="2266950"/>
            <a:ext cx="109728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D4DFE3"/>
            </a:solidFill>
          </a:ln>
        </p:spPr>
      </p:sp>
      <p:sp>
        <p:nvSpPr>
          <p:cNvPr id="11" name="">
            <a:extLst xmlns:a="http://schemas.openxmlformats.org/drawingml/2006/main">
              <a:ext uri="{FF2B5EF4-FFF2-40B4-BE49-F238E27FC236}">
                <a16:creationId xmlns:a16="http://schemas.microsoft.com/office/drawing/2014/main" id="{29B8832A-D17F-4AE1-A2E2-ED641A7B94B5}"/>
              </a:ext>
            </a:extLst>
          </p:cNvPr>
          <p:cNvSpPr>
            <a:spLocks xmlns:a="http://schemas.openxmlformats.org/drawingml/2006/main" noGrp="1"/>
          </p:cNvSpPr>
          <p:nvPr/>
        </p:nvSpPr>
        <p:spPr>
          <a:xfrm xmlns:a="http://schemas.openxmlformats.org/drawingml/2006/main">
            <a:off x="819150" y="2447925"/>
            <a:ext cx="10525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142F42"/>
                </a:solidFill>
                <a:latin typeface="Arial"/>
                <a:ea typeface="Arial"/>
                <a:cs typeface="Arial"/>
              </a:defRPr>
            </a:pPr>
            <a:r>
              <a:rPr sz="1425" b="0">
                <a:solidFill>
                  <a:srgbClr val="142F42"/>
                </a:solidFill>
                <a:latin typeface="Arial"/>
                <a:ea typeface="Arial"/>
                <a:cs typeface="Arial"/>
              </a:rPr>
              <a:t>A service-gap map and a KPI alert appear in the same review. The map uses counts while a leader interprets it as a rate. The alert threshold has no assigned owner.</a:t>
            </a:r>
          </a:p>
        </p:txBody>
      </p:sp>
      <p:sp>
        <p:nvSpPr>
          <p:cNvPr id="12" name="">
            <a:extLst xmlns:a="http://schemas.openxmlformats.org/drawingml/2006/main">
              <a:ext uri="{FF2B5EF4-FFF2-40B4-BE49-F238E27FC236}">
                <a16:creationId xmlns:a16="http://schemas.microsoft.com/office/drawing/2014/main" id="{8E44C99B-0D88-4B63-B272-20524E34F6B4}"/>
              </a:ext>
            </a:extLst>
          </p:cNvPr>
          <p:cNvSpPr>
            <a:spLocks xmlns:a="http://schemas.openxmlformats.org/drawingml/2006/main" noGrp="1"/>
          </p:cNvSpPr>
          <p:nvPr/>
        </p:nvSpPr>
        <p:spPr>
          <a:xfrm xmlns:a="http://schemas.openxmlformats.org/drawingml/2006/main">
            <a:off x="609600" y="34861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 THE CASE</a:t>
            </a:r>
          </a:p>
        </p:txBody>
      </p:sp>
      <p:sp>
        <p:nvSpPr>
          <p:cNvPr id="13" name="">
            <a:extLst xmlns:a="http://schemas.openxmlformats.org/drawingml/2006/main">
              <a:ext uri="{FF2B5EF4-FFF2-40B4-BE49-F238E27FC236}">
                <a16:creationId xmlns:a16="http://schemas.microsoft.com/office/drawing/2014/main" id="{0FD9E833-51ED-4E35-91C5-C42C4B49E05C}"/>
              </a:ext>
            </a:extLst>
          </p:cNvPr>
          <p:cNvSpPr>
            <a:spLocks xmlns:a="http://schemas.openxmlformats.org/drawingml/2006/main" noGrp="1"/>
          </p:cNvSpPr>
          <p:nvPr/>
        </p:nvSpPr>
        <p:spPr>
          <a:xfrm xmlns:a="http://schemas.openxmlformats.org/drawingml/2006/main">
            <a:off x="609600" y="38195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4" name="">
            <a:extLst xmlns:a="http://schemas.openxmlformats.org/drawingml/2006/main">
              <a:ext uri="{FF2B5EF4-FFF2-40B4-BE49-F238E27FC236}">
                <a16:creationId xmlns:a16="http://schemas.microsoft.com/office/drawing/2014/main" id="{B9F60300-39AA-496F-846F-F1F0B1AEFF0D}"/>
              </a:ext>
            </a:extLst>
          </p:cNvPr>
          <p:cNvSpPr>
            <a:spLocks xmlns:a="http://schemas.openxmlformats.org/drawingml/2006/main" noGrp="1"/>
          </p:cNvSpPr>
          <p:nvPr/>
        </p:nvSpPr>
        <p:spPr>
          <a:xfrm xmlns:a="http://schemas.openxmlformats.org/drawingml/2006/main">
            <a:off x="1066800" y="38195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Annotate what the map does and does not establish.</a:t>
            </a:r>
          </a:p>
        </p:txBody>
      </p:sp>
      <p:sp>
        <p:nvSpPr>
          <p:cNvPr id="15" name="">
            <a:extLst xmlns:a="http://schemas.openxmlformats.org/drawingml/2006/main">
              <a:ext uri="{FF2B5EF4-FFF2-40B4-BE49-F238E27FC236}">
                <a16:creationId xmlns:a16="http://schemas.microsoft.com/office/drawing/2014/main" id="{D6197544-9609-49ED-AD16-03535142D0E0}"/>
              </a:ext>
            </a:extLst>
          </p:cNvPr>
          <p:cNvSpPr>
            <a:spLocks xmlns:a="http://schemas.openxmlformats.org/drawingml/2006/main" noGrp="1"/>
          </p:cNvSpPr>
          <p:nvPr/>
        </p:nvSpPr>
        <p:spPr>
          <a:xfrm xmlns:a="http://schemas.openxmlformats.org/drawingml/2006/main">
            <a:off x="609600" y="43338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B74559CF-7322-4914-9970-B917F826CD29}"/>
              </a:ext>
            </a:extLst>
          </p:cNvPr>
          <p:cNvSpPr>
            <a:spLocks xmlns:a="http://schemas.openxmlformats.org/drawingml/2006/main" noGrp="1"/>
          </p:cNvSpPr>
          <p:nvPr/>
        </p:nvSpPr>
        <p:spPr>
          <a:xfrm xmlns:a="http://schemas.openxmlformats.org/drawingml/2006/main">
            <a:off x="1066800" y="433387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Rewrite the interpretation using a comparable denominator and period.</a:t>
            </a:r>
          </a:p>
        </p:txBody>
      </p:sp>
      <p:sp>
        <p:nvSpPr>
          <p:cNvPr id="17" name="">
            <a:extLst xmlns:a="http://schemas.openxmlformats.org/drawingml/2006/main">
              <a:ext uri="{FF2B5EF4-FFF2-40B4-BE49-F238E27FC236}">
                <a16:creationId xmlns:a16="http://schemas.microsoft.com/office/drawing/2014/main" id="{F0F54D8A-09DF-4DC4-8754-03FF7FF3EB7C}"/>
              </a:ext>
            </a:extLst>
          </p:cNvPr>
          <p:cNvSpPr>
            <a:spLocks xmlns:a="http://schemas.openxmlformats.org/drawingml/2006/main" noGrp="1"/>
          </p:cNvSpPr>
          <p:nvPr/>
        </p:nvSpPr>
        <p:spPr>
          <a:xfrm xmlns:a="http://schemas.openxmlformats.org/drawingml/2006/main">
            <a:off x="609600" y="4848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7AAD636F-D926-4A6D-9EF4-AD0F8405A9D8}"/>
              </a:ext>
            </a:extLst>
          </p:cNvPr>
          <p:cNvSpPr>
            <a:spLocks xmlns:a="http://schemas.openxmlformats.org/drawingml/2006/main" noGrp="1"/>
          </p:cNvSpPr>
          <p:nvPr/>
        </p:nvSpPr>
        <p:spPr>
          <a:xfrm xmlns:a="http://schemas.openxmlformats.org/drawingml/2006/main">
            <a:off x="1066800" y="48482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Complete an alert card with threshold, review owner, action and escalation route.</a:t>
            </a:r>
          </a:p>
        </p:txBody>
      </p:sp>
      <p:sp>
        <p:nvSpPr>
          <p:cNvPr id="19" name="">
            <a:extLst xmlns:a="http://schemas.openxmlformats.org/drawingml/2006/main">
              <a:ext uri="{FF2B5EF4-FFF2-40B4-BE49-F238E27FC236}">
                <a16:creationId xmlns:a16="http://schemas.microsoft.com/office/drawing/2014/main" id="{8C161331-BF8C-4747-AFA4-01F2E3E4A526}"/>
              </a:ext>
            </a:extLst>
          </p:cNvPr>
          <p:cNvSpPr>
            <a:spLocks xmlns:a="http://schemas.openxmlformats.org/drawingml/2006/main" noGrp="1"/>
          </p:cNvSpPr>
          <p:nvPr/>
        </p:nvSpPr>
        <p:spPr>
          <a:xfrm xmlns:a="http://schemas.openxmlformats.org/drawingml/2006/main">
            <a:off x="7886700" y="3486150"/>
            <a:ext cx="19050" cy="219075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675C87A-C9F5-4D84-B960-2D2D532AC001}"/>
              </a:ext>
            </a:extLst>
          </p:cNvPr>
          <p:cNvSpPr>
            <a:spLocks xmlns:a="http://schemas.openxmlformats.org/drawingml/2006/main" noGrp="1"/>
          </p:cNvSpPr>
          <p:nvPr/>
        </p:nvSpPr>
        <p:spPr>
          <a:xfrm xmlns:a="http://schemas.openxmlformats.org/drawingml/2006/main">
            <a:off x="8229600" y="3505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EXPECTED DELIVERABLE</a:t>
            </a:r>
          </a:p>
        </p:txBody>
      </p:sp>
      <p:sp>
        <p:nvSpPr>
          <p:cNvPr id="21" name="">
            <a:extLst xmlns:a="http://schemas.openxmlformats.org/drawingml/2006/main">
              <a:ext uri="{FF2B5EF4-FFF2-40B4-BE49-F238E27FC236}">
                <a16:creationId xmlns:a16="http://schemas.microsoft.com/office/drawing/2014/main" id="{F37113D4-D058-46F4-8BC9-FB878015283E}"/>
              </a:ext>
            </a:extLst>
          </p:cNvPr>
          <p:cNvSpPr>
            <a:spLocks xmlns:a="http://schemas.openxmlformats.org/drawingml/2006/main" noGrp="1"/>
          </p:cNvSpPr>
          <p:nvPr/>
        </p:nvSpPr>
        <p:spPr>
          <a:xfrm xmlns:a="http://schemas.openxmlformats.org/drawingml/2006/main">
            <a:off x="8229600" y="3819525"/>
            <a:ext cx="3086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A one-page service-gap review note and alert specification using simulated data.</a:t>
            </a:r>
          </a:p>
        </p:txBody>
      </p:sp>
      <p:sp>
        <p:nvSpPr>
          <p:cNvPr id="22" name="">
            <a:extLst xmlns:a="http://schemas.openxmlformats.org/drawingml/2006/main">
              <a:ext uri="{FF2B5EF4-FFF2-40B4-BE49-F238E27FC236}">
                <a16:creationId xmlns:a16="http://schemas.microsoft.com/office/drawing/2014/main" id="{69DEDE5D-3970-44CD-B857-9F2B4C54EE11}"/>
              </a:ext>
            </a:extLst>
          </p:cNvPr>
          <p:cNvSpPr>
            <a:spLocks xmlns:a="http://schemas.openxmlformats.org/drawingml/2006/main" noGrp="1"/>
          </p:cNvSpPr>
          <p:nvPr/>
        </p:nvSpPr>
        <p:spPr>
          <a:xfrm xmlns:a="http://schemas.openxmlformats.org/drawingml/2006/main">
            <a:off x="8229600" y="469582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REVIEW CRITERIA</a:t>
            </a:r>
          </a:p>
        </p:txBody>
      </p:sp>
      <p:sp>
        <p:nvSpPr>
          <p:cNvPr id="23" name="">
            <a:extLst xmlns:a="http://schemas.openxmlformats.org/drawingml/2006/main">
              <a:ext uri="{FF2B5EF4-FFF2-40B4-BE49-F238E27FC236}">
                <a16:creationId xmlns:a16="http://schemas.microsoft.com/office/drawing/2014/main" id="{6126E295-EC7B-43E6-9DDB-3B1BEDB6B30D}"/>
              </a:ext>
            </a:extLst>
          </p:cNvPr>
          <p:cNvSpPr>
            <a:spLocks xmlns:a="http://schemas.openxmlformats.org/drawingml/2006/main" noGrp="1"/>
          </p:cNvSpPr>
          <p:nvPr/>
        </p:nvSpPr>
        <p:spPr>
          <a:xfrm xmlns:a="http://schemas.openxmlformats.org/drawingml/2006/main">
            <a:off x="8229600" y="4991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The learner distinguishes counts from rates.</a:t>
            </a:r>
          </a:p>
        </p:txBody>
      </p:sp>
      <p:sp>
        <p:nvSpPr>
          <p:cNvPr id="24" name="">
            <a:extLst xmlns:a="http://schemas.openxmlformats.org/drawingml/2006/main">
              <a:ext uri="{FF2B5EF4-FFF2-40B4-BE49-F238E27FC236}">
                <a16:creationId xmlns:a16="http://schemas.microsoft.com/office/drawing/2014/main" id="{FF48D22D-0CE0-40A7-A3AC-098E47FC3D1E}"/>
              </a:ext>
            </a:extLst>
          </p:cNvPr>
          <p:cNvSpPr>
            <a:spLocks xmlns:a="http://schemas.openxmlformats.org/drawingml/2006/main" noGrp="1"/>
          </p:cNvSpPr>
          <p:nvPr/>
        </p:nvSpPr>
        <p:spPr>
          <a:xfrm xmlns:a="http://schemas.openxmlformats.org/drawingml/2006/main">
            <a:off x="8229600" y="5372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No cause is assigned without supporting evidence.</a:t>
            </a:r>
          </a:p>
        </p:txBody>
      </p:sp>
      <p:sp>
        <p:nvSpPr>
          <p:cNvPr id="25" name="">
            <a:extLst xmlns:a="http://schemas.openxmlformats.org/drawingml/2006/main">
              <a:ext uri="{FF2B5EF4-FFF2-40B4-BE49-F238E27FC236}">
                <a16:creationId xmlns:a16="http://schemas.microsoft.com/office/drawing/2014/main" id="{C4D6523E-658A-437A-9E48-8211852E0FAC}"/>
              </a:ext>
            </a:extLst>
          </p:cNvPr>
          <p:cNvSpPr>
            <a:spLocks xmlns:a="http://schemas.openxmlformats.org/drawingml/2006/main" noGrp="1"/>
          </p:cNvSpPr>
          <p:nvPr/>
        </p:nvSpPr>
        <p:spPr>
          <a:xfrm xmlns:a="http://schemas.openxmlformats.org/drawingml/2006/main">
            <a:off x="8229600" y="5753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The alert has an owner and a proportionate follow-up action.</a:t>
            </a:r>
          </a:p>
        </p:txBody>
      </p:sp>
    </p:spTree>
    <p:extLst>
      <p:ext uri="{BB962C8B-B14F-4D97-AF65-F5344CB8AC3E}">
        <p14:creationId xmlns:p14="http://schemas.microsoft.com/office/powerpoint/2010/main" val="479765566"/>
      </p:ext>
    </p:extLst>
  </p:cSld>
</p:sld>
</file>

<file path=ppt/slides/slide35.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7CB6E95-3F86-4C9C-99D3-BEFC12ACE82E}"/>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WEEKS 4–5 / MODULE 6</a:t>
            </a:r>
          </a:p>
        </p:txBody>
      </p:sp>
      <p:sp>
        <p:nvSpPr>
          <p:cNvPr id="2" name="">
            <a:extLst xmlns:a="http://schemas.openxmlformats.org/drawingml/2006/main">
              <a:ext uri="{FF2B5EF4-FFF2-40B4-BE49-F238E27FC236}">
                <a16:creationId xmlns:a16="http://schemas.microsoft.com/office/drawing/2014/main" id="{95C41469-BFC4-4975-9747-98276F008DD2}"/>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S7  |  Q&amp;A and knowledge check</a:t>
            </a:r>
          </a:p>
        </p:txBody>
      </p:sp>
      <p:sp>
        <p:nvSpPr>
          <p:cNvPr id="3" name="">
            <a:extLst xmlns:a="http://schemas.openxmlformats.org/drawingml/2006/main">
              <a:ext uri="{FF2B5EF4-FFF2-40B4-BE49-F238E27FC236}">
                <a16:creationId xmlns:a16="http://schemas.microsoft.com/office/drawing/2014/main" id="{855194E4-00CF-4C29-9C72-C614BDA78D43}"/>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012FA0B-8DDB-453E-8555-3362702C6DD9}"/>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A4FEF2D-F243-4E98-8983-40F570EEE60F}"/>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B8D84449-FE9B-462C-80B5-EA22D2DEDA5C}"/>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35</a:t>
            </a:r>
          </a:p>
        </p:txBody>
      </p:sp>
      <p:sp>
        <p:nvSpPr>
          <p:cNvPr id="7" name="">
            <a:extLst xmlns:a="http://schemas.openxmlformats.org/drawingml/2006/main">
              <a:ext uri="{FF2B5EF4-FFF2-40B4-BE49-F238E27FC236}">
                <a16:creationId xmlns:a16="http://schemas.microsoft.com/office/drawing/2014/main" id="{65DA162F-4DF7-47AA-9C6E-5C3CD73844B6}"/>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6 topics 6.3–6.4 and proposal p. 8. Geographic and alert examples are hypothetical.</a:t>
            </a:r>
          </a:p>
        </p:txBody>
      </p:sp>
      <p:sp>
        <p:nvSpPr>
          <p:cNvPr id="8" name="">
            <a:extLst xmlns:a="http://schemas.openxmlformats.org/drawingml/2006/main">
              <a:ext uri="{FF2B5EF4-FFF2-40B4-BE49-F238E27FC236}">
                <a16:creationId xmlns:a16="http://schemas.microsoft.com/office/drawing/2014/main" id="{2136AB17-142B-4369-A6C7-16FD5710F5D7}"/>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Lumenore: Service Gaps, Alerts &amp; Reports</a:t>
            </a:r>
          </a:p>
        </p:txBody>
      </p:sp>
      <p:sp>
        <p:nvSpPr>
          <p:cNvPr id="9" name="">
            <a:extLst xmlns:a="http://schemas.openxmlformats.org/drawingml/2006/main">
              <a:ext uri="{FF2B5EF4-FFF2-40B4-BE49-F238E27FC236}">
                <a16:creationId xmlns:a16="http://schemas.microsoft.com/office/drawing/2014/main" id="{354BCF25-B80A-4639-9CA0-A2FC1ED65933}"/>
              </a:ext>
            </a:extLst>
          </p:cNvPr>
          <p:cNvSpPr>
            <a:spLocks xmlns:a="http://schemas.openxmlformats.org/drawingml/2006/main" noGrp="1"/>
          </p:cNvSpPr>
          <p:nvPr/>
        </p:nvSpPr>
        <p:spPr>
          <a:xfrm xmlns:a="http://schemas.openxmlformats.org/drawingml/2006/main">
            <a:off x="609600" y="19240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Invite questions first. Use the answer cues to clarify the principle; route local policy questions to the right DWIHN owner.</a:t>
            </a:r>
          </a:p>
        </p:txBody>
      </p:sp>
      <p:sp>
        <p:nvSpPr>
          <p:cNvPr id="10" name="">
            <a:extLst xmlns:a="http://schemas.openxmlformats.org/drawingml/2006/main">
              <a:ext uri="{FF2B5EF4-FFF2-40B4-BE49-F238E27FC236}">
                <a16:creationId xmlns:a16="http://schemas.microsoft.com/office/drawing/2014/main" id="{A069A02F-30A6-4CEA-A4C4-418F970C85EA}"/>
              </a:ext>
            </a:extLst>
          </p:cNvPr>
          <p:cNvSpPr>
            <a:spLocks xmlns:a="http://schemas.openxmlformats.org/drawingml/2006/main" noGrp="1"/>
          </p:cNvSpPr>
          <p:nvPr/>
        </p:nvSpPr>
        <p:spPr>
          <a:xfrm xmlns:a="http://schemas.openxmlformats.org/drawingml/2006/main">
            <a:off x="609600" y="26384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Q1</a:t>
            </a:r>
          </a:p>
        </p:txBody>
      </p:sp>
      <p:sp>
        <p:nvSpPr>
          <p:cNvPr id="11" name="">
            <a:extLst xmlns:a="http://schemas.openxmlformats.org/drawingml/2006/main">
              <a:ext uri="{FF2B5EF4-FFF2-40B4-BE49-F238E27FC236}">
                <a16:creationId xmlns:a16="http://schemas.microsoft.com/office/drawing/2014/main" id="{7077605D-558F-4D91-BA7C-317014A985E5}"/>
              </a:ext>
            </a:extLst>
          </p:cNvPr>
          <p:cNvSpPr>
            <a:spLocks xmlns:a="http://schemas.openxmlformats.org/drawingml/2006/main" noGrp="1"/>
          </p:cNvSpPr>
          <p:nvPr/>
        </p:nvSpPr>
        <p:spPr>
          <a:xfrm xmlns:a="http://schemas.openxmlformats.org/drawingml/2006/main">
            <a:off x="1162050" y="26384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Does a map identify underserved people?</a:t>
            </a:r>
          </a:p>
        </p:txBody>
      </p:sp>
      <p:sp>
        <p:nvSpPr>
          <p:cNvPr id="12" name="">
            <a:extLst xmlns:a="http://schemas.openxmlformats.org/drawingml/2006/main">
              <a:ext uri="{FF2B5EF4-FFF2-40B4-BE49-F238E27FC236}">
                <a16:creationId xmlns:a16="http://schemas.microsoft.com/office/drawing/2014/main" id="{F88AC78F-348A-43E8-AFCD-34DAA3A3093A}"/>
              </a:ext>
            </a:extLst>
          </p:cNvPr>
          <p:cNvSpPr>
            <a:spLocks xmlns:a="http://schemas.openxmlformats.org/drawingml/2006/main" noGrp="1"/>
          </p:cNvSpPr>
          <p:nvPr/>
        </p:nvSpPr>
        <p:spPr>
          <a:xfrm xmlns:a="http://schemas.openxmlformats.org/drawingml/2006/main">
            <a:off x="6000750" y="26384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3" name="">
            <a:extLst xmlns:a="http://schemas.openxmlformats.org/drawingml/2006/main">
              <a:ext uri="{FF2B5EF4-FFF2-40B4-BE49-F238E27FC236}">
                <a16:creationId xmlns:a16="http://schemas.microsoft.com/office/drawing/2014/main" id="{1C2EEA00-160A-4465-9101-ED5146C5C9D1}"/>
              </a:ext>
            </a:extLst>
          </p:cNvPr>
          <p:cNvSpPr>
            <a:spLocks xmlns:a="http://schemas.openxmlformats.org/drawingml/2006/main" noGrp="1"/>
          </p:cNvSpPr>
          <p:nvPr/>
        </p:nvSpPr>
        <p:spPr>
          <a:xfrm xmlns:a="http://schemas.openxmlformats.org/drawingml/2006/main">
            <a:off x="6000750" y="28765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Not on its own. It shows an aggregate pattern whose meaning needs further evidence and policy review.</a:t>
            </a:r>
          </a:p>
        </p:txBody>
      </p:sp>
      <p:sp>
        <p:nvSpPr>
          <p:cNvPr id="14" name="">
            <a:extLst xmlns:a="http://schemas.openxmlformats.org/drawingml/2006/main">
              <a:ext uri="{FF2B5EF4-FFF2-40B4-BE49-F238E27FC236}">
                <a16:creationId xmlns:a16="http://schemas.microsoft.com/office/drawing/2014/main" id="{7BE55C15-7B57-465B-8219-6B676DAD9F11}"/>
              </a:ext>
            </a:extLst>
          </p:cNvPr>
          <p:cNvSpPr>
            <a:spLocks xmlns:a="http://schemas.openxmlformats.org/drawingml/2006/main" noGrp="1"/>
          </p:cNvSpPr>
          <p:nvPr/>
        </p:nvSpPr>
        <p:spPr>
          <a:xfrm xmlns:a="http://schemas.openxmlformats.org/drawingml/2006/main">
            <a:off x="609600" y="343852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E5CD798-F2A8-43D3-B4ED-DADA5BFBB774}"/>
              </a:ext>
            </a:extLst>
          </p:cNvPr>
          <p:cNvSpPr>
            <a:spLocks xmlns:a="http://schemas.openxmlformats.org/drawingml/2006/main" noGrp="1"/>
          </p:cNvSpPr>
          <p:nvPr/>
        </p:nvSpPr>
        <p:spPr>
          <a:xfrm xmlns:a="http://schemas.openxmlformats.org/drawingml/2006/main">
            <a:off x="609600" y="35718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Q2</a:t>
            </a:r>
          </a:p>
        </p:txBody>
      </p:sp>
      <p:sp>
        <p:nvSpPr>
          <p:cNvPr id="16" name="">
            <a:extLst xmlns:a="http://schemas.openxmlformats.org/drawingml/2006/main">
              <a:ext uri="{FF2B5EF4-FFF2-40B4-BE49-F238E27FC236}">
                <a16:creationId xmlns:a16="http://schemas.microsoft.com/office/drawing/2014/main" id="{BE0DB0B1-9373-40D1-9A61-931670DB3019}"/>
              </a:ext>
            </a:extLst>
          </p:cNvPr>
          <p:cNvSpPr>
            <a:spLocks xmlns:a="http://schemas.openxmlformats.org/drawingml/2006/main" noGrp="1"/>
          </p:cNvSpPr>
          <p:nvPr/>
        </p:nvSpPr>
        <p:spPr>
          <a:xfrm xmlns:a="http://schemas.openxmlformats.org/drawingml/2006/main">
            <a:off x="1162050" y="357187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Should every movement trigger an alert?</a:t>
            </a:r>
          </a:p>
        </p:txBody>
      </p:sp>
      <p:sp>
        <p:nvSpPr>
          <p:cNvPr id="17" name="">
            <a:extLst xmlns:a="http://schemas.openxmlformats.org/drawingml/2006/main">
              <a:ext uri="{FF2B5EF4-FFF2-40B4-BE49-F238E27FC236}">
                <a16:creationId xmlns:a16="http://schemas.microsoft.com/office/drawing/2014/main" id="{672F1989-2801-44C6-8A1D-78C075C536F1}"/>
              </a:ext>
            </a:extLst>
          </p:cNvPr>
          <p:cNvSpPr>
            <a:spLocks xmlns:a="http://schemas.openxmlformats.org/drawingml/2006/main" noGrp="1"/>
          </p:cNvSpPr>
          <p:nvPr/>
        </p:nvSpPr>
        <p:spPr>
          <a:xfrm xmlns:a="http://schemas.openxmlformats.org/drawingml/2006/main">
            <a:off x="6000750" y="357187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8" name="">
            <a:extLst xmlns:a="http://schemas.openxmlformats.org/drawingml/2006/main">
              <a:ext uri="{FF2B5EF4-FFF2-40B4-BE49-F238E27FC236}">
                <a16:creationId xmlns:a16="http://schemas.microsoft.com/office/drawing/2014/main" id="{EC7D419A-CFEC-499F-9EBC-B0A27128B993}"/>
              </a:ext>
            </a:extLst>
          </p:cNvPr>
          <p:cNvSpPr>
            <a:spLocks xmlns:a="http://schemas.openxmlformats.org/drawingml/2006/main" noGrp="1"/>
          </p:cNvSpPr>
          <p:nvPr/>
        </p:nvSpPr>
        <p:spPr>
          <a:xfrm xmlns:a="http://schemas.openxmlformats.org/drawingml/2006/main">
            <a:off x="6000750" y="381000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No. Choose a threshold that is meaningful, reviewable and supported by the measure’s normal variation.</a:t>
            </a:r>
          </a:p>
        </p:txBody>
      </p:sp>
      <p:sp>
        <p:nvSpPr>
          <p:cNvPr id="19" name="">
            <a:extLst xmlns:a="http://schemas.openxmlformats.org/drawingml/2006/main">
              <a:ext uri="{FF2B5EF4-FFF2-40B4-BE49-F238E27FC236}">
                <a16:creationId xmlns:a16="http://schemas.microsoft.com/office/drawing/2014/main" id="{404F3FF7-896C-40FD-9DF3-61B61652E843}"/>
              </a:ext>
            </a:extLst>
          </p:cNvPr>
          <p:cNvSpPr>
            <a:spLocks xmlns:a="http://schemas.openxmlformats.org/drawingml/2006/main" noGrp="1"/>
          </p:cNvSpPr>
          <p:nvPr/>
        </p:nvSpPr>
        <p:spPr>
          <a:xfrm xmlns:a="http://schemas.openxmlformats.org/drawingml/2006/main">
            <a:off x="609600" y="437197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2C53592-CA84-4297-8259-7389CDB3858E}"/>
              </a:ext>
            </a:extLst>
          </p:cNvPr>
          <p:cNvSpPr>
            <a:spLocks xmlns:a="http://schemas.openxmlformats.org/drawingml/2006/main" noGrp="1"/>
          </p:cNvSpPr>
          <p:nvPr/>
        </p:nvSpPr>
        <p:spPr>
          <a:xfrm xmlns:a="http://schemas.openxmlformats.org/drawingml/2006/main">
            <a:off x="609600" y="45053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Q3</a:t>
            </a:r>
          </a:p>
        </p:txBody>
      </p:sp>
      <p:sp>
        <p:nvSpPr>
          <p:cNvPr id="21" name="">
            <a:extLst xmlns:a="http://schemas.openxmlformats.org/drawingml/2006/main">
              <a:ext uri="{FF2B5EF4-FFF2-40B4-BE49-F238E27FC236}">
                <a16:creationId xmlns:a16="http://schemas.microsoft.com/office/drawing/2014/main" id="{89071F66-FA10-4828-9E88-916397DCA5C0}"/>
              </a:ext>
            </a:extLst>
          </p:cNvPr>
          <p:cNvSpPr>
            <a:spLocks xmlns:a="http://schemas.openxmlformats.org/drawingml/2006/main" noGrp="1"/>
          </p:cNvSpPr>
          <p:nvPr/>
        </p:nvSpPr>
        <p:spPr>
          <a:xfrm xmlns:a="http://schemas.openxmlformats.org/drawingml/2006/main">
            <a:off x="1162050" y="45053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What belongs on an exported report?</a:t>
            </a:r>
          </a:p>
        </p:txBody>
      </p:sp>
      <p:sp>
        <p:nvSpPr>
          <p:cNvPr id="22" name="">
            <a:extLst xmlns:a="http://schemas.openxmlformats.org/drawingml/2006/main">
              <a:ext uri="{FF2B5EF4-FFF2-40B4-BE49-F238E27FC236}">
                <a16:creationId xmlns:a16="http://schemas.microsoft.com/office/drawing/2014/main" id="{8CF3BBA3-59A7-4F0E-A1F5-B65DFBE29BF7}"/>
              </a:ext>
            </a:extLst>
          </p:cNvPr>
          <p:cNvSpPr>
            <a:spLocks xmlns:a="http://schemas.openxmlformats.org/drawingml/2006/main" noGrp="1"/>
          </p:cNvSpPr>
          <p:nvPr/>
        </p:nvSpPr>
        <p:spPr>
          <a:xfrm xmlns:a="http://schemas.openxmlformats.org/drawingml/2006/main">
            <a:off x="6000750" y="45053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23" name="">
            <a:extLst xmlns:a="http://schemas.openxmlformats.org/drawingml/2006/main">
              <a:ext uri="{FF2B5EF4-FFF2-40B4-BE49-F238E27FC236}">
                <a16:creationId xmlns:a16="http://schemas.microsoft.com/office/drawing/2014/main" id="{DA83E8B8-5FD2-4E7C-BBAB-7FA2BA405F0D}"/>
              </a:ext>
            </a:extLst>
          </p:cNvPr>
          <p:cNvSpPr>
            <a:spLocks xmlns:a="http://schemas.openxmlformats.org/drawingml/2006/main" noGrp="1"/>
          </p:cNvSpPr>
          <p:nvPr/>
        </p:nvSpPr>
        <p:spPr>
          <a:xfrm xmlns:a="http://schemas.openxmlformats.org/drawingml/2006/main">
            <a:off x="6000750" y="47434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The intended question, definitions, period, filters, data status and limitations required by the audience.</a:t>
            </a:r>
          </a:p>
        </p:txBody>
      </p:sp>
      <p:sp>
        <p:nvSpPr>
          <p:cNvPr id="24" name="">
            <a:extLst xmlns:a="http://schemas.openxmlformats.org/drawingml/2006/main">
              <a:ext uri="{FF2B5EF4-FFF2-40B4-BE49-F238E27FC236}">
                <a16:creationId xmlns:a16="http://schemas.microsoft.com/office/drawing/2014/main" id="{C338C98A-458B-4382-8B29-14741A43D3A2}"/>
              </a:ext>
            </a:extLst>
          </p:cNvPr>
          <p:cNvSpPr>
            <a:spLocks xmlns:a="http://schemas.openxmlformats.org/drawingml/2006/main" noGrp="1"/>
          </p:cNvSpPr>
          <p:nvPr/>
        </p:nvSpPr>
        <p:spPr>
          <a:xfrm xmlns:a="http://schemas.openxmlformats.org/drawingml/2006/main">
            <a:off x="609600" y="55435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EA42C87E-14DC-4EA7-8311-F4F68E1ECA74}"/>
              </a:ext>
            </a:extLst>
          </p:cNvPr>
          <p:cNvSpPr>
            <a:spLocks xmlns:a="http://schemas.openxmlformats.org/drawingml/2006/main" noGrp="1"/>
          </p:cNvSpPr>
          <p:nvPr/>
        </p:nvSpPr>
        <p:spPr>
          <a:xfrm xmlns:a="http://schemas.openxmlformats.org/drawingml/2006/main">
            <a:off x="609600" y="57150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Remember</a:t>
            </a:r>
          </a:p>
        </p:txBody>
      </p:sp>
      <p:sp>
        <p:nvSpPr>
          <p:cNvPr id="26" name="">
            <a:extLst xmlns:a="http://schemas.openxmlformats.org/drawingml/2006/main">
              <a:ext uri="{FF2B5EF4-FFF2-40B4-BE49-F238E27FC236}">
                <a16:creationId xmlns:a16="http://schemas.microsoft.com/office/drawing/2014/main" id="{A954CD0B-48D8-4513-B107-B39B8A847DB7}"/>
              </a:ext>
            </a:extLst>
          </p:cNvPr>
          <p:cNvSpPr>
            <a:spLocks xmlns:a="http://schemas.openxmlformats.org/drawingml/2006/main" noGrp="1"/>
          </p:cNvSpPr>
          <p:nvPr/>
        </p:nvSpPr>
        <p:spPr>
          <a:xfrm xmlns:a="http://schemas.openxmlformats.org/drawingml/2006/main">
            <a:off x="1924050" y="5686425"/>
            <a:ext cx="9429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039"/>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Use geography to ask better questions.   •   Check population, rate and period before comparing.   •   Every alert needs an owner and response path.</a:t>
            </a:r>
          </a:p>
        </p:txBody>
      </p:sp>
    </p:spTree>
    <p:extLst>
      <p:ext uri="{BB962C8B-B14F-4D97-AF65-F5344CB8AC3E}">
        <p14:creationId xmlns:p14="http://schemas.microsoft.com/office/powerpoint/2010/main" val="797492607"/>
      </p:ext>
    </p:extLst>
  </p:cSld>
</p:sld>
</file>

<file path=ppt/slides/slide36.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73306A92-3318-450B-B8DA-2A8949339D20}"/>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6 / MODULE 7</a:t>
            </a:r>
          </a:p>
        </p:txBody>
      </p:sp>
      <p:sp>
        <p:nvSpPr>
          <p:cNvPr id="2" name="">
            <a:extLst xmlns:a="http://schemas.openxmlformats.org/drawingml/2006/main">
              <a:ext uri="{FF2B5EF4-FFF2-40B4-BE49-F238E27FC236}">
                <a16:creationId xmlns:a16="http://schemas.microsoft.com/office/drawing/2014/main" id="{85D733B4-ECD5-4FE3-BAFB-46EE522EDDA1}"/>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S8  |  Purpose &amp; outcomes</a:t>
            </a:r>
          </a:p>
        </p:txBody>
      </p:sp>
      <p:sp>
        <p:nvSpPr>
          <p:cNvPr id="3" name="">
            <a:extLst xmlns:a="http://schemas.openxmlformats.org/drawingml/2006/main">
              <a:ext uri="{FF2B5EF4-FFF2-40B4-BE49-F238E27FC236}">
                <a16:creationId xmlns:a16="http://schemas.microsoft.com/office/drawing/2014/main" id="{1C7CF0D0-F0C6-4B2D-9DF4-74C202ABAD88}"/>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564DB41-18A6-4B5C-B44C-A85D94F54E7C}"/>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2CB17A5-E30D-48E4-9E20-79DDAC9738FC}"/>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13921608-B97F-4A79-A938-0EF8C46E8400}"/>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36</a:t>
            </a:r>
          </a:p>
        </p:txBody>
      </p:sp>
      <p:sp>
        <p:nvSpPr>
          <p:cNvPr id="7" name="">
            <a:extLst xmlns:a="http://schemas.openxmlformats.org/drawingml/2006/main">
              <a:ext uri="{FF2B5EF4-FFF2-40B4-BE49-F238E27FC236}">
                <a16:creationId xmlns:a16="http://schemas.microsoft.com/office/drawing/2014/main" id="{426BC600-20F5-4593-8F51-DE2325B8828A}"/>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7 and proposal p. 8. Proposal feature list is not confirmation of current DWIHN configuration.</a:t>
            </a:r>
          </a:p>
        </p:txBody>
      </p:sp>
      <p:sp>
        <p:nvSpPr>
          <p:cNvPr id="8" name="">
            <a:extLst xmlns:a="http://schemas.openxmlformats.org/drawingml/2006/main">
              <a:ext uri="{FF2B5EF4-FFF2-40B4-BE49-F238E27FC236}">
                <a16:creationId xmlns:a16="http://schemas.microsoft.com/office/drawing/2014/main" id="{8EF8B5A7-2043-4C20-83B7-8F75D94AFCF2}"/>
              </a:ext>
            </a:extLst>
          </p:cNvPr>
          <p:cNvSpPr>
            <a:spLocks xmlns:a="http://schemas.openxmlformats.org/drawingml/2006/main" noGrp="1"/>
          </p:cNvSpPr>
          <p:nvPr/>
        </p:nvSpPr>
        <p:spPr>
          <a:xfrm xmlns:a="http://schemas.openxmlformats.org/drawingml/2006/main">
            <a:off x="609600" y="1619250"/>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0A2438"/>
                </a:solidFill>
                <a:latin typeface="Arial"/>
                <a:ea typeface="Arial"/>
                <a:cs typeface="Arial"/>
              </a:defRPr>
            </a:pPr>
            <a:r>
              <a:rPr sz="1875" b="1">
                <a:solidFill>
                  <a:srgbClr val="0A2438"/>
                </a:solidFill>
                <a:latin typeface="Arial"/>
                <a:ea typeface="Arial"/>
                <a:cs typeface="Arial"/>
              </a:rPr>
              <a:t>Genesys AI in the Call Center</a:t>
            </a:r>
          </a:p>
        </p:txBody>
      </p:sp>
      <p:sp>
        <p:nvSpPr>
          <p:cNvPr id="9" name="">
            <a:extLst xmlns:a="http://schemas.openxmlformats.org/drawingml/2006/main">
              <a:ext uri="{FF2B5EF4-FFF2-40B4-BE49-F238E27FC236}">
                <a16:creationId xmlns:a16="http://schemas.microsoft.com/office/drawing/2014/main" id="{411E4097-13FD-4CD5-9696-DC9F9F7EFEC6}"/>
              </a:ext>
            </a:extLst>
          </p:cNvPr>
          <p:cNvSpPr>
            <a:spLocks xmlns:a="http://schemas.openxmlformats.org/drawingml/2006/main" noGrp="1"/>
          </p:cNvSpPr>
          <p:nvPr/>
        </p:nvSpPr>
        <p:spPr>
          <a:xfrm xmlns:a="http://schemas.openxmlformats.org/drawingml/2006/main">
            <a:off x="609600" y="2057400"/>
            <a:ext cx="695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506473"/>
                </a:solidFill>
                <a:latin typeface="Arial"/>
                <a:ea typeface="Arial"/>
                <a:cs typeface="Arial"/>
              </a:defRPr>
            </a:pPr>
            <a:r>
              <a:rPr sz="1425" b="0">
                <a:solidFill>
                  <a:srgbClr val="506473"/>
                </a:solidFill>
                <a:latin typeface="Arial"/>
                <a:ea typeface="Arial"/>
                <a:cs typeface="Arial"/>
              </a:rPr>
              <a:t>Participants learn how the features named in the proposal may fit into a contact-center workflow, then practice checking generated content against the interaction.</a:t>
            </a:r>
          </a:p>
        </p:txBody>
      </p:sp>
      <p:sp>
        <p:nvSpPr>
          <p:cNvPr id="10" name="">
            <a:extLst xmlns:a="http://schemas.openxmlformats.org/drawingml/2006/main">
              <a:ext uri="{FF2B5EF4-FFF2-40B4-BE49-F238E27FC236}">
                <a16:creationId xmlns:a16="http://schemas.microsoft.com/office/drawing/2014/main" id="{5B026EF3-B567-4306-9487-3B34D331B2ED}"/>
              </a:ext>
            </a:extLst>
          </p:cNvPr>
          <p:cNvSpPr>
            <a:spLocks xmlns:a="http://schemas.openxmlformats.org/drawingml/2006/main" noGrp="1"/>
          </p:cNvSpPr>
          <p:nvPr/>
        </p:nvSpPr>
        <p:spPr>
          <a:xfrm xmlns:a="http://schemas.openxmlformats.org/drawingml/2006/main">
            <a:off x="609600" y="30861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BY THE END, LEARNERS CAN</a:t>
            </a:r>
          </a:p>
        </p:txBody>
      </p:sp>
      <p:sp>
        <p:nvSpPr>
          <p:cNvPr id="11" name="">
            <a:extLst xmlns:a="http://schemas.openxmlformats.org/drawingml/2006/main">
              <a:ext uri="{FF2B5EF4-FFF2-40B4-BE49-F238E27FC236}">
                <a16:creationId xmlns:a16="http://schemas.microsoft.com/office/drawing/2014/main" id="{0C28B4AD-74CB-45F3-BBF1-298601423784}"/>
              </a:ext>
            </a:extLst>
          </p:cNvPr>
          <p:cNvSpPr>
            <a:spLocks xmlns:a="http://schemas.openxmlformats.org/drawingml/2006/main" noGrp="1"/>
          </p:cNvSpPr>
          <p:nvPr/>
        </p:nvSpPr>
        <p:spPr>
          <a:xfrm xmlns:a="http://schemas.openxmlformats.org/drawingml/2006/main">
            <a:off x="609600" y="3429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01</a:t>
            </a:r>
          </a:p>
        </p:txBody>
      </p:sp>
      <p:sp>
        <p:nvSpPr>
          <p:cNvPr id="12" name="">
            <a:extLst xmlns:a="http://schemas.openxmlformats.org/drawingml/2006/main">
              <a:ext uri="{FF2B5EF4-FFF2-40B4-BE49-F238E27FC236}">
                <a16:creationId xmlns:a16="http://schemas.microsoft.com/office/drawing/2014/main" id="{2DDDA19B-DC8D-423C-827B-C99D5F6E7A3A}"/>
              </a:ext>
            </a:extLst>
          </p:cNvPr>
          <p:cNvSpPr>
            <a:spLocks xmlns:a="http://schemas.openxmlformats.org/drawingml/2006/main" noGrp="1"/>
          </p:cNvSpPr>
          <p:nvPr/>
        </p:nvSpPr>
        <p:spPr>
          <a:xfrm xmlns:a="http://schemas.openxmlformats.org/drawingml/2006/main">
            <a:off x="1104900" y="34290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Describe the proposal’s agent insight, call summary, sentiment cue and routing examples.</a:t>
            </a:r>
          </a:p>
        </p:txBody>
      </p:sp>
      <p:sp>
        <p:nvSpPr>
          <p:cNvPr id="13" name="">
            <a:extLst xmlns:a="http://schemas.openxmlformats.org/drawingml/2006/main">
              <a:ext uri="{FF2B5EF4-FFF2-40B4-BE49-F238E27FC236}">
                <a16:creationId xmlns:a16="http://schemas.microsoft.com/office/drawing/2014/main" id="{02654C12-8F36-469F-8795-E128696E9D57}"/>
              </a:ext>
            </a:extLst>
          </p:cNvPr>
          <p:cNvSpPr>
            <a:spLocks xmlns:a="http://schemas.openxmlformats.org/drawingml/2006/main" noGrp="1"/>
          </p:cNvSpPr>
          <p:nvPr/>
        </p:nvSpPr>
        <p:spPr>
          <a:xfrm xmlns:a="http://schemas.openxmlformats.org/drawingml/2006/main">
            <a:off x="609600" y="40767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84386DBA-591A-411B-B823-BB88DFC2C3E2}"/>
              </a:ext>
            </a:extLst>
          </p:cNvPr>
          <p:cNvSpPr>
            <a:spLocks xmlns:a="http://schemas.openxmlformats.org/drawingml/2006/main" noGrp="1"/>
          </p:cNvSpPr>
          <p:nvPr/>
        </p:nvSpPr>
        <p:spPr>
          <a:xfrm xmlns:a="http://schemas.openxmlformats.org/drawingml/2006/main">
            <a:off x="1104900" y="40767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Verify a generated summary or suggestion against the source interaction.</a:t>
            </a:r>
          </a:p>
        </p:txBody>
      </p:sp>
      <p:sp>
        <p:nvSpPr>
          <p:cNvPr id="15" name="">
            <a:extLst xmlns:a="http://schemas.openxmlformats.org/drawingml/2006/main">
              <a:ext uri="{FF2B5EF4-FFF2-40B4-BE49-F238E27FC236}">
                <a16:creationId xmlns:a16="http://schemas.microsoft.com/office/drawing/2014/main" id="{B8836856-653C-4887-8429-C36BE7A9A15A}"/>
              </a:ext>
            </a:extLst>
          </p:cNvPr>
          <p:cNvSpPr>
            <a:spLocks xmlns:a="http://schemas.openxmlformats.org/drawingml/2006/main" noGrp="1"/>
          </p:cNvSpPr>
          <p:nvPr/>
        </p:nvSpPr>
        <p:spPr>
          <a:xfrm xmlns:a="http://schemas.openxmlformats.org/drawingml/2006/main">
            <a:off x="609600" y="47244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09D7BF05-546F-4EF7-BDE5-30D0DC883D36}"/>
              </a:ext>
            </a:extLst>
          </p:cNvPr>
          <p:cNvSpPr>
            <a:spLocks xmlns:a="http://schemas.openxmlformats.org/drawingml/2006/main" noGrp="1"/>
          </p:cNvSpPr>
          <p:nvPr/>
        </p:nvSpPr>
        <p:spPr>
          <a:xfrm xmlns:a="http://schemas.openxmlformats.org/drawingml/2006/main">
            <a:off x="1104900" y="47244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Use the configured human review, correction and escalation process.</a:t>
            </a:r>
          </a:p>
        </p:txBody>
      </p:sp>
      <p:sp>
        <p:nvSpPr>
          <p:cNvPr id="17" name="">
            <a:extLst xmlns:a="http://schemas.openxmlformats.org/drawingml/2006/main">
              <a:ext uri="{FF2B5EF4-FFF2-40B4-BE49-F238E27FC236}">
                <a16:creationId xmlns:a16="http://schemas.microsoft.com/office/drawing/2014/main" id="{82BF555D-E4E4-40C0-A2EC-7D679EBFE13C}"/>
              </a:ext>
            </a:extLst>
          </p:cNvPr>
          <p:cNvSpPr>
            <a:spLocks xmlns:a="http://schemas.openxmlformats.org/drawingml/2006/main" noGrp="1"/>
          </p:cNvSpPr>
          <p:nvPr/>
        </p:nvSpPr>
        <p:spPr>
          <a:xfrm xmlns:a="http://schemas.openxmlformats.org/drawingml/2006/main">
            <a:off x="609600" y="5476875"/>
            <a:ext cx="6953250" cy="476250"/>
          </a:xfrm>
          <a:prstGeom xmlns:a="http://schemas.openxmlformats.org/drawingml/2006/main" prst="rect">
            <a:avLst/>
          </a:prstGeom>
          <a:noFill xmlns:a="http://schemas.openxmlformats.org/drawingml/2006/main"/>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14122E5-2249-44B1-AA70-82AF7D098824}"/>
              </a:ext>
            </a:extLst>
          </p:cNvPr>
          <p:cNvSpPr>
            <a:spLocks xmlns:a="http://schemas.openxmlformats.org/drawingml/2006/main" noGrp="1"/>
          </p:cNvSpPr>
          <p:nvPr/>
        </p:nvSpPr>
        <p:spPr>
          <a:xfrm xmlns:a="http://schemas.openxmlformats.org/drawingml/2006/main">
            <a:off x="781050" y="5591175"/>
            <a:ext cx="659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91"/>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Session length: at least 1 hour, including Q&amp;A. Guided practice and discussion can extend it.</a:t>
            </a:r>
          </a:p>
        </p:txBody>
      </p:sp>
      <p:sp>
        <p:nvSpPr>
          <p:cNvPr id="19" name="">
            <a:extLst xmlns:a="http://schemas.openxmlformats.org/drawingml/2006/main">
              <a:ext uri="{FF2B5EF4-FFF2-40B4-BE49-F238E27FC236}">
                <a16:creationId xmlns:a16="http://schemas.microsoft.com/office/drawing/2014/main" id="{C8E2EFBB-BB94-4E3A-AD35-26175D8FA303}"/>
              </a:ext>
            </a:extLst>
          </p:cNvPr>
          <p:cNvSpPr>
            <a:spLocks xmlns:a="http://schemas.openxmlformats.org/drawingml/2006/main" noGrp="1"/>
          </p:cNvSpPr>
          <p:nvPr/>
        </p:nvSpPr>
        <p:spPr>
          <a:xfrm xmlns:a="http://schemas.openxmlformats.org/drawingml/2006/main">
            <a:off x="8096250" y="2266950"/>
            <a:ext cx="19050" cy="295275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0994740-4692-42D3-85E7-00A498E448C2}"/>
              </a:ext>
            </a:extLst>
          </p:cNvPr>
          <p:cNvSpPr>
            <a:spLocks xmlns:a="http://schemas.openxmlformats.org/drawingml/2006/main" noGrp="1"/>
          </p:cNvSpPr>
          <p:nvPr/>
        </p:nvSpPr>
        <p:spPr>
          <a:xfrm xmlns:a="http://schemas.openxmlformats.org/drawingml/2006/main">
            <a:off x="8439150" y="23050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OPENING DISCUSSION</a:t>
            </a:r>
          </a:p>
        </p:txBody>
      </p:sp>
      <p:sp>
        <p:nvSpPr>
          <p:cNvPr id="21" name="">
            <a:extLst xmlns:a="http://schemas.openxmlformats.org/drawingml/2006/main">
              <a:ext uri="{FF2B5EF4-FFF2-40B4-BE49-F238E27FC236}">
                <a16:creationId xmlns:a16="http://schemas.microsoft.com/office/drawing/2014/main" id="{5A9D83C2-751F-4035-94F0-D74B7665AA57}"/>
              </a:ext>
            </a:extLst>
          </p:cNvPr>
          <p:cNvSpPr>
            <a:spLocks xmlns:a="http://schemas.openxmlformats.org/drawingml/2006/main" noGrp="1"/>
          </p:cNvSpPr>
          <p:nvPr/>
        </p:nvSpPr>
        <p:spPr>
          <a:xfrm xmlns:a="http://schemas.openxmlformats.org/drawingml/2006/main">
            <a:off x="8439150" y="2647950"/>
            <a:ext cx="2857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663"/>
          </a:bodyPr>
          <a:lstStyle xmlns:a="http://schemas.openxmlformats.org/drawingml/2006/main"/>
          <a:p xmlns:a="http://schemas.openxmlformats.org/drawingml/2006/main">
            <a:pPr algn="l">
              <a:lnSpc>
                <a:spcPct val="112000"/>
              </a:lnSpc>
              <a:buNone/>
              <a:defRPr sz="1575" b="1">
                <a:solidFill>
                  <a:srgbClr val="142F42"/>
                </a:solidFill>
                <a:latin typeface="Arial"/>
                <a:ea typeface="Arial"/>
                <a:cs typeface="Arial"/>
              </a:defRPr>
            </a:pPr>
            <a:r>
              <a:rPr sz="1575" b="1">
                <a:solidFill>
                  <a:srgbClr val="142F42"/>
                </a:solidFill>
                <a:latin typeface="Arial"/>
                <a:ea typeface="Arial"/>
                <a:cs typeface="Arial"/>
              </a:rPr>
              <a:t>If a call summary sounds complete, what could still be missing from the actual interaction?</a:t>
            </a:r>
          </a:p>
        </p:txBody>
      </p:sp>
      <p:sp>
        <p:nvSpPr>
          <p:cNvPr id="22" name="">
            <a:extLst xmlns:a="http://schemas.openxmlformats.org/drawingml/2006/main">
              <a:ext uri="{FF2B5EF4-FFF2-40B4-BE49-F238E27FC236}">
                <a16:creationId xmlns:a16="http://schemas.microsoft.com/office/drawing/2014/main" id="{150969D6-58C3-4E07-933E-4125F9D64849}"/>
              </a:ext>
            </a:extLst>
          </p:cNvPr>
          <p:cNvSpPr>
            <a:spLocks xmlns:a="http://schemas.openxmlformats.org/drawingml/2006/main" noGrp="1"/>
          </p:cNvSpPr>
          <p:nvPr/>
        </p:nvSpPr>
        <p:spPr>
          <a:xfrm xmlns:a="http://schemas.openxmlformats.org/drawingml/2006/main">
            <a:off x="8439150" y="39624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KEEP IN VIEW</a:t>
            </a:r>
          </a:p>
        </p:txBody>
      </p:sp>
      <p:sp>
        <p:nvSpPr>
          <p:cNvPr id="23" name="">
            <a:extLst xmlns:a="http://schemas.openxmlformats.org/drawingml/2006/main">
              <a:ext uri="{FF2B5EF4-FFF2-40B4-BE49-F238E27FC236}">
                <a16:creationId xmlns:a16="http://schemas.microsoft.com/office/drawing/2014/main" id="{D08826D4-FC1E-416E-BA8D-8FA771E91009}"/>
              </a:ext>
            </a:extLst>
          </p:cNvPr>
          <p:cNvSpPr>
            <a:spLocks xmlns:a="http://schemas.openxmlformats.org/drawingml/2006/main" noGrp="1"/>
          </p:cNvSpPr>
          <p:nvPr/>
        </p:nvSpPr>
        <p:spPr>
          <a:xfrm xmlns:a="http://schemas.openxmlformats.org/drawingml/2006/main">
            <a:off x="8439150" y="4295775"/>
            <a:ext cx="285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Use the approved workflow, verify against a trusted source and keep human judgment visible.</a:t>
            </a:r>
          </a:p>
        </p:txBody>
      </p:sp>
    </p:spTree>
    <p:extLst>
      <p:ext uri="{BB962C8B-B14F-4D97-AF65-F5344CB8AC3E}">
        <p14:creationId xmlns:p14="http://schemas.microsoft.com/office/powerpoint/2010/main" val="1953928589"/>
      </p:ext>
    </p:extLst>
  </p:cSld>
</p:sld>
</file>

<file path=ppt/slides/slide37.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72E63F7-AB85-4FBE-9CE3-58021D6CF1D5}"/>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6 / MODULE 7</a:t>
            </a:r>
          </a:p>
        </p:txBody>
      </p:sp>
      <p:sp>
        <p:nvSpPr>
          <p:cNvPr id="2" name="">
            <a:extLst xmlns:a="http://schemas.openxmlformats.org/drawingml/2006/main">
              <a:ext uri="{FF2B5EF4-FFF2-40B4-BE49-F238E27FC236}">
                <a16:creationId xmlns:a16="http://schemas.microsoft.com/office/drawing/2014/main" id="{A5DF26C9-3798-4223-9CA6-1F44186803AA}"/>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S8  |  Core concepts</a:t>
            </a:r>
          </a:p>
        </p:txBody>
      </p:sp>
      <p:sp>
        <p:nvSpPr>
          <p:cNvPr id="3" name="">
            <a:extLst xmlns:a="http://schemas.openxmlformats.org/drawingml/2006/main">
              <a:ext uri="{FF2B5EF4-FFF2-40B4-BE49-F238E27FC236}">
                <a16:creationId xmlns:a16="http://schemas.microsoft.com/office/drawing/2014/main" id="{C5EC73C4-01E7-400B-80FA-0B3562A01960}"/>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9D55E90-4E92-404A-AB6C-8A5478D25423}"/>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B9947E7-EB4C-45E8-90DA-D665B2BDF2B6}"/>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22AD546A-8E70-4C32-A3A5-2516D4B425E4}"/>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37</a:t>
            </a:r>
          </a:p>
        </p:txBody>
      </p:sp>
      <p:sp>
        <p:nvSpPr>
          <p:cNvPr id="7" name="">
            <a:extLst xmlns:a="http://schemas.openxmlformats.org/drawingml/2006/main">
              <a:ext uri="{FF2B5EF4-FFF2-40B4-BE49-F238E27FC236}">
                <a16:creationId xmlns:a16="http://schemas.microsoft.com/office/drawing/2014/main" id="{3B8A3B8D-34F5-4CAC-9114-254D9DDAFEC6}"/>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7 and proposal p. 8. Proposal feature list is not confirmation of current DWIHN configuration.</a:t>
            </a:r>
          </a:p>
        </p:txBody>
      </p:sp>
      <p:sp>
        <p:nvSpPr>
          <p:cNvPr id="8" name="">
            <a:extLst xmlns:a="http://schemas.openxmlformats.org/drawingml/2006/main">
              <a:ext uri="{FF2B5EF4-FFF2-40B4-BE49-F238E27FC236}">
                <a16:creationId xmlns:a16="http://schemas.microsoft.com/office/drawing/2014/main" id="{B2484143-EF65-4BB2-954F-68391AD2ABE6}"/>
              </a:ext>
            </a:extLst>
          </p:cNvPr>
          <p:cNvSpPr>
            <a:spLocks xmlns:a="http://schemas.openxmlformats.org/drawingml/2006/main" noGrp="1"/>
          </p:cNvSpPr>
          <p:nvPr/>
        </p:nvSpPr>
        <p:spPr>
          <a:xfrm xmlns:a="http://schemas.openxmlformats.org/drawingml/2006/main">
            <a:off x="609600" y="15811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Genesys AI in the Call Center</a:t>
            </a:r>
          </a:p>
        </p:txBody>
      </p:sp>
      <p:sp>
        <p:nvSpPr>
          <p:cNvPr id="9" name="">
            <a:extLst xmlns:a="http://schemas.openxmlformats.org/drawingml/2006/main">
              <a:ext uri="{FF2B5EF4-FFF2-40B4-BE49-F238E27FC236}">
                <a16:creationId xmlns:a16="http://schemas.microsoft.com/office/drawing/2014/main" id="{4D2A9C4E-CD7F-4832-B6C5-14BAA9B123A7}"/>
              </a:ext>
            </a:extLst>
          </p:cNvPr>
          <p:cNvSpPr>
            <a:spLocks xmlns:a="http://schemas.openxmlformats.org/drawingml/2006/main" noGrp="1"/>
          </p:cNvSpPr>
          <p:nvPr/>
        </p:nvSpPr>
        <p:spPr>
          <a:xfrm xmlns:a="http://schemas.openxmlformats.org/drawingml/2006/main">
            <a:off x="609600" y="19716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A7E3C72C-43E2-4F95-9D6C-B9EFEFB587D8}"/>
              </a:ext>
            </a:extLst>
          </p:cNvPr>
          <p:cNvSpPr>
            <a:spLocks xmlns:a="http://schemas.openxmlformats.org/drawingml/2006/main" noGrp="1"/>
          </p:cNvSpPr>
          <p:nvPr/>
        </p:nvSpPr>
        <p:spPr>
          <a:xfrm xmlns:a="http://schemas.openxmlformats.org/drawingml/2006/main">
            <a:off x="1143000" y="19716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1071"/>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Agent suggestions are prompts to notice</a:t>
            </a:r>
          </a:p>
        </p:txBody>
      </p:sp>
      <p:sp>
        <p:nvSpPr>
          <p:cNvPr id="11" name="">
            <a:extLst xmlns:a="http://schemas.openxmlformats.org/drawingml/2006/main">
              <a:ext uri="{FF2B5EF4-FFF2-40B4-BE49-F238E27FC236}">
                <a16:creationId xmlns:a16="http://schemas.microsoft.com/office/drawing/2014/main" id="{C2AD53B0-DB1B-4BDD-B926-5FB33F92B666}"/>
              </a:ext>
            </a:extLst>
          </p:cNvPr>
          <p:cNvSpPr>
            <a:spLocks xmlns:a="http://schemas.openxmlformats.org/drawingml/2006/main" noGrp="1"/>
          </p:cNvSpPr>
          <p:nvPr/>
        </p:nvSpPr>
        <p:spPr>
          <a:xfrm xmlns:a="http://schemas.openxmlformats.org/drawingml/2006/main">
            <a:off x="3857625" y="19716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 suggestion may highlight a topic or next step. The agent listens to the person, checks policy and confirms whether the suggestion fits the actual situation.</a:t>
            </a:r>
          </a:p>
        </p:txBody>
      </p:sp>
      <p:sp>
        <p:nvSpPr>
          <p:cNvPr id="12" name="">
            <a:extLst xmlns:a="http://schemas.openxmlformats.org/drawingml/2006/main">
              <a:ext uri="{FF2B5EF4-FFF2-40B4-BE49-F238E27FC236}">
                <a16:creationId xmlns:a16="http://schemas.microsoft.com/office/drawing/2014/main" id="{DA9AE128-0F87-478F-9E74-EE6FCFB7767C}"/>
              </a:ext>
            </a:extLst>
          </p:cNvPr>
          <p:cNvSpPr>
            <a:spLocks xmlns:a="http://schemas.openxmlformats.org/drawingml/2006/main" noGrp="1"/>
          </p:cNvSpPr>
          <p:nvPr/>
        </p:nvSpPr>
        <p:spPr>
          <a:xfrm xmlns:a="http://schemas.openxmlformats.org/drawingml/2006/main">
            <a:off x="1143000" y="28003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32DECCA-D1C7-4EFA-BD8A-FBB91EDB12A8}"/>
              </a:ext>
            </a:extLst>
          </p:cNvPr>
          <p:cNvSpPr>
            <a:spLocks xmlns:a="http://schemas.openxmlformats.org/drawingml/2006/main" noGrp="1"/>
          </p:cNvSpPr>
          <p:nvPr/>
        </p:nvSpPr>
        <p:spPr>
          <a:xfrm xmlns:a="http://schemas.openxmlformats.org/drawingml/2006/main">
            <a:off x="609600" y="29813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265E6B4A-AD08-4AD9-B154-EDD4B4979EF0}"/>
              </a:ext>
            </a:extLst>
          </p:cNvPr>
          <p:cNvSpPr>
            <a:spLocks xmlns:a="http://schemas.openxmlformats.org/drawingml/2006/main" noGrp="1"/>
          </p:cNvSpPr>
          <p:nvPr/>
        </p:nvSpPr>
        <p:spPr>
          <a:xfrm xmlns:a="http://schemas.openxmlformats.org/drawingml/2006/main">
            <a:off x="1143000" y="29813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Summaries are draft records</a:t>
            </a:r>
          </a:p>
        </p:txBody>
      </p:sp>
      <p:sp>
        <p:nvSpPr>
          <p:cNvPr id="15" name="">
            <a:extLst xmlns:a="http://schemas.openxmlformats.org/drawingml/2006/main">
              <a:ext uri="{FF2B5EF4-FFF2-40B4-BE49-F238E27FC236}">
                <a16:creationId xmlns:a16="http://schemas.microsoft.com/office/drawing/2014/main" id="{8494681A-1564-44E9-A925-9DD3303B6633}"/>
              </a:ext>
            </a:extLst>
          </p:cNvPr>
          <p:cNvSpPr>
            <a:spLocks xmlns:a="http://schemas.openxmlformats.org/drawingml/2006/main" noGrp="1"/>
          </p:cNvSpPr>
          <p:nvPr/>
        </p:nvSpPr>
        <p:spPr>
          <a:xfrm xmlns:a="http://schemas.openxmlformats.org/drawingml/2006/main">
            <a:off x="3857625" y="29813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An automatic summary can mishear a name, reverse who agreed to act or omit an important qualification. The responsible agent checks accuracy before saving the final record.</a:t>
            </a:r>
          </a:p>
        </p:txBody>
      </p:sp>
      <p:sp>
        <p:nvSpPr>
          <p:cNvPr id="16" name="">
            <a:extLst xmlns:a="http://schemas.openxmlformats.org/drawingml/2006/main">
              <a:ext uri="{FF2B5EF4-FFF2-40B4-BE49-F238E27FC236}">
                <a16:creationId xmlns:a16="http://schemas.microsoft.com/office/drawing/2014/main" id="{66F806D9-F337-41FD-96BE-A88F87064FC9}"/>
              </a:ext>
            </a:extLst>
          </p:cNvPr>
          <p:cNvSpPr>
            <a:spLocks xmlns:a="http://schemas.openxmlformats.org/drawingml/2006/main" noGrp="1"/>
          </p:cNvSpPr>
          <p:nvPr/>
        </p:nvSpPr>
        <p:spPr>
          <a:xfrm xmlns:a="http://schemas.openxmlformats.org/drawingml/2006/main">
            <a:off x="1143000" y="381000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CE43304-58EC-4C96-A5C1-9C48ADDD40E6}"/>
              </a:ext>
            </a:extLst>
          </p:cNvPr>
          <p:cNvSpPr>
            <a:spLocks xmlns:a="http://schemas.openxmlformats.org/drawingml/2006/main" noGrp="1"/>
          </p:cNvSpPr>
          <p:nvPr/>
        </p:nvSpPr>
        <p:spPr>
          <a:xfrm xmlns:a="http://schemas.openxmlformats.org/drawingml/2006/main">
            <a:off x="609600" y="39909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9A385718-FDA1-4E21-98EE-2165DF9F5067}"/>
              </a:ext>
            </a:extLst>
          </p:cNvPr>
          <p:cNvSpPr>
            <a:spLocks xmlns:a="http://schemas.openxmlformats.org/drawingml/2006/main" noGrp="1"/>
          </p:cNvSpPr>
          <p:nvPr/>
        </p:nvSpPr>
        <p:spPr>
          <a:xfrm xmlns:a="http://schemas.openxmlformats.org/drawingml/2006/main">
            <a:off x="1143000" y="39909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776"/>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Sentiment is an imperfect signal</a:t>
            </a:r>
          </a:p>
        </p:txBody>
      </p:sp>
      <p:sp>
        <p:nvSpPr>
          <p:cNvPr id="19" name="">
            <a:extLst xmlns:a="http://schemas.openxmlformats.org/drawingml/2006/main">
              <a:ext uri="{FF2B5EF4-FFF2-40B4-BE49-F238E27FC236}">
                <a16:creationId xmlns:a16="http://schemas.microsoft.com/office/drawing/2014/main" id="{F0B8310C-86CE-4DB5-B56F-C36B6C7FBE94}"/>
              </a:ext>
            </a:extLst>
          </p:cNvPr>
          <p:cNvSpPr>
            <a:spLocks xmlns:a="http://schemas.openxmlformats.org/drawingml/2006/main" noGrp="1"/>
          </p:cNvSpPr>
          <p:nvPr/>
        </p:nvSpPr>
        <p:spPr>
          <a:xfrm xmlns:a="http://schemas.openxmlformats.org/drawingml/2006/main">
            <a:off x="3857625" y="39909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 system-generated cue is not a diagnosis and cannot explain why a person feels a certain way. Use it as one prompt for attentive, respectful service.</a:t>
            </a:r>
          </a:p>
        </p:txBody>
      </p:sp>
      <p:sp>
        <p:nvSpPr>
          <p:cNvPr id="20" name="">
            <a:extLst xmlns:a="http://schemas.openxmlformats.org/drawingml/2006/main">
              <a:ext uri="{FF2B5EF4-FFF2-40B4-BE49-F238E27FC236}">
                <a16:creationId xmlns:a16="http://schemas.microsoft.com/office/drawing/2014/main" id="{931A1E76-9C57-4A54-83D0-B6776D3F7A52}"/>
              </a:ext>
            </a:extLst>
          </p:cNvPr>
          <p:cNvSpPr>
            <a:spLocks xmlns:a="http://schemas.openxmlformats.org/drawingml/2006/main" noGrp="1"/>
          </p:cNvSpPr>
          <p:nvPr/>
        </p:nvSpPr>
        <p:spPr>
          <a:xfrm xmlns:a="http://schemas.openxmlformats.org/drawingml/2006/main">
            <a:off x="1143000" y="48196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0419A5C-2DEE-4605-BD60-543A21D3DB32}"/>
              </a:ext>
            </a:extLst>
          </p:cNvPr>
          <p:cNvSpPr>
            <a:spLocks xmlns:a="http://schemas.openxmlformats.org/drawingml/2006/main" noGrp="1"/>
          </p:cNvSpPr>
          <p:nvPr/>
        </p:nvSpPr>
        <p:spPr>
          <a:xfrm xmlns:a="http://schemas.openxmlformats.org/drawingml/2006/main">
            <a:off x="609600" y="5000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D826FD7F-1FF5-4C53-90CD-0295F53230F9}"/>
              </a:ext>
            </a:extLst>
          </p:cNvPr>
          <p:cNvSpPr>
            <a:spLocks xmlns:a="http://schemas.openxmlformats.org/drawingml/2006/main" noGrp="1"/>
          </p:cNvSpPr>
          <p:nvPr/>
        </p:nvSpPr>
        <p:spPr>
          <a:xfrm xmlns:a="http://schemas.openxmlformats.org/drawingml/2006/main">
            <a:off x="1143000" y="50006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055"/>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Routing must preserve a fallback</a:t>
            </a:r>
          </a:p>
        </p:txBody>
      </p:sp>
      <p:sp>
        <p:nvSpPr>
          <p:cNvPr id="23" name="">
            <a:extLst xmlns:a="http://schemas.openxmlformats.org/drawingml/2006/main">
              <a:ext uri="{FF2B5EF4-FFF2-40B4-BE49-F238E27FC236}">
                <a16:creationId xmlns:a16="http://schemas.microsoft.com/office/drawing/2014/main" id="{3089D69E-D5D9-47A8-A42E-9257A0F8468E}"/>
              </a:ext>
            </a:extLst>
          </p:cNvPr>
          <p:cNvSpPr>
            <a:spLocks xmlns:a="http://schemas.openxmlformats.org/drawingml/2006/main" noGrp="1"/>
          </p:cNvSpPr>
          <p:nvPr/>
        </p:nvSpPr>
        <p:spPr>
          <a:xfrm xmlns:a="http://schemas.openxmlformats.org/drawingml/2006/main">
            <a:off x="3857625" y="50006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Predictive routing or a knowledge-base suggestion can support workflow only as configured. Agents need a clear path when it routes poorly or the knowledge content does not answer the question.</a:t>
            </a:r>
          </a:p>
        </p:txBody>
      </p:sp>
    </p:spTree>
    <p:extLst>
      <p:ext uri="{BB962C8B-B14F-4D97-AF65-F5344CB8AC3E}">
        <p14:creationId xmlns:p14="http://schemas.microsoft.com/office/powerpoint/2010/main" val="1605411591"/>
      </p:ext>
    </p:extLst>
  </p:cSld>
</p:sld>
</file>

<file path=ppt/slides/slide38.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12C2C37B-BC4C-4577-8D1D-08B2A1ABA519}"/>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6 / MODULE 7</a:t>
            </a:r>
          </a:p>
        </p:txBody>
      </p:sp>
      <p:sp>
        <p:nvSpPr>
          <p:cNvPr id="2" name="">
            <a:extLst xmlns:a="http://schemas.openxmlformats.org/drawingml/2006/main">
              <a:ext uri="{FF2B5EF4-FFF2-40B4-BE49-F238E27FC236}">
                <a16:creationId xmlns:a16="http://schemas.microsoft.com/office/drawing/2014/main" id="{81D42C94-C2AD-4DBF-87D9-E50BCC495C2C}"/>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S8  |  Instructor walkthrough</a:t>
            </a:r>
          </a:p>
        </p:txBody>
      </p:sp>
      <p:sp>
        <p:nvSpPr>
          <p:cNvPr id="3" name="">
            <a:extLst xmlns:a="http://schemas.openxmlformats.org/drawingml/2006/main">
              <a:ext uri="{FF2B5EF4-FFF2-40B4-BE49-F238E27FC236}">
                <a16:creationId xmlns:a16="http://schemas.microsoft.com/office/drawing/2014/main" id="{12479498-A0E7-41A9-93D1-2E7C2E30F77D}"/>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CDC0BD0-147A-4DF8-A7E1-01831BF9BFC0}"/>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B3E92DD-6C81-45AD-ADAC-BBF2A1C21FE7}"/>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4B3CF4ED-5D4C-45A9-AEDB-113968CECEF7}"/>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38</a:t>
            </a:r>
          </a:p>
        </p:txBody>
      </p:sp>
      <p:sp>
        <p:nvSpPr>
          <p:cNvPr id="7" name="">
            <a:extLst xmlns:a="http://schemas.openxmlformats.org/drawingml/2006/main">
              <a:ext uri="{FF2B5EF4-FFF2-40B4-BE49-F238E27FC236}">
                <a16:creationId xmlns:a16="http://schemas.microsoft.com/office/drawing/2014/main" id="{36145D64-7997-4A76-9E4C-61E539C8ED58}"/>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7 and proposal p. 8. Proposal feature list is not confirmation of current DWIHN configuration.</a:t>
            </a:r>
          </a:p>
        </p:txBody>
      </p:sp>
      <p:sp>
        <p:nvSpPr>
          <p:cNvPr id="8" name="">
            <a:extLst xmlns:a="http://schemas.openxmlformats.org/drawingml/2006/main">
              <a:ext uri="{FF2B5EF4-FFF2-40B4-BE49-F238E27FC236}">
                <a16:creationId xmlns:a16="http://schemas.microsoft.com/office/drawing/2014/main" id="{0452A0D0-B9B8-435B-BB52-D7BDB1EE1491}"/>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Genesys AI in the Call Center</a:t>
            </a:r>
          </a:p>
        </p:txBody>
      </p:sp>
      <p:sp>
        <p:nvSpPr>
          <p:cNvPr id="9" name="">
            <a:extLst xmlns:a="http://schemas.openxmlformats.org/drawingml/2006/main">
              <a:ext uri="{FF2B5EF4-FFF2-40B4-BE49-F238E27FC236}">
                <a16:creationId xmlns:a16="http://schemas.microsoft.com/office/drawing/2014/main" id="{F791AC7B-1666-4282-A47A-2923CCC8379F}"/>
              </a:ext>
            </a:extLst>
          </p:cNvPr>
          <p:cNvSpPr>
            <a:spLocks xmlns:a="http://schemas.openxmlformats.org/drawingml/2006/main" noGrp="1"/>
          </p:cNvSpPr>
          <p:nvPr/>
        </p:nvSpPr>
        <p:spPr>
          <a:xfrm xmlns:a="http://schemas.openxmlformats.org/drawingml/2006/main">
            <a:off x="60960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0" name="">
            <a:extLst xmlns:a="http://schemas.openxmlformats.org/drawingml/2006/main">
              <a:ext uri="{FF2B5EF4-FFF2-40B4-BE49-F238E27FC236}">
                <a16:creationId xmlns:a16="http://schemas.microsoft.com/office/drawing/2014/main" id="{593BD6B4-0426-4FFF-B6B6-396359D80354}"/>
              </a:ext>
            </a:extLst>
          </p:cNvPr>
          <p:cNvSpPr>
            <a:spLocks xmlns:a="http://schemas.openxmlformats.org/drawingml/2006/main" noGrp="1"/>
          </p:cNvSpPr>
          <p:nvPr/>
        </p:nvSpPr>
        <p:spPr>
          <a:xfrm xmlns:a="http://schemas.openxmlformats.org/drawingml/2006/main">
            <a:off x="74295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99E6A122-1976-484E-9529-ECF5905728C1}"/>
              </a:ext>
            </a:extLst>
          </p:cNvPr>
          <p:cNvSpPr>
            <a:spLocks xmlns:a="http://schemas.openxmlformats.org/drawingml/2006/main" noGrp="1"/>
          </p:cNvSpPr>
          <p:nvPr/>
        </p:nvSpPr>
        <p:spPr>
          <a:xfrm xmlns:a="http://schemas.openxmlformats.org/drawingml/2006/main">
            <a:off x="74295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Confirm the feature</a:t>
            </a:r>
          </a:p>
        </p:txBody>
      </p:sp>
      <p:sp>
        <p:nvSpPr>
          <p:cNvPr id="12" name="">
            <a:extLst xmlns:a="http://schemas.openxmlformats.org/drawingml/2006/main">
              <a:ext uri="{FF2B5EF4-FFF2-40B4-BE49-F238E27FC236}">
                <a16:creationId xmlns:a16="http://schemas.microsoft.com/office/drawing/2014/main" id="{B50D2750-DD0E-45E7-9DFA-59103F539AF0}"/>
              </a:ext>
            </a:extLst>
          </p:cNvPr>
          <p:cNvSpPr>
            <a:spLocks xmlns:a="http://schemas.openxmlformats.org/drawingml/2006/main" noGrp="1"/>
          </p:cNvSpPr>
          <p:nvPr/>
        </p:nvSpPr>
        <p:spPr>
          <a:xfrm xmlns:a="http://schemas.openxmlformats.org/drawingml/2006/main">
            <a:off x="74295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00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Show only the AI feature DWIHN has enabled, licensed and approved.</a:t>
            </a:r>
          </a:p>
        </p:txBody>
      </p:sp>
      <p:sp>
        <p:nvSpPr>
          <p:cNvPr id="13" name="">
            <a:extLst xmlns:a="http://schemas.openxmlformats.org/drawingml/2006/main">
              <a:ext uri="{FF2B5EF4-FFF2-40B4-BE49-F238E27FC236}">
                <a16:creationId xmlns:a16="http://schemas.microsoft.com/office/drawing/2014/main" id="{3F7DAE93-A7C6-4C43-B145-D3F4218AAD8A}"/>
              </a:ext>
            </a:extLst>
          </p:cNvPr>
          <p:cNvSpPr>
            <a:spLocks xmlns:a="http://schemas.openxmlformats.org/drawingml/2006/main" noGrp="1"/>
          </p:cNvSpPr>
          <p:nvPr/>
        </p:nvSpPr>
        <p:spPr>
          <a:xfrm xmlns:a="http://schemas.openxmlformats.org/drawingml/2006/main">
            <a:off x="303847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58947D4-DD3C-46A0-A131-62FD46F2611D}"/>
              </a:ext>
            </a:extLst>
          </p:cNvPr>
          <p:cNvSpPr>
            <a:spLocks xmlns:a="http://schemas.openxmlformats.org/drawingml/2006/main" noGrp="1"/>
          </p:cNvSpPr>
          <p:nvPr/>
        </p:nvSpPr>
        <p:spPr>
          <a:xfrm xmlns:a="http://schemas.openxmlformats.org/drawingml/2006/main">
            <a:off x="338137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5" name="">
            <a:extLst xmlns:a="http://schemas.openxmlformats.org/drawingml/2006/main">
              <a:ext uri="{FF2B5EF4-FFF2-40B4-BE49-F238E27FC236}">
                <a16:creationId xmlns:a16="http://schemas.microsoft.com/office/drawing/2014/main" id="{496E4C30-6520-47BC-A686-BBA0D317760E}"/>
              </a:ext>
            </a:extLst>
          </p:cNvPr>
          <p:cNvSpPr>
            <a:spLocks xmlns:a="http://schemas.openxmlformats.org/drawingml/2006/main" noGrp="1"/>
          </p:cNvSpPr>
          <p:nvPr/>
        </p:nvSpPr>
        <p:spPr>
          <a:xfrm xmlns:a="http://schemas.openxmlformats.org/drawingml/2006/main">
            <a:off x="351472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2808055C-57EB-4460-922D-C29C6C829992}"/>
              </a:ext>
            </a:extLst>
          </p:cNvPr>
          <p:cNvSpPr>
            <a:spLocks xmlns:a="http://schemas.openxmlformats.org/drawingml/2006/main" noGrp="1"/>
          </p:cNvSpPr>
          <p:nvPr/>
        </p:nvSpPr>
        <p:spPr>
          <a:xfrm xmlns:a="http://schemas.openxmlformats.org/drawingml/2006/main">
            <a:off x="351472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Compare source and output</a:t>
            </a:r>
          </a:p>
        </p:txBody>
      </p:sp>
      <p:sp>
        <p:nvSpPr>
          <p:cNvPr id="17" name="">
            <a:extLst xmlns:a="http://schemas.openxmlformats.org/drawingml/2006/main">
              <a:ext uri="{FF2B5EF4-FFF2-40B4-BE49-F238E27FC236}">
                <a16:creationId xmlns:a16="http://schemas.microsoft.com/office/drawing/2014/main" id="{9684D532-D1C6-4F75-9F9C-89BB8053888C}"/>
              </a:ext>
            </a:extLst>
          </p:cNvPr>
          <p:cNvSpPr>
            <a:spLocks xmlns:a="http://schemas.openxmlformats.org/drawingml/2006/main" noGrp="1"/>
          </p:cNvSpPr>
          <p:nvPr/>
        </p:nvSpPr>
        <p:spPr>
          <a:xfrm xmlns:a="http://schemas.openxmlformats.org/drawingml/2006/main">
            <a:off x="351472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Use a fictional interaction and identify names, commitments, concerns and missing context.</a:t>
            </a:r>
          </a:p>
        </p:txBody>
      </p:sp>
      <p:sp>
        <p:nvSpPr>
          <p:cNvPr id="18" name="">
            <a:extLst xmlns:a="http://schemas.openxmlformats.org/drawingml/2006/main">
              <a:ext uri="{FF2B5EF4-FFF2-40B4-BE49-F238E27FC236}">
                <a16:creationId xmlns:a16="http://schemas.microsoft.com/office/drawing/2014/main" id="{E6E24B0C-0DFA-400A-8FB2-BD07E330B181}"/>
              </a:ext>
            </a:extLst>
          </p:cNvPr>
          <p:cNvSpPr>
            <a:spLocks xmlns:a="http://schemas.openxmlformats.org/drawingml/2006/main" noGrp="1"/>
          </p:cNvSpPr>
          <p:nvPr/>
        </p:nvSpPr>
        <p:spPr>
          <a:xfrm xmlns:a="http://schemas.openxmlformats.org/drawingml/2006/main">
            <a:off x="5810250"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E8D7066-8FF8-4A2B-B847-CBA2378EFBB0}"/>
              </a:ext>
            </a:extLst>
          </p:cNvPr>
          <p:cNvSpPr>
            <a:spLocks xmlns:a="http://schemas.openxmlformats.org/drawingml/2006/main" noGrp="1"/>
          </p:cNvSpPr>
          <p:nvPr/>
        </p:nvSpPr>
        <p:spPr>
          <a:xfrm xmlns:a="http://schemas.openxmlformats.org/drawingml/2006/main">
            <a:off x="615315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0" name="">
            <a:extLst xmlns:a="http://schemas.openxmlformats.org/drawingml/2006/main">
              <a:ext uri="{FF2B5EF4-FFF2-40B4-BE49-F238E27FC236}">
                <a16:creationId xmlns:a16="http://schemas.microsoft.com/office/drawing/2014/main" id="{7B8F7284-D1F3-4B0C-B692-9BB94D02852D}"/>
              </a:ext>
            </a:extLst>
          </p:cNvPr>
          <p:cNvSpPr>
            <a:spLocks xmlns:a="http://schemas.openxmlformats.org/drawingml/2006/main" noGrp="1"/>
          </p:cNvSpPr>
          <p:nvPr/>
        </p:nvSpPr>
        <p:spPr>
          <a:xfrm xmlns:a="http://schemas.openxmlformats.org/drawingml/2006/main">
            <a:off x="628650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21" name="">
            <a:extLst xmlns:a="http://schemas.openxmlformats.org/drawingml/2006/main">
              <a:ext uri="{FF2B5EF4-FFF2-40B4-BE49-F238E27FC236}">
                <a16:creationId xmlns:a16="http://schemas.microsoft.com/office/drawing/2014/main" id="{AC51A8E7-38B6-4EC9-BD85-1792E394E72E}"/>
              </a:ext>
            </a:extLst>
          </p:cNvPr>
          <p:cNvSpPr>
            <a:spLocks xmlns:a="http://schemas.openxmlformats.org/drawingml/2006/main" noGrp="1"/>
          </p:cNvSpPr>
          <p:nvPr/>
        </p:nvSpPr>
        <p:spPr>
          <a:xfrm xmlns:a="http://schemas.openxmlformats.org/drawingml/2006/main">
            <a:off x="628650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Correct the draft</a:t>
            </a:r>
          </a:p>
        </p:txBody>
      </p:sp>
      <p:sp>
        <p:nvSpPr>
          <p:cNvPr id="22" name="">
            <a:extLst xmlns:a="http://schemas.openxmlformats.org/drawingml/2006/main">
              <a:ext uri="{FF2B5EF4-FFF2-40B4-BE49-F238E27FC236}">
                <a16:creationId xmlns:a16="http://schemas.microsoft.com/office/drawing/2014/main" id="{99A929B1-BEE9-4356-813C-88B09A61C450}"/>
              </a:ext>
            </a:extLst>
          </p:cNvPr>
          <p:cNvSpPr>
            <a:spLocks xmlns:a="http://schemas.openxmlformats.org/drawingml/2006/main" noGrp="1"/>
          </p:cNvSpPr>
          <p:nvPr/>
        </p:nvSpPr>
        <p:spPr>
          <a:xfrm xmlns:a="http://schemas.openxmlformats.org/drawingml/2006/main">
            <a:off x="628650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0191"/>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Edit unsupported or misheard details and distinguish the member’s statement from the agent’s interpretation.</a:t>
            </a:r>
          </a:p>
        </p:txBody>
      </p:sp>
      <p:sp>
        <p:nvSpPr>
          <p:cNvPr id="23" name="">
            <a:extLst xmlns:a="http://schemas.openxmlformats.org/drawingml/2006/main">
              <a:ext uri="{FF2B5EF4-FFF2-40B4-BE49-F238E27FC236}">
                <a16:creationId xmlns:a16="http://schemas.microsoft.com/office/drawing/2014/main" id="{BE9DABAD-DF02-4973-8AA9-22F5DC51522F}"/>
              </a:ext>
            </a:extLst>
          </p:cNvPr>
          <p:cNvSpPr>
            <a:spLocks xmlns:a="http://schemas.openxmlformats.org/drawingml/2006/main" noGrp="1"/>
          </p:cNvSpPr>
          <p:nvPr/>
        </p:nvSpPr>
        <p:spPr>
          <a:xfrm xmlns:a="http://schemas.openxmlformats.org/drawingml/2006/main">
            <a:off x="858202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969ABF4-7C53-4ED3-BE11-EAB1C3E7C12E}"/>
              </a:ext>
            </a:extLst>
          </p:cNvPr>
          <p:cNvSpPr>
            <a:spLocks xmlns:a="http://schemas.openxmlformats.org/drawingml/2006/main" noGrp="1"/>
          </p:cNvSpPr>
          <p:nvPr/>
        </p:nvSpPr>
        <p:spPr>
          <a:xfrm xmlns:a="http://schemas.openxmlformats.org/drawingml/2006/main">
            <a:off x="892492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5" name="">
            <a:extLst xmlns:a="http://schemas.openxmlformats.org/drawingml/2006/main">
              <a:ext uri="{FF2B5EF4-FFF2-40B4-BE49-F238E27FC236}">
                <a16:creationId xmlns:a16="http://schemas.microsoft.com/office/drawing/2014/main" id="{0D16B6BF-1683-43B5-A1C6-A851DE04CF97}"/>
              </a:ext>
            </a:extLst>
          </p:cNvPr>
          <p:cNvSpPr>
            <a:spLocks xmlns:a="http://schemas.openxmlformats.org/drawingml/2006/main" noGrp="1"/>
          </p:cNvSpPr>
          <p:nvPr/>
        </p:nvSpPr>
        <p:spPr>
          <a:xfrm xmlns:a="http://schemas.openxmlformats.org/drawingml/2006/main">
            <a:off x="905827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04</a:t>
            </a:r>
          </a:p>
        </p:txBody>
      </p:sp>
      <p:sp>
        <p:nvSpPr>
          <p:cNvPr id="26" name="">
            <a:extLst xmlns:a="http://schemas.openxmlformats.org/drawingml/2006/main">
              <a:ext uri="{FF2B5EF4-FFF2-40B4-BE49-F238E27FC236}">
                <a16:creationId xmlns:a16="http://schemas.microsoft.com/office/drawing/2014/main" id="{981C2246-5349-472D-ACF1-28143DE94102}"/>
              </a:ext>
            </a:extLst>
          </p:cNvPr>
          <p:cNvSpPr>
            <a:spLocks xmlns:a="http://schemas.openxmlformats.org/drawingml/2006/main" noGrp="1"/>
          </p:cNvSpPr>
          <p:nvPr/>
        </p:nvSpPr>
        <p:spPr>
          <a:xfrm xmlns:a="http://schemas.openxmlformats.org/drawingml/2006/main">
            <a:off x="905827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Close the loop</a:t>
            </a:r>
          </a:p>
        </p:txBody>
      </p:sp>
      <p:sp>
        <p:nvSpPr>
          <p:cNvPr id="27" name="">
            <a:extLst xmlns:a="http://schemas.openxmlformats.org/drawingml/2006/main">
              <a:ext uri="{FF2B5EF4-FFF2-40B4-BE49-F238E27FC236}">
                <a16:creationId xmlns:a16="http://schemas.microsoft.com/office/drawing/2014/main" id="{F4FDEA98-A540-4C92-9183-F680D1080FBB}"/>
              </a:ext>
            </a:extLst>
          </p:cNvPr>
          <p:cNvSpPr>
            <a:spLocks xmlns:a="http://schemas.openxmlformats.org/drawingml/2006/main" noGrp="1"/>
          </p:cNvSpPr>
          <p:nvPr/>
        </p:nvSpPr>
        <p:spPr>
          <a:xfrm xmlns:a="http://schemas.openxmlformats.org/drawingml/2006/main">
            <a:off x="905827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Follow the approved save, correction or escalation route and note what a human decided.</a:t>
            </a:r>
          </a:p>
        </p:txBody>
      </p:sp>
      <p:sp>
        <p:nvSpPr>
          <p:cNvPr id="28" name="">
            <a:extLst xmlns:a="http://schemas.openxmlformats.org/drawingml/2006/main">
              <a:ext uri="{FF2B5EF4-FFF2-40B4-BE49-F238E27FC236}">
                <a16:creationId xmlns:a16="http://schemas.microsoft.com/office/drawing/2014/main" id="{B93B7D0C-2A45-417D-91F8-012778CC70F1}"/>
              </a:ext>
            </a:extLst>
          </p:cNvPr>
          <p:cNvSpPr>
            <a:spLocks xmlns:a="http://schemas.openxmlformats.org/drawingml/2006/main" noGrp="1"/>
          </p:cNvSpPr>
          <p:nvPr/>
        </p:nvSpPr>
        <p:spPr>
          <a:xfrm xmlns:a="http://schemas.openxmlformats.org/drawingml/2006/main">
            <a:off x="609600" y="364807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WORKED EXAMPLE</a:t>
            </a:r>
          </a:p>
        </p:txBody>
      </p:sp>
      <p:sp>
        <p:nvSpPr>
          <p:cNvPr id="29" name="">
            <a:extLst xmlns:a="http://schemas.openxmlformats.org/drawingml/2006/main">
              <a:ext uri="{FF2B5EF4-FFF2-40B4-BE49-F238E27FC236}">
                <a16:creationId xmlns:a16="http://schemas.microsoft.com/office/drawing/2014/main" id="{7D38BCDF-45E4-49A4-B082-5716D640AD24}"/>
              </a:ext>
            </a:extLst>
          </p:cNvPr>
          <p:cNvSpPr>
            <a:spLocks xmlns:a="http://schemas.openxmlformats.org/drawingml/2006/main" noGrp="1"/>
          </p:cNvSpPr>
          <p:nvPr/>
        </p:nvSpPr>
        <p:spPr>
          <a:xfrm xmlns:a="http://schemas.openxmlformats.org/drawingml/2006/main">
            <a:off x="609600" y="3943350"/>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00" b="0">
                <a:solidFill>
                  <a:srgbClr val="142F42"/>
                </a:solidFill>
                <a:latin typeface="Arial"/>
                <a:ea typeface="Arial"/>
                <a:cs typeface="Arial"/>
              </a:defRPr>
            </a:pPr>
            <a:r>
              <a:rPr sz="1500" b="0">
                <a:solidFill>
                  <a:srgbClr val="142F42"/>
                </a:solidFill>
                <a:latin typeface="Arial"/>
                <a:ea typeface="Arial"/>
                <a:cs typeface="Arial"/>
              </a:rPr>
              <a:t>Hypothetical example: a mock call transcript says a member asked whether a referral had been received. The generated summary says the referral was approved. The agent corrects the summary, retains the original question and follows the approved status-check workflow.</a:t>
            </a:r>
          </a:p>
        </p:txBody>
      </p:sp>
    </p:spTree>
    <p:extLst>
      <p:ext uri="{BB962C8B-B14F-4D97-AF65-F5344CB8AC3E}">
        <p14:creationId xmlns:p14="http://schemas.microsoft.com/office/powerpoint/2010/main" val="1552349421"/>
      </p:ext>
    </p:extLst>
  </p:cSld>
</p:sld>
</file>

<file path=ppt/slides/slide39.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7568B50-53CC-4E6E-ACFB-E3D4C4521BB4}"/>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6 / MODULE 7</a:t>
            </a:r>
          </a:p>
        </p:txBody>
      </p:sp>
      <p:sp>
        <p:nvSpPr>
          <p:cNvPr id="2" name="">
            <a:extLst xmlns:a="http://schemas.openxmlformats.org/drawingml/2006/main">
              <a:ext uri="{FF2B5EF4-FFF2-40B4-BE49-F238E27FC236}">
                <a16:creationId xmlns:a16="http://schemas.microsoft.com/office/drawing/2014/main" id="{A638C750-3C05-442C-B8E4-5E53970AC44F}"/>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S8  |  Practical scenario &amp; exercise</a:t>
            </a:r>
          </a:p>
        </p:txBody>
      </p:sp>
      <p:sp>
        <p:nvSpPr>
          <p:cNvPr id="3" name="">
            <a:extLst xmlns:a="http://schemas.openxmlformats.org/drawingml/2006/main">
              <a:ext uri="{FF2B5EF4-FFF2-40B4-BE49-F238E27FC236}">
                <a16:creationId xmlns:a16="http://schemas.microsoft.com/office/drawing/2014/main" id="{9702CEE3-1E87-4768-8EF8-3ED94C527FB0}"/>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3376525-74C5-499E-A7B1-666CCCE43046}"/>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9EFB700-E2FF-4EC7-91CC-F6CA92EBC83B}"/>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17268914-8D93-4D30-87AC-708BF9C9BB1B}"/>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39</a:t>
            </a:r>
          </a:p>
        </p:txBody>
      </p:sp>
      <p:sp>
        <p:nvSpPr>
          <p:cNvPr id="7" name="">
            <a:extLst xmlns:a="http://schemas.openxmlformats.org/drawingml/2006/main">
              <a:ext uri="{FF2B5EF4-FFF2-40B4-BE49-F238E27FC236}">
                <a16:creationId xmlns:a16="http://schemas.microsoft.com/office/drawing/2014/main" id="{A5AFBCAF-A28A-4F5A-AAFA-B82D3D16B0E9}"/>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7 and proposal p. 8. Proposal feature list is not confirmation of current DWIHN configuration.</a:t>
            </a:r>
          </a:p>
        </p:txBody>
      </p:sp>
      <p:sp>
        <p:nvSpPr>
          <p:cNvPr id="8" name="">
            <a:extLst xmlns:a="http://schemas.openxmlformats.org/drawingml/2006/main">
              <a:ext uri="{FF2B5EF4-FFF2-40B4-BE49-F238E27FC236}">
                <a16:creationId xmlns:a16="http://schemas.microsoft.com/office/drawing/2014/main" id="{C38A83CD-3CCE-4E85-BED0-AD4CA3145FD9}"/>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Genesys AI in the Call Center</a:t>
            </a:r>
          </a:p>
        </p:txBody>
      </p:sp>
      <p:sp>
        <p:nvSpPr>
          <p:cNvPr id="9" name="">
            <a:extLst xmlns:a="http://schemas.openxmlformats.org/drawingml/2006/main">
              <a:ext uri="{FF2B5EF4-FFF2-40B4-BE49-F238E27FC236}">
                <a16:creationId xmlns:a16="http://schemas.microsoft.com/office/drawing/2014/main" id="{82B1893C-CC10-400C-847D-8818485BC62F}"/>
              </a:ext>
            </a:extLst>
          </p:cNvPr>
          <p:cNvSpPr>
            <a:spLocks xmlns:a="http://schemas.openxmlformats.org/drawingml/2006/main" noGrp="1"/>
          </p:cNvSpPr>
          <p:nvPr/>
        </p:nvSpPr>
        <p:spPr>
          <a:xfrm xmlns:a="http://schemas.openxmlformats.org/drawingml/2006/main">
            <a:off x="609600" y="1981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SCENARIO</a:t>
            </a:r>
          </a:p>
        </p:txBody>
      </p:sp>
      <p:sp>
        <p:nvSpPr>
          <p:cNvPr id="10" name="">
            <a:extLst xmlns:a="http://schemas.openxmlformats.org/drawingml/2006/main">
              <a:ext uri="{FF2B5EF4-FFF2-40B4-BE49-F238E27FC236}">
                <a16:creationId xmlns:a16="http://schemas.microsoft.com/office/drawing/2014/main" id="{70C51F07-2407-4665-B7EE-329491469D41}"/>
              </a:ext>
            </a:extLst>
          </p:cNvPr>
          <p:cNvSpPr>
            <a:spLocks xmlns:a="http://schemas.openxmlformats.org/drawingml/2006/main" noGrp="1"/>
          </p:cNvSpPr>
          <p:nvPr/>
        </p:nvSpPr>
        <p:spPr>
          <a:xfrm xmlns:a="http://schemas.openxmlformats.org/drawingml/2006/main">
            <a:off x="609600" y="2266950"/>
            <a:ext cx="109728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D4DFE3"/>
            </a:solidFill>
          </a:ln>
        </p:spPr>
      </p:sp>
      <p:sp>
        <p:nvSpPr>
          <p:cNvPr id="11" name="">
            <a:extLst xmlns:a="http://schemas.openxmlformats.org/drawingml/2006/main">
              <a:ext uri="{FF2B5EF4-FFF2-40B4-BE49-F238E27FC236}">
                <a16:creationId xmlns:a16="http://schemas.microsoft.com/office/drawing/2014/main" id="{4A8E29D6-95D7-4606-86CA-04BD1828F5A1}"/>
              </a:ext>
            </a:extLst>
          </p:cNvPr>
          <p:cNvSpPr>
            <a:spLocks xmlns:a="http://schemas.openxmlformats.org/drawingml/2006/main" noGrp="1"/>
          </p:cNvSpPr>
          <p:nvPr/>
        </p:nvSpPr>
        <p:spPr>
          <a:xfrm xmlns:a="http://schemas.openxmlformats.org/drawingml/2006/main">
            <a:off x="819150" y="2447925"/>
            <a:ext cx="10525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142F42"/>
                </a:solidFill>
                <a:latin typeface="Arial"/>
                <a:ea typeface="Arial"/>
                <a:cs typeface="Arial"/>
              </a:defRPr>
            </a:pPr>
            <a:r>
              <a:rPr sz="1425" b="0">
                <a:solidFill>
                  <a:srgbClr val="142F42"/>
                </a:solidFill>
                <a:latin typeface="Arial"/>
                <a:ea typeface="Arial"/>
                <a:cs typeface="Arial"/>
              </a:rPr>
              <a:t>During a simulated call, an AI cue suggests a transfer and generates a brief summary. The caller’s concern has two parts, but the summary captures only the first and overstates the outcome.</a:t>
            </a:r>
          </a:p>
        </p:txBody>
      </p:sp>
      <p:sp>
        <p:nvSpPr>
          <p:cNvPr id="12" name="">
            <a:extLst xmlns:a="http://schemas.openxmlformats.org/drawingml/2006/main">
              <a:ext uri="{FF2B5EF4-FFF2-40B4-BE49-F238E27FC236}">
                <a16:creationId xmlns:a16="http://schemas.microsoft.com/office/drawing/2014/main" id="{5D338DBD-CAAF-4D03-9E74-B67799171805}"/>
              </a:ext>
            </a:extLst>
          </p:cNvPr>
          <p:cNvSpPr>
            <a:spLocks xmlns:a="http://schemas.openxmlformats.org/drawingml/2006/main" noGrp="1"/>
          </p:cNvSpPr>
          <p:nvPr/>
        </p:nvSpPr>
        <p:spPr>
          <a:xfrm xmlns:a="http://schemas.openxmlformats.org/drawingml/2006/main">
            <a:off x="609600" y="34861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 THE CASE</a:t>
            </a:r>
          </a:p>
        </p:txBody>
      </p:sp>
      <p:sp>
        <p:nvSpPr>
          <p:cNvPr id="13" name="">
            <a:extLst xmlns:a="http://schemas.openxmlformats.org/drawingml/2006/main">
              <a:ext uri="{FF2B5EF4-FFF2-40B4-BE49-F238E27FC236}">
                <a16:creationId xmlns:a16="http://schemas.microsoft.com/office/drawing/2014/main" id="{536DB2CF-4155-4800-87B5-025088A811BB}"/>
              </a:ext>
            </a:extLst>
          </p:cNvPr>
          <p:cNvSpPr>
            <a:spLocks xmlns:a="http://schemas.openxmlformats.org/drawingml/2006/main" noGrp="1"/>
          </p:cNvSpPr>
          <p:nvPr/>
        </p:nvSpPr>
        <p:spPr>
          <a:xfrm xmlns:a="http://schemas.openxmlformats.org/drawingml/2006/main">
            <a:off x="609600" y="38195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4" name="">
            <a:extLst xmlns:a="http://schemas.openxmlformats.org/drawingml/2006/main">
              <a:ext uri="{FF2B5EF4-FFF2-40B4-BE49-F238E27FC236}">
                <a16:creationId xmlns:a16="http://schemas.microsoft.com/office/drawing/2014/main" id="{86E57791-223A-46C0-8B98-AEE83711A1BB}"/>
              </a:ext>
            </a:extLst>
          </p:cNvPr>
          <p:cNvSpPr>
            <a:spLocks xmlns:a="http://schemas.openxmlformats.org/drawingml/2006/main" noGrp="1"/>
          </p:cNvSpPr>
          <p:nvPr/>
        </p:nvSpPr>
        <p:spPr>
          <a:xfrm xmlns:a="http://schemas.openxmlformats.org/drawingml/2006/main">
            <a:off x="1066800" y="38195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Role-play the caller, agent and observer using fictional details.</a:t>
            </a:r>
          </a:p>
        </p:txBody>
      </p:sp>
      <p:sp>
        <p:nvSpPr>
          <p:cNvPr id="15" name="">
            <a:extLst xmlns:a="http://schemas.openxmlformats.org/drawingml/2006/main">
              <a:ext uri="{FF2B5EF4-FFF2-40B4-BE49-F238E27FC236}">
                <a16:creationId xmlns:a16="http://schemas.microsoft.com/office/drawing/2014/main" id="{5E757287-D946-495D-8107-38CFC088ED73}"/>
              </a:ext>
            </a:extLst>
          </p:cNvPr>
          <p:cNvSpPr>
            <a:spLocks xmlns:a="http://schemas.openxmlformats.org/drawingml/2006/main" noGrp="1"/>
          </p:cNvSpPr>
          <p:nvPr/>
        </p:nvSpPr>
        <p:spPr>
          <a:xfrm xmlns:a="http://schemas.openxmlformats.org/drawingml/2006/main">
            <a:off x="609600" y="43338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7AE541A6-2472-4405-A6EF-39214AFDFC40}"/>
              </a:ext>
            </a:extLst>
          </p:cNvPr>
          <p:cNvSpPr>
            <a:spLocks xmlns:a="http://schemas.openxmlformats.org/drawingml/2006/main" noGrp="1"/>
          </p:cNvSpPr>
          <p:nvPr/>
        </p:nvSpPr>
        <p:spPr>
          <a:xfrm xmlns:a="http://schemas.openxmlformats.org/drawingml/2006/main">
            <a:off x="1066800" y="433387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Identify where the AI suggestion helps and where active listening matters.</a:t>
            </a:r>
          </a:p>
        </p:txBody>
      </p:sp>
      <p:sp>
        <p:nvSpPr>
          <p:cNvPr id="17" name="">
            <a:extLst xmlns:a="http://schemas.openxmlformats.org/drawingml/2006/main">
              <a:ext uri="{FF2B5EF4-FFF2-40B4-BE49-F238E27FC236}">
                <a16:creationId xmlns:a16="http://schemas.microsoft.com/office/drawing/2014/main" id="{FF10EB0C-97A8-42C3-ABE5-1CAC92AD8FBE}"/>
              </a:ext>
            </a:extLst>
          </p:cNvPr>
          <p:cNvSpPr>
            <a:spLocks xmlns:a="http://schemas.openxmlformats.org/drawingml/2006/main" noGrp="1"/>
          </p:cNvSpPr>
          <p:nvPr/>
        </p:nvSpPr>
        <p:spPr>
          <a:xfrm xmlns:a="http://schemas.openxmlformats.org/drawingml/2006/main">
            <a:off x="609600" y="4848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177200AB-4BB1-42C9-9519-C7013B1D8CC0}"/>
              </a:ext>
            </a:extLst>
          </p:cNvPr>
          <p:cNvSpPr>
            <a:spLocks xmlns:a="http://schemas.openxmlformats.org/drawingml/2006/main" noGrp="1"/>
          </p:cNvSpPr>
          <p:nvPr/>
        </p:nvSpPr>
        <p:spPr>
          <a:xfrm xmlns:a="http://schemas.openxmlformats.org/drawingml/2006/main">
            <a:off x="1066800" y="48482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Correct the summary and state the safe follow-up or transfer decision.</a:t>
            </a:r>
          </a:p>
        </p:txBody>
      </p:sp>
      <p:sp>
        <p:nvSpPr>
          <p:cNvPr id="19" name="">
            <a:extLst xmlns:a="http://schemas.openxmlformats.org/drawingml/2006/main">
              <a:ext uri="{FF2B5EF4-FFF2-40B4-BE49-F238E27FC236}">
                <a16:creationId xmlns:a16="http://schemas.microsoft.com/office/drawing/2014/main" id="{B047730D-ED7E-41B2-8418-91B49699CEAB}"/>
              </a:ext>
            </a:extLst>
          </p:cNvPr>
          <p:cNvSpPr>
            <a:spLocks xmlns:a="http://schemas.openxmlformats.org/drawingml/2006/main" noGrp="1"/>
          </p:cNvSpPr>
          <p:nvPr/>
        </p:nvSpPr>
        <p:spPr>
          <a:xfrm xmlns:a="http://schemas.openxmlformats.org/drawingml/2006/main">
            <a:off x="7886700" y="3486150"/>
            <a:ext cx="19050" cy="219075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9233913-8BE0-44F5-A146-5CD154ADD0DD}"/>
              </a:ext>
            </a:extLst>
          </p:cNvPr>
          <p:cNvSpPr>
            <a:spLocks xmlns:a="http://schemas.openxmlformats.org/drawingml/2006/main" noGrp="1"/>
          </p:cNvSpPr>
          <p:nvPr/>
        </p:nvSpPr>
        <p:spPr>
          <a:xfrm xmlns:a="http://schemas.openxmlformats.org/drawingml/2006/main">
            <a:off x="8229600" y="3505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EXPECTED DELIVERABLE</a:t>
            </a:r>
          </a:p>
        </p:txBody>
      </p:sp>
      <p:sp>
        <p:nvSpPr>
          <p:cNvPr id="21" name="">
            <a:extLst xmlns:a="http://schemas.openxmlformats.org/drawingml/2006/main">
              <a:ext uri="{FF2B5EF4-FFF2-40B4-BE49-F238E27FC236}">
                <a16:creationId xmlns:a16="http://schemas.microsoft.com/office/drawing/2014/main" id="{0A2EE454-E5FA-4556-A1A6-41C92544890C}"/>
              </a:ext>
            </a:extLst>
          </p:cNvPr>
          <p:cNvSpPr>
            <a:spLocks xmlns:a="http://schemas.openxmlformats.org/drawingml/2006/main" noGrp="1"/>
          </p:cNvSpPr>
          <p:nvPr/>
        </p:nvSpPr>
        <p:spPr>
          <a:xfrm xmlns:a="http://schemas.openxmlformats.org/drawingml/2006/main">
            <a:off x="8229600" y="3819525"/>
            <a:ext cx="3086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A corrected call summary plus an observer checklist for accuracy, empathy and policy fit.</a:t>
            </a:r>
          </a:p>
        </p:txBody>
      </p:sp>
      <p:sp>
        <p:nvSpPr>
          <p:cNvPr id="22" name="">
            <a:extLst xmlns:a="http://schemas.openxmlformats.org/drawingml/2006/main">
              <a:ext uri="{FF2B5EF4-FFF2-40B4-BE49-F238E27FC236}">
                <a16:creationId xmlns:a16="http://schemas.microsoft.com/office/drawing/2014/main" id="{A3AACE38-1881-4986-B3D7-42D92C933750}"/>
              </a:ext>
            </a:extLst>
          </p:cNvPr>
          <p:cNvSpPr>
            <a:spLocks xmlns:a="http://schemas.openxmlformats.org/drawingml/2006/main" noGrp="1"/>
          </p:cNvSpPr>
          <p:nvPr/>
        </p:nvSpPr>
        <p:spPr>
          <a:xfrm xmlns:a="http://schemas.openxmlformats.org/drawingml/2006/main">
            <a:off x="8229600" y="469582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REVIEW CRITERIA</a:t>
            </a:r>
          </a:p>
        </p:txBody>
      </p:sp>
      <p:sp>
        <p:nvSpPr>
          <p:cNvPr id="23" name="">
            <a:extLst xmlns:a="http://schemas.openxmlformats.org/drawingml/2006/main">
              <a:ext uri="{FF2B5EF4-FFF2-40B4-BE49-F238E27FC236}">
                <a16:creationId xmlns:a16="http://schemas.microsoft.com/office/drawing/2014/main" id="{92153A99-C8EA-4A81-B196-AA5E21470244}"/>
              </a:ext>
            </a:extLst>
          </p:cNvPr>
          <p:cNvSpPr>
            <a:spLocks xmlns:a="http://schemas.openxmlformats.org/drawingml/2006/main" noGrp="1"/>
          </p:cNvSpPr>
          <p:nvPr/>
        </p:nvSpPr>
        <p:spPr>
          <a:xfrm xmlns:a="http://schemas.openxmlformats.org/drawingml/2006/main">
            <a:off x="8229600" y="4991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784"/>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The summary matches the source interaction.</a:t>
            </a:r>
          </a:p>
        </p:txBody>
      </p:sp>
      <p:sp>
        <p:nvSpPr>
          <p:cNvPr id="24" name="">
            <a:extLst xmlns:a="http://schemas.openxmlformats.org/drawingml/2006/main">
              <a:ext uri="{FF2B5EF4-FFF2-40B4-BE49-F238E27FC236}">
                <a16:creationId xmlns:a16="http://schemas.microsoft.com/office/drawing/2014/main" id="{1506F19D-F60D-4EF1-A41F-C95BC8D020C3}"/>
              </a:ext>
            </a:extLst>
          </p:cNvPr>
          <p:cNvSpPr>
            <a:spLocks xmlns:a="http://schemas.openxmlformats.org/drawingml/2006/main" noGrp="1"/>
          </p:cNvSpPr>
          <p:nvPr/>
        </p:nvSpPr>
        <p:spPr>
          <a:xfrm xmlns:a="http://schemas.openxmlformats.org/drawingml/2006/main">
            <a:off x="8229600" y="5372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A signal is not treated as a diagnosis or final decision.</a:t>
            </a:r>
          </a:p>
        </p:txBody>
      </p:sp>
      <p:sp>
        <p:nvSpPr>
          <p:cNvPr id="25" name="">
            <a:extLst xmlns:a="http://schemas.openxmlformats.org/drawingml/2006/main">
              <a:ext uri="{FF2B5EF4-FFF2-40B4-BE49-F238E27FC236}">
                <a16:creationId xmlns:a16="http://schemas.microsoft.com/office/drawing/2014/main" id="{0D602D9A-E5DF-4B1E-8E2C-2508838A3EA3}"/>
              </a:ext>
            </a:extLst>
          </p:cNvPr>
          <p:cNvSpPr>
            <a:spLocks xmlns:a="http://schemas.openxmlformats.org/drawingml/2006/main" noGrp="1"/>
          </p:cNvSpPr>
          <p:nvPr/>
        </p:nvSpPr>
        <p:spPr>
          <a:xfrm xmlns:a="http://schemas.openxmlformats.org/drawingml/2006/main">
            <a:off x="8229600" y="5753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The agent uses the configured correction or escalation route.</a:t>
            </a:r>
          </a:p>
        </p:txBody>
      </p:sp>
    </p:spTree>
    <p:extLst>
      <p:ext uri="{BB962C8B-B14F-4D97-AF65-F5344CB8AC3E}">
        <p14:creationId xmlns:p14="http://schemas.microsoft.com/office/powerpoint/2010/main" val="1187355275"/>
      </p:ext>
    </p:extLst>
  </p:cSld>
</p:sld>
</file>

<file path=ppt/slides/slide40.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162F78A4-D051-4D32-95BF-368FEFB6A4D0}"/>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6 / MODULE 7</a:t>
            </a:r>
          </a:p>
        </p:txBody>
      </p:sp>
      <p:sp>
        <p:nvSpPr>
          <p:cNvPr id="2" name="">
            <a:extLst xmlns:a="http://schemas.openxmlformats.org/drawingml/2006/main">
              <a:ext uri="{FF2B5EF4-FFF2-40B4-BE49-F238E27FC236}">
                <a16:creationId xmlns:a16="http://schemas.microsoft.com/office/drawing/2014/main" id="{F798FB9C-2E50-4A0B-BF92-00097ABA3A85}"/>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S8  |  Q&amp;A and knowledge check</a:t>
            </a:r>
          </a:p>
        </p:txBody>
      </p:sp>
      <p:sp>
        <p:nvSpPr>
          <p:cNvPr id="3" name="">
            <a:extLst xmlns:a="http://schemas.openxmlformats.org/drawingml/2006/main">
              <a:ext uri="{FF2B5EF4-FFF2-40B4-BE49-F238E27FC236}">
                <a16:creationId xmlns:a16="http://schemas.microsoft.com/office/drawing/2014/main" id="{EE7E6C5C-D496-435E-B1BC-BC6DE356B370}"/>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8DED9A5-3A64-4CA2-8FBD-72C2FB2BE9AC}"/>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0139914-CBBD-4B94-A0F9-2A105D9152BA}"/>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F7BF309A-97BC-41A9-9749-AF379C091B71}"/>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40</a:t>
            </a:r>
          </a:p>
        </p:txBody>
      </p:sp>
      <p:sp>
        <p:nvSpPr>
          <p:cNvPr id="7" name="">
            <a:extLst xmlns:a="http://schemas.openxmlformats.org/drawingml/2006/main">
              <a:ext uri="{FF2B5EF4-FFF2-40B4-BE49-F238E27FC236}">
                <a16:creationId xmlns:a16="http://schemas.microsoft.com/office/drawing/2014/main" id="{E2511FB3-B07B-4D13-BD90-C3554DBD0ADA}"/>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7 and proposal p. 8. Proposal feature list is not confirmation of current DWIHN configuration.</a:t>
            </a:r>
          </a:p>
        </p:txBody>
      </p:sp>
      <p:sp>
        <p:nvSpPr>
          <p:cNvPr id="8" name="">
            <a:extLst xmlns:a="http://schemas.openxmlformats.org/drawingml/2006/main">
              <a:ext uri="{FF2B5EF4-FFF2-40B4-BE49-F238E27FC236}">
                <a16:creationId xmlns:a16="http://schemas.microsoft.com/office/drawing/2014/main" id="{856558A9-A658-4554-A820-C077C915B5DB}"/>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Genesys AI in the Call Center</a:t>
            </a:r>
          </a:p>
        </p:txBody>
      </p:sp>
      <p:sp>
        <p:nvSpPr>
          <p:cNvPr id="9" name="">
            <a:extLst xmlns:a="http://schemas.openxmlformats.org/drawingml/2006/main">
              <a:ext uri="{FF2B5EF4-FFF2-40B4-BE49-F238E27FC236}">
                <a16:creationId xmlns:a16="http://schemas.microsoft.com/office/drawing/2014/main" id="{217D41B2-A8EE-4557-BC92-00AA30318E35}"/>
              </a:ext>
            </a:extLst>
          </p:cNvPr>
          <p:cNvSpPr>
            <a:spLocks xmlns:a="http://schemas.openxmlformats.org/drawingml/2006/main" noGrp="1"/>
          </p:cNvSpPr>
          <p:nvPr/>
        </p:nvSpPr>
        <p:spPr>
          <a:xfrm xmlns:a="http://schemas.openxmlformats.org/drawingml/2006/main">
            <a:off x="609600" y="19240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Invite questions first. Use the answer cues to clarify the principle; route local policy questions to the right DWIHN owner.</a:t>
            </a:r>
          </a:p>
        </p:txBody>
      </p:sp>
      <p:sp>
        <p:nvSpPr>
          <p:cNvPr id="10" name="">
            <a:extLst xmlns:a="http://schemas.openxmlformats.org/drawingml/2006/main">
              <a:ext uri="{FF2B5EF4-FFF2-40B4-BE49-F238E27FC236}">
                <a16:creationId xmlns:a16="http://schemas.microsoft.com/office/drawing/2014/main" id="{7304DE5A-72AE-4C55-AED6-7612C0018526}"/>
              </a:ext>
            </a:extLst>
          </p:cNvPr>
          <p:cNvSpPr>
            <a:spLocks xmlns:a="http://schemas.openxmlformats.org/drawingml/2006/main" noGrp="1"/>
          </p:cNvSpPr>
          <p:nvPr/>
        </p:nvSpPr>
        <p:spPr>
          <a:xfrm xmlns:a="http://schemas.openxmlformats.org/drawingml/2006/main">
            <a:off x="609600" y="26384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Q1</a:t>
            </a:r>
          </a:p>
        </p:txBody>
      </p:sp>
      <p:sp>
        <p:nvSpPr>
          <p:cNvPr id="11" name="">
            <a:extLst xmlns:a="http://schemas.openxmlformats.org/drawingml/2006/main">
              <a:ext uri="{FF2B5EF4-FFF2-40B4-BE49-F238E27FC236}">
                <a16:creationId xmlns:a16="http://schemas.microsoft.com/office/drawing/2014/main" id="{E0FEF107-90DF-47B8-8765-113BC2AA3C6C}"/>
              </a:ext>
            </a:extLst>
          </p:cNvPr>
          <p:cNvSpPr>
            <a:spLocks xmlns:a="http://schemas.openxmlformats.org/drawingml/2006/main" noGrp="1"/>
          </p:cNvSpPr>
          <p:nvPr/>
        </p:nvSpPr>
        <p:spPr>
          <a:xfrm xmlns:a="http://schemas.openxmlformats.org/drawingml/2006/main">
            <a:off x="1162050" y="26384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Is a sentiment score the person’s true emotion?</a:t>
            </a:r>
          </a:p>
        </p:txBody>
      </p:sp>
      <p:sp>
        <p:nvSpPr>
          <p:cNvPr id="12" name="">
            <a:extLst xmlns:a="http://schemas.openxmlformats.org/drawingml/2006/main">
              <a:ext uri="{FF2B5EF4-FFF2-40B4-BE49-F238E27FC236}">
                <a16:creationId xmlns:a16="http://schemas.microsoft.com/office/drawing/2014/main" id="{E94ADF88-C890-414C-B03F-4698897FCF67}"/>
              </a:ext>
            </a:extLst>
          </p:cNvPr>
          <p:cNvSpPr>
            <a:spLocks xmlns:a="http://schemas.openxmlformats.org/drawingml/2006/main" noGrp="1"/>
          </p:cNvSpPr>
          <p:nvPr/>
        </p:nvSpPr>
        <p:spPr>
          <a:xfrm xmlns:a="http://schemas.openxmlformats.org/drawingml/2006/main">
            <a:off x="6000750" y="26384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3" name="">
            <a:extLst xmlns:a="http://schemas.openxmlformats.org/drawingml/2006/main">
              <a:ext uri="{FF2B5EF4-FFF2-40B4-BE49-F238E27FC236}">
                <a16:creationId xmlns:a16="http://schemas.microsoft.com/office/drawing/2014/main" id="{395CBC70-CE90-4A37-A362-494192C37FCD}"/>
              </a:ext>
            </a:extLst>
          </p:cNvPr>
          <p:cNvSpPr>
            <a:spLocks xmlns:a="http://schemas.openxmlformats.org/drawingml/2006/main" noGrp="1"/>
          </p:cNvSpPr>
          <p:nvPr/>
        </p:nvSpPr>
        <p:spPr>
          <a:xfrm xmlns:a="http://schemas.openxmlformats.org/drawingml/2006/main">
            <a:off x="6000750" y="28765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No. It is a system signal that can be wrong and must not replace listening.</a:t>
            </a:r>
          </a:p>
        </p:txBody>
      </p:sp>
      <p:sp>
        <p:nvSpPr>
          <p:cNvPr id="14" name="">
            <a:extLst xmlns:a="http://schemas.openxmlformats.org/drawingml/2006/main">
              <a:ext uri="{FF2B5EF4-FFF2-40B4-BE49-F238E27FC236}">
                <a16:creationId xmlns:a16="http://schemas.microsoft.com/office/drawing/2014/main" id="{B5C27DA3-1820-4614-9EBD-C1DC61C0D562}"/>
              </a:ext>
            </a:extLst>
          </p:cNvPr>
          <p:cNvSpPr>
            <a:spLocks xmlns:a="http://schemas.openxmlformats.org/drawingml/2006/main" noGrp="1"/>
          </p:cNvSpPr>
          <p:nvPr/>
        </p:nvSpPr>
        <p:spPr>
          <a:xfrm xmlns:a="http://schemas.openxmlformats.org/drawingml/2006/main">
            <a:off x="609600" y="343852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5B5C62B-3C94-48F7-8F37-43CAE19784EA}"/>
              </a:ext>
            </a:extLst>
          </p:cNvPr>
          <p:cNvSpPr>
            <a:spLocks xmlns:a="http://schemas.openxmlformats.org/drawingml/2006/main" noGrp="1"/>
          </p:cNvSpPr>
          <p:nvPr/>
        </p:nvSpPr>
        <p:spPr>
          <a:xfrm xmlns:a="http://schemas.openxmlformats.org/drawingml/2006/main">
            <a:off x="609600" y="35718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Q2</a:t>
            </a:r>
          </a:p>
        </p:txBody>
      </p:sp>
      <p:sp>
        <p:nvSpPr>
          <p:cNvPr id="16" name="">
            <a:extLst xmlns:a="http://schemas.openxmlformats.org/drawingml/2006/main">
              <a:ext uri="{FF2B5EF4-FFF2-40B4-BE49-F238E27FC236}">
                <a16:creationId xmlns:a16="http://schemas.microsoft.com/office/drawing/2014/main" id="{5EB4D07D-B8DC-4590-9BC2-4C7CD1111C68}"/>
              </a:ext>
            </a:extLst>
          </p:cNvPr>
          <p:cNvSpPr>
            <a:spLocks xmlns:a="http://schemas.openxmlformats.org/drawingml/2006/main" noGrp="1"/>
          </p:cNvSpPr>
          <p:nvPr/>
        </p:nvSpPr>
        <p:spPr>
          <a:xfrm xmlns:a="http://schemas.openxmlformats.org/drawingml/2006/main">
            <a:off x="1162050" y="357187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Does a generated summary remove agent responsibility?</a:t>
            </a:r>
          </a:p>
        </p:txBody>
      </p:sp>
      <p:sp>
        <p:nvSpPr>
          <p:cNvPr id="17" name="">
            <a:extLst xmlns:a="http://schemas.openxmlformats.org/drawingml/2006/main">
              <a:ext uri="{FF2B5EF4-FFF2-40B4-BE49-F238E27FC236}">
                <a16:creationId xmlns:a16="http://schemas.microsoft.com/office/drawing/2014/main" id="{CA912804-DF5F-42D2-8F2C-ABE2E91F806F}"/>
              </a:ext>
            </a:extLst>
          </p:cNvPr>
          <p:cNvSpPr>
            <a:spLocks xmlns:a="http://schemas.openxmlformats.org/drawingml/2006/main" noGrp="1"/>
          </p:cNvSpPr>
          <p:nvPr/>
        </p:nvSpPr>
        <p:spPr>
          <a:xfrm xmlns:a="http://schemas.openxmlformats.org/drawingml/2006/main">
            <a:off x="6000750" y="357187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8" name="">
            <a:extLst xmlns:a="http://schemas.openxmlformats.org/drawingml/2006/main">
              <a:ext uri="{FF2B5EF4-FFF2-40B4-BE49-F238E27FC236}">
                <a16:creationId xmlns:a16="http://schemas.microsoft.com/office/drawing/2014/main" id="{6B92A946-BACE-4694-85EB-22687C31A7A8}"/>
              </a:ext>
            </a:extLst>
          </p:cNvPr>
          <p:cNvSpPr>
            <a:spLocks xmlns:a="http://schemas.openxmlformats.org/drawingml/2006/main" noGrp="1"/>
          </p:cNvSpPr>
          <p:nvPr/>
        </p:nvSpPr>
        <p:spPr>
          <a:xfrm xmlns:a="http://schemas.openxmlformats.org/drawingml/2006/main">
            <a:off x="6000750" y="381000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No. The agent remains accountable for the record and required workflow.</a:t>
            </a:r>
          </a:p>
        </p:txBody>
      </p:sp>
      <p:sp>
        <p:nvSpPr>
          <p:cNvPr id="19" name="">
            <a:extLst xmlns:a="http://schemas.openxmlformats.org/drawingml/2006/main">
              <a:ext uri="{FF2B5EF4-FFF2-40B4-BE49-F238E27FC236}">
                <a16:creationId xmlns:a16="http://schemas.microsoft.com/office/drawing/2014/main" id="{4E085C12-A485-4084-ADAA-3222C5FECDA9}"/>
              </a:ext>
            </a:extLst>
          </p:cNvPr>
          <p:cNvSpPr>
            <a:spLocks xmlns:a="http://schemas.openxmlformats.org/drawingml/2006/main" noGrp="1"/>
          </p:cNvSpPr>
          <p:nvPr/>
        </p:nvSpPr>
        <p:spPr>
          <a:xfrm xmlns:a="http://schemas.openxmlformats.org/drawingml/2006/main">
            <a:off x="609600" y="437197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1FC2927-F52D-45A3-B172-E525583AF5E2}"/>
              </a:ext>
            </a:extLst>
          </p:cNvPr>
          <p:cNvSpPr>
            <a:spLocks xmlns:a="http://schemas.openxmlformats.org/drawingml/2006/main" noGrp="1"/>
          </p:cNvSpPr>
          <p:nvPr/>
        </p:nvSpPr>
        <p:spPr>
          <a:xfrm xmlns:a="http://schemas.openxmlformats.org/drawingml/2006/main">
            <a:off x="609600" y="45053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Q3</a:t>
            </a:r>
          </a:p>
        </p:txBody>
      </p:sp>
      <p:sp>
        <p:nvSpPr>
          <p:cNvPr id="21" name="">
            <a:extLst xmlns:a="http://schemas.openxmlformats.org/drawingml/2006/main">
              <a:ext uri="{FF2B5EF4-FFF2-40B4-BE49-F238E27FC236}">
                <a16:creationId xmlns:a16="http://schemas.microsoft.com/office/drawing/2014/main" id="{453F1EC9-C4C3-4160-B104-B10D65D6880A}"/>
              </a:ext>
            </a:extLst>
          </p:cNvPr>
          <p:cNvSpPr>
            <a:spLocks xmlns:a="http://schemas.openxmlformats.org/drawingml/2006/main" noGrp="1"/>
          </p:cNvSpPr>
          <p:nvPr/>
        </p:nvSpPr>
        <p:spPr>
          <a:xfrm xmlns:a="http://schemas.openxmlformats.org/drawingml/2006/main">
            <a:off x="1162050" y="45053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Are all proposal features enabled at DWIHN?</a:t>
            </a:r>
          </a:p>
        </p:txBody>
      </p:sp>
      <p:sp>
        <p:nvSpPr>
          <p:cNvPr id="22" name="">
            <a:extLst xmlns:a="http://schemas.openxmlformats.org/drawingml/2006/main">
              <a:ext uri="{FF2B5EF4-FFF2-40B4-BE49-F238E27FC236}">
                <a16:creationId xmlns:a16="http://schemas.microsoft.com/office/drawing/2014/main" id="{6694475C-2989-4994-988E-93E94455D02B}"/>
              </a:ext>
            </a:extLst>
          </p:cNvPr>
          <p:cNvSpPr>
            <a:spLocks xmlns:a="http://schemas.openxmlformats.org/drawingml/2006/main" noGrp="1"/>
          </p:cNvSpPr>
          <p:nvPr/>
        </p:nvSpPr>
        <p:spPr>
          <a:xfrm xmlns:a="http://schemas.openxmlformats.org/drawingml/2006/main">
            <a:off x="6000750" y="45053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23" name="">
            <a:extLst xmlns:a="http://schemas.openxmlformats.org/drawingml/2006/main">
              <a:ext uri="{FF2B5EF4-FFF2-40B4-BE49-F238E27FC236}">
                <a16:creationId xmlns:a16="http://schemas.microsoft.com/office/drawing/2014/main" id="{5955A9BE-8EFA-4395-94A5-3B3AB4F3BB9C}"/>
              </a:ext>
            </a:extLst>
          </p:cNvPr>
          <p:cNvSpPr>
            <a:spLocks xmlns:a="http://schemas.openxmlformats.org/drawingml/2006/main" noGrp="1"/>
          </p:cNvSpPr>
          <p:nvPr/>
        </p:nvSpPr>
        <p:spPr>
          <a:xfrm xmlns:a="http://schemas.openxmlformats.org/drawingml/2006/main">
            <a:off x="6000750" y="47434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The proposal says features are active, but confirm each capability, license and permitted use with DWIHN before delivery.</a:t>
            </a:r>
          </a:p>
        </p:txBody>
      </p:sp>
      <p:sp>
        <p:nvSpPr>
          <p:cNvPr id="24" name="">
            <a:extLst xmlns:a="http://schemas.openxmlformats.org/drawingml/2006/main">
              <a:ext uri="{FF2B5EF4-FFF2-40B4-BE49-F238E27FC236}">
                <a16:creationId xmlns:a16="http://schemas.microsoft.com/office/drawing/2014/main" id="{F2221CFA-C04A-4608-92E6-1E60D6C1D5B5}"/>
              </a:ext>
            </a:extLst>
          </p:cNvPr>
          <p:cNvSpPr>
            <a:spLocks xmlns:a="http://schemas.openxmlformats.org/drawingml/2006/main" noGrp="1"/>
          </p:cNvSpPr>
          <p:nvPr/>
        </p:nvSpPr>
        <p:spPr>
          <a:xfrm xmlns:a="http://schemas.openxmlformats.org/drawingml/2006/main">
            <a:off x="609600" y="55435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899AFEAE-B4A5-4E04-ADB5-7F0C2EBFF9C4}"/>
              </a:ext>
            </a:extLst>
          </p:cNvPr>
          <p:cNvSpPr>
            <a:spLocks xmlns:a="http://schemas.openxmlformats.org/drawingml/2006/main" noGrp="1"/>
          </p:cNvSpPr>
          <p:nvPr/>
        </p:nvSpPr>
        <p:spPr>
          <a:xfrm xmlns:a="http://schemas.openxmlformats.org/drawingml/2006/main">
            <a:off x="609600" y="57150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Remember</a:t>
            </a:r>
          </a:p>
        </p:txBody>
      </p:sp>
      <p:sp>
        <p:nvSpPr>
          <p:cNvPr id="26" name="">
            <a:extLst xmlns:a="http://schemas.openxmlformats.org/drawingml/2006/main">
              <a:ext uri="{FF2B5EF4-FFF2-40B4-BE49-F238E27FC236}">
                <a16:creationId xmlns:a16="http://schemas.microsoft.com/office/drawing/2014/main" id="{FEC434F7-E56F-40CB-90EF-385B87F5C0AF}"/>
              </a:ext>
            </a:extLst>
          </p:cNvPr>
          <p:cNvSpPr>
            <a:spLocks xmlns:a="http://schemas.openxmlformats.org/drawingml/2006/main" noGrp="1"/>
          </p:cNvSpPr>
          <p:nvPr/>
        </p:nvSpPr>
        <p:spPr>
          <a:xfrm xmlns:a="http://schemas.openxmlformats.org/drawingml/2006/main">
            <a:off x="1924050" y="5686425"/>
            <a:ext cx="9429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039"/>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Verify generated notes against the interaction.   •   Treat signals as prompts, not judgments.   •   Confirm local Genesys configuration and fallback routes.</a:t>
            </a:r>
          </a:p>
        </p:txBody>
      </p:sp>
    </p:spTree>
    <p:extLst>
      <p:ext uri="{BB962C8B-B14F-4D97-AF65-F5344CB8AC3E}">
        <p14:creationId xmlns:p14="http://schemas.microsoft.com/office/powerpoint/2010/main" val="180326945"/>
      </p:ext>
    </p:extLst>
  </p:cSld>
</p:sld>
</file>

<file path=ppt/slides/slide41.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9BDDFBB-4A01-4F3E-9957-676AB6529FD7}"/>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7 / MODULE 8</a:t>
            </a:r>
          </a:p>
        </p:txBody>
      </p:sp>
      <p:sp>
        <p:nvSpPr>
          <p:cNvPr id="2" name="">
            <a:extLst xmlns:a="http://schemas.openxmlformats.org/drawingml/2006/main">
              <a:ext uri="{FF2B5EF4-FFF2-40B4-BE49-F238E27FC236}">
                <a16:creationId xmlns:a16="http://schemas.microsoft.com/office/drawing/2014/main" id="{3E114A31-7B99-4E0A-BF3B-4D4D25B90D58}"/>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S9  |  Purpose &amp; outcomes</a:t>
            </a:r>
          </a:p>
        </p:txBody>
      </p:sp>
      <p:sp>
        <p:nvSpPr>
          <p:cNvPr id="3" name="">
            <a:extLst xmlns:a="http://schemas.openxmlformats.org/drawingml/2006/main">
              <a:ext uri="{FF2B5EF4-FFF2-40B4-BE49-F238E27FC236}">
                <a16:creationId xmlns:a16="http://schemas.microsoft.com/office/drawing/2014/main" id="{DE46F6C3-CB36-418F-BEEC-95C24D823397}"/>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C618C7F-1E83-418C-9A4C-CCCBDBAC6CCF}"/>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4B7A634-922F-46C3-BB66-23CA73ED47A8}"/>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C2ACC71E-F3E9-49C8-B107-435B1C1749FA}"/>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41</a:t>
            </a:r>
          </a:p>
        </p:txBody>
      </p:sp>
      <p:sp>
        <p:nvSpPr>
          <p:cNvPr id="7" name="">
            <a:extLst xmlns:a="http://schemas.openxmlformats.org/drawingml/2006/main">
              <a:ext uri="{FF2B5EF4-FFF2-40B4-BE49-F238E27FC236}">
                <a16:creationId xmlns:a16="http://schemas.microsoft.com/office/drawing/2014/main" id="{C085B7FB-A1D5-4B4A-A761-48A6965B801E}"/>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8 topic 8.1–8.2 and proposal p. 9. Chart values are invented solely for instruction and are not DWIHN data.</a:t>
            </a:r>
          </a:p>
        </p:txBody>
      </p:sp>
      <p:sp>
        <p:nvSpPr>
          <p:cNvPr id="8" name="">
            <a:extLst xmlns:a="http://schemas.openxmlformats.org/drawingml/2006/main">
              <a:ext uri="{FF2B5EF4-FFF2-40B4-BE49-F238E27FC236}">
                <a16:creationId xmlns:a16="http://schemas.microsoft.com/office/drawing/2014/main" id="{FE3BFECD-C351-447A-911F-D4B6EA19AF7D}"/>
              </a:ext>
            </a:extLst>
          </p:cNvPr>
          <p:cNvSpPr>
            <a:spLocks xmlns:a="http://schemas.openxmlformats.org/drawingml/2006/main" noGrp="1"/>
          </p:cNvSpPr>
          <p:nvPr/>
        </p:nvSpPr>
        <p:spPr>
          <a:xfrm xmlns:a="http://schemas.openxmlformats.org/drawingml/2006/main">
            <a:off x="609600" y="1619250"/>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0A2438"/>
                </a:solidFill>
                <a:latin typeface="Arial"/>
                <a:ea typeface="Arial"/>
                <a:cs typeface="Arial"/>
              </a:defRPr>
            </a:pPr>
            <a:r>
              <a:rPr sz="1875" b="1">
                <a:solidFill>
                  <a:srgbClr val="0A2438"/>
                </a:solidFill>
                <a:latin typeface="Arial"/>
                <a:ea typeface="Arial"/>
                <a:cs typeface="Arial"/>
              </a:rPr>
              <a:t>Objective Decisions with Data: Read the Evidence</a:t>
            </a:r>
          </a:p>
        </p:txBody>
      </p:sp>
      <p:sp>
        <p:nvSpPr>
          <p:cNvPr id="9" name="">
            <a:extLst xmlns:a="http://schemas.openxmlformats.org/drawingml/2006/main">
              <a:ext uri="{FF2B5EF4-FFF2-40B4-BE49-F238E27FC236}">
                <a16:creationId xmlns:a16="http://schemas.microsoft.com/office/drawing/2014/main" id="{D55130CE-739F-4627-950A-DC970D56C530}"/>
              </a:ext>
            </a:extLst>
          </p:cNvPr>
          <p:cNvSpPr>
            <a:spLocks xmlns:a="http://schemas.openxmlformats.org/drawingml/2006/main" noGrp="1"/>
          </p:cNvSpPr>
          <p:nvPr/>
        </p:nvSpPr>
        <p:spPr>
          <a:xfrm xmlns:a="http://schemas.openxmlformats.org/drawingml/2006/main">
            <a:off x="609600" y="2057400"/>
            <a:ext cx="695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506473"/>
                </a:solidFill>
                <a:latin typeface="Arial"/>
                <a:ea typeface="Arial"/>
                <a:cs typeface="Arial"/>
              </a:defRPr>
            </a:pPr>
            <a:r>
              <a:rPr sz="1425" b="0">
                <a:solidFill>
                  <a:srgbClr val="506473"/>
                </a:solidFill>
                <a:latin typeface="Arial"/>
                <a:ea typeface="Arial"/>
                <a:cs typeface="Arial"/>
              </a:rPr>
              <a:t>Participants align on a trusted measure, read an illustrative trend and separate what the data shows from claims that require more evidence.</a:t>
            </a:r>
          </a:p>
        </p:txBody>
      </p:sp>
      <p:sp>
        <p:nvSpPr>
          <p:cNvPr id="10" name="">
            <a:extLst xmlns:a="http://schemas.openxmlformats.org/drawingml/2006/main">
              <a:ext uri="{FF2B5EF4-FFF2-40B4-BE49-F238E27FC236}">
                <a16:creationId xmlns:a16="http://schemas.microsoft.com/office/drawing/2014/main" id="{B59ABD04-3548-4E6B-A218-538B52F80DF5}"/>
              </a:ext>
            </a:extLst>
          </p:cNvPr>
          <p:cNvSpPr>
            <a:spLocks xmlns:a="http://schemas.openxmlformats.org/drawingml/2006/main" noGrp="1"/>
          </p:cNvSpPr>
          <p:nvPr/>
        </p:nvSpPr>
        <p:spPr>
          <a:xfrm xmlns:a="http://schemas.openxmlformats.org/drawingml/2006/main">
            <a:off x="609600" y="30861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BY THE END, LEARNERS CAN</a:t>
            </a:r>
          </a:p>
        </p:txBody>
      </p:sp>
      <p:sp>
        <p:nvSpPr>
          <p:cNvPr id="11" name="">
            <a:extLst xmlns:a="http://schemas.openxmlformats.org/drawingml/2006/main">
              <a:ext uri="{FF2B5EF4-FFF2-40B4-BE49-F238E27FC236}">
                <a16:creationId xmlns:a16="http://schemas.microsoft.com/office/drawing/2014/main" id="{F43043FA-6FA4-4FFA-AC01-C8250CDBDF22}"/>
              </a:ext>
            </a:extLst>
          </p:cNvPr>
          <p:cNvSpPr>
            <a:spLocks xmlns:a="http://schemas.openxmlformats.org/drawingml/2006/main" noGrp="1"/>
          </p:cNvSpPr>
          <p:nvPr/>
        </p:nvSpPr>
        <p:spPr>
          <a:xfrm xmlns:a="http://schemas.openxmlformats.org/drawingml/2006/main">
            <a:off x="609600" y="3429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01</a:t>
            </a:r>
          </a:p>
        </p:txBody>
      </p:sp>
      <p:sp>
        <p:nvSpPr>
          <p:cNvPr id="12" name="">
            <a:extLst xmlns:a="http://schemas.openxmlformats.org/drawingml/2006/main">
              <a:ext uri="{FF2B5EF4-FFF2-40B4-BE49-F238E27FC236}">
                <a16:creationId xmlns:a16="http://schemas.microsoft.com/office/drawing/2014/main" id="{E9C31B53-F2CD-4A01-A295-7EC94855B278}"/>
              </a:ext>
            </a:extLst>
          </p:cNvPr>
          <p:cNvSpPr>
            <a:spLocks xmlns:a="http://schemas.openxmlformats.org/drawingml/2006/main" noGrp="1"/>
          </p:cNvSpPr>
          <p:nvPr/>
        </p:nvSpPr>
        <p:spPr>
          <a:xfrm xmlns:a="http://schemas.openxmlformats.org/drawingml/2006/main">
            <a:off x="1104900" y="34290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Check source, definition, population, period and filters before comparing numbers.</a:t>
            </a:r>
          </a:p>
        </p:txBody>
      </p:sp>
      <p:sp>
        <p:nvSpPr>
          <p:cNvPr id="13" name="">
            <a:extLst xmlns:a="http://schemas.openxmlformats.org/drawingml/2006/main">
              <a:ext uri="{FF2B5EF4-FFF2-40B4-BE49-F238E27FC236}">
                <a16:creationId xmlns:a16="http://schemas.microsoft.com/office/drawing/2014/main" id="{70D6A3BA-FF57-4327-B8CC-01414AE4005B}"/>
              </a:ext>
            </a:extLst>
          </p:cNvPr>
          <p:cNvSpPr>
            <a:spLocks xmlns:a="http://schemas.openxmlformats.org/drawingml/2006/main" noGrp="1"/>
          </p:cNvSpPr>
          <p:nvPr/>
        </p:nvSpPr>
        <p:spPr>
          <a:xfrm xmlns:a="http://schemas.openxmlformats.org/drawingml/2006/main">
            <a:off x="609600" y="40767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274CC0D1-59D3-4CB3-A487-113AFF645F21}"/>
              </a:ext>
            </a:extLst>
          </p:cNvPr>
          <p:cNvSpPr>
            <a:spLocks xmlns:a="http://schemas.openxmlformats.org/drawingml/2006/main" noGrp="1"/>
          </p:cNvSpPr>
          <p:nvPr/>
        </p:nvSpPr>
        <p:spPr>
          <a:xfrm xmlns:a="http://schemas.openxmlformats.org/drawingml/2006/main">
            <a:off x="1104900" y="40767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Describe a trend accurately without overclaiming cause.</a:t>
            </a:r>
          </a:p>
        </p:txBody>
      </p:sp>
      <p:sp>
        <p:nvSpPr>
          <p:cNvPr id="15" name="">
            <a:extLst xmlns:a="http://schemas.openxmlformats.org/drawingml/2006/main">
              <a:ext uri="{FF2B5EF4-FFF2-40B4-BE49-F238E27FC236}">
                <a16:creationId xmlns:a16="http://schemas.microsoft.com/office/drawing/2014/main" id="{5DD73BCF-74DC-4F31-8350-8DDE89236158}"/>
              </a:ext>
            </a:extLst>
          </p:cNvPr>
          <p:cNvSpPr>
            <a:spLocks xmlns:a="http://schemas.openxmlformats.org/drawingml/2006/main" noGrp="1"/>
          </p:cNvSpPr>
          <p:nvPr/>
        </p:nvSpPr>
        <p:spPr>
          <a:xfrm xmlns:a="http://schemas.openxmlformats.org/drawingml/2006/main">
            <a:off x="609600" y="47244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7572BA7B-DD5C-4ED1-B3E1-B67495899A27}"/>
              </a:ext>
            </a:extLst>
          </p:cNvPr>
          <p:cNvSpPr>
            <a:spLocks xmlns:a="http://schemas.openxmlformats.org/drawingml/2006/main" noGrp="1"/>
          </p:cNvSpPr>
          <p:nvPr/>
        </p:nvSpPr>
        <p:spPr>
          <a:xfrm xmlns:a="http://schemas.openxmlformats.org/drawingml/2006/main">
            <a:off x="1104900" y="47244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State the next question needed to make the evidence decision-ready.</a:t>
            </a:r>
          </a:p>
        </p:txBody>
      </p:sp>
      <p:sp>
        <p:nvSpPr>
          <p:cNvPr id="17" name="">
            <a:extLst xmlns:a="http://schemas.openxmlformats.org/drawingml/2006/main">
              <a:ext uri="{FF2B5EF4-FFF2-40B4-BE49-F238E27FC236}">
                <a16:creationId xmlns:a16="http://schemas.microsoft.com/office/drawing/2014/main" id="{AADDB51B-28CB-4F64-B5C0-96AD652E443D}"/>
              </a:ext>
            </a:extLst>
          </p:cNvPr>
          <p:cNvSpPr>
            <a:spLocks xmlns:a="http://schemas.openxmlformats.org/drawingml/2006/main" noGrp="1"/>
          </p:cNvSpPr>
          <p:nvPr/>
        </p:nvSpPr>
        <p:spPr>
          <a:xfrm xmlns:a="http://schemas.openxmlformats.org/drawingml/2006/main">
            <a:off x="609600" y="5476875"/>
            <a:ext cx="6953250" cy="476250"/>
          </a:xfrm>
          <a:prstGeom xmlns:a="http://schemas.openxmlformats.org/drawingml/2006/main" prst="rect">
            <a:avLst/>
          </a:prstGeom>
          <a:noFill xmlns:a="http://schemas.openxmlformats.org/drawingml/2006/main"/>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6EF1799-F6F5-4586-8532-243F7509D739}"/>
              </a:ext>
            </a:extLst>
          </p:cNvPr>
          <p:cNvSpPr>
            <a:spLocks xmlns:a="http://schemas.openxmlformats.org/drawingml/2006/main" noGrp="1"/>
          </p:cNvSpPr>
          <p:nvPr/>
        </p:nvSpPr>
        <p:spPr>
          <a:xfrm xmlns:a="http://schemas.openxmlformats.org/drawingml/2006/main">
            <a:off x="781050" y="5591175"/>
            <a:ext cx="659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91"/>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Session length: at least 1 hour, including Q&amp;A. Guided practice and discussion can extend it.</a:t>
            </a:r>
          </a:p>
        </p:txBody>
      </p:sp>
      <p:sp>
        <p:nvSpPr>
          <p:cNvPr id="19" name="">
            <a:extLst xmlns:a="http://schemas.openxmlformats.org/drawingml/2006/main">
              <a:ext uri="{FF2B5EF4-FFF2-40B4-BE49-F238E27FC236}">
                <a16:creationId xmlns:a16="http://schemas.microsoft.com/office/drawing/2014/main" id="{60B53BB8-918E-4535-9499-28AAC7D4A242}"/>
              </a:ext>
            </a:extLst>
          </p:cNvPr>
          <p:cNvSpPr>
            <a:spLocks xmlns:a="http://schemas.openxmlformats.org/drawingml/2006/main" noGrp="1"/>
          </p:cNvSpPr>
          <p:nvPr/>
        </p:nvSpPr>
        <p:spPr>
          <a:xfrm xmlns:a="http://schemas.openxmlformats.org/drawingml/2006/main">
            <a:off x="8096250" y="2266950"/>
            <a:ext cx="19050" cy="295275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F3809DB-DBB1-4D1C-8A71-75341898ED38}"/>
              </a:ext>
            </a:extLst>
          </p:cNvPr>
          <p:cNvSpPr>
            <a:spLocks xmlns:a="http://schemas.openxmlformats.org/drawingml/2006/main" noGrp="1"/>
          </p:cNvSpPr>
          <p:nvPr/>
        </p:nvSpPr>
        <p:spPr>
          <a:xfrm xmlns:a="http://schemas.openxmlformats.org/drawingml/2006/main">
            <a:off x="8439150" y="23050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OPENING DISCUSSION</a:t>
            </a:r>
          </a:p>
        </p:txBody>
      </p:sp>
      <p:sp>
        <p:nvSpPr>
          <p:cNvPr id="21" name="">
            <a:extLst xmlns:a="http://schemas.openxmlformats.org/drawingml/2006/main">
              <a:ext uri="{FF2B5EF4-FFF2-40B4-BE49-F238E27FC236}">
                <a16:creationId xmlns:a16="http://schemas.microsoft.com/office/drawing/2014/main" id="{E4F08E2C-A0FA-4681-A299-8E93A1DC6DCF}"/>
              </a:ext>
            </a:extLst>
          </p:cNvPr>
          <p:cNvSpPr>
            <a:spLocks xmlns:a="http://schemas.openxmlformats.org/drawingml/2006/main" noGrp="1"/>
          </p:cNvSpPr>
          <p:nvPr/>
        </p:nvSpPr>
        <p:spPr>
          <a:xfrm xmlns:a="http://schemas.openxmlformats.org/drawingml/2006/main">
            <a:off x="8439150" y="2647950"/>
            <a:ext cx="2857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907"/>
          </a:bodyPr>
          <a:lstStyle xmlns:a="http://schemas.openxmlformats.org/drawingml/2006/main"/>
          <a:p xmlns:a="http://schemas.openxmlformats.org/drawingml/2006/main">
            <a:pPr algn="l">
              <a:lnSpc>
                <a:spcPct val="112000"/>
              </a:lnSpc>
              <a:buNone/>
              <a:defRPr sz="1575" b="1">
                <a:solidFill>
                  <a:srgbClr val="142F42"/>
                </a:solidFill>
                <a:latin typeface="Arial"/>
                <a:ea typeface="Arial"/>
                <a:cs typeface="Arial"/>
              </a:defRPr>
            </a:pPr>
            <a:r>
              <a:rPr sz="1575" b="1">
                <a:solidFill>
                  <a:srgbClr val="142F42"/>
                </a:solidFill>
                <a:latin typeface="Arial"/>
                <a:ea typeface="Arial"/>
                <a:cs typeface="Arial"/>
              </a:rPr>
              <a:t>Two teams report different totals in the same meeting. What should the group compare before choosing a number?</a:t>
            </a:r>
          </a:p>
        </p:txBody>
      </p:sp>
      <p:sp>
        <p:nvSpPr>
          <p:cNvPr id="22" name="">
            <a:extLst xmlns:a="http://schemas.openxmlformats.org/drawingml/2006/main">
              <a:ext uri="{FF2B5EF4-FFF2-40B4-BE49-F238E27FC236}">
                <a16:creationId xmlns:a16="http://schemas.microsoft.com/office/drawing/2014/main" id="{BB52404E-E24B-463A-86AE-B8DF8C87626A}"/>
              </a:ext>
            </a:extLst>
          </p:cNvPr>
          <p:cNvSpPr>
            <a:spLocks xmlns:a="http://schemas.openxmlformats.org/drawingml/2006/main" noGrp="1"/>
          </p:cNvSpPr>
          <p:nvPr/>
        </p:nvSpPr>
        <p:spPr>
          <a:xfrm xmlns:a="http://schemas.openxmlformats.org/drawingml/2006/main">
            <a:off x="8439150" y="39624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KEEP IN VIEW</a:t>
            </a:r>
          </a:p>
        </p:txBody>
      </p:sp>
      <p:sp>
        <p:nvSpPr>
          <p:cNvPr id="23" name="">
            <a:extLst xmlns:a="http://schemas.openxmlformats.org/drawingml/2006/main">
              <a:ext uri="{FF2B5EF4-FFF2-40B4-BE49-F238E27FC236}">
                <a16:creationId xmlns:a16="http://schemas.microsoft.com/office/drawing/2014/main" id="{3C23AC01-E90F-44E5-8DAC-7DE935F64681}"/>
              </a:ext>
            </a:extLst>
          </p:cNvPr>
          <p:cNvSpPr>
            <a:spLocks xmlns:a="http://schemas.openxmlformats.org/drawingml/2006/main" noGrp="1"/>
          </p:cNvSpPr>
          <p:nvPr/>
        </p:nvSpPr>
        <p:spPr>
          <a:xfrm xmlns:a="http://schemas.openxmlformats.org/drawingml/2006/main">
            <a:off x="8439150" y="4295775"/>
            <a:ext cx="285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Use the approved workflow, verify against a trusted source and keep human judgment visible.</a:t>
            </a:r>
          </a:p>
        </p:txBody>
      </p:sp>
    </p:spTree>
    <p:extLst>
      <p:ext uri="{BB962C8B-B14F-4D97-AF65-F5344CB8AC3E}">
        <p14:creationId xmlns:p14="http://schemas.microsoft.com/office/powerpoint/2010/main" val="1524327468"/>
      </p:ext>
    </p:extLst>
  </p:cSld>
</p:sld>
</file>

<file path=ppt/slides/slide42.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F351D75-3BAD-4597-B125-265742E7C8ED}"/>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7 / MODULE 8</a:t>
            </a:r>
          </a:p>
        </p:txBody>
      </p:sp>
      <p:sp>
        <p:nvSpPr>
          <p:cNvPr id="2" name="">
            <a:extLst xmlns:a="http://schemas.openxmlformats.org/drawingml/2006/main">
              <a:ext uri="{FF2B5EF4-FFF2-40B4-BE49-F238E27FC236}">
                <a16:creationId xmlns:a16="http://schemas.microsoft.com/office/drawing/2014/main" id="{D823D63D-6E08-4E00-BCBA-5F6B45F1EF69}"/>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S9  |  Core concepts</a:t>
            </a:r>
          </a:p>
        </p:txBody>
      </p:sp>
      <p:sp>
        <p:nvSpPr>
          <p:cNvPr id="3" name="">
            <a:extLst xmlns:a="http://schemas.openxmlformats.org/drawingml/2006/main">
              <a:ext uri="{FF2B5EF4-FFF2-40B4-BE49-F238E27FC236}">
                <a16:creationId xmlns:a16="http://schemas.microsoft.com/office/drawing/2014/main" id="{B2CDF2F0-FFA3-4143-959F-8DE9EE060A3F}"/>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892D906-434F-47B7-A24F-909CE0F2AB9A}"/>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5034BEE-C994-40EB-9296-19946CB1BCE2}"/>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AD61726A-D6CA-4515-A4E1-BB838A8359D8}"/>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42</a:t>
            </a:r>
          </a:p>
        </p:txBody>
      </p:sp>
      <p:sp>
        <p:nvSpPr>
          <p:cNvPr id="7" name="">
            <a:extLst xmlns:a="http://schemas.openxmlformats.org/drawingml/2006/main">
              <a:ext uri="{FF2B5EF4-FFF2-40B4-BE49-F238E27FC236}">
                <a16:creationId xmlns:a16="http://schemas.microsoft.com/office/drawing/2014/main" id="{1D2A52B6-B785-4FC6-BAD5-4BCD55E38533}"/>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8 topic 8.1–8.2 and proposal p. 9. Chart values are invented solely for instruction and are not DWIHN data.</a:t>
            </a:r>
          </a:p>
        </p:txBody>
      </p:sp>
      <p:sp>
        <p:nvSpPr>
          <p:cNvPr id="8" name="">
            <a:extLst xmlns:a="http://schemas.openxmlformats.org/drawingml/2006/main">
              <a:ext uri="{FF2B5EF4-FFF2-40B4-BE49-F238E27FC236}">
                <a16:creationId xmlns:a16="http://schemas.microsoft.com/office/drawing/2014/main" id="{0684EB72-1739-4C4E-A46F-73E56BAB09AE}"/>
              </a:ext>
            </a:extLst>
          </p:cNvPr>
          <p:cNvSpPr>
            <a:spLocks xmlns:a="http://schemas.openxmlformats.org/drawingml/2006/main" noGrp="1"/>
          </p:cNvSpPr>
          <p:nvPr/>
        </p:nvSpPr>
        <p:spPr>
          <a:xfrm xmlns:a="http://schemas.openxmlformats.org/drawingml/2006/main">
            <a:off x="609600" y="15811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Objective Decisions with Data: Read the Evidence</a:t>
            </a:r>
          </a:p>
        </p:txBody>
      </p:sp>
      <p:sp>
        <p:nvSpPr>
          <p:cNvPr id="9" name="">
            <a:extLst xmlns:a="http://schemas.openxmlformats.org/drawingml/2006/main">
              <a:ext uri="{FF2B5EF4-FFF2-40B4-BE49-F238E27FC236}">
                <a16:creationId xmlns:a16="http://schemas.microsoft.com/office/drawing/2014/main" id="{D9FA2EBF-2ABE-4A02-B825-3F7243BDC821}"/>
              </a:ext>
            </a:extLst>
          </p:cNvPr>
          <p:cNvSpPr>
            <a:spLocks xmlns:a="http://schemas.openxmlformats.org/drawingml/2006/main" noGrp="1"/>
          </p:cNvSpPr>
          <p:nvPr/>
        </p:nvSpPr>
        <p:spPr>
          <a:xfrm xmlns:a="http://schemas.openxmlformats.org/drawingml/2006/main">
            <a:off x="609600" y="19716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45FE216A-F055-4054-ACED-91167B0AA446}"/>
              </a:ext>
            </a:extLst>
          </p:cNvPr>
          <p:cNvSpPr>
            <a:spLocks xmlns:a="http://schemas.openxmlformats.org/drawingml/2006/main" noGrp="1"/>
          </p:cNvSpPr>
          <p:nvPr/>
        </p:nvSpPr>
        <p:spPr>
          <a:xfrm xmlns:a="http://schemas.openxmlformats.org/drawingml/2006/main">
            <a:off x="1143000" y="19716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897"/>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One view needs one definition</a:t>
            </a:r>
          </a:p>
        </p:txBody>
      </p:sp>
      <p:sp>
        <p:nvSpPr>
          <p:cNvPr id="11" name="">
            <a:extLst xmlns:a="http://schemas.openxmlformats.org/drawingml/2006/main">
              <a:ext uri="{FF2B5EF4-FFF2-40B4-BE49-F238E27FC236}">
                <a16:creationId xmlns:a16="http://schemas.microsoft.com/office/drawing/2014/main" id="{F0F2CA09-537D-46BD-8653-37E86A3F5557}"/>
              </a:ext>
            </a:extLst>
          </p:cNvPr>
          <p:cNvSpPr>
            <a:spLocks xmlns:a="http://schemas.openxmlformats.org/drawingml/2006/main" noGrp="1"/>
          </p:cNvSpPr>
          <p:nvPr/>
        </p:nvSpPr>
        <p:spPr>
          <a:xfrm xmlns:a="http://schemas.openxmlformats.org/drawingml/2006/main">
            <a:off x="3857625" y="19716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 shared source of truth is useful only when the team understands its measure definitions and refresh state. A dashboard is not automatically authoritative simply because it is visual.</a:t>
            </a:r>
          </a:p>
        </p:txBody>
      </p:sp>
      <p:sp>
        <p:nvSpPr>
          <p:cNvPr id="12" name="">
            <a:extLst xmlns:a="http://schemas.openxmlformats.org/drawingml/2006/main">
              <a:ext uri="{FF2B5EF4-FFF2-40B4-BE49-F238E27FC236}">
                <a16:creationId xmlns:a16="http://schemas.microsoft.com/office/drawing/2014/main" id="{63864A76-8E4F-45D5-A321-11215945C767}"/>
              </a:ext>
            </a:extLst>
          </p:cNvPr>
          <p:cNvSpPr>
            <a:spLocks xmlns:a="http://schemas.openxmlformats.org/drawingml/2006/main" noGrp="1"/>
          </p:cNvSpPr>
          <p:nvPr/>
        </p:nvSpPr>
        <p:spPr>
          <a:xfrm xmlns:a="http://schemas.openxmlformats.org/drawingml/2006/main">
            <a:off x="1143000" y="28003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1F9803B-3243-428E-84A1-DA59CB56F62B}"/>
              </a:ext>
            </a:extLst>
          </p:cNvPr>
          <p:cNvSpPr>
            <a:spLocks xmlns:a="http://schemas.openxmlformats.org/drawingml/2006/main" noGrp="1"/>
          </p:cNvSpPr>
          <p:nvPr/>
        </p:nvSpPr>
        <p:spPr>
          <a:xfrm xmlns:a="http://schemas.openxmlformats.org/drawingml/2006/main">
            <a:off x="609600" y="29813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2CF3CFD7-3A1B-48D2-92D3-6F35F3C0B7EE}"/>
              </a:ext>
            </a:extLst>
          </p:cNvPr>
          <p:cNvSpPr>
            <a:spLocks xmlns:a="http://schemas.openxmlformats.org/drawingml/2006/main" noGrp="1"/>
          </p:cNvSpPr>
          <p:nvPr/>
        </p:nvSpPr>
        <p:spPr>
          <a:xfrm xmlns:a="http://schemas.openxmlformats.org/drawingml/2006/main">
            <a:off x="1143000" y="29813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Read axes and denominators</a:t>
            </a:r>
          </a:p>
        </p:txBody>
      </p:sp>
      <p:sp>
        <p:nvSpPr>
          <p:cNvPr id="15" name="">
            <a:extLst xmlns:a="http://schemas.openxmlformats.org/drawingml/2006/main">
              <a:ext uri="{FF2B5EF4-FFF2-40B4-BE49-F238E27FC236}">
                <a16:creationId xmlns:a16="http://schemas.microsoft.com/office/drawing/2014/main" id="{C699E2E5-9B02-4985-9B1D-D6D82BD78A24}"/>
              </a:ext>
            </a:extLst>
          </p:cNvPr>
          <p:cNvSpPr>
            <a:spLocks xmlns:a="http://schemas.openxmlformats.org/drawingml/2006/main" noGrp="1"/>
          </p:cNvSpPr>
          <p:nvPr/>
        </p:nvSpPr>
        <p:spPr>
          <a:xfrm xmlns:a="http://schemas.openxmlformats.org/drawingml/2006/main">
            <a:off x="3857625" y="29813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Check what the chart counts, how the value is calculated, which population is included and whether the axis begins at zero. Rate and count tell different stories.</a:t>
            </a:r>
          </a:p>
        </p:txBody>
      </p:sp>
      <p:sp>
        <p:nvSpPr>
          <p:cNvPr id="16" name="">
            <a:extLst xmlns:a="http://schemas.openxmlformats.org/drawingml/2006/main">
              <a:ext uri="{FF2B5EF4-FFF2-40B4-BE49-F238E27FC236}">
                <a16:creationId xmlns:a16="http://schemas.microsoft.com/office/drawing/2014/main" id="{F7883EB7-7FF8-4BAB-AA8B-EEC12EFF4906}"/>
              </a:ext>
            </a:extLst>
          </p:cNvPr>
          <p:cNvSpPr>
            <a:spLocks xmlns:a="http://schemas.openxmlformats.org/drawingml/2006/main" noGrp="1"/>
          </p:cNvSpPr>
          <p:nvPr/>
        </p:nvSpPr>
        <p:spPr>
          <a:xfrm xmlns:a="http://schemas.openxmlformats.org/drawingml/2006/main">
            <a:off x="1143000" y="381000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41599B8-FE39-4922-896E-BA1A1363AF71}"/>
              </a:ext>
            </a:extLst>
          </p:cNvPr>
          <p:cNvSpPr>
            <a:spLocks xmlns:a="http://schemas.openxmlformats.org/drawingml/2006/main" noGrp="1"/>
          </p:cNvSpPr>
          <p:nvPr/>
        </p:nvSpPr>
        <p:spPr>
          <a:xfrm xmlns:a="http://schemas.openxmlformats.org/drawingml/2006/main">
            <a:off x="609600" y="39909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70E96C4E-F07D-4DE1-80B5-875BBE230D68}"/>
              </a:ext>
            </a:extLst>
          </p:cNvPr>
          <p:cNvSpPr>
            <a:spLocks xmlns:a="http://schemas.openxmlformats.org/drawingml/2006/main" noGrp="1"/>
          </p:cNvSpPr>
          <p:nvPr/>
        </p:nvSpPr>
        <p:spPr>
          <a:xfrm xmlns:a="http://schemas.openxmlformats.org/drawingml/2006/main">
            <a:off x="1143000" y="39909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Describe before explaining</a:t>
            </a:r>
          </a:p>
        </p:txBody>
      </p:sp>
      <p:sp>
        <p:nvSpPr>
          <p:cNvPr id="19" name="">
            <a:extLst xmlns:a="http://schemas.openxmlformats.org/drawingml/2006/main">
              <a:ext uri="{FF2B5EF4-FFF2-40B4-BE49-F238E27FC236}">
                <a16:creationId xmlns:a16="http://schemas.microsoft.com/office/drawing/2014/main" id="{70D1CDCE-B39D-4499-976A-923AD9B2173C}"/>
              </a:ext>
            </a:extLst>
          </p:cNvPr>
          <p:cNvSpPr>
            <a:spLocks xmlns:a="http://schemas.openxmlformats.org/drawingml/2006/main" noGrp="1"/>
          </p:cNvSpPr>
          <p:nvPr/>
        </p:nvSpPr>
        <p:spPr>
          <a:xfrm xmlns:a="http://schemas.openxmlformats.org/drawingml/2006/main">
            <a:off x="3857625" y="39909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State the direction, size and period of a visible change. Keep a separate list of possible reasons; the chart alone may not show why the change happened.</a:t>
            </a:r>
          </a:p>
        </p:txBody>
      </p:sp>
      <p:sp>
        <p:nvSpPr>
          <p:cNvPr id="20" name="">
            <a:extLst xmlns:a="http://schemas.openxmlformats.org/drawingml/2006/main">
              <a:ext uri="{FF2B5EF4-FFF2-40B4-BE49-F238E27FC236}">
                <a16:creationId xmlns:a16="http://schemas.microsoft.com/office/drawing/2014/main" id="{2BDA60EC-4F06-4545-9EA8-B5047131ADE4}"/>
              </a:ext>
            </a:extLst>
          </p:cNvPr>
          <p:cNvSpPr>
            <a:spLocks xmlns:a="http://schemas.openxmlformats.org/drawingml/2006/main" noGrp="1"/>
          </p:cNvSpPr>
          <p:nvPr/>
        </p:nvSpPr>
        <p:spPr>
          <a:xfrm xmlns:a="http://schemas.openxmlformats.org/drawingml/2006/main">
            <a:off x="1143000" y="48196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44E1261-AAC3-4CBF-8C8D-E262AEC67C62}"/>
              </a:ext>
            </a:extLst>
          </p:cNvPr>
          <p:cNvSpPr>
            <a:spLocks xmlns:a="http://schemas.openxmlformats.org/drawingml/2006/main" noGrp="1"/>
          </p:cNvSpPr>
          <p:nvPr/>
        </p:nvSpPr>
        <p:spPr>
          <a:xfrm xmlns:a="http://schemas.openxmlformats.org/drawingml/2006/main">
            <a:off x="609600" y="5000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8AAB3E71-8878-40F7-B142-2A75D2ED3B8B}"/>
              </a:ext>
            </a:extLst>
          </p:cNvPr>
          <p:cNvSpPr>
            <a:spLocks xmlns:a="http://schemas.openxmlformats.org/drawingml/2006/main" noGrp="1"/>
          </p:cNvSpPr>
          <p:nvPr/>
        </p:nvSpPr>
        <p:spPr>
          <a:xfrm xmlns:a="http://schemas.openxmlformats.org/drawingml/2006/main">
            <a:off x="1143000" y="50006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Make uncertainty actionable</a:t>
            </a:r>
          </a:p>
        </p:txBody>
      </p:sp>
      <p:sp>
        <p:nvSpPr>
          <p:cNvPr id="23" name="">
            <a:extLst xmlns:a="http://schemas.openxmlformats.org/drawingml/2006/main">
              <a:ext uri="{FF2B5EF4-FFF2-40B4-BE49-F238E27FC236}">
                <a16:creationId xmlns:a16="http://schemas.microsoft.com/office/drawing/2014/main" id="{AAD51366-ABA3-4D73-B2FC-746DE0F0A129}"/>
              </a:ext>
            </a:extLst>
          </p:cNvPr>
          <p:cNvSpPr>
            <a:spLocks xmlns:a="http://schemas.openxmlformats.org/drawingml/2006/main" noGrp="1"/>
          </p:cNvSpPr>
          <p:nvPr/>
        </p:nvSpPr>
        <p:spPr>
          <a:xfrm xmlns:a="http://schemas.openxmlformats.org/drawingml/2006/main">
            <a:off x="3857625" y="50006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Name missing data, changed definitions and small sample sizes. Turn those limits into a question for the owner or analyst rather than hiding them in a footnote.</a:t>
            </a:r>
          </a:p>
        </p:txBody>
      </p:sp>
    </p:spTree>
    <p:extLst>
      <p:ext uri="{BB962C8B-B14F-4D97-AF65-F5344CB8AC3E}">
        <p14:creationId xmlns:p14="http://schemas.microsoft.com/office/powerpoint/2010/main" val="1827360632"/>
      </p:ext>
    </p:extLst>
  </p:cSld>
</p:sld>
</file>

<file path=ppt/slides/slide43.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75BCFFF9-9DD4-4C5E-8387-F0EAAA8DF569}"/>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7 / MODULE 8</a:t>
            </a:r>
          </a:p>
        </p:txBody>
      </p:sp>
      <p:sp>
        <p:nvSpPr>
          <p:cNvPr id="2" name="">
            <a:extLst xmlns:a="http://schemas.openxmlformats.org/drawingml/2006/main">
              <a:ext uri="{FF2B5EF4-FFF2-40B4-BE49-F238E27FC236}">
                <a16:creationId xmlns:a16="http://schemas.microsoft.com/office/drawing/2014/main" id="{2FCD97D7-D406-40B0-AB08-58042BA66314}"/>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S9  |  Instructor walkthrough</a:t>
            </a:r>
          </a:p>
        </p:txBody>
      </p:sp>
      <p:sp>
        <p:nvSpPr>
          <p:cNvPr id="3" name="">
            <a:extLst xmlns:a="http://schemas.openxmlformats.org/drawingml/2006/main">
              <a:ext uri="{FF2B5EF4-FFF2-40B4-BE49-F238E27FC236}">
                <a16:creationId xmlns:a16="http://schemas.microsoft.com/office/drawing/2014/main" id="{DDA8D7DC-FC18-4ED7-9985-8E89F16FCBA7}"/>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2D9E572-8CC4-4414-917B-FFA0CD83DEFA}"/>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FCDDCB4-C33F-4F62-A68A-33CDE2E3F0A5}"/>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8AD5ACA2-B463-40C1-B606-6E43082FC73C}"/>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43</a:t>
            </a:r>
          </a:p>
        </p:txBody>
      </p:sp>
      <p:sp>
        <p:nvSpPr>
          <p:cNvPr id="7" name="">
            <a:extLst xmlns:a="http://schemas.openxmlformats.org/drawingml/2006/main">
              <a:ext uri="{FF2B5EF4-FFF2-40B4-BE49-F238E27FC236}">
                <a16:creationId xmlns:a16="http://schemas.microsoft.com/office/drawing/2014/main" id="{84258836-40F6-4618-8957-DA5EC060EB6F}"/>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8 topic 8.1–8.2 and proposal p. 9. Chart values are invented solely for instruction and are not DWIHN data.</a:t>
            </a:r>
          </a:p>
        </p:txBody>
      </p:sp>
      <p:sp>
        <p:nvSpPr>
          <p:cNvPr id="8" name="">
            <a:extLst xmlns:a="http://schemas.openxmlformats.org/drawingml/2006/main">
              <a:ext uri="{FF2B5EF4-FFF2-40B4-BE49-F238E27FC236}">
                <a16:creationId xmlns:a16="http://schemas.microsoft.com/office/drawing/2014/main" id="{C9962610-FCE5-4E35-B2DE-4E90CD5FF669}"/>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Objective Decisions with Data: Read the Evidence</a:t>
            </a:r>
          </a:p>
        </p:txBody>
      </p:sp>
      <p:sp>
        <p:nvSpPr>
          <p:cNvPr id="9" name="">
            <a:extLst xmlns:a="http://schemas.openxmlformats.org/drawingml/2006/main">
              <a:ext uri="{FF2B5EF4-FFF2-40B4-BE49-F238E27FC236}">
                <a16:creationId xmlns:a16="http://schemas.microsoft.com/office/drawing/2014/main" id="{CFFD9FD0-C28B-48EB-B9F7-61452E2973C3}"/>
              </a:ext>
            </a:extLst>
          </p:cNvPr>
          <p:cNvSpPr>
            <a:spLocks xmlns:a="http://schemas.openxmlformats.org/drawingml/2006/main" noGrp="1"/>
          </p:cNvSpPr>
          <p:nvPr/>
        </p:nvSpPr>
        <p:spPr>
          <a:xfrm xmlns:a="http://schemas.openxmlformats.org/drawingml/2006/main">
            <a:off x="723900" y="4895850"/>
            <a:ext cx="5257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2390FD7-53AF-4F15-A36E-882F89C326C0}"/>
              </a:ext>
            </a:extLst>
          </p:cNvPr>
          <p:cNvSpPr>
            <a:spLocks xmlns:a="http://schemas.openxmlformats.org/drawingml/2006/main" noGrp="1"/>
          </p:cNvSpPr>
          <p:nvPr/>
        </p:nvSpPr>
        <p:spPr>
          <a:xfrm xmlns:a="http://schemas.openxmlformats.org/drawingml/2006/main">
            <a:off x="1085850" y="3359658"/>
            <a:ext cx="552450" cy="1536192"/>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1FFA823-7C4A-403A-A0CE-1149FA001E24}"/>
              </a:ext>
            </a:extLst>
          </p:cNvPr>
          <p:cNvSpPr>
            <a:spLocks xmlns:a="http://schemas.openxmlformats.org/drawingml/2006/main" noGrp="1"/>
          </p:cNvSpPr>
          <p:nvPr/>
        </p:nvSpPr>
        <p:spPr>
          <a:xfrm xmlns:a="http://schemas.openxmlformats.org/drawingml/2006/main">
            <a:off x="1085850" y="3112008"/>
            <a:ext cx="552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975" b="1">
                <a:solidFill>
                  <a:srgbClr val="506473"/>
                </a:solidFill>
                <a:latin typeface="Arial"/>
                <a:ea typeface="Arial"/>
                <a:cs typeface="Arial"/>
              </a:defRPr>
            </a:pPr>
            <a:r>
              <a:rPr sz="975" b="1">
                <a:solidFill>
                  <a:srgbClr val="506473"/>
                </a:solidFill>
                <a:latin typeface="Arial"/>
                <a:ea typeface="Arial"/>
                <a:cs typeface="Arial"/>
              </a:rPr>
              <a:t>72</a:t>
            </a:r>
          </a:p>
        </p:txBody>
      </p:sp>
      <p:sp>
        <p:nvSpPr>
          <p:cNvPr id="12" name="">
            <a:extLst xmlns:a="http://schemas.openxmlformats.org/drawingml/2006/main">
              <a:ext uri="{FF2B5EF4-FFF2-40B4-BE49-F238E27FC236}">
                <a16:creationId xmlns:a16="http://schemas.microsoft.com/office/drawing/2014/main" id="{D65F3C59-BFF9-4C68-9468-26F0E61ACAFB}"/>
              </a:ext>
            </a:extLst>
          </p:cNvPr>
          <p:cNvSpPr>
            <a:spLocks xmlns:a="http://schemas.openxmlformats.org/drawingml/2006/main" noGrp="1"/>
          </p:cNvSpPr>
          <p:nvPr/>
        </p:nvSpPr>
        <p:spPr>
          <a:xfrm xmlns:a="http://schemas.openxmlformats.org/drawingml/2006/main">
            <a:off x="1028700" y="49625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900" b="0">
                <a:solidFill>
                  <a:srgbClr val="506473"/>
                </a:solidFill>
                <a:latin typeface="Arial"/>
                <a:ea typeface="Arial"/>
                <a:cs typeface="Arial"/>
              </a:defRPr>
            </a:pPr>
            <a:r>
              <a:rPr sz="900" b="0">
                <a:solidFill>
                  <a:srgbClr val="506473"/>
                </a:solidFill>
                <a:latin typeface="Arial"/>
                <a:ea typeface="Arial"/>
                <a:cs typeface="Arial"/>
              </a:rPr>
              <a:t>Q1</a:t>
            </a:r>
          </a:p>
        </p:txBody>
      </p:sp>
      <p:sp>
        <p:nvSpPr>
          <p:cNvPr id="13" name="">
            <a:extLst xmlns:a="http://schemas.openxmlformats.org/drawingml/2006/main">
              <a:ext uri="{FF2B5EF4-FFF2-40B4-BE49-F238E27FC236}">
                <a16:creationId xmlns:a16="http://schemas.microsoft.com/office/drawing/2014/main" id="{281E4863-2ADA-4D62-84A2-4DFDC0F8DF9E}"/>
              </a:ext>
            </a:extLst>
          </p:cNvPr>
          <p:cNvSpPr>
            <a:spLocks xmlns:a="http://schemas.openxmlformats.org/drawingml/2006/main" noGrp="1"/>
          </p:cNvSpPr>
          <p:nvPr/>
        </p:nvSpPr>
        <p:spPr>
          <a:xfrm xmlns:a="http://schemas.openxmlformats.org/drawingml/2006/main">
            <a:off x="1866900" y="3295650"/>
            <a:ext cx="552450" cy="160020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71132D0-6027-4165-91D5-47EE2273A7BC}"/>
              </a:ext>
            </a:extLst>
          </p:cNvPr>
          <p:cNvSpPr>
            <a:spLocks xmlns:a="http://schemas.openxmlformats.org/drawingml/2006/main" noGrp="1"/>
          </p:cNvSpPr>
          <p:nvPr/>
        </p:nvSpPr>
        <p:spPr>
          <a:xfrm xmlns:a="http://schemas.openxmlformats.org/drawingml/2006/main">
            <a:off x="1866900" y="3048000"/>
            <a:ext cx="552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975" b="1">
                <a:solidFill>
                  <a:srgbClr val="506473"/>
                </a:solidFill>
                <a:latin typeface="Arial"/>
                <a:ea typeface="Arial"/>
                <a:cs typeface="Arial"/>
              </a:defRPr>
            </a:pPr>
            <a:r>
              <a:rPr sz="975" b="1">
                <a:solidFill>
                  <a:srgbClr val="506473"/>
                </a:solidFill>
                <a:latin typeface="Arial"/>
                <a:ea typeface="Arial"/>
                <a:cs typeface="Arial"/>
              </a:rPr>
              <a:t>75</a:t>
            </a:r>
          </a:p>
        </p:txBody>
      </p:sp>
      <p:sp>
        <p:nvSpPr>
          <p:cNvPr id="15" name="">
            <a:extLst xmlns:a="http://schemas.openxmlformats.org/drawingml/2006/main">
              <a:ext uri="{FF2B5EF4-FFF2-40B4-BE49-F238E27FC236}">
                <a16:creationId xmlns:a16="http://schemas.microsoft.com/office/drawing/2014/main" id="{4DCA95ED-E4E0-4388-9042-29C47A91E0FA}"/>
              </a:ext>
            </a:extLst>
          </p:cNvPr>
          <p:cNvSpPr>
            <a:spLocks xmlns:a="http://schemas.openxmlformats.org/drawingml/2006/main" noGrp="1"/>
          </p:cNvSpPr>
          <p:nvPr/>
        </p:nvSpPr>
        <p:spPr>
          <a:xfrm xmlns:a="http://schemas.openxmlformats.org/drawingml/2006/main">
            <a:off x="1809750" y="49625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900" b="0">
                <a:solidFill>
                  <a:srgbClr val="506473"/>
                </a:solidFill>
                <a:latin typeface="Arial"/>
                <a:ea typeface="Arial"/>
                <a:cs typeface="Arial"/>
              </a:defRPr>
            </a:pPr>
            <a:r>
              <a:rPr sz="900" b="0">
                <a:solidFill>
                  <a:srgbClr val="506473"/>
                </a:solidFill>
                <a:latin typeface="Arial"/>
                <a:ea typeface="Arial"/>
                <a:cs typeface="Arial"/>
              </a:rPr>
              <a:t>Q2</a:t>
            </a:r>
          </a:p>
        </p:txBody>
      </p:sp>
      <p:sp>
        <p:nvSpPr>
          <p:cNvPr id="16" name="">
            <a:extLst xmlns:a="http://schemas.openxmlformats.org/drawingml/2006/main">
              <a:ext uri="{FF2B5EF4-FFF2-40B4-BE49-F238E27FC236}">
                <a16:creationId xmlns:a16="http://schemas.microsoft.com/office/drawing/2014/main" id="{CF562250-823E-48BC-BEA2-6E04F3BA13A7}"/>
              </a:ext>
            </a:extLst>
          </p:cNvPr>
          <p:cNvSpPr>
            <a:spLocks xmlns:a="http://schemas.openxmlformats.org/drawingml/2006/main" noGrp="1"/>
          </p:cNvSpPr>
          <p:nvPr/>
        </p:nvSpPr>
        <p:spPr>
          <a:xfrm xmlns:a="http://schemas.openxmlformats.org/drawingml/2006/main">
            <a:off x="2647950" y="3338322"/>
            <a:ext cx="552450" cy="1557528"/>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EBDBF69-CC0E-41DB-8EB6-ED7BFEEE9FE7}"/>
              </a:ext>
            </a:extLst>
          </p:cNvPr>
          <p:cNvSpPr>
            <a:spLocks xmlns:a="http://schemas.openxmlformats.org/drawingml/2006/main" noGrp="1"/>
          </p:cNvSpPr>
          <p:nvPr/>
        </p:nvSpPr>
        <p:spPr>
          <a:xfrm xmlns:a="http://schemas.openxmlformats.org/drawingml/2006/main">
            <a:off x="2647950" y="3090672"/>
            <a:ext cx="552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975" b="1">
                <a:solidFill>
                  <a:srgbClr val="506473"/>
                </a:solidFill>
                <a:latin typeface="Arial"/>
                <a:ea typeface="Arial"/>
                <a:cs typeface="Arial"/>
              </a:defRPr>
            </a:pPr>
            <a:r>
              <a:rPr sz="975" b="1">
                <a:solidFill>
                  <a:srgbClr val="506473"/>
                </a:solidFill>
                <a:latin typeface="Arial"/>
                <a:ea typeface="Arial"/>
                <a:cs typeface="Arial"/>
              </a:rPr>
              <a:t>73</a:t>
            </a:r>
          </a:p>
        </p:txBody>
      </p:sp>
      <p:sp>
        <p:nvSpPr>
          <p:cNvPr id="18" name="">
            <a:extLst xmlns:a="http://schemas.openxmlformats.org/drawingml/2006/main">
              <a:ext uri="{FF2B5EF4-FFF2-40B4-BE49-F238E27FC236}">
                <a16:creationId xmlns:a16="http://schemas.microsoft.com/office/drawing/2014/main" id="{5E205BEC-E4D9-45D3-8839-0C2352AFBB76}"/>
              </a:ext>
            </a:extLst>
          </p:cNvPr>
          <p:cNvSpPr>
            <a:spLocks xmlns:a="http://schemas.openxmlformats.org/drawingml/2006/main" noGrp="1"/>
          </p:cNvSpPr>
          <p:nvPr/>
        </p:nvSpPr>
        <p:spPr>
          <a:xfrm xmlns:a="http://schemas.openxmlformats.org/drawingml/2006/main">
            <a:off x="2590800" y="49625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900" b="0">
                <a:solidFill>
                  <a:srgbClr val="506473"/>
                </a:solidFill>
                <a:latin typeface="Arial"/>
                <a:ea typeface="Arial"/>
                <a:cs typeface="Arial"/>
              </a:defRPr>
            </a:pPr>
            <a:r>
              <a:rPr sz="900" b="0">
                <a:solidFill>
                  <a:srgbClr val="506473"/>
                </a:solidFill>
                <a:latin typeface="Arial"/>
                <a:ea typeface="Arial"/>
                <a:cs typeface="Arial"/>
              </a:rPr>
              <a:t>Q3</a:t>
            </a:r>
          </a:p>
        </p:txBody>
      </p:sp>
      <p:sp>
        <p:nvSpPr>
          <p:cNvPr id="19" name="">
            <a:extLst xmlns:a="http://schemas.openxmlformats.org/drawingml/2006/main">
              <a:ext uri="{FF2B5EF4-FFF2-40B4-BE49-F238E27FC236}">
                <a16:creationId xmlns:a16="http://schemas.microsoft.com/office/drawing/2014/main" id="{ECE86971-4CCA-4156-8227-448ABEBC91AB}"/>
              </a:ext>
            </a:extLst>
          </p:cNvPr>
          <p:cNvSpPr>
            <a:spLocks xmlns:a="http://schemas.openxmlformats.org/drawingml/2006/main" noGrp="1"/>
          </p:cNvSpPr>
          <p:nvPr/>
        </p:nvSpPr>
        <p:spPr>
          <a:xfrm xmlns:a="http://schemas.openxmlformats.org/drawingml/2006/main">
            <a:off x="3429000" y="3167634"/>
            <a:ext cx="552450" cy="1728216"/>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FFD4B40-91D5-44A2-A94B-D8945E60436D}"/>
              </a:ext>
            </a:extLst>
          </p:cNvPr>
          <p:cNvSpPr>
            <a:spLocks xmlns:a="http://schemas.openxmlformats.org/drawingml/2006/main" noGrp="1"/>
          </p:cNvSpPr>
          <p:nvPr/>
        </p:nvSpPr>
        <p:spPr>
          <a:xfrm xmlns:a="http://schemas.openxmlformats.org/drawingml/2006/main">
            <a:off x="3429000" y="2919984"/>
            <a:ext cx="552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975" b="1">
                <a:solidFill>
                  <a:srgbClr val="506473"/>
                </a:solidFill>
                <a:latin typeface="Arial"/>
                <a:ea typeface="Arial"/>
                <a:cs typeface="Arial"/>
              </a:defRPr>
            </a:pPr>
            <a:r>
              <a:rPr sz="975" b="1">
                <a:solidFill>
                  <a:srgbClr val="506473"/>
                </a:solidFill>
                <a:latin typeface="Arial"/>
                <a:ea typeface="Arial"/>
                <a:cs typeface="Arial"/>
              </a:rPr>
              <a:t>81</a:t>
            </a:r>
          </a:p>
        </p:txBody>
      </p:sp>
      <p:sp>
        <p:nvSpPr>
          <p:cNvPr id="21" name="">
            <a:extLst xmlns:a="http://schemas.openxmlformats.org/drawingml/2006/main">
              <a:ext uri="{FF2B5EF4-FFF2-40B4-BE49-F238E27FC236}">
                <a16:creationId xmlns:a16="http://schemas.microsoft.com/office/drawing/2014/main" id="{EF449098-80DD-4EC3-9339-1660E322616B}"/>
              </a:ext>
            </a:extLst>
          </p:cNvPr>
          <p:cNvSpPr>
            <a:spLocks xmlns:a="http://schemas.openxmlformats.org/drawingml/2006/main" noGrp="1"/>
          </p:cNvSpPr>
          <p:nvPr/>
        </p:nvSpPr>
        <p:spPr>
          <a:xfrm xmlns:a="http://schemas.openxmlformats.org/drawingml/2006/main">
            <a:off x="3371850" y="49625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900" b="0">
                <a:solidFill>
                  <a:srgbClr val="506473"/>
                </a:solidFill>
                <a:latin typeface="Arial"/>
                <a:ea typeface="Arial"/>
                <a:cs typeface="Arial"/>
              </a:defRPr>
            </a:pPr>
            <a:r>
              <a:rPr sz="900" b="0">
                <a:solidFill>
                  <a:srgbClr val="506473"/>
                </a:solidFill>
                <a:latin typeface="Arial"/>
                <a:ea typeface="Arial"/>
                <a:cs typeface="Arial"/>
              </a:rPr>
              <a:t>Q4</a:t>
            </a:r>
          </a:p>
        </p:txBody>
      </p:sp>
      <p:sp>
        <p:nvSpPr>
          <p:cNvPr id="22" name="">
            <a:extLst xmlns:a="http://schemas.openxmlformats.org/drawingml/2006/main">
              <a:ext uri="{FF2B5EF4-FFF2-40B4-BE49-F238E27FC236}">
                <a16:creationId xmlns:a16="http://schemas.microsoft.com/office/drawing/2014/main" id="{7F0897B7-61EE-44BD-BEC0-8CE9F8661AB9}"/>
              </a:ext>
            </a:extLst>
          </p:cNvPr>
          <p:cNvSpPr>
            <a:spLocks xmlns:a="http://schemas.openxmlformats.org/drawingml/2006/main" noGrp="1"/>
          </p:cNvSpPr>
          <p:nvPr/>
        </p:nvSpPr>
        <p:spPr>
          <a:xfrm xmlns:a="http://schemas.openxmlformats.org/drawingml/2006/main">
            <a:off x="609600" y="5219700"/>
            <a:ext cx="5476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Illustrative quarterly values</a:t>
            </a:r>
          </a:p>
        </p:txBody>
      </p:sp>
      <p:sp>
        <p:nvSpPr>
          <p:cNvPr id="23" name="">
            <a:extLst xmlns:a="http://schemas.openxmlformats.org/drawingml/2006/main">
              <a:ext uri="{FF2B5EF4-FFF2-40B4-BE49-F238E27FC236}">
                <a16:creationId xmlns:a16="http://schemas.microsoft.com/office/drawing/2014/main" id="{9E5C2105-EE4F-49C1-8294-BA8334E08156}"/>
              </a:ext>
            </a:extLst>
          </p:cNvPr>
          <p:cNvSpPr>
            <a:spLocks xmlns:a="http://schemas.openxmlformats.org/drawingml/2006/main" noGrp="1"/>
          </p:cNvSpPr>
          <p:nvPr/>
        </p:nvSpPr>
        <p:spPr>
          <a:xfrm xmlns:a="http://schemas.openxmlformats.org/drawingml/2006/main">
            <a:off x="6496050" y="2095500"/>
            <a:ext cx="48577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142F42"/>
                </a:solidFill>
                <a:latin typeface="Arial"/>
                <a:ea typeface="Arial"/>
                <a:cs typeface="Arial"/>
              </a:defRPr>
            </a:pPr>
            <a:r>
              <a:rPr sz="1425" b="0">
                <a:solidFill>
                  <a:srgbClr val="142F42"/>
                </a:solidFill>
                <a:latin typeface="Arial"/>
                <a:ea typeface="Arial"/>
                <a:cs typeface="Arial"/>
              </a:rPr>
              <a:t>Illustrative, invented data for teaching only: a completion measure is 72%, 75%, 73% and 81% across four quarters. A careful statement is “The recorded rate increased in the fourth quarter in this example.” The sequence alone does not show what caused the increase.</a:t>
            </a:r>
          </a:p>
        </p:txBody>
      </p:sp>
      <p:sp>
        <p:nvSpPr>
          <p:cNvPr id="24" name="">
            <a:extLst xmlns:a="http://schemas.openxmlformats.org/drawingml/2006/main">
              <a:ext uri="{FF2B5EF4-FFF2-40B4-BE49-F238E27FC236}">
                <a16:creationId xmlns:a16="http://schemas.microsoft.com/office/drawing/2014/main" id="{BE297438-CAC0-45BD-8D50-C1E57CE7EEC4}"/>
              </a:ext>
            </a:extLst>
          </p:cNvPr>
          <p:cNvSpPr>
            <a:spLocks xmlns:a="http://schemas.openxmlformats.org/drawingml/2006/main" noGrp="1"/>
          </p:cNvSpPr>
          <p:nvPr/>
        </p:nvSpPr>
        <p:spPr>
          <a:xfrm xmlns:a="http://schemas.openxmlformats.org/drawingml/2006/main">
            <a:off x="6496050" y="38290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DEMONSTRATION CHECKS</a:t>
            </a:r>
          </a:p>
        </p:txBody>
      </p:sp>
      <p:sp>
        <p:nvSpPr>
          <p:cNvPr id="25" name="">
            <a:extLst xmlns:a="http://schemas.openxmlformats.org/drawingml/2006/main">
              <a:ext uri="{FF2B5EF4-FFF2-40B4-BE49-F238E27FC236}">
                <a16:creationId xmlns:a16="http://schemas.microsoft.com/office/drawing/2014/main" id="{9F97BBE2-B7C5-43C8-BE16-8EB8891B84A4}"/>
              </a:ext>
            </a:extLst>
          </p:cNvPr>
          <p:cNvSpPr>
            <a:spLocks xmlns:a="http://schemas.openxmlformats.org/drawingml/2006/main" noGrp="1"/>
          </p:cNvSpPr>
          <p:nvPr/>
        </p:nvSpPr>
        <p:spPr>
          <a:xfrm xmlns:a="http://schemas.openxmlformats.org/drawingml/2006/main">
            <a:off x="6496050" y="4105275"/>
            <a:ext cx="4857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506473"/>
                </a:solidFill>
                <a:latin typeface="Arial"/>
                <a:ea typeface="Arial"/>
                <a:cs typeface="Arial"/>
              </a:defRPr>
            </a:pPr>
            <a:r>
              <a:rPr sz="1275" b="0">
                <a:solidFill>
                  <a:srgbClr val="506473"/>
                </a:solidFill>
                <a:latin typeface="Arial"/>
                <a:ea typeface="Arial"/>
                <a:cs typeface="Arial"/>
              </a:rPr>
              <a:t>1. Read the measure and unit.</a:t>
            </a:r>
          </a:p>
        </p:txBody>
      </p:sp>
      <p:sp>
        <p:nvSpPr>
          <p:cNvPr id="26" name="">
            <a:extLst xmlns:a="http://schemas.openxmlformats.org/drawingml/2006/main">
              <a:ext uri="{FF2B5EF4-FFF2-40B4-BE49-F238E27FC236}">
                <a16:creationId xmlns:a16="http://schemas.microsoft.com/office/drawing/2014/main" id="{AB1A8D53-CF67-4423-A89F-83037F55A225}"/>
              </a:ext>
            </a:extLst>
          </p:cNvPr>
          <p:cNvSpPr>
            <a:spLocks xmlns:a="http://schemas.openxmlformats.org/drawingml/2006/main" noGrp="1"/>
          </p:cNvSpPr>
          <p:nvPr/>
        </p:nvSpPr>
        <p:spPr>
          <a:xfrm xmlns:a="http://schemas.openxmlformats.org/drawingml/2006/main">
            <a:off x="6496050" y="4467225"/>
            <a:ext cx="4857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506473"/>
                </a:solidFill>
                <a:latin typeface="Arial"/>
                <a:ea typeface="Arial"/>
                <a:cs typeface="Arial"/>
              </a:defRPr>
            </a:pPr>
            <a:r>
              <a:rPr sz="1275" b="0">
                <a:solidFill>
                  <a:srgbClr val="506473"/>
                </a:solidFill>
                <a:latin typeface="Arial"/>
                <a:ea typeface="Arial"/>
                <a:cs typeface="Arial"/>
              </a:rPr>
              <a:t>2. Confirm period, filters and population.</a:t>
            </a:r>
          </a:p>
        </p:txBody>
      </p:sp>
      <p:sp>
        <p:nvSpPr>
          <p:cNvPr id="27" name="">
            <a:extLst xmlns:a="http://schemas.openxmlformats.org/drawingml/2006/main">
              <a:ext uri="{FF2B5EF4-FFF2-40B4-BE49-F238E27FC236}">
                <a16:creationId xmlns:a16="http://schemas.microsoft.com/office/drawing/2014/main" id="{3C09D0F5-1009-406D-862A-B8F7CEC23B1D}"/>
              </a:ext>
            </a:extLst>
          </p:cNvPr>
          <p:cNvSpPr>
            <a:spLocks xmlns:a="http://schemas.openxmlformats.org/drawingml/2006/main" noGrp="1"/>
          </p:cNvSpPr>
          <p:nvPr/>
        </p:nvSpPr>
        <p:spPr>
          <a:xfrm xmlns:a="http://schemas.openxmlformats.org/drawingml/2006/main">
            <a:off x="6496050" y="4829175"/>
            <a:ext cx="4857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506473"/>
                </a:solidFill>
                <a:latin typeface="Arial"/>
                <a:ea typeface="Arial"/>
                <a:cs typeface="Arial"/>
              </a:defRPr>
            </a:pPr>
            <a:r>
              <a:rPr sz="1275" b="0">
                <a:solidFill>
                  <a:srgbClr val="506473"/>
                </a:solidFill>
                <a:latin typeface="Arial"/>
                <a:ea typeface="Arial"/>
                <a:cs typeface="Arial"/>
              </a:rPr>
              <a:t>3. Describe change without claiming its cause.</a:t>
            </a:r>
          </a:p>
        </p:txBody>
      </p:sp>
    </p:spTree>
    <p:extLst>
      <p:ext uri="{BB962C8B-B14F-4D97-AF65-F5344CB8AC3E}">
        <p14:creationId xmlns:p14="http://schemas.microsoft.com/office/powerpoint/2010/main" val="1899722637"/>
      </p:ext>
    </p:extLst>
  </p:cSld>
</p:sld>
</file>

<file path=ppt/slides/slide44.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C92EB640-4507-41B8-866D-895A09471102}"/>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7 / MODULE 8</a:t>
            </a:r>
          </a:p>
        </p:txBody>
      </p:sp>
      <p:sp>
        <p:nvSpPr>
          <p:cNvPr id="2" name="">
            <a:extLst xmlns:a="http://schemas.openxmlformats.org/drawingml/2006/main">
              <a:ext uri="{FF2B5EF4-FFF2-40B4-BE49-F238E27FC236}">
                <a16:creationId xmlns:a16="http://schemas.microsoft.com/office/drawing/2014/main" id="{5F9A498F-B157-4C36-B127-DA90891C0F28}"/>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S9  |  Practical scenario &amp; exercise</a:t>
            </a:r>
          </a:p>
        </p:txBody>
      </p:sp>
      <p:sp>
        <p:nvSpPr>
          <p:cNvPr id="3" name="">
            <a:extLst xmlns:a="http://schemas.openxmlformats.org/drawingml/2006/main">
              <a:ext uri="{FF2B5EF4-FFF2-40B4-BE49-F238E27FC236}">
                <a16:creationId xmlns:a16="http://schemas.microsoft.com/office/drawing/2014/main" id="{E916920C-B67E-4ACB-88A7-202BBC5C476F}"/>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779EF2E-5C75-46EF-96BB-5D55AE5E93FD}"/>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D446F88-6A2E-4334-8FAA-553C1AF0EEF8}"/>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00386CD5-2011-421C-8C5A-20ECA2FE5513}"/>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44</a:t>
            </a:r>
          </a:p>
        </p:txBody>
      </p:sp>
      <p:sp>
        <p:nvSpPr>
          <p:cNvPr id="7" name="">
            <a:extLst xmlns:a="http://schemas.openxmlformats.org/drawingml/2006/main">
              <a:ext uri="{FF2B5EF4-FFF2-40B4-BE49-F238E27FC236}">
                <a16:creationId xmlns:a16="http://schemas.microsoft.com/office/drawing/2014/main" id="{57FD8065-38C6-47E5-801B-175596C33E5F}"/>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8 topic 8.1–8.2 and proposal p. 9. Chart values are invented solely for instruction and are not DWIHN data.</a:t>
            </a:r>
          </a:p>
        </p:txBody>
      </p:sp>
      <p:sp>
        <p:nvSpPr>
          <p:cNvPr id="8" name="">
            <a:extLst xmlns:a="http://schemas.openxmlformats.org/drawingml/2006/main">
              <a:ext uri="{FF2B5EF4-FFF2-40B4-BE49-F238E27FC236}">
                <a16:creationId xmlns:a16="http://schemas.microsoft.com/office/drawing/2014/main" id="{6DA14354-930B-497D-A356-B7367043E28D}"/>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Objective Decisions with Data: Read the Evidence</a:t>
            </a:r>
          </a:p>
        </p:txBody>
      </p:sp>
      <p:sp>
        <p:nvSpPr>
          <p:cNvPr id="9" name="">
            <a:extLst xmlns:a="http://schemas.openxmlformats.org/drawingml/2006/main">
              <a:ext uri="{FF2B5EF4-FFF2-40B4-BE49-F238E27FC236}">
                <a16:creationId xmlns:a16="http://schemas.microsoft.com/office/drawing/2014/main" id="{D14AEEF2-82C4-4756-BE93-58EBDE5293C0}"/>
              </a:ext>
            </a:extLst>
          </p:cNvPr>
          <p:cNvSpPr>
            <a:spLocks xmlns:a="http://schemas.openxmlformats.org/drawingml/2006/main" noGrp="1"/>
          </p:cNvSpPr>
          <p:nvPr/>
        </p:nvSpPr>
        <p:spPr>
          <a:xfrm xmlns:a="http://schemas.openxmlformats.org/drawingml/2006/main">
            <a:off x="609600" y="1981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SCENARIO</a:t>
            </a:r>
          </a:p>
        </p:txBody>
      </p:sp>
      <p:sp>
        <p:nvSpPr>
          <p:cNvPr id="10" name="">
            <a:extLst xmlns:a="http://schemas.openxmlformats.org/drawingml/2006/main">
              <a:ext uri="{FF2B5EF4-FFF2-40B4-BE49-F238E27FC236}">
                <a16:creationId xmlns:a16="http://schemas.microsoft.com/office/drawing/2014/main" id="{FBF9254B-5D17-4A4B-A395-E0E401D5139F}"/>
              </a:ext>
            </a:extLst>
          </p:cNvPr>
          <p:cNvSpPr>
            <a:spLocks xmlns:a="http://schemas.openxmlformats.org/drawingml/2006/main" noGrp="1"/>
          </p:cNvSpPr>
          <p:nvPr/>
        </p:nvSpPr>
        <p:spPr>
          <a:xfrm xmlns:a="http://schemas.openxmlformats.org/drawingml/2006/main">
            <a:off x="609600" y="2266950"/>
            <a:ext cx="109728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D4DFE3"/>
            </a:solidFill>
          </a:ln>
        </p:spPr>
      </p:sp>
      <p:sp>
        <p:nvSpPr>
          <p:cNvPr id="11" name="">
            <a:extLst xmlns:a="http://schemas.openxmlformats.org/drawingml/2006/main">
              <a:ext uri="{FF2B5EF4-FFF2-40B4-BE49-F238E27FC236}">
                <a16:creationId xmlns:a16="http://schemas.microsoft.com/office/drawing/2014/main" id="{A6DDCA9D-21B5-4A5B-9D11-DCB50D28D37A}"/>
              </a:ext>
            </a:extLst>
          </p:cNvPr>
          <p:cNvSpPr>
            <a:spLocks xmlns:a="http://schemas.openxmlformats.org/drawingml/2006/main" noGrp="1"/>
          </p:cNvSpPr>
          <p:nvPr/>
        </p:nvSpPr>
        <p:spPr>
          <a:xfrm xmlns:a="http://schemas.openxmlformats.org/drawingml/2006/main">
            <a:off x="819150" y="2447925"/>
            <a:ext cx="10525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142F42"/>
                </a:solidFill>
                <a:latin typeface="Arial"/>
                <a:ea typeface="Arial"/>
                <a:cs typeface="Arial"/>
              </a:defRPr>
            </a:pPr>
            <a:r>
              <a:rPr sz="1425" b="0">
                <a:solidFill>
                  <a:srgbClr val="142F42"/>
                </a:solidFill>
                <a:latin typeface="Arial"/>
                <a:ea typeface="Arial"/>
                <a:cs typeface="Arial"/>
              </a:rPr>
              <a:t>A dashboard shows a rise over the final period. The measure was renamed halfway through the year and one group has fewer records. A manager wants to call the trend proof that a new process worked.</a:t>
            </a:r>
          </a:p>
        </p:txBody>
      </p:sp>
      <p:sp>
        <p:nvSpPr>
          <p:cNvPr id="12" name="">
            <a:extLst xmlns:a="http://schemas.openxmlformats.org/drawingml/2006/main">
              <a:ext uri="{FF2B5EF4-FFF2-40B4-BE49-F238E27FC236}">
                <a16:creationId xmlns:a16="http://schemas.microsoft.com/office/drawing/2014/main" id="{915B30B2-0156-4A75-AF7A-052D872D98AA}"/>
              </a:ext>
            </a:extLst>
          </p:cNvPr>
          <p:cNvSpPr>
            <a:spLocks xmlns:a="http://schemas.openxmlformats.org/drawingml/2006/main" noGrp="1"/>
          </p:cNvSpPr>
          <p:nvPr/>
        </p:nvSpPr>
        <p:spPr>
          <a:xfrm xmlns:a="http://schemas.openxmlformats.org/drawingml/2006/main">
            <a:off x="609600" y="34861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 THE CASE</a:t>
            </a:r>
          </a:p>
        </p:txBody>
      </p:sp>
      <p:sp>
        <p:nvSpPr>
          <p:cNvPr id="13" name="">
            <a:extLst xmlns:a="http://schemas.openxmlformats.org/drawingml/2006/main">
              <a:ext uri="{FF2B5EF4-FFF2-40B4-BE49-F238E27FC236}">
                <a16:creationId xmlns:a16="http://schemas.microsoft.com/office/drawing/2014/main" id="{517BB804-A7E9-4173-B85C-75DBEC6B9949}"/>
              </a:ext>
            </a:extLst>
          </p:cNvPr>
          <p:cNvSpPr>
            <a:spLocks xmlns:a="http://schemas.openxmlformats.org/drawingml/2006/main" noGrp="1"/>
          </p:cNvSpPr>
          <p:nvPr/>
        </p:nvSpPr>
        <p:spPr>
          <a:xfrm xmlns:a="http://schemas.openxmlformats.org/drawingml/2006/main">
            <a:off x="609600" y="38195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4" name="">
            <a:extLst xmlns:a="http://schemas.openxmlformats.org/drawingml/2006/main">
              <a:ext uri="{FF2B5EF4-FFF2-40B4-BE49-F238E27FC236}">
                <a16:creationId xmlns:a16="http://schemas.microsoft.com/office/drawing/2014/main" id="{2938DE84-5DF6-4C19-8D87-48A4BA45F052}"/>
              </a:ext>
            </a:extLst>
          </p:cNvPr>
          <p:cNvSpPr>
            <a:spLocks xmlns:a="http://schemas.openxmlformats.org/drawingml/2006/main" noGrp="1"/>
          </p:cNvSpPr>
          <p:nvPr/>
        </p:nvSpPr>
        <p:spPr>
          <a:xfrm xmlns:a="http://schemas.openxmlformats.org/drawingml/2006/main">
            <a:off x="1066800" y="38195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Confirm whether the measure stayed comparable across periods.</a:t>
            </a:r>
          </a:p>
        </p:txBody>
      </p:sp>
      <p:sp>
        <p:nvSpPr>
          <p:cNvPr id="15" name="">
            <a:extLst xmlns:a="http://schemas.openxmlformats.org/drawingml/2006/main">
              <a:ext uri="{FF2B5EF4-FFF2-40B4-BE49-F238E27FC236}">
                <a16:creationId xmlns:a16="http://schemas.microsoft.com/office/drawing/2014/main" id="{68269829-5B34-41A2-ACB0-1C1F74DFAE9C}"/>
              </a:ext>
            </a:extLst>
          </p:cNvPr>
          <p:cNvSpPr>
            <a:spLocks xmlns:a="http://schemas.openxmlformats.org/drawingml/2006/main" noGrp="1"/>
          </p:cNvSpPr>
          <p:nvPr/>
        </p:nvSpPr>
        <p:spPr>
          <a:xfrm xmlns:a="http://schemas.openxmlformats.org/drawingml/2006/main">
            <a:off x="609600" y="43338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45B69EDF-1E5D-4272-A7CB-C2C01AAE8187}"/>
              </a:ext>
            </a:extLst>
          </p:cNvPr>
          <p:cNvSpPr>
            <a:spLocks xmlns:a="http://schemas.openxmlformats.org/drawingml/2006/main" noGrp="1"/>
          </p:cNvSpPr>
          <p:nvPr/>
        </p:nvSpPr>
        <p:spPr>
          <a:xfrm xmlns:a="http://schemas.openxmlformats.org/drawingml/2006/main">
            <a:off x="1066800" y="433387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Write one supported observation and two unanswered questions.</a:t>
            </a:r>
          </a:p>
        </p:txBody>
      </p:sp>
      <p:sp>
        <p:nvSpPr>
          <p:cNvPr id="17" name="">
            <a:extLst xmlns:a="http://schemas.openxmlformats.org/drawingml/2006/main">
              <a:ext uri="{FF2B5EF4-FFF2-40B4-BE49-F238E27FC236}">
                <a16:creationId xmlns:a16="http://schemas.microsoft.com/office/drawing/2014/main" id="{2E6344EF-5B65-4DCD-8266-2A947F34FA41}"/>
              </a:ext>
            </a:extLst>
          </p:cNvPr>
          <p:cNvSpPr>
            <a:spLocks xmlns:a="http://schemas.openxmlformats.org/drawingml/2006/main" noGrp="1"/>
          </p:cNvSpPr>
          <p:nvPr/>
        </p:nvSpPr>
        <p:spPr>
          <a:xfrm xmlns:a="http://schemas.openxmlformats.org/drawingml/2006/main">
            <a:off x="609600" y="4848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AB0AE641-D859-4885-A4C3-95EABCF31C08}"/>
              </a:ext>
            </a:extLst>
          </p:cNvPr>
          <p:cNvSpPr>
            <a:spLocks xmlns:a="http://schemas.openxmlformats.org/drawingml/2006/main" noGrp="1"/>
          </p:cNvSpPr>
          <p:nvPr/>
        </p:nvSpPr>
        <p:spPr>
          <a:xfrm xmlns:a="http://schemas.openxmlformats.org/drawingml/2006/main">
            <a:off x="1066800" y="48482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Prepare a brief meeting statement that includes the limitation.</a:t>
            </a:r>
          </a:p>
        </p:txBody>
      </p:sp>
      <p:sp>
        <p:nvSpPr>
          <p:cNvPr id="19" name="">
            <a:extLst xmlns:a="http://schemas.openxmlformats.org/drawingml/2006/main">
              <a:ext uri="{FF2B5EF4-FFF2-40B4-BE49-F238E27FC236}">
                <a16:creationId xmlns:a16="http://schemas.microsoft.com/office/drawing/2014/main" id="{64F33E53-F357-4F77-9A1B-DFED1F5CE852}"/>
              </a:ext>
            </a:extLst>
          </p:cNvPr>
          <p:cNvSpPr>
            <a:spLocks xmlns:a="http://schemas.openxmlformats.org/drawingml/2006/main" noGrp="1"/>
          </p:cNvSpPr>
          <p:nvPr/>
        </p:nvSpPr>
        <p:spPr>
          <a:xfrm xmlns:a="http://schemas.openxmlformats.org/drawingml/2006/main">
            <a:off x="7886700" y="3486150"/>
            <a:ext cx="19050" cy="219075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F53CCBA-E3BD-4976-95D3-A48B70F551BB}"/>
              </a:ext>
            </a:extLst>
          </p:cNvPr>
          <p:cNvSpPr>
            <a:spLocks xmlns:a="http://schemas.openxmlformats.org/drawingml/2006/main" noGrp="1"/>
          </p:cNvSpPr>
          <p:nvPr/>
        </p:nvSpPr>
        <p:spPr>
          <a:xfrm xmlns:a="http://schemas.openxmlformats.org/drawingml/2006/main">
            <a:off x="8229600" y="3505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EXPECTED DELIVERABLE</a:t>
            </a:r>
          </a:p>
        </p:txBody>
      </p:sp>
      <p:sp>
        <p:nvSpPr>
          <p:cNvPr id="21" name="">
            <a:extLst xmlns:a="http://schemas.openxmlformats.org/drawingml/2006/main">
              <a:ext uri="{FF2B5EF4-FFF2-40B4-BE49-F238E27FC236}">
                <a16:creationId xmlns:a16="http://schemas.microsoft.com/office/drawing/2014/main" id="{95D3E72C-522D-4806-BC83-B737A47DFED3}"/>
              </a:ext>
            </a:extLst>
          </p:cNvPr>
          <p:cNvSpPr>
            <a:spLocks xmlns:a="http://schemas.openxmlformats.org/drawingml/2006/main" noGrp="1"/>
          </p:cNvSpPr>
          <p:nvPr/>
        </p:nvSpPr>
        <p:spPr>
          <a:xfrm xmlns:a="http://schemas.openxmlformats.org/drawingml/2006/main">
            <a:off x="8229600" y="3819525"/>
            <a:ext cx="3086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A source note and a one-paragraph evidence summary using the simulated example.</a:t>
            </a:r>
          </a:p>
        </p:txBody>
      </p:sp>
      <p:sp>
        <p:nvSpPr>
          <p:cNvPr id="22" name="">
            <a:extLst xmlns:a="http://schemas.openxmlformats.org/drawingml/2006/main">
              <a:ext uri="{FF2B5EF4-FFF2-40B4-BE49-F238E27FC236}">
                <a16:creationId xmlns:a16="http://schemas.microsoft.com/office/drawing/2014/main" id="{CA47AA8E-4D18-48D2-9E65-E362FE9B2C10}"/>
              </a:ext>
            </a:extLst>
          </p:cNvPr>
          <p:cNvSpPr>
            <a:spLocks xmlns:a="http://schemas.openxmlformats.org/drawingml/2006/main" noGrp="1"/>
          </p:cNvSpPr>
          <p:nvPr/>
        </p:nvSpPr>
        <p:spPr>
          <a:xfrm xmlns:a="http://schemas.openxmlformats.org/drawingml/2006/main">
            <a:off x="8229600" y="469582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REVIEW CRITERIA</a:t>
            </a:r>
          </a:p>
        </p:txBody>
      </p:sp>
      <p:sp>
        <p:nvSpPr>
          <p:cNvPr id="23" name="">
            <a:extLst xmlns:a="http://schemas.openxmlformats.org/drawingml/2006/main">
              <a:ext uri="{FF2B5EF4-FFF2-40B4-BE49-F238E27FC236}">
                <a16:creationId xmlns:a16="http://schemas.microsoft.com/office/drawing/2014/main" id="{7AE294BD-2815-41DB-9964-B7FC46DB18DE}"/>
              </a:ext>
            </a:extLst>
          </p:cNvPr>
          <p:cNvSpPr>
            <a:spLocks xmlns:a="http://schemas.openxmlformats.org/drawingml/2006/main" noGrp="1"/>
          </p:cNvSpPr>
          <p:nvPr/>
        </p:nvSpPr>
        <p:spPr>
          <a:xfrm xmlns:a="http://schemas.openxmlformats.org/drawingml/2006/main">
            <a:off x="8229600" y="4991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Measure, period and population are stated.</a:t>
            </a:r>
          </a:p>
        </p:txBody>
      </p:sp>
      <p:sp>
        <p:nvSpPr>
          <p:cNvPr id="24" name="">
            <a:extLst xmlns:a="http://schemas.openxmlformats.org/drawingml/2006/main">
              <a:ext uri="{FF2B5EF4-FFF2-40B4-BE49-F238E27FC236}">
                <a16:creationId xmlns:a16="http://schemas.microsoft.com/office/drawing/2014/main" id="{7705C027-CE0B-40F9-8520-709A84F44BC7}"/>
              </a:ext>
            </a:extLst>
          </p:cNvPr>
          <p:cNvSpPr>
            <a:spLocks xmlns:a="http://schemas.openxmlformats.org/drawingml/2006/main" noGrp="1"/>
          </p:cNvSpPr>
          <p:nvPr/>
        </p:nvSpPr>
        <p:spPr>
          <a:xfrm xmlns:a="http://schemas.openxmlformats.org/drawingml/2006/main">
            <a:off x="8229600" y="5372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The learner separates observation from causal explanation.</a:t>
            </a:r>
          </a:p>
        </p:txBody>
      </p:sp>
      <p:sp>
        <p:nvSpPr>
          <p:cNvPr id="25" name="">
            <a:extLst xmlns:a="http://schemas.openxmlformats.org/drawingml/2006/main">
              <a:ext uri="{FF2B5EF4-FFF2-40B4-BE49-F238E27FC236}">
                <a16:creationId xmlns:a16="http://schemas.microsoft.com/office/drawing/2014/main" id="{B1751777-AE7B-437F-9422-193D97B5D5BD}"/>
              </a:ext>
            </a:extLst>
          </p:cNvPr>
          <p:cNvSpPr>
            <a:spLocks xmlns:a="http://schemas.openxmlformats.org/drawingml/2006/main" noGrp="1"/>
          </p:cNvSpPr>
          <p:nvPr/>
        </p:nvSpPr>
        <p:spPr>
          <a:xfrm xmlns:a="http://schemas.openxmlformats.org/drawingml/2006/main">
            <a:off x="8229600" y="5753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07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The limitation leads to a clear follow-up action.</a:t>
            </a:r>
          </a:p>
        </p:txBody>
      </p:sp>
    </p:spTree>
    <p:extLst>
      <p:ext uri="{BB962C8B-B14F-4D97-AF65-F5344CB8AC3E}">
        <p14:creationId xmlns:p14="http://schemas.microsoft.com/office/powerpoint/2010/main" val="1260089005"/>
      </p:ext>
    </p:extLst>
  </p:cSld>
</p:sld>
</file>

<file path=ppt/slides/slide45.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76E7D7C-3B2B-45E2-B2D5-0AB3AC5EE890}"/>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7 / MODULE 8</a:t>
            </a:r>
          </a:p>
        </p:txBody>
      </p:sp>
      <p:sp>
        <p:nvSpPr>
          <p:cNvPr id="2" name="">
            <a:extLst xmlns:a="http://schemas.openxmlformats.org/drawingml/2006/main">
              <a:ext uri="{FF2B5EF4-FFF2-40B4-BE49-F238E27FC236}">
                <a16:creationId xmlns:a16="http://schemas.microsoft.com/office/drawing/2014/main" id="{ABD4A484-374C-475A-AF54-CE3BC0AF5B79}"/>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S9  |  Q&amp;A and knowledge check</a:t>
            </a:r>
          </a:p>
        </p:txBody>
      </p:sp>
      <p:sp>
        <p:nvSpPr>
          <p:cNvPr id="3" name="">
            <a:extLst xmlns:a="http://schemas.openxmlformats.org/drawingml/2006/main">
              <a:ext uri="{FF2B5EF4-FFF2-40B4-BE49-F238E27FC236}">
                <a16:creationId xmlns:a16="http://schemas.microsoft.com/office/drawing/2014/main" id="{E282C23A-5FAD-4D42-AD2A-B7B36B837830}"/>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FF3472C-FBAD-439D-9A32-699F76D45E2D}"/>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D0FA3D3-002B-4EC3-834C-6669A35AB9A0}"/>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84CEE4E8-19F6-41F1-9267-AAF2407D1207}"/>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45</a:t>
            </a:r>
          </a:p>
        </p:txBody>
      </p:sp>
      <p:sp>
        <p:nvSpPr>
          <p:cNvPr id="7" name="">
            <a:extLst xmlns:a="http://schemas.openxmlformats.org/drawingml/2006/main">
              <a:ext uri="{FF2B5EF4-FFF2-40B4-BE49-F238E27FC236}">
                <a16:creationId xmlns:a16="http://schemas.microsoft.com/office/drawing/2014/main" id="{4CF6A515-4826-4492-A10C-D67F80DCE689}"/>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8 topic 8.1–8.2 and proposal p. 9. Chart values are invented solely for instruction and are not DWIHN data.</a:t>
            </a:r>
          </a:p>
        </p:txBody>
      </p:sp>
      <p:sp>
        <p:nvSpPr>
          <p:cNvPr id="8" name="">
            <a:extLst xmlns:a="http://schemas.openxmlformats.org/drawingml/2006/main">
              <a:ext uri="{FF2B5EF4-FFF2-40B4-BE49-F238E27FC236}">
                <a16:creationId xmlns:a16="http://schemas.microsoft.com/office/drawing/2014/main" id="{AE1B03BB-1D23-43D9-A0FF-CC440D8D61CF}"/>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Objective Decisions with Data: Read the Evidence</a:t>
            </a:r>
          </a:p>
        </p:txBody>
      </p:sp>
      <p:sp>
        <p:nvSpPr>
          <p:cNvPr id="9" name="">
            <a:extLst xmlns:a="http://schemas.openxmlformats.org/drawingml/2006/main">
              <a:ext uri="{FF2B5EF4-FFF2-40B4-BE49-F238E27FC236}">
                <a16:creationId xmlns:a16="http://schemas.microsoft.com/office/drawing/2014/main" id="{6B899081-97C1-4AA7-88BC-FD0D1E983AFF}"/>
              </a:ext>
            </a:extLst>
          </p:cNvPr>
          <p:cNvSpPr>
            <a:spLocks xmlns:a="http://schemas.openxmlformats.org/drawingml/2006/main" noGrp="1"/>
          </p:cNvSpPr>
          <p:nvPr/>
        </p:nvSpPr>
        <p:spPr>
          <a:xfrm xmlns:a="http://schemas.openxmlformats.org/drawingml/2006/main">
            <a:off x="609600" y="19240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Invite questions first. Use the answer cues to clarify the principle; route local policy questions to the right DWIHN owner.</a:t>
            </a:r>
          </a:p>
        </p:txBody>
      </p:sp>
      <p:sp>
        <p:nvSpPr>
          <p:cNvPr id="10" name="">
            <a:extLst xmlns:a="http://schemas.openxmlformats.org/drawingml/2006/main">
              <a:ext uri="{FF2B5EF4-FFF2-40B4-BE49-F238E27FC236}">
                <a16:creationId xmlns:a16="http://schemas.microsoft.com/office/drawing/2014/main" id="{FB0C4E1E-C0CB-44E7-A792-94BACB2C21C3}"/>
              </a:ext>
            </a:extLst>
          </p:cNvPr>
          <p:cNvSpPr>
            <a:spLocks xmlns:a="http://schemas.openxmlformats.org/drawingml/2006/main" noGrp="1"/>
          </p:cNvSpPr>
          <p:nvPr/>
        </p:nvSpPr>
        <p:spPr>
          <a:xfrm xmlns:a="http://schemas.openxmlformats.org/drawingml/2006/main">
            <a:off x="609600" y="26384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Q1</a:t>
            </a:r>
          </a:p>
        </p:txBody>
      </p:sp>
      <p:sp>
        <p:nvSpPr>
          <p:cNvPr id="11" name="">
            <a:extLst xmlns:a="http://schemas.openxmlformats.org/drawingml/2006/main">
              <a:ext uri="{FF2B5EF4-FFF2-40B4-BE49-F238E27FC236}">
                <a16:creationId xmlns:a16="http://schemas.microsoft.com/office/drawing/2014/main" id="{EDA75979-C985-45CF-A02E-2F87AA9305E1}"/>
              </a:ext>
            </a:extLst>
          </p:cNvPr>
          <p:cNvSpPr>
            <a:spLocks xmlns:a="http://schemas.openxmlformats.org/drawingml/2006/main" noGrp="1"/>
          </p:cNvSpPr>
          <p:nvPr/>
        </p:nvSpPr>
        <p:spPr>
          <a:xfrm xmlns:a="http://schemas.openxmlformats.org/drawingml/2006/main">
            <a:off x="1162050" y="26384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What if the dashboard and an emailed spreadsheet disagree?</a:t>
            </a:r>
          </a:p>
        </p:txBody>
      </p:sp>
      <p:sp>
        <p:nvSpPr>
          <p:cNvPr id="12" name="">
            <a:extLst xmlns:a="http://schemas.openxmlformats.org/drawingml/2006/main">
              <a:ext uri="{FF2B5EF4-FFF2-40B4-BE49-F238E27FC236}">
                <a16:creationId xmlns:a16="http://schemas.microsoft.com/office/drawing/2014/main" id="{6D6E355F-1231-48BE-A81E-8949AF1E5E4B}"/>
              </a:ext>
            </a:extLst>
          </p:cNvPr>
          <p:cNvSpPr>
            <a:spLocks xmlns:a="http://schemas.openxmlformats.org/drawingml/2006/main" noGrp="1"/>
          </p:cNvSpPr>
          <p:nvPr/>
        </p:nvSpPr>
        <p:spPr>
          <a:xfrm xmlns:a="http://schemas.openxmlformats.org/drawingml/2006/main">
            <a:off x="6000750" y="26384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3" name="">
            <a:extLst xmlns:a="http://schemas.openxmlformats.org/drawingml/2006/main">
              <a:ext uri="{FF2B5EF4-FFF2-40B4-BE49-F238E27FC236}">
                <a16:creationId xmlns:a16="http://schemas.microsoft.com/office/drawing/2014/main" id="{A2975B85-3BE4-46A6-9F3F-7F5E96C95F7A}"/>
              </a:ext>
            </a:extLst>
          </p:cNvPr>
          <p:cNvSpPr>
            <a:spLocks xmlns:a="http://schemas.openxmlformats.org/drawingml/2006/main" noGrp="1"/>
          </p:cNvSpPr>
          <p:nvPr/>
        </p:nvSpPr>
        <p:spPr>
          <a:xfrm xmlns:a="http://schemas.openxmlformats.org/drawingml/2006/main">
            <a:off x="6000750" y="28765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Compare definitions, filters, refresh dates and ownership; do not select whichever number looks convenient.</a:t>
            </a:r>
          </a:p>
        </p:txBody>
      </p:sp>
      <p:sp>
        <p:nvSpPr>
          <p:cNvPr id="14" name="">
            <a:extLst xmlns:a="http://schemas.openxmlformats.org/drawingml/2006/main">
              <a:ext uri="{FF2B5EF4-FFF2-40B4-BE49-F238E27FC236}">
                <a16:creationId xmlns:a16="http://schemas.microsoft.com/office/drawing/2014/main" id="{F406E065-1942-4DD3-A58A-7D6489E54520}"/>
              </a:ext>
            </a:extLst>
          </p:cNvPr>
          <p:cNvSpPr>
            <a:spLocks xmlns:a="http://schemas.openxmlformats.org/drawingml/2006/main" noGrp="1"/>
          </p:cNvSpPr>
          <p:nvPr/>
        </p:nvSpPr>
        <p:spPr>
          <a:xfrm xmlns:a="http://schemas.openxmlformats.org/drawingml/2006/main">
            <a:off x="609600" y="343852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A396E39-4508-42F7-B5F9-4E0FF3157495}"/>
              </a:ext>
            </a:extLst>
          </p:cNvPr>
          <p:cNvSpPr>
            <a:spLocks xmlns:a="http://schemas.openxmlformats.org/drawingml/2006/main" noGrp="1"/>
          </p:cNvSpPr>
          <p:nvPr/>
        </p:nvSpPr>
        <p:spPr>
          <a:xfrm xmlns:a="http://schemas.openxmlformats.org/drawingml/2006/main">
            <a:off x="609600" y="35718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Q2</a:t>
            </a:r>
          </a:p>
        </p:txBody>
      </p:sp>
      <p:sp>
        <p:nvSpPr>
          <p:cNvPr id="16" name="">
            <a:extLst xmlns:a="http://schemas.openxmlformats.org/drawingml/2006/main">
              <a:ext uri="{FF2B5EF4-FFF2-40B4-BE49-F238E27FC236}">
                <a16:creationId xmlns:a16="http://schemas.microsoft.com/office/drawing/2014/main" id="{A8502713-55E8-46D8-8174-13A35AE510D0}"/>
              </a:ext>
            </a:extLst>
          </p:cNvPr>
          <p:cNvSpPr>
            <a:spLocks xmlns:a="http://schemas.openxmlformats.org/drawingml/2006/main" noGrp="1"/>
          </p:cNvSpPr>
          <p:nvPr/>
        </p:nvSpPr>
        <p:spPr>
          <a:xfrm xmlns:a="http://schemas.openxmlformats.org/drawingml/2006/main">
            <a:off x="1162050" y="357187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Can a rising trend prove a new policy worked?</a:t>
            </a:r>
          </a:p>
        </p:txBody>
      </p:sp>
      <p:sp>
        <p:nvSpPr>
          <p:cNvPr id="17" name="">
            <a:extLst xmlns:a="http://schemas.openxmlformats.org/drawingml/2006/main">
              <a:ext uri="{FF2B5EF4-FFF2-40B4-BE49-F238E27FC236}">
                <a16:creationId xmlns:a16="http://schemas.microsoft.com/office/drawing/2014/main" id="{BB9D82F5-C677-4E1C-A679-ED17C507AFEB}"/>
              </a:ext>
            </a:extLst>
          </p:cNvPr>
          <p:cNvSpPr>
            <a:spLocks xmlns:a="http://schemas.openxmlformats.org/drawingml/2006/main" noGrp="1"/>
          </p:cNvSpPr>
          <p:nvPr/>
        </p:nvSpPr>
        <p:spPr>
          <a:xfrm xmlns:a="http://schemas.openxmlformats.org/drawingml/2006/main">
            <a:off x="6000750" y="357187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8" name="">
            <a:extLst xmlns:a="http://schemas.openxmlformats.org/drawingml/2006/main">
              <a:ext uri="{FF2B5EF4-FFF2-40B4-BE49-F238E27FC236}">
                <a16:creationId xmlns:a16="http://schemas.microsoft.com/office/drawing/2014/main" id="{B3190573-6CE5-4B86-8116-318D3FCA7630}"/>
              </a:ext>
            </a:extLst>
          </p:cNvPr>
          <p:cNvSpPr>
            <a:spLocks xmlns:a="http://schemas.openxmlformats.org/drawingml/2006/main" noGrp="1"/>
          </p:cNvSpPr>
          <p:nvPr/>
        </p:nvSpPr>
        <p:spPr>
          <a:xfrm xmlns:a="http://schemas.openxmlformats.org/drawingml/2006/main">
            <a:off x="6000750" y="381000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No. It shows a change; causal evaluation needs an appropriate design and other evidence.</a:t>
            </a:r>
          </a:p>
        </p:txBody>
      </p:sp>
      <p:sp>
        <p:nvSpPr>
          <p:cNvPr id="19" name="">
            <a:extLst xmlns:a="http://schemas.openxmlformats.org/drawingml/2006/main">
              <a:ext uri="{FF2B5EF4-FFF2-40B4-BE49-F238E27FC236}">
                <a16:creationId xmlns:a16="http://schemas.microsoft.com/office/drawing/2014/main" id="{82770BB9-A742-41B7-8BC3-E7C3B296164C}"/>
              </a:ext>
            </a:extLst>
          </p:cNvPr>
          <p:cNvSpPr>
            <a:spLocks xmlns:a="http://schemas.openxmlformats.org/drawingml/2006/main" noGrp="1"/>
          </p:cNvSpPr>
          <p:nvPr/>
        </p:nvSpPr>
        <p:spPr>
          <a:xfrm xmlns:a="http://schemas.openxmlformats.org/drawingml/2006/main">
            <a:off x="609600" y="437197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1EA7448-CD8B-4C7C-A9FC-637CF3C700B2}"/>
              </a:ext>
            </a:extLst>
          </p:cNvPr>
          <p:cNvSpPr>
            <a:spLocks xmlns:a="http://schemas.openxmlformats.org/drawingml/2006/main" noGrp="1"/>
          </p:cNvSpPr>
          <p:nvPr/>
        </p:nvSpPr>
        <p:spPr>
          <a:xfrm xmlns:a="http://schemas.openxmlformats.org/drawingml/2006/main">
            <a:off x="609600" y="45053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Q3</a:t>
            </a:r>
          </a:p>
        </p:txBody>
      </p:sp>
      <p:sp>
        <p:nvSpPr>
          <p:cNvPr id="21" name="">
            <a:extLst xmlns:a="http://schemas.openxmlformats.org/drawingml/2006/main">
              <a:ext uri="{FF2B5EF4-FFF2-40B4-BE49-F238E27FC236}">
                <a16:creationId xmlns:a16="http://schemas.microsoft.com/office/drawing/2014/main" id="{155F397E-E1D2-4783-8831-4F419694CC07}"/>
              </a:ext>
            </a:extLst>
          </p:cNvPr>
          <p:cNvSpPr>
            <a:spLocks xmlns:a="http://schemas.openxmlformats.org/drawingml/2006/main" noGrp="1"/>
          </p:cNvSpPr>
          <p:nvPr/>
        </p:nvSpPr>
        <p:spPr>
          <a:xfrm xmlns:a="http://schemas.openxmlformats.org/drawingml/2006/main">
            <a:off x="1162050" y="45053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Why mention sample size?</a:t>
            </a:r>
          </a:p>
        </p:txBody>
      </p:sp>
      <p:sp>
        <p:nvSpPr>
          <p:cNvPr id="22" name="">
            <a:extLst xmlns:a="http://schemas.openxmlformats.org/drawingml/2006/main">
              <a:ext uri="{FF2B5EF4-FFF2-40B4-BE49-F238E27FC236}">
                <a16:creationId xmlns:a16="http://schemas.microsoft.com/office/drawing/2014/main" id="{C00736B5-E11D-481C-848F-9FF95520203E}"/>
              </a:ext>
            </a:extLst>
          </p:cNvPr>
          <p:cNvSpPr>
            <a:spLocks xmlns:a="http://schemas.openxmlformats.org/drawingml/2006/main" noGrp="1"/>
          </p:cNvSpPr>
          <p:nvPr/>
        </p:nvSpPr>
        <p:spPr>
          <a:xfrm xmlns:a="http://schemas.openxmlformats.org/drawingml/2006/main">
            <a:off x="6000750" y="45053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23" name="">
            <a:extLst xmlns:a="http://schemas.openxmlformats.org/drawingml/2006/main">
              <a:ext uri="{FF2B5EF4-FFF2-40B4-BE49-F238E27FC236}">
                <a16:creationId xmlns:a16="http://schemas.microsoft.com/office/drawing/2014/main" id="{98379A8E-4E33-491A-BF91-D8DFBF5A7BF4}"/>
              </a:ext>
            </a:extLst>
          </p:cNvPr>
          <p:cNvSpPr>
            <a:spLocks xmlns:a="http://schemas.openxmlformats.org/drawingml/2006/main" noGrp="1"/>
          </p:cNvSpPr>
          <p:nvPr/>
        </p:nvSpPr>
        <p:spPr>
          <a:xfrm xmlns:a="http://schemas.openxmlformats.org/drawingml/2006/main">
            <a:off x="6000750" y="47434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Small groups can produce unstable rates and may also create privacy concerns.</a:t>
            </a:r>
          </a:p>
        </p:txBody>
      </p:sp>
      <p:sp>
        <p:nvSpPr>
          <p:cNvPr id="24" name="">
            <a:extLst xmlns:a="http://schemas.openxmlformats.org/drawingml/2006/main">
              <a:ext uri="{FF2B5EF4-FFF2-40B4-BE49-F238E27FC236}">
                <a16:creationId xmlns:a16="http://schemas.microsoft.com/office/drawing/2014/main" id="{5D21AD36-9C0B-489A-8CC7-1C1D206B7367}"/>
              </a:ext>
            </a:extLst>
          </p:cNvPr>
          <p:cNvSpPr>
            <a:spLocks xmlns:a="http://schemas.openxmlformats.org/drawingml/2006/main" noGrp="1"/>
          </p:cNvSpPr>
          <p:nvPr/>
        </p:nvSpPr>
        <p:spPr>
          <a:xfrm xmlns:a="http://schemas.openxmlformats.org/drawingml/2006/main">
            <a:off x="609600" y="55435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42F624F2-0C2A-4BD6-89D6-BCB9A2AA390F}"/>
              </a:ext>
            </a:extLst>
          </p:cNvPr>
          <p:cNvSpPr>
            <a:spLocks xmlns:a="http://schemas.openxmlformats.org/drawingml/2006/main" noGrp="1"/>
          </p:cNvSpPr>
          <p:nvPr/>
        </p:nvSpPr>
        <p:spPr>
          <a:xfrm xmlns:a="http://schemas.openxmlformats.org/drawingml/2006/main">
            <a:off x="609600" y="57150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Remember</a:t>
            </a:r>
          </a:p>
        </p:txBody>
      </p:sp>
      <p:sp>
        <p:nvSpPr>
          <p:cNvPr id="26" name="">
            <a:extLst xmlns:a="http://schemas.openxmlformats.org/drawingml/2006/main">
              <a:ext uri="{FF2B5EF4-FFF2-40B4-BE49-F238E27FC236}">
                <a16:creationId xmlns:a16="http://schemas.microsoft.com/office/drawing/2014/main" id="{66905338-D8DA-464E-BF04-E705DEF6601B}"/>
              </a:ext>
            </a:extLst>
          </p:cNvPr>
          <p:cNvSpPr>
            <a:spLocks xmlns:a="http://schemas.openxmlformats.org/drawingml/2006/main" noGrp="1"/>
          </p:cNvSpPr>
          <p:nvPr/>
        </p:nvSpPr>
        <p:spPr>
          <a:xfrm xmlns:a="http://schemas.openxmlformats.org/drawingml/2006/main">
            <a:off x="1924050" y="5686425"/>
            <a:ext cx="9429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039"/>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Agree on one definition before debating a result.   •   Describe the evidence without adding a cause.   •   Make data limitations visible and actionable.</a:t>
            </a:r>
          </a:p>
        </p:txBody>
      </p:sp>
    </p:spTree>
    <p:extLst>
      <p:ext uri="{BB962C8B-B14F-4D97-AF65-F5344CB8AC3E}">
        <p14:creationId xmlns:p14="http://schemas.microsoft.com/office/powerpoint/2010/main" val="1393835729"/>
      </p:ext>
    </p:extLst>
  </p:cSld>
</p:sld>
</file>

<file path=ppt/slides/slide46.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A6B8AA2-3B66-481F-A76A-06D0B5C3067B}"/>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7 / MODULE 8</a:t>
            </a:r>
          </a:p>
        </p:txBody>
      </p:sp>
      <p:sp>
        <p:nvSpPr>
          <p:cNvPr id="2" name="">
            <a:extLst xmlns:a="http://schemas.openxmlformats.org/drawingml/2006/main">
              <a:ext uri="{FF2B5EF4-FFF2-40B4-BE49-F238E27FC236}">
                <a16:creationId xmlns:a16="http://schemas.microsoft.com/office/drawing/2014/main" id="{B28E0ACD-5C81-43A5-922E-136D2D06D34C}"/>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S10  |  Purpose &amp; outcomes</a:t>
            </a:r>
          </a:p>
        </p:txBody>
      </p:sp>
      <p:sp>
        <p:nvSpPr>
          <p:cNvPr id="3" name="">
            <a:extLst xmlns:a="http://schemas.openxmlformats.org/drawingml/2006/main">
              <a:ext uri="{FF2B5EF4-FFF2-40B4-BE49-F238E27FC236}">
                <a16:creationId xmlns:a16="http://schemas.microsoft.com/office/drawing/2014/main" id="{18A042E5-86E2-4C24-A1F1-183631C63111}"/>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C8593FC-76DE-4CF1-B01F-A6F16A6EF5C5}"/>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EB01266-33D7-4562-A212-9C201E10070D}"/>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5CD695D0-1B8C-4507-B9A1-BD33F9C482BF}"/>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46</a:t>
            </a:r>
          </a:p>
        </p:txBody>
      </p:sp>
      <p:sp>
        <p:nvSpPr>
          <p:cNvPr id="7" name="">
            <a:extLst xmlns:a="http://schemas.openxmlformats.org/drawingml/2006/main">
              <a:ext uri="{FF2B5EF4-FFF2-40B4-BE49-F238E27FC236}">
                <a16:creationId xmlns:a16="http://schemas.microsoft.com/office/drawing/2014/main" id="{B7332CF6-43F9-4720-9C82-B17BF20F90EE}"/>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8 topics 8.3–8.4 and proposal p. 9. Predictive use cases require DWIHN approval and evidence.</a:t>
            </a:r>
          </a:p>
        </p:txBody>
      </p:sp>
      <p:sp>
        <p:nvSpPr>
          <p:cNvPr id="8" name="">
            <a:extLst xmlns:a="http://schemas.openxmlformats.org/drawingml/2006/main">
              <a:ext uri="{FF2B5EF4-FFF2-40B4-BE49-F238E27FC236}">
                <a16:creationId xmlns:a16="http://schemas.microsoft.com/office/drawing/2014/main" id="{A3DDD222-9EE0-4D8A-91D0-88C3EB1EEEB0}"/>
              </a:ext>
            </a:extLst>
          </p:cNvPr>
          <p:cNvSpPr>
            <a:spLocks xmlns:a="http://schemas.openxmlformats.org/drawingml/2006/main" noGrp="1"/>
          </p:cNvSpPr>
          <p:nvPr/>
        </p:nvSpPr>
        <p:spPr>
          <a:xfrm xmlns:a="http://schemas.openxmlformats.org/drawingml/2006/main">
            <a:off x="609600" y="1619250"/>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0A2438"/>
                </a:solidFill>
                <a:latin typeface="Arial"/>
                <a:ea typeface="Arial"/>
                <a:cs typeface="Arial"/>
              </a:defRPr>
            </a:pPr>
            <a:r>
              <a:rPr sz="1875" b="1">
                <a:solidFill>
                  <a:srgbClr val="0A2438"/>
                </a:solidFill>
                <a:latin typeface="Arial"/>
                <a:ea typeface="Arial"/>
                <a:cs typeface="Arial"/>
              </a:rPr>
              <a:t>Objective Decisions with Data: Predict &amp; Act Carefully</a:t>
            </a:r>
          </a:p>
        </p:txBody>
      </p:sp>
      <p:sp>
        <p:nvSpPr>
          <p:cNvPr id="9" name="">
            <a:extLst xmlns:a="http://schemas.openxmlformats.org/drawingml/2006/main">
              <a:ext uri="{FF2B5EF4-FFF2-40B4-BE49-F238E27FC236}">
                <a16:creationId xmlns:a16="http://schemas.microsoft.com/office/drawing/2014/main" id="{36EDFDE3-3682-4A2E-8EFD-A86562441E42}"/>
              </a:ext>
            </a:extLst>
          </p:cNvPr>
          <p:cNvSpPr>
            <a:spLocks xmlns:a="http://schemas.openxmlformats.org/drawingml/2006/main" noGrp="1"/>
          </p:cNvSpPr>
          <p:nvPr/>
        </p:nvSpPr>
        <p:spPr>
          <a:xfrm xmlns:a="http://schemas.openxmlformats.org/drawingml/2006/main">
            <a:off x="609600" y="2057400"/>
            <a:ext cx="695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506473"/>
                </a:solidFill>
                <a:latin typeface="Arial"/>
                <a:ea typeface="Arial"/>
                <a:cs typeface="Arial"/>
              </a:defRPr>
            </a:pPr>
            <a:r>
              <a:rPr sz="1425" b="0">
                <a:solidFill>
                  <a:srgbClr val="506473"/>
                </a:solidFill>
                <a:latin typeface="Arial"/>
                <a:ea typeface="Arial"/>
                <a:cs typeface="Arial"/>
              </a:rPr>
              <a:t>Participants distinguish forecasts from facts, consider the costs of missed and unnecessary alerts, and run a data-informed meeting that ends with an owned follow-up.</a:t>
            </a:r>
          </a:p>
        </p:txBody>
      </p:sp>
      <p:sp>
        <p:nvSpPr>
          <p:cNvPr id="10" name="">
            <a:extLst xmlns:a="http://schemas.openxmlformats.org/drawingml/2006/main">
              <a:ext uri="{FF2B5EF4-FFF2-40B4-BE49-F238E27FC236}">
                <a16:creationId xmlns:a16="http://schemas.microsoft.com/office/drawing/2014/main" id="{6C95BE28-10F7-4E09-8A89-881890E92139}"/>
              </a:ext>
            </a:extLst>
          </p:cNvPr>
          <p:cNvSpPr>
            <a:spLocks xmlns:a="http://schemas.openxmlformats.org/drawingml/2006/main" noGrp="1"/>
          </p:cNvSpPr>
          <p:nvPr/>
        </p:nvSpPr>
        <p:spPr>
          <a:xfrm xmlns:a="http://schemas.openxmlformats.org/drawingml/2006/main">
            <a:off x="609600" y="30861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BY THE END, LEARNERS CAN</a:t>
            </a:r>
          </a:p>
        </p:txBody>
      </p:sp>
      <p:sp>
        <p:nvSpPr>
          <p:cNvPr id="11" name="">
            <a:extLst xmlns:a="http://schemas.openxmlformats.org/drawingml/2006/main">
              <a:ext uri="{FF2B5EF4-FFF2-40B4-BE49-F238E27FC236}">
                <a16:creationId xmlns:a16="http://schemas.microsoft.com/office/drawing/2014/main" id="{EC7D2825-5DF5-4E0F-A233-4A05E27A0584}"/>
              </a:ext>
            </a:extLst>
          </p:cNvPr>
          <p:cNvSpPr>
            <a:spLocks xmlns:a="http://schemas.openxmlformats.org/drawingml/2006/main" noGrp="1"/>
          </p:cNvSpPr>
          <p:nvPr/>
        </p:nvSpPr>
        <p:spPr>
          <a:xfrm xmlns:a="http://schemas.openxmlformats.org/drawingml/2006/main">
            <a:off x="609600" y="3429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01</a:t>
            </a:r>
          </a:p>
        </p:txBody>
      </p:sp>
      <p:sp>
        <p:nvSpPr>
          <p:cNvPr id="12" name="">
            <a:extLst xmlns:a="http://schemas.openxmlformats.org/drawingml/2006/main">
              <a:ext uri="{FF2B5EF4-FFF2-40B4-BE49-F238E27FC236}">
                <a16:creationId xmlns:a16="http://schemas.microsoft.com/office/drawing/2014/main" id="{9C9BE8BA-2135-4CA5-B945-05C8224AF5A2}"/>
              </a:ext>
            </a:extLst>
          </p:cNvPr>
          <p:cNvSpPr>
            <a:spLocks xmlns:a="http://schemas.openxmlformats.org/drawingml/2006/main" noGrp="1"/>
          </p:cNvSpPr>
          <p:nvPr/>
        </p:nvSpPr>
        <p:spPr>
          <a:xfrm xmlns:a="http://schemas.openxmlformats.org/drawingml/2006/main">
            <a:off x="1104900" y="34290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Explain why a prediction has uncertainty and needs monitoring.</a:t>
            </a:r>
          </a:p>
        </p:txBody>
      </p:sp>
      <p:sp>
        <p:nvSpPr>
          <p:cNvPr id="13" name="">
            <a:extLst xmlns:a="http://schemas.openxmlformats.org/drawingml/2006/main">
              <a:ext uri="{FF2B5EF4-FFF2-40B4-BE49-F238E27FC236}">
                <a16:creationId xmlns:a16="http://schemas.microsoft.com/office/drawing/2014/main" id="{1A5581A2-56E2-4EE7-AA13-2FF655F6B7A0}"/>
              </a:ext>
            </a:extLst>
          </p:cNvPr>
          <p:cNvSpPr>
            <a:spLocks xmlns:a="http://schemas.openxmlformats.org/drawingml/2006/main" noGrp="1"/>
          </p:cNvSpPr>
          <p:nvPr/>
        </p:nvSpPr>
        <p:spPr>
          <a:xfrm xmlns:a="http://schemas.openxmlformats.org/drawingml/2006/main">
            <a:off x="609600" y="40767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B37C9A37-D78B-4C42-9287-DCFC9FAA72DA}"/>
              </a:ext>
            </a:extLst>
          </p:cNvPr>
          <p:cNvSpPr>
            <a:spLocks xmlns:a="http://schemas.openxmlformats.org/drawingml/2006/main" noGrp="1"/>
          </p:cNvSpPr>
          <p:nvPr/>
        </p:nvSpPr>
        <p:spPr>
          <a:xfrm xmlns:a="http://schemas.openxmlformats.org/drawingml/2006/main">
            <a:off x="1104900" y="40767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Identify false-positive, false-negative and fairness questions before using a score.</a:t>
            </a:r>
          </a:p>
        </p:txBody>
      </p:sp>
      <p:sp>
        <p:nvSpPr>
          <p:cNvPr id="15" name="">
            <a:extLst xmlns:a="http://schemas.openxmlformats.org/drawingml/2006/main">
              <a:ext uri="{FF2B5EF4-FFF2-40B4-BE49-F238E27FC236}">
                <a16:creationId xmlns:a16="http://schemas.microsoft.com/office/drawing/2014/main" id="{EA3683EE-DC62-4B03-8D9A-C87E09918DD9}"/>
              </a:ext>
            </a:extLst>
          </p:cNvPr>
          <p:cNvSpPr>
            <a:spLocks xmlns:a="http://schemas.openxmlformats.org/drawingml/2006/main" noGrp="1"/>
          </p:cNvSpPr>
          <p:nvPr/>
        </p:nvSpPr>
        <p:spPr>
          <a:xfrm xmlns:a="http://schemas.openxmlformats.org/drawingml/2006/main">
            <a:off x="609600" y="47244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4FAE57CF-0BED-4695-8058-D3CD51729DD9}"/>
              </a:ext>
            </a:extLst>
          </p:cNvPr>
          <p:cNvSpPr>
            <a:spLocks xmlns:a="http://schemas.openxmlformats.org/drawingml/2006/main" noGrp="1"/>
          </p:cNvSpPr>
          <p:nvPr/>
        </p:nvSpPr>
        <p:spPr>
          <a:xfrm xmlns:a="http://schemas.openxmlformats.org/drawingml/2006/main">
            <a:off x="1104900" y="47244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Use a meeting structure that connects evidence to a human-owned next step.</a:t>
            </a:r>
          </a:p>
        </p:txBody>
      </p:sp>
      <p:sp>
        <p:nvSpPr>
          <p:cNvPr id="17" name="">
            <a:extLst xmlns:a="http://schemas.openxmlformats.org/drawingml/2006/main">
              <a:ext uri="{FF2B5EF4-FFF2-40B4-BE49-F238E27FC236}">
                <a16:creationId xmlns:a16="http://schemas.microsoft.com/office/drawing/2014/main" id="{B9204ECD-D8BE-4759-A65F-6812E0DC60BC}"/>
              </a:ext>
            </a:extLst>
          </p:cNvPr>
          <p:cNvSpPr>
            <a:spLocks xmlns:a="http://schemas.openxmlformats.org/drawingml/2006/main" noGrp="1"/>
          </p:cNvSpPr>
          <p:nvPr/>
        </p:nvSpPr>
        <p:spPr>
          <a:xfrm xmlns:a="http://schemas.openxmlformats.org/drawingml/2006/main">
            <a:off x="609600" y="5476875"/>
            <a:ext cx="6953250" cy="476250"/>
          </a:xfrm>
          <a:prstGeom xmlns:a="http://schemas.openxmlformats.org/drawingml/2006/main" prst="rect">
            <a:avLst/>
          </a:prstGeom>
          <a:noFill xmlns:a="http://schemas.openxmlformats.org/drawingml/2006/main"/>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063CAF1-A616-462B-AF16-59ADC4061427}"/>
              </a:ext>
            </a:extLst>
          </p:cNvPr>
          <p:cNvSpPr>
            <a:spLocks xmlns:a="http://schemas.openxmlformats.org/drawingml/2006/main" noGrp="1"/>
          </p:cNvSpPr>
          <p:nvPr/>
        </p:nvSpPr>
        <p:spPr>
          <a:xfrm xmlns:a="http://schemas.openxmlformats.org/drawingml/2006/main">
            <a:off x="781050" y="5591175"/>
            <a:ext cx="659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91"/>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Session length: at least 1 hour, including Q&amp;A. Guided practice and discussion can extend it.</a:t>
            </a:r>
          </a:p>
        </p:txBody>
      </p:sp>
      <p:sp>
        <p:nvSpPr>
          <p:cNvPr id="19" name="">
            <a:extLst xmlns:a="http://schemas.openxmlformats.org/drawingml/2006/main">
              <a:ext uri="{FF2B5EF4-FFF2-40B4-BE49-F238E27FC236}">
                <a16:creationId xmlns:a16="http://schemas.microsoft.com/office/drawing/2014/main" id="{0FFCB1E4-0C72-46E5-9386-6258876CC3B4}"/>
              </a:ext>
            </a:extLst>
          </p:cNvPr>
          <p:cNvSpPr>
            <a:spLocks xmlns:a="http://schemas.openxmlformats.org/drawingml/2006/main" noGrp="1"/>
          </p:cNvSpPr>
          <p:nvPr/>
        </p:nvSpPr>
        <p:spPr>
          <a:xfrm xmlns:a="http://schemas.openxmlformats.org/drawingml/2006/main">
            <a:off x="8096250" y="2266950"/>
            <a:ext cx="19050" cy="295275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6BC1658-CA82-40C7-BD15-AFA7BE4E377A}"/>
              </a:ext>
            </a:extLst>
          </p:cNvPr>
          <p:cNvSpPr>
            <a:spLocks xmlns:a="http://schemas.openxmlformats.org/drawingml/2006/main" noGrp="1"/>
          </p:cNvSpPr>
          <p:nvPr/>
        </p:nvSpPr>
        <p:spPr>
          <a:xfrm xmlns:a="http://schemas.openxmlformats.org/drawingml/2006/main">
            <a:off x="8439150" y="23050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OPENING DISCUSSION</a:t>
            </a:r>
          </a:p>
        </p:txBody>
      </p:sp>
      <p:sp>
        <p:nvSpPr>
          <p:cNvPr id="21" name="">
            <a:extLst xmlns:a="http://schemas.openxmlformats.org/drawingml/2006/main">
              <a:ext uri="{FF2B5EF4-FFF2-40B4-BE49-F238E27FC236}">
                <a16:creationId xmlns:a16="http://schemas.microsoft.com/office/drawing/2014/main" id="{09680B6A-03D2-4BA2-816E-C776395AF0A5}"/>
              </a:ext>
            </a:extLst>
          </p:cNvPr>
          <p:cNvSpPr>
            <a:spLocks xmlns:a="http://schemas.openxmlformats.org/drawingml/2006/main" noGrp="1"/>
          </p:cNvSpPr>
          <p:nvPr/>
        </p:nvSpPr>
        <p:spPr>
          <a:xfrm xmlns:a="http://schemas.openxmlformats.org/drawingml/2006/main">
            <a:off x="8439150" y="2647950"/>
            <a:ext cx="2857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663"/>
          </a:bodyPr>
          <a:lstStyle xmlns:a="http://schemas.openxmlformats.org/drawingml/2006/main"/>
          <a:p xmlns:a="http://schemas.openxmlformats.org/drawingml/2006/main">
            <a:pPr algn="l">
              <a:lnSpc>
                <a:spcPct val="112000"/>
              </a:lnSpc>
              <a:buNone/>
              <a:defRPr sz="1575" b="1">
                <a:solidFill>
                  <a:srgbClr val="142F42"/>
                </a:solidFill>
                <a:latin typeface="Arial"/>
                <a:ea typeface="Arial"/>
                <a:cs typeface="Arial"/>
              </a:defRPr>
            </a:pPr>
            <a:r>
              <a:rPr sz="1575" b="1">
                <a:solidFill>
                  <a:srgbClr val="142F42"/>
                </a:solidFill>
                <a:latin typeface="Arial"/>
                <a:ea typeface="Arial"/>
                <a:cs typeface="Arial"/>
              </a:rPr>
              <a:t>If a risk indicator rises for a program, what is a proportionate first response before changing services?</a:t>
            </a:r>
          </a:p>
        </p:txBody>
      </p:sp>
      <p:sp>
        <p:nvSpPr>
          <p:cNvPr id="22" name="">
            <a:extLst xmlns:a="http://schemas.openxmlformats.org/drawingml/2006/main">
              <a:ext uri="{FF2B5EF4-FFF2-40B4-BE49-F238E27FC236}">
                <a16:creationId xmlns:a16="http://schemas.microsoft.com/office/drawing/2014/main" id="{91F97E15-51C2-4982-857B-E79B6DC48D80}"/>
              </a:ext>
            </a:extLst>
          </p:cNvPr>
          <p:cNvSpPr>
            <a:spLocks xmlns:a="http://schemas.openxmlformats.org/drawingml/2006/main" noGrp="1"/>
          </p:cNvSpPr>
          <p:nvPr/>
        </p:nvSpPr>
        <p:spPr>
          <a:xfrm xmlns:a="http://schemas.openxmlformats.org/drawingml/2006/main">
            <a:off x="8439150" y="39624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KEEP IN VIEW</a:t>
            </a:r>
          </a:p>
        </p:txBody>
      </p:sp>
      <p:sp>
        <p:nvSpPr>
          <p:cNvPr id="23" name="">
            <a:extLst xmlns:a="http://schemas.openxmlformats.org/drawingml/2006/main">
              <a:ext uri="{FF2B5EF4-FFF2-40B4-BE49-F238E27FC236}">
                <a16:creationId xmlns:a16="http://schemas.microsoft.com/office/drawing/2014/main" id="{FD4FAAC2-AE00-4770-903A-29642486BDA3}"/>
              </a:ext>
            </a:extLst>
          </p:cNvPr>
          <p:cNvSpPr>
            <a:spLocks xmlns:a="http://schemas.openxmlformats.org/drawingml/2006/main" noGrp="1"/>
          </p:cNvSpPr>
          <p:nvPr/>
        </p:nvSpPr>
        <p:spPr>
          <a:xfrm xmlns:a="http://schemas.openxmlformats.org/drawingml/2006/main">
            <a:off x="8439150" y="4295775"/>
            <a:ext cx="285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Use the approved workflow, verify against a trusted source and keep human judgment visible.</a:t>
            </a:r>
          </a:p>
        </p:txBody>
      </p:sp>
    </p:spTree>
    <p:extLst>
      <p:ext uri="{BB962C8B-B14F-4D97-AF65-F5344CB8AC3E}">
        <p14:creationId xmlns:p14="http://schemas.microsoft.com/office/powerpoint/2010/main" val="2133828301"/>
      </p:ext>
    </p:extLst>
  </p:cSld>
</p:sld>
</file>

<file path=ppt/slides/slide47.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1767883-1464-4985-B36C-CC23375C4403}"/>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7 / MODULE 8</a:t>
            </a:r>
          </a:p>
        </p:txBody>
      </p:sp>
      <p:sp>
        <p:nvSpPr>
          <p:cNvPr id="2" name="">
            <a:extLst xmlns:a="http://schemas.openxmlformats.org/drawingml/2006/main">
              <a:ext uri="{FF2B5EF4-FFF2-40B4-BE49-F238E27FC236}">
                <a16:creationId xmlns:a16="http://schemas.microsoft.com/office/drawing/2014/main" id="{177EBABD-85D6-4105-9EF9-7D846089ECCF}"/>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S10  |  Core concepts</a:t>
            </a:r>
          </a:p>
        </p:txBody>
      </p:sp>
      <p:sp>
        <p:nvSpPr>
          <p:cNvPr id="3" name="">
            <a:extLst xmlns:a="http://schemas.openxmlformats.org/drawingml/2006/main">
              <a:ext uri="{FF2B5EF4-FFF2-40B4-BE49-F238E27FC236}">
                <a16:creationId xmlns:a16="http://schemas.microsoft.com/office/drawing/2014/main" id="{EE2A0784-0474-431F-AC63-F446D8F88E49}"/>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BBACCB1-A9C8-4B70-B6CC-2CB5F81A664E}"/>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FC424A4-FA8F-48D7-ADF2-93F9A7C4D9F5}"/>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EF2FD97D-574A-4B8F-A9BA-744D70E38B70}"/>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47</a:t>
            </a:r>
          </a:p>
        </p:txBody>
      </p:sp>
      <p:sp>
        <p:nvSpPr>
          <p:cNvPr id="7" name="">
            <a:extLst xmlns:a="http://schemas.openxmlformats.org/drawingml/2006/main">
              <a:ext uri="{FF2B5EF4-FFF2-40B4-BE49-F238E27FC236}">
                <a16:creationId xmlns:a16="http://schemas.microsoft.com/office/drawing/2014/main" id="{18EC81F0-41E2-4095-A5F4-EF2BFA0EBF6D}"/>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8 topics 8.3–8.4 and proposal p. 9. Predictive use cases require DWIHN approval and evidence.</a:t>
            </a:r>
          </a:p>
        </p:txBody>
      </p:sp>
      <p:sp>
        <p:nvSpPr>
          <p:cNvPr id="8" name="">
            <a:extLst xmlns:a="http://schemas.openxmlformats.org/drawingml/2006/main">
              <a:ext uri="{FF2B5EF4-FFF2-40B4-BE49-F238E27FC236}">
                <a16:creationId xmlns:a16="http://schemas.microsoft.com/office/drawing/2014/main" id="{216C6688-6CF7-470A-B1AE-E61A5A11FE26}"/>
              </a:ext>
            </a:extLst>
          </p:cNvPr>
          <p:cNvSpPr>
            <a:spLocks xmlns:a="http://schemas.openxmlformats.org/drawingml/2006/main" noGrp="1"/>
          </p:cNvSpPr>
          <p:nvPr/>
        </p:nvSpPr>
        <p:spPr>
          <a:xfrm xmlns:a="http://schemas.openxmlformats.org/drawingml/2006/main">
            <a:off x="609600" y="15811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Objective Decisions with Data: Predict &amp; Act Carefully</a:t>
            </a:r>
          </a:p>
        </p:txBody>
      </p:sp>
      <p:sp>
        <p:nvSpPr>
          <p:cNvPr id="9" name="">
            <a:extLst xmlns:a="http://schemas.openxmlformats.org/drawingml/2006/main">
              <a:ext uri="{FF2B5EF4-FFF2-40B4-BE49-F238E27FC236}">
                <a16:creationId xmlns:a16="http://schemas.microsoft.com/office/drawing/2014/main" id="{EC5E5F20-A20A-45B7-8A69-DC3F9D617304}"/>
              </a:ext>
            </a:extLst>
          </p:cNvPr>
          <p:cNvSpPr>
            <a:spLocks xmlns:a="http://schemas.openxmlformats.org/drawingml/2006/main" noGrp="1"/>
          </p:cNvSpPr>
          <p:nvPr/>
        </p:nvSpPr>
        <p:spPr>
          <a:xfrm xmlns:a="http://schemas.openxmlformats.org/drawingml/2006/main">
            <a:off x="609600" y="19716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195C5F78-EE88-45EA-BAF6-6FD1004AC87E}"/>
              </a:ext>
            </a:extLst>
          </p:cNvPr>
          <p:cNvSpPr>
            <a:spLocks xmlns:a="http://schemas.openxmlformats.org/drawingml/2006/main" noGrp="1"/>
          </p:cNvSpPr>
          <p:nvPr/>
        </p:nvSpPr>
        <p:spPr>
          <a:xfrm xmlns:a="http://schemas.openxmlformats.org/drawingml/2006/main">
            <a:off x="1143000" y="19716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871"/>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Predictions estimate, not promise</a:t>
            </a:r>
          </a:p>
        </p:txBody>
      </p:sp>
      <p:sp>
        <p:nvSpPr>
          <p:cNvPr id="11" name="">
            <a:extLst xmlns:a="http://schemas.openxmlformats.org/drawingml/2006/main">
              <a:ext uri="{FF2B5EF4-FFF2-40B4-BE49-F238E27FC236}">
                <a16:creationId xmlns:a16="http://schemas.microsoft.com/office/drawing/2014/main" id="{56413ECE-D1AC-4444-B876-F424AA48E03F}"/>
              </a:ext>
            </a:extLst>
          </p:cNvPr>
          <p:cNvSpPr>
            <a:spLocks xmlns:a="http://schemas.openxmlformats.org/drawingml/2006/main" noGrp="1"/>
          </p:cNvSpPr>
          <p:nvPr/>
        </p:nvSpPr>
        <p:spPr>
          <a:xfrm xmlns:a="http://schemas.openxmlformats.org/drawingml/2006/main">
            <a:off x="3857625" y="19716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 predictive output estimates what may happen based on data and a model. It can be wrong, stale or less reliable for a group whose circumstances differ from its training data.</a:t>
            </a:r>
          </a:p>
        </p:txBody>
      </p:sp>
      <p:sp>
        <p:nvSpPr>
          <p:cNvPr id="12" name="">
            <a:extLst xmlns:a="http://schemas.openxmlformats.org/drawingml/2006/main">
              <a:ext uri="{FF2B5EF4-FFF2-40B4-BE49-F238E27FC236}">
                <a16:creationId xmlns:a16="http://schemas.microsoft.com/office/drawing/2014/main" id="{EE9FA811-4611-47D6-BCF2-410B280828BE}"/>
              </a:ext>
            </a:extLst>
          </p:cNvPr>
          <p:cNvSpPr>
            <a:spLocks xmlns:a="http://schemas.openxmlformats.org/drawingml/2006/main" noGrp="1"/>
          </p:cNvSpPr>
          <p:nvPr/>
        </p:nvSpPr>
        <p:spPr>
          <a:xfrm xmlns:a="http://schemas.openxmlformats.org/drawingml/2006/main">
            <a:off x="1143000" y="28003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86984A7-CEBE-4231-8B42-3A9C36E136AF}"/>
              </a:ext>
            </a:extLst>
          </p:cNvPr>
          <p:cNvSpPr>
            <a:spLocks xmlns:a="http://schemas.openxmlformats.org/drawingml/2006/main" noGrp="1"/>
          </p:cNvSpPr>
          <p:nvPr/>
        </p:nvSpPr>
        <p:spPr>
          <a:xfrm xmlns:a="http://schemas.openxmlformats.org/drawingml/2006/main">
            <a:off x="609600" y="29813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0F283F14-50C1-4110-B9BB-0FD8AC97C805}"/>
              </a:ext>
            </a:extLst>
          </p:cNvPr>
          <p:cNvSpPr>
            <a:spLocks xmlns:a="http://schemas.openxmlformats.org/drawingml/2006/main" noGrp="1"/>
          </p:cNvSpPr>
          <p:nvPr/>
        </p:nvSpPr>
        <p:spPr>
          <a:xfrm xmlns:a="http://schemas.openxmlformats.org/drawingml/2006/main">
            <a:off x="1143000" y="29813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Errors have different costs</a:t>
            </a:r>
          </a:p>
        </p:txBody>
      </p:sp>
      <p:sp>
        <p:nvSpPr>
          <p:cNvPr id="15" name="">
            <a:extLst xmlns:a="http://schemas.openxmlformats.org/drawingml/2006/main">
              <a:ext uri="{FF2B5EF4-FFF2-40B4-BE49-F238E27FC236}">
                <a16:creationId xmlns:a16="http://schemas.microsoft.com/office/drawing/2014/main" id="{BD4ABC2E-2F14-4140-A35F-6E5E5AD23EC9}"/>
              </a:ext>
            </a:extLst>
          </p:cNvPr>
          <p:cNvSpPr>
            <a:spLocks xmlns:a="http://schemas.openxmlformats.org/drawingml/2006/main" noGrp="1"/>
          </p:cNvSpPr>
          <p:nvPr/>
        </p:nvSpPr>
        <p:spPr>
          <a:xfrm xmlns:a="http://schemas.openxmlformats.org/drawingml/2006/main">
            <a:off x="3857625" y="29813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 false positive can create unnecessary contact or burden. A false negative can miss a chance to offer support. Teams should define acceptable use and review how each error affects people.</a:t>
            </a:r>
          </a:p>
        </p:txBody>
      </p:sp>
      <p:sp>
        <p:nvSpPr>
          <p:cNvPr id="16" name="">
            <a:extLst xmlns:a="http://schemas.openxmlformats.org/drawingml/2006/main">
              <a:ext uri="{FF2B5EF4-FFF2-40B4-BE49-F238E27FC236}">
                <a16:creationId xmlns:a16="http://schemas.microsoft.com/office/drawing/2014/main" id="{E4F3D7F5-1B10-4212-BAC8-3019BF1A3215}"/>
              </a:ext>
            </a:extLst>
          </p:cNvPr>
          <p:cNvSpPr>
            <a:spLocks xmlns:a="http://schemas.openxmlformats.org/drawingml/2006/main" noGrp="1"/>
          </p:cNvSpPr>
          <p:nvPr/>
        </p:nvSpPr>
        <p:spPr>
          <a:xfrm xmlns:a="http://schemas.openxmlformats.org/drawingml/2006/main">
            <a:off x="1143000" y="381000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92EC8EF-0517-470E-80C3-EBCD1605D8DF}"/>
              </a:ext>
            </a:extLst>
          </p:cNvPr>
          <p:cNvSpPr>
            <a:spLocks xmlns:a="http://schemas.openxmlformats.org/drawingml/2006/main" noGrp="1"/>
          </p:cNvSpPr>
          <p:nvPr/>
        </p:nvSpPr>
        <p:spPr>
          <a:xfrm xmlns:a="http://schemas.openxmlformats.org/drawingml/2006/main">
            <a:off x="609600" y="39909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A545E180-97F3-43A7-9690-D47EEDF26C2A}"/>
              </a:ext>
            </a:extLst>
          </p:cNvPr>
          <p:cNvSpPr>
            <a:spLocks xmlns:a="http://schemas.openxmlformats.org/drawingml/2006/main" noGrp="1"/>
          </p:cNvSpPr>
          <p:nvPr/>
        </p:nvSpPr>
        <p:spPr>
          <a:xfrm xmlns:a="http://schemas.openxmlformats.org/drawingml/2006/main">
            <a:off x="1143000" y="39909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539"/>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Signals require human review</a:t>
            </a:r>
          </a:p>
        </p:txBody>
      </p:sp>
      <p:sp>
        <p:nvSpPr>
          <p:cNvPr id="19" name="">
            <a:extLst xmlns:a="http://schemas.openxmlformats.org/drawingml/2006/main">
              <a:ext uri="{FF2B5EF4-FFF2-40B4-BE49-F238E27FC236}">
                <a16:creationId xmlns:a16="http://schemas.microsoft.com/office/drawing/2014/main" id="{C8145980-0953-41DB-A2E8-0BE61303727E}"/>
              </a:ext>
            </a:extLst>
          </p:cNvPr>
          <p:cNvSpPr>
            <a:spLocks xmlns:a="http://schemas.openxmlformats.org/drawingml/2006/main" noGrp="1"/>
          </p:cNvSpPr>
          <p:nvPr/>
        </p:nvSpPr>
        <p:spPr>
          <a:xfrm xmlns:a="http://schemas.openxmlformats.org/drawingml/2006/main">
            <a:off x="3857625" y="39909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 score may trigger a second look but should not silently deny, prioritize or change a person’s service. Follow the approved workflow and document the human decision where required.</a:t>
            </a:r>
          </a:p>
        </p:txBody>
      </p:sp>
      <p:sp>
        <p:nvSpPr>
          <p:cNvPr id="20" name="">
            <a:extLst xmlns:a="http://schemas.openxmlformats.org/drawingml/2006/main">
              <a:ext uri="{FF2B5EF4-FFF2-40B4-BE49-F238E27FC236}">
                <a16:creationId xmlns:a16="http://schemas.microsoft.com/office/drawing/2014/main" id="{F2A6A6CC-070C-4616-871F-BED3EA7086BB}"/>
              </a:ext>
            </a:extLst>
          </p:cNvPr>
          <p:cNvSpPr>
            <a:spLocks xmlns:a="http://schemas.openxmlformats.org/drawingml/2006/main" noGrp="1"/>
          </p:cNvSpPr>
          <p:nvPr/>
        </p:nvSpPr>
        <p:spPr>
          <a:xfrm xmlns:a="http://schemas.openxmlformats.org/drawingml/2006/main">
            <a:off x="1143000" y="48196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A6591B1-82B3-4604-9D8C-9D69BE8245F6}"/>
              </a:ext>
            </a:extLst>
          </p:cNvPr>
          <p:cNvSpPr>
            <a:spLocks xmlns:a="http://schemas.openxmlformats.org/drawingml/2006/main" noGrp="1"/>
          </p:cNvSpPr>
          <p:nvPr/>
        </p:nvSpPr>
        <p:spPr>
          <a:xfrm xmlns:a="http://schemas.openxmlformats.org/drawingml/2006/main">
            <a:off x="609600" y="5000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383A3267-B77B-473C-BDAA-3BD74D188FAF}"/>
              </a:ext>
            </a:extLst>
          </p:cNvPr>
          <p:cNvSpPr>
            <a:spLocks xmlns:a="http://schemas.openxmlformats.org/drawingml/2006/main" noGrp="1"/>
          </p:cNvSpPr>
          <p:nvPr/>
        </p:nvSpPr>
        <p:spPr>
          <a:xfrm xmlns:a="http://schemas.openxmlformats.org/drawingml/2006/main">
            <a:off x="1143000" y="50006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965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Meetings should end with ownership</a:t>
            </a:r>
          </a:p>
        </p:txBody>
      </p:sp>
      <p:sp>
        <p:nvSpPr>
          <p:cNvPr id="23" name="">
            <a:extLst xmlns:a="http://schemas.openxmlformats.org/drawingml/2006/main">
              <a:ext uri="{FF2B5EF4-FFF2-40B4-BE49-F238E27FC236}">
                <a16:creationId xmlns:a16="http://schemas.microsoft.com/office/drawing/2014/main" id="{F6DE10C0-11EC-4E01-85FE-A3C931BBE009}"/>
              </a:ext>
            </a:extLst>
          </p:cNvPr>
          <p:cNvSpPr>
            <a:spLocks xmlns:a="http://schemas.openxmlformats.org/drawingml/2006/main" noGrp="1"/>
          </p:cNvSpPr>
          <p:nvPr/>
        </p:nvSpPr>
        <p:spPr>
          <a:xfrm xmlns:a="http://schemas.openxmlformats.org/drawingml/2006/main">
            <a:off x="3857625" y="50006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Agree the metric and question, review the evidence, record uncertainty, decide what action is authorized and assign an owner and due date for further investigation.</a:t>
            </a:r>
          </a:p>
        </p:txBody>
      </p:sp>
    </p:spTree>
    <p:extLst>
      <p:ext uri="{BB962C8B-B14F-4D97-AF65-F5344CB8AC3E}">
        <p14:creationId xmlns:p14="http://schemas.microsoft.com/office/powerpoint/2010/main" val="1675468191"/>
      </p:ext>
    </p:extLst>
  </p:cSld>
</p:sld>
</file>

<file path=ppt/slides/slide48.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B61C0863-5085-4B5F-A070-459DC1B0E4E0}"/>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7 / MODULE 8</a:t>
            </a:r>
          </a:p>
        </p:txBody>
      </p:sp>
      <p:sp>
        <p:nvSpPr>
          <p:cNvPr id="2" name="">
            <a:extLst xmlns:a="http://schemas.openxmlformats.org/drawingml/2006/main">
              <a:ext uri="{FF2B5EF4-FFF2-40B4-BE49-F238E27FC236}">
                <a16:creationId xmlns:a16="http://schemas.microsoft.com/office/drawing/2014/main" id="{16148EFC-4FFA-4368-819A-A9CAD2494CC9}"/>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S10  |  Instructor walkthrough</a:t>
            </a:r>
          </a:p>
        </p:txBody>
      </p:sp>
      <p:sp>
        <p:nvSpPr>
          <p:cNvPr id="3" name="">
            <a:extLst xmlns:a="http://schemas.openxmlformats.org/drawingml/2006/main">
              <a:ext uri="{FF2B5EF4-FFF2-40B4-BE49-F238E27FC236}">
                <a16:creationId xmlns:a16="http://schemas.microsoft.com/office/drawing/2014/main" id="{EE9D47A7-A71A-4157-B0FF-DFB1A358FF6B}"/>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16375AE-A34D-4134-B7D9-3DBBF29231B2}"/>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76A34E9-524B-4301-A1A5-3AEDBDB3CE75}"/>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05963C59-74E4-4882-9EE6-E176B385ADA3}"/>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48</a:t>
            </a:r>
          </a:p>
        </p:txBody>
      </p:sp>
      <p:sp>
        <p:nvSpPr>
          <p:cNvPr id="7" name="">
            <a:extLst xmlns:a="http://schemas.openxmlformats.org/drawingml/2006/main">
              <a:ext uri="{FF2B5EF4-FFF2-40B4-BE49-F238E27FC236}">
                <a16:creationId xmlns:a16="http://schemas.microsoft.com/office/drawing/2014/main" id="{CEF30DA6-E0E3-47DA-B264-3C4A1868C8E7}"/>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8 topics 8.3–8.4 and proposal p. 9. Predictive use cases require DWIHN approval and evidence.</a:t>
            </a:r>
          </a:p>
        </p:txBody>
      </p:sp>
      <p:sp>
        <p:nvSpPr>
          <p:cNvPr id="8" name="">
            <a:extLst xmlns:a="http://schemas.openxmlformats.org/drawingml/2006/main">
              <a:ext uri="{FF2B5EF4-FFF2-40B4-BE49-F238E27FC236}">
                <a16:creationId xmlns:a16="http://schemas.microsoft.com/office/drawing/2014/main" id="{36578701-6596-43E7-88A7-79109008A053}"/>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Objective Decisions with Data: Predict &amp; Act Carefully</a:t>
            </a:r>
          </a:p>
        </p:txBody>
      </p:sp>
      <p:sp>
        <p:nvSpPr>
          <p:cNvPr id="9" name="">
            <a:extLst xmlns:a="http://schemas.openxmlformats.org/drawingml/2006/main">
              <a:ext uri="{FF2B5EF4-FFF2-40B4-BE49-F238E27FC236}">
                <a16:creationId xmlns:a16="http://schemas.microsoft.com/office/drawing/2014/main" id="{4AB23056-F14D-4015-9363-475EC5ECC1D2}"/>
              </a:ext>
            </a:extLst>
          </p:cNvPr>
          <p:cNvSpPr>
            <a:spLocks xmlns:a="http://schemas.openxmlformats.org/drawingml/2006/main" noGrp="1"/>
          </p:cNvSpPr>
          <p:nvPr/>
        </p:nvSpPr>
        <p:spPr>
          <a:xfrm xmlns:a="http://schemas.openxmlformats.org/drawingml/2006/main">
            <a:off x="60960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0" name="">
            <a:extLst xmlns:a="http://schemas.openxmlformats.org/drawingml/2006/main">
              <a:ext uri="{FF2B5EF4-FFF2-40B4-BE49-F238E27FC236}">
                <a16:creationId xmlns:a16="http://schemas.microsoft.com/office/drawing/2014/main" id="{9E458F3C-4859-4634-B043-0BE255E622B7}"/>
              </a:ext>
            </a:extLst>
          </p:cNvPr>
          <p:cNvSpPr>
            <a:spLocks xmlns:a="http://schemas.openxmlformats.org/drawingml/2006/main" noGrp="1"/>
          </p:cNvSpPr>
          <p:nvPr/>
        </p:nvSpPr>
        <p:spPr>
          <a:xfrm xmlns:a="http://schemas.openxmlformats.org/drawingml/2006/main">
            <a:off x="74295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66B50D46-7D60-45E5-BF58-DFD842EDE344}"/>
              </a:ext>
            </a:extLst>
          </p:cNvPr>
          <p:cNvSpPr>
            <a:spLocks xmlns:a="http://schemas.openxmlformats.org/drawingml/2006/main" noGrp="1"/>
          </p:cNvSpPr>
          <p:nvPr/>
        </p:nvSpPr>
        <p:spPr>
          <a:xfrm xmlns:a="http://schemas.openxmlformats.org/drawingml/2006/main">
            <a:off x="74295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State the use case</a:t>
            </a:r>
          </a:p>
        </p:txBody>
      </p:sp>
      <p:sp>
        <p:nvSpPr>
          <p:cNvPr id="12" name="">
            <a:extLst xmlns:a="http://schemas.openxmlformats.org/drawingml/2006/main">
              <a:ext uri="{FF2B5EF4-FFF2-40B4-BE49-F238E27FC236}">
                <a16:creationId xmlns:a16="http://schemas.microsoft.com/office/drawing/2014/main" id="{2DED4DF6-439F-4D2D-82CD-6F8D5676A7B6}"/>
              </a:ext>
            </a:extLst>
          </p:cNvPr>
          <p:cNvSpPr>
            <a:spLocks xmlns:a="http://schemas.openxmlformats.org/drawingml/2006/main" noGrp="1"/>
          </p:cNvSpPr>
          <p:nvPr/>
        </p:nvSpPr>
        <p:spPr>
          <a:xfrm xmlns:a="http://schemas.openxmlformats.org/drawingml/2006/main">
            <a:off x="74295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Describe what action the prediction could influence and who may be affected.</a:t>
            </a:r>
          </a:p>
        </p:txBody>
      </p:sp>
      <p:sp>
        <p:nvSpPr>
          <p:cNvPr id="13" name="">
            <a:extLst xmlns:a="http://schemas.openxmlformats.org/drawingml/2006/main">
              <a:ext uri="{FF2B5EF4-FFF2-40B4-BE49-F238E27FC236}">
                <a16:creationId xmlns:a16="http://schemas.microsoft.com/office/drawing/2014/main" id="{C6E7C70F-FF38-400D-835D-BD362F252EEC}"/>
              </a:ext>
            </a:extLst>
          </p:cNvPr>
          <p:cNvSpPr>
            <a:spLocks xmlns:a="http://schemas.openxmlformats.org/drawingml/2006/main" noGrp="1"/>
          </p:cNvSpPr>
          <p:nvPr/>
        </p:nvSpPr>
        <p:spPr>
          <a:xfrm xmlns:a="http://schemas.openxmlformats.org/drawingml/2006/main">
            <a:off x="303847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0877734-FE3E-4972-B723-0A32B4BF9AB0}"/>
              </a:ext>
            </a:extLst>
          </p:cNvPr>
          <p:cNvSpPr>
            <a:spLocks xmlns:a="http://schemas.openxmlformats.org/drawingml/2006/main" noGrp="1"/>
          </p:cNvSpPr>
          <p:nvPr/>
        </p:nvSpPr>
        <p:spPr>
          <a:xfrm xmlns:a="http://schemas.openxmlformats.org/drawingml/2006/main">
            <a:off x="338137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5" name="">
            <a:extLst xmlns:a="http://schemas.openxmlformats.org/drawingml/2006/main">
              <a:ext uri="{FF2B5EF4-FFF2-40B4-BE49-F238E27FC236}">
                <a16:creationId xmlns:a16="http://schemas.microsoft.com/office/drawing/2014/main" id="{C6B27196-AE21-45C8-8ABE-2F00419F3F2E}"/>
              </a:ext>
            </a:extLst>
          </p:cNvPr>
          <p:cNvSpPr>
            <a:spLocks xmlns:a="http://schemas.openxmlformats.org/drawingml/2006/main" noGrp="1"/>
          </p:cNvSpPr>
          <p:nvPr/>
        </p:nvSpPr>
        <p:spPr>
          <a:xfrm xmlns:a="http://schemas.openxmlformats.org/drawingml/2006/main">
            <a:off x="351472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00138F44-3DD6-4950-A0F6-492A84962FE3}"/>
              </a:ext>
            </a:extLst>
          </p:cNvPr>
          <p:cNvSpPr>
            <a:spLocks xmlns:a="http://schemas.openxmlformats.org/drawingml/2006/main" noGrp="1"/>
          </p:cNvSpPr>
          <p:nvPr/>
        </p:nvSpPr>
        <p:spPr>
          <a:xfrm xmlns:a="http://schemas.openxmlformats.org/drawingml/2006/main">
            <a:off x="351472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Review performance context</a:t>
            </a:r>
          </a:p>
        </p:txBody>
      </p:sp>
      <p:sp>
        <p:nvSpPr>
          <p:cNvPr id="17" name="">
            <a:extLst xmlns:a="http://schemas.openxmlformats.org/drawingml/2006/main">
              <a:ext uri="{FF2B5EF4-FFF2-40B4-BE49-F238E27FC236}">
                <a16:creationId xmlns:a16="http://schemas.microsoft.com/office/drawing/2014/main" id="{91A5DDEA-51C2-4D4B-8AE1-6BDB359F66FB}"/>
              </a:ext>
            </a:extLst>
          </p:cNvPr>
          <p:cNvSpPr>
            <a:spLocks xmlns:a="http://schemas.openxmlformats.org/drawingml/2006/main" noGrp="1"/>
          </p:cNvSpPr>
          <p:nvPr/>
        </p:nvSpPr>
        <p:spPr>
          <a:xfrm xmlns:a="http://schemas.openxmlformats.org/drawingml/2006/main">
            <a:off x="351472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Ask how recent the data is, what population was tested and how errors differ across groups.</a:t>
            </a:r>
          </a:p>
        </p:txBody>
      </p:sp>
      <p:sp>
        <p:nvSpPr>
          <p:cNvPr id="18" name="">
            <a:extLst xmlns:a="http://schemas.openxmlformats.org/drawingml/2006/main">
              <a:ext uri="{FF2B5EF4-FFF2-40B4-BE49-F238E27FC236}">
                <a16:creationId xmlns:a16="http://schemas.microsoft.com/office/drawing/2014/main" id="{A1446E5C-FC55-4121-A367-E42D88820A5A}"/>
              </a:ext>
            </a:extLst>
          </p:cNvPr>
          <p:cNvSpPr>
            <a:spLocks xmlns:a="http://schemas.openxmlformats.org/drawingml/2006/main" noGrp="1"/>
          </p:cNvSpPr>
          <p:nvPr/>
        </p:nvSpPr>
        <p:spPr>
          <a:xfrm xmlns:a="http://schemas.openxmlformats.org/drawingml/2006/main">
            <a:off x="5810250"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CBF9E49-80DE-4453-AA6B-FEAC5B810C03}"/>
              </a:ext>
            </a:extLst>
          </p:cNvPr>
          <p:cNvSpPr>
            <a:spLocks xmlns:a="http://schemas.openxmlformats.org/drawingml/2006/main" noGrp="1"/>
          </p:cNvSpPr>
          <p:nvPr/>
        </p:nvSpPr>
        <p:spPr>
          <a:xfrm xmlns:a="http://schemas.openxmlformats.org/drawingml/2006/main">
            <a:off x="615315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0" name="">
            <a:extLst xmlns:a="http://schemas.openxmlformats.org/drawingml/2006/main">
              <a:ext uri="{FF2B5EF4-FFF2-40B4-BE49-F238E27FC236}">
                <a16:creationId xmlns:a16="http://schemas.microsoft.com/office/drawing/2014/main" id="{F129757A-1B47-43FD-BD60-23F319540DAE}"/>
              </a:ext>
            </a:extLst>
          </p:cNvPr>
          <p:cNvSpPr>
            <a:spLocks xmlns:a="http://schemas.openxmlformats.org/drawingml/2006/main" noGrp="1"/>
          </p:cNvSpPr>
          <p:nvPr/>
        </p:nvSpPr>
        <p:spPr>
          <a:xfrm xmlns:a="http://schemas.openxmlformats.org/drawingml/2006/main">
            <a:off x="628650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21" name="">
            <a:extLst xmlns:a="http://schemas.openxmlformats.org/drawingml/2006/main">
              <a:ext uri="{FF2B5EF4-FFF2-40B4-BE49-F238E27FC236}">
                <a16:creationId xmlns:a16="http://schemas.microsoft.com/office/drawing/2014/main" id="{A47BB965-2916-4025-8630-C84CFA21D6D8}"/>
              </a:ext>
            </a:extLst>
          </p:cNvPr>
          <p:cNvSpPr>
            <a:spLocks xmlns:a="http://schemas.openxmlformats.org/drawingml/2006/main" noGrp="1"/>
          </p:cNvSpPr>
          <p:nvPr/>
        </p:nvSpPr>
        <p:spPr>
          <a:xfrm xmlns:a="http://schemas.openxmlformats.org/drawingml/2006/main">
            <a:off x="628650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Set a safe response</a:t>
            </a:r>
          </a:p>
        </p:txBody>
      </p:sp>
      <p:sp>
        <p:nvSpPr>
          <p:cNvPr id="22" name="">
            <a:extLst xmlns:a="http://schemas.openxmlformats.org/drawingml/2006/main">
              <a:ext uri="{FF2B5EF4-FFF2-40B4-BE49-F238E27FC236}">
                <a16:creationId xmlns:a16="http://schemas.microsoft.com/office/drawing/2014/main" id="{6956B7C0-2004-42A1-BA81-B53B492C97CB}"/>
              </a:ext>
            </a:extLst>
          </p:cNvPr>
          <p:cNvSpPr>
            <a:spLocks xmlns:a="http://schemas.openxmlformats.org/drawingml/2006/main" noGrp="1"/>
          </p:cNvSpPr>
          <p:nvPr/>
        </p:nvSpPr>
        <p:spPr>
          <a:xfrm xmlns:a="http://schemas.openxmlformats.org/drawingml/2006/main">
            <a:off x="628650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2797"/>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Use the signal to prompt an authorized review, not as the decision itself.</a:t>
            </a:r>
          </a:p>
        </p:txBody>
      </p:sp>
      <p:sp>
        <p:nvSpPr>
          <p:cNvPr id="23" name="">
            <a:extLst xmlns:a="http://schemas.openxmlformats.org/drawingml/2006/main">
              <a:ext uri="{FF2B5EF4-FFF2-40B4-BE49-F238E27FC236}">
                <a16:creationId xmlns:a16="http://schemas.microsoft.com/office/drawing/2014/main" id="{F0026993-7F9C-436A-B244-A055366FCEB4}"/>
              </a:ext>
            </a:extLst>
          </p:cNvPr>
          <p:cNvSpPr>
            <a:spLocks xmlns:a="http://schemas.openxmlformats.org/drawingml/2006/main" noGrp="1"/>
          </p:cNvSpPr>
          <p:nvPr/>
        </p:nvSpPr>
        <p:spPr>
          <a:xfrm xmlns:a="http://schemas.openxmlformats.org/drawingml/2006/main">
            <a:off x="858202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48E6A6A6-8A27-4929-B516-28EE0D4A92EC}"/>
              </a:ext>
            </a:extLst>
          </p:cNvPr>
          <p:cNvSpPr>
            <a:spLocks xmlns:a="http://schemas.openxmlformats.org/drawingml/2006/main" noGrp="1"/>
          </p:cNvSpPr>
          <p:nvPr/>
        </p:nvSpPr>
        <p:spPr>
          <a:xfrm xmlns:a="http://schemas.openxmlformats.org/drawingml/2006/main">
            <a:off x="892492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5" name="">
            <a:extLst xmlns:a="http://schemas.openxmlformats.org/drawingml/2006/main">
              <a:ext uri="{FF2B5EF4-FFF2-40B4-BE49-F238E27FC236}">
                <a16:creationId xmlns:a16="http://schemas.microsoft.com/office/drawing/2014/main" id="{AB1793AD-AD73-488C-94C4-DD5243CA7A28}"/>
              </a:ext>
            </a:extLst>
          </p:cNvPr>
          <p:cNvSpPr>
            <a:spLocks xmlns:a="http://schemas.openxmlformats.org/drawingml/2006/main" noGrp="1"/>
          </p:cNvSpPr>
          <p:nvPr/>
        </p:nvSpPr>
        <p:spPr>
          <a:xfrm xmlns:a="http://schemas.openxmlformats.org/drawingml/2006/main">
            <a:off x="905827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04</a:t>
            </a:r>
          </a:p>
        </p:txBody>
      </p:sp>
      <p:sp>
        <p:nvSpPr>
          <p:cNvPr id="26" name="">
            <a:extLst xmlns:a="http://schemas.openxmlformats.org/drawingml/2006/main">
              <a:ext uri="{FF2B5EF4-FFF2-40B4-BE49-F238E27FC236}">
                <a16:creationId xmlns:a16="http://schemas.microsoft.com/office/drawing/2014/main" id="{7FAFD396-1388-43DB-9A2D-7996E533127D}"/>
              </a:ext>
            </a:extLst>
          </p:cNvPr>
          <p:cNvSpPr>
            <a:spLocks xmlns:a="http://schemas.openxmlformats.org/drawingml/2006/main" noGrp="1"/>
          </p:cNvSpPr>
          <p:nvPr/>
        </p:nvSpPr>
        <p:spPr>
          <a:xfrm xmlns:a="http://schemas.openxmlformats.org/drawingml/2006/main">
            <a:off x="905827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Record the meeting outcome</a:t>
            </a:r>
          </a:p>
        </p:txBody>
      </p:sp>
      <p:sp>
        <p:nvSpPr>
          <p:cNvPr id="27" name="">
            <a:extLst xmlns:a="http://schemas.openxmlformats.org/drawingml/2006/main">
              <a:ext uri="{FF2B5EF4-FFF2-40B4-BE49-F238E27FC236}">
                <a16:creationId xmlns:a16="http://schemas.microsoft.com/office/drawing/2014/main" id="{DFAC99EF-177E-42A1-A014-6B4324D7FED2}"/>
              </a:ext>
            </a:extLst>
          </p:cNvPr>
          <p:cNvSpPr>
            <a:spLocks xmlns:a="http://schemas.openxmlformats.org/drawingml/2006/main" noGrp="1"/>
          </p:cNvSpPr>
          <p:nvPr/>
        </p:nvSpPr>
        <p:spPr>
          <a:xfrm xmlns:a="http://schemas.openxmlformats.org/drawingml/2006/main">
            <a:off x="905827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Document the evidence, remaining question, owner and approved follow-up.</a:t>
            </a:r>
          </a:p>
        </p:txBody>
      </p:sp>
      <p:sp>
        <p:nvSpPr>
          <p:cNvPr id="28" name="">
            <a:extLst xmlns:a="http://schemas.openxmlformats.org/drawingml/2006/main">
              <a:ext uri="{FF2B5EF4-FFF2-40B4-BE49-F238E27FC236}">
                <a16:creationId xmlns:a16="http://schemas.microsoft.com/office/drawing/2014/main" id="{04479575-6F2E-4308-8DA8-E77F778EBFBD}"/>
              </a:ext>
            </a:extLst>
          </p:cNvPr>
          <p:cNvSpPr>
            <a:spLocks xmlns:a="http://schemas.openxmlformats.org/drawingml/2006/main" noGrp="1"/>
          </p:cNvSpPr>
          <p:nvPr/>
        </p:nvSpPr>
        <p:spPr>
          <a:xfrm xmlns:a="http://schemas.openxmlformats.org/drawingml/2006/main">
            <a:off x="609600" y="364807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WORKED EXAMPLE</a:t>
            </a:r>
          </a:p>
        </p:txBody>
      </p:sp>
      <p:sp>
        <p:nvSpPr>
          <p:cNvPr id="29" name="">
            <a:extLst xmlns:a="http://schemas.openxmlformats.org/drawingml/2006/main">
              <a:ext uri="{FF2B5EF4-FFF2-40B4-BE49-F238E27FC236}">
                <a16:creationId xmlns:a16="http://schemas.microsoft.com/office/drawing/2014/main" id="{5ADA22DF-3BD7-4A9C-80D0-3DFA649527A4}"/>
              </a:ext>
            </a:extLst>
          </p:cNvPr>
          <p:cNvSpPr>
            <a:spLocks xmlns:a="http://schemas.openxmlformats.org/drawingml/2006/main" noGrp="1"/>
          </p:cNvSpPr>
          <p:nvPr/>
        </p:nvSpPr>
        <p:spPr>
          <a:xfrm xmlns:a="http://schemas.openxmlformats.org/drawingml/2006/main">
            <a:off x="609600" y="3943350"/>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00" b="0">
                <a:solidFill>
                  <a:srgbClr val="142F42"/>
                </a:solidFill>
                <a:latin typeface="Arial"/>
                <a:ea typeface="Arial"/>
                <a:cs typeface="Arial"/>
              </a:defRPr>
            </a:pPr>
            <a:r>
              <a:rPr sz="1500" b="0">
                <a:solidFill>
                  <a:srgbClr val="142F42"/>
                </a:solidFill>
                <a:latin typeface="Arial"/>
                <a:ea typeface="Arial"/>
                <a:cs typeface="Arial"/>
              </a:rPr>
              <a:t>Hypothetical example: an indicator suggests a higher chance of missed engagement. The team checks how the signal is defined, whether it is appropriate for this population and what supports are already available. A staff member decides whether an outreach review is warranted under policy; the score alone does not determine eligibility.</a:t>
            </a:r>
          </a:p>
        </p:txBody>
      </p:sp>
    </p:spTree>
    <p:extLst>
      <p:ext uri="{BB962C8B-B14F-4D97-AF65-F5344CB8AC3E}">
        <p14:creationId xmlns:p14="http://schemas.microsoft.com/office/powerpoint/2010/main" val="1088808887"/>
      </p:ext>
    </p:extLst>
  </p:cSld>
</p:sld>
</file>

<file path=ppt/slides/slide49.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29C83E9C-B7A1-4A7F-8B09-DE564FBDEFD9}"/>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7 / MODULE 8</a:t>
            </a:r>
          </a:p>
        </p:txBody>
      </p:sp>
      <p:sp>
        <p:nvSpPr>
          <p:cNvPr id="2" name="">
            <a:extLst xmlns:a="http://schemas.openxmlformats.org/drawingml/2006/main">
              <a:ext uri="{FF2B5EF4-FFF2-40B4-BE49-F238E27FC236}">
                <a16:creationId xmlns:a16="http://schemas.microsoft.com/office/drawing/2014/main" id="{C2E34EB3-7751-4653-B57B-D4CA18FFC03D}"/>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S10  |  Practical scenario &amp; exercise</a:t>
            </a:r>
          </a:p>
        </p:txBody>
      </p:sp>
      <p:sp>
        <p:nvSpPr>
          <p:cNvPr id="3" name="">
            <a:extLst xmlns:a="http://schemas.openxmlformats.org/drawingml/2006/main">
              <a:ext uri="{FF2B5EF4-FFF2-40B4-BE49-F238E27FC236}">
                <a16:creationId xmlns:a16="http://schemas.microsoft.com/office/drawing/2014/main" id="{8107947C-468C-4227-B9FF-D64C24488F79}"/>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A6D0404-8513-47BE-8AB9-8DBE3EC8A0FB}"/>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1C16B1F-E759-4D7D-8F78-9306DA393330}"/>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A1AD9845-D4D7-4B83-9DE3-11505566D2E2}"/>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49</a:t>
            </a:r>
          </a:p>
        </p:txBody>
      </p:sp>
      <p:sp>
        <p:nvSpPr>
          <p:cNvPr id="7" name="">
            <a:extLst xmlns:a="http://schemas.openxmlformats.org/drawingml/2006/main">
              <a:ext uri="{FF2B5EF4-FFF2-40B4-BE49-F238E27FC236}">
                <a16:creationId xmlns:a16="http://schemas.microsoft.com/office/drawing/2014/main" id="{F78A80A7-5F1B-4E20-ABEC-C77FBCE17B78}"/>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8 topics 8.3–8.4 and proposal p. 9. Predictive use cases require DWIHN approval and evidence.</a:t>
            </a:r>
          </a:p>
        </p:txBody>
      </p:sp>
      <p:sp>
        <p:nvSpPr>
          <p:cNvPr id="8" name="">
            <a:extLst xmlns:a="http://schemas.openxmlformats.org/drawingml/2006/main">
              <a:ext uri="{FF2B5EF4-FFF2-40B4-BE49-F238E27FC236}">
                <a16:creationId xmlns:a16="http://schemas.microsoft.com/office/drawing/2014/main" id="{8D4CA451-69DB-4C02-BBFE-B045E4C605D4}"/>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Objective Decisions with Data: Predict &amp; Act Carefully</a:t>
            </a:r>
          </a:p>
        </p:txBody>
      </p:sp>
      <p:sp>
        <p:nvSpPr>
          <p:cNvPr id="9" name="">
            <a:extLst xmlns:a="http://schemas.openxmlformats.org/drawingml/2006/main">
              <a:ext uri="{FF2B5EF4-FFF2-40B4-BE49-F238E27FC236}">
                <a16:creationId xmlns:a16="http://schemas.microsoft.com/office/drawing/2014/main" id="{8B90ACF4-045C-46B7-B385-8E02C78540A3}"/>
              </a:ext>
            </a:extLst>
          </p:cNvPr>
          <p:cNvSpPr>
            <a:spLocks xmlns:a="http://schemas.openxmlformats.org/drawingml/2006/main" noGrp="1"/>
          </p:cNvSpPr>
          <p:nvPr/>
        </p:nvSpPr>
        <p:spPr>
          <a:xfrm xmlns:a="http://schemas.openxmlformats.org/drawingml/2006/main">
            <a:off x="609600" y="1981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SCENARIO</a:t>
            </a:r>
          </a:p>
        </p:txBody>
      </p:sp>
      <p:sp>
        <p:nvSpPr>
          <p:cNvPr id="10" name="">
            <a:extLst xmlns:a="http://schemas.openxmlformats.org/drawingml/2006/main">
              <a:ext uri="{FF2B5EF4-FFF2-40B4-BE49-F238E27FC236}">
                <a16:creationId xmlns:a16="http://schemas.microsoft.com/office/drawing/2014/main" id="{324003C5-E333-468B-BD83-46D0CB4FE2CD}"/>
              </a:ext>
            </a:extLst>
          </p:cNvPr>
          <p:cNvSpPr>
            <a:spLocks xmlns:a="http://schemas.openxmlformats.org/drawingml/2006/main" noGrp="1"/>
          </p:cNvSpPr>
          <p:nvPr/>
        </p:nvSpPr>
        <p:spPr>
          <a:xfrm xmlns:a="http://schemas.openxmlformats.org/drawingml/2006/main">
            <a:off x="609600" y="2266950"/>
            <a:ext cx="109728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D4DFE3"/>
            </a:solidFill>
          </a:ln>
        </p:spPr>
      </p:sp>
      <p:sp>
        <p:nvSpPr>
          <p:cNvPr id="11" name="">
            <a:extLst xmlns:a="http://schemas.openxmlformats.org/drawingml/2006/main">
              <a:ext uri="{FF2B5EF4-FFF2-40B4-BE49-F238E27FC236}">
                <a16:creationId xmlns:a16="http://schemas.microsoft.com/office/drawing/2014/main" id="{DF204945-D01C-4476-8479-D36000A3D6B6}"/>
              </a:ext>
            </a:extLst>
          </p:cNvPr>
          <p:cNvSpPr>
            <a:spLocks xmlns:a="http://schemas.openxmlformats.org/drawingml/2006/main" noGrp="1"/>
          </p:cNvSpPr>
          <p:nvPr/>
        </p:nvSpPr>
        <p:spPr>
          <a:xfrm xmlns:a="http://schemas.openxmlformats.org/drawingml/2006/main">
            <a:off x="819150" y="2447925"/>
            <a:ext cx="10525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142F42"/>
                </a:solidFill>
                <a:latin typeface="Arial"/>
                <a:ea typeface="Arial"/>
                <a:cs typeface="Arial"/>
              </a:defRPr>
            </a:pPr>
            <a:r>
              <a:rPr sz="1425" b="0">
                <a:solidFill>
                  <a:srgbClr val="142F42"/>
                </a:solidFill>
                <a:latin typeface="Arial"/>
                <a:ea typeface="Arial"/>
                <a:cs typeface="Arial"/>
              </a:rPr>
              <a:t>A leader proposes assigning extra outreach only to people above a model threshold. The model’s recent performance by subgroup and the impact of false positives have not been reviewed.</a:t>
            </a:r>
          </a:p>
        </p:txBody>
      </p:sp>
      <p:sp>
        <p:nvSpPr>
          <p:cNvPr id="12" name="">
            <a:extLst xmlns:a="http://schemas.openxmlformats.org/drawingml/2006/main">
              <a:ext uri="{FF2B5EF4-FFF2-40B4-BE49-F238E27FC236}">
                <a16:creationId xmlns:a16="http://schemas.microsoft.com/office/drawing/2014/main" id="{82C1FC44-00F9-422D-8AC3-D8B1AFACDA66}"/>
              </a:ext>
            </a:extLst>
          </p:cNvPr>
          <p:cNvSpPr>
            <a:spLocks xmlns:a="http://schemas.openxmlformats.org/drawingml/2006/main" noGrp="1"/>
          </p:cNvSpPr>
          <p:nvPr/>
        </p:nvSpPr>
        <p:spPr>
          <a:xfrm xmlns:a="http://schemas.openxmlformats.org/drawingml/2006/main">
            <a:off x="609600" y="34861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 THE CASE</a:t>
            </a:r>
          </a:p>
        </p:txBody>
      </p:sp>
      <p:sp>
        <p:nvSpPr>
          <p:cNvPr id="13" name="">
            <a:extLst xmlns:a="http://schemas.openxmlformats.org/drawingml/2006/main">
              <a:ext uri="{FF2B5EF4-FFF2-40B4-BE49-F238E27FC236}">
                <a16:creationId xmlns:a16="http://schemas.microsoft.com/office/drawing/2014/main" id="{29944E40-2F07-4BAB-ACFE-889D3D040066}"/>
              </a:ext>
            </a:extLst>
          </p:cNvPr>
          <p:cNvSpPr>
            <a:spLocks xmlns:a="http://schemas.openxmlformats.org/drawingml/2006/main" noGrp="1"/>
          </p:cNvSpPr>
          <p:nvPr/>
        </p:nvSpPr>
        <p:spPr>
          <a:xfrm xmlns:a="http://schemas.openxmlformats.org/drawingml/2006/main">
            <a:off x="609600" y="38195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4" name="">
            <a:extLst xmlns:a="http://schemas.openxmlformats.org/drawingml/2006/main">
              <a:ext uri="{FF2B5EF4-FFF2-40B4-BE49-F238E27FC236}">
                <a16:creationId xmlns:a16="http://schemas.microsoft.com/office/drawing/2014/main" id="{6061AE71-53EE-40DE-B45D-BDB3989BF06B}"/>
              </a:ext>
            </a:extLst>
          </p:cNvPr>
          <p:cNvSpPr>
            <a:spLocks xmlns:a="http://schemas.openxmlformats.org/drawingml/2006/main" noGrp="1"/>
          </p:cNvSpPr>
          <p:nvPr/>
        </p:nvSpPr>
        <p:spPr>
          <a:xfrm xmlns:a="http://schemas.openxmlformats.org/drawingml/2006/main">
            <a:off x="1066800" y="38195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List data, validation, fairness and governance questions before launch.</a:t>
            </a:r>
          </a:p>
        </p:txBody>
      </p:sp>
      <p:sp>
        <p:nvSpPr>
          <p:cNvPr id="15" name="">
            <a:extLst xmlns:a="http://schemas.openxmlformats.org/drawingml/2006/main">
              <a:ext uri="{FF2B5EF4-FFF2-40B4-BE49-F238E27FC236}">
                <a16:creationId xmlns:a16="http://schemas.microsoft.com/office/drawing/2014/main" id="{1F0F2F4D-1157-4A56-9938-8A97FADA4358}"/>
              </a:ext>
            </a:extLst>
          </p:cNvPr>
          <p:cNvSpPr>
            <a:spLocks xmlns:a="http://schemas.openxmlformats.org/drawingml/2006/main" noGrp="1"/>
          </p:cNvSpPr>
          <p:nvPr/>
        </p:nvSpPr>
        <p:spPr>
          <a:xfrm xmlns:a="http://schemas.openxmlformats.org/drawingml/2006/main">
            <a:off x="609600" y="43338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B647BC73-AEAF-4C6B-A209-B11467F67D8C}"/>
              </a:ext>
            </a:extLst>
          </p:cNvPr>
          <p:cNvSpPr>
            <a:spLocks xmlns:a="http://schemas.openxmlformats.org/drawingml/2006/main" noGrp="1"/>
          </p:cNvSpPr>
          <p:nvPr/>
        </p:nvSpPr>
        <p:spPr>
          <a:xfrm xmlns:a="http://schemas.openxmlformats.org/drawingml/2006/main">
            <a:off x="1066800" y="433387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Draft a human-review workflow with a safe fallback.</a:t>
            </a:r>
          </a:p>
        </p:txBody>
      </p:sp>
      <p:sp>
        <p:nvSpPr>
          <p:cNvPr id="17" name="">
            <a:extLst xmlns:a="http://schemas.openxmlformats.org/drawingml/2006/main">
              <a:ext uri="{FF2B5EF4-FFF2-40B4-BE49-F238E27FC236}">
                <a16:creationId xmlns:a16="http://schemas.microsoft.com/office/drawing/2014/main" id="{2A0A81F2-51CE-49E5-BAC8-BC27ADC8EF87}"/>
              </a:ext>
            </a:extLst>
          </p:cNvPr>
          <p:cNvSpPr>
            <a:spLocks xmlns:a="http://schemas.openxmlformats.org/drawingml/2006/main" noGrp="1"/>
          </p:cNvSpPr>
          <p:nvPr/>
        </p:nvSpPr>
        <p:spPr>
          <a:xfrm xmlns:a="http://schemas.openxmlformats.org/drawingml/2006/main">
            <a:off x="609600" y="4848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30F8F764-C0F9-4E2E-86DE-7F75396588D9}"/>
              </a:ext>
            </a:extLst>
          </p:cNvPr>
          <p:cNvSpPr>
            <a:spLocks xmlns:a="http://schemas.openxmlformats.org/drawingml/2006/main" noGrp="1"/>
          </p:cNvSpPr>
          <p:nvPr/>
        </p:nvSpPr>
        <p:spPr>
          <a:xfrm xmlns:a="http://schemas.openxmlformats.org/drawingml/2006/main">
            <a:off x="1066800" y="48482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Run a mock data meeting and assign a follow-up owner for each unanswered question.</a:t>
            </a:r>
          </a:p>
        </p:txBody>
      </p:sp>
      <p:sp>
        <p:nvSpPr>
          <p:cNvPr id="19" name="">
            <a:extLst xmlns:a="http://schemas.openxmlformats.org/drawingml/2006/main">
              <a:ext uri="{FF2B5EF4-FFF2-40B4-BE49-F238E27FC236}">
                <a16:creationId xmlns:a16="http://schemas.microsoft.com/office/drawing/2014/main" id="{E12A1172-C9CB-40D8-822A-E29BB0997948}"/>
              </a:ext>
            </a:extLst>
          </p:cNvPr>
          <p:cNvSpPr>
            <a:spLocks xmlns:a="http://schemas.openxmlformats.org/drawingml/2006/main" noGrp="1"/>
          </p:cNvSpPr>
          <p:nvPr/>
        </p:nvSpPr>
        <p:spPr>
          <a:xfrm xmlns:a="http://schemas.openxmlformats.org/drawingml/2006/main">
            <a:off x="7886700" y="3486150"/>
            <a:ext cx="19050" cy="219075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2EB59F7-A2FB-4415-9CC9-DAB70FF4ABE2}"/>
              </a:ext>
            </a:extLst>
          </p:cNvPr>
          <p:cNvSpPr>
            <a:spLocks xmlns:a="http://schemas.openxmlformats.org/drawingml/2006/main" noGrp="1"/>
          </p:cNvSpPr>
          <p:nvPr/>
        </p:nvSpPr>
        <p:spPr>
          <a:xfrm xmlns:a="http://schemas.openxmlformats.org/drawingml/2006/main">
            <a:off x="8229600" y="3505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EXPECTED DELIVERABLE</a:t>
            </a:r>
          </a:p>
        </p:txBody>
      </p:sp>
      <p:sp>
        <p:nvSpPr>
          <p:cNvPr id="21" name="">
            <a:extLst xmlns:a="http://schemas.openxmlformats.org/drawingml/2006/main">
              <a:ext uri="{FF2B5EF4-FFF2-40B4-BE49-F238E27FC236}">
                <a16:creationId xmlns:a16="http://schemas.microsoft.com/office/drawing/2014/main" id="{CCBD1F41-3E55-4214-A43D-812724E9057D}"/>
              </a:ext>
            </a:extLst>
          </p:cNvPr>
          <p:cNvSpPr>
            <a:spLocks xmlns:a="http://schemas.openxmlformats.org/drawingml/2006/main" noGrp="1"/>
          </p:cNvSpPr>
          <p:nvPr/>
        </p:nvSpPr>
        <p:spPr>
          <a:xfrm xmlns:a="http://schemas.openxmlformats.org/drawingml/2006/main">
            <a:off x="8229600" y="3819525"/>
            <a:ext cx="3086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A decision record stating the evidence, uncertainty, permitted action, reviewer and follow-up owner.</a:t>
            </a:r>
          </a:p>
        </p:txBody>
      </p:sp>
      <p:sp>
        <p:nvSpPr>
          <p:cNvPr id="22" name="">
            <a:extLst xmlns:a="http://schemas.openxmlformats.org/drawingml/2006/main">
              <a:ext uri="{FF2B5EF4-FFF2-40B4-BE49-F238E27FC236}">
                <a16:creationId xmlns:a16="http://schemas.microsoft.com/office/drawing/2014/main" id="{F74275FE-7A7D-4CA2-8527-7C04F18DBC17}"/>
              </a:ext>
            </a:extLst>
          </p:cNvPr>
          <p:cNvSpPr>
            <a:spLocks xmlns:a="http://schemas.openxmlformats.org/drawingml/2006/main" noGrp="1"/>
          </p:cNvSpPr>
          <p:nvPr/>
        </p:nvSpPr>
        <p:spPr>
          <a:xfrm xmlns:a="http://schemas.openxmlformats.org/drawingml/2006/main">
            <a:off x="8229600" y="469582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REVIEW CRITERIA</a:t>
            </a:r>
          </a:p>
        </p:txBody>
      </p:sp>
      <p:sp>
        <p:nvSpPr>
          <p:cNvPr id="23" name="">
            <a:extLst xmlns:a="http://schemas.openxmlformats.org/drawingml/2006/main">
              <a:ext uri="{FF2B5EF4-FFF2-40B4-BE49-F238E27FC236}">
                <a16:creationId xmlns:a16="http://schemas.microsoft.com/office/drawing/2014/main" id="{8D6B9F5F-5237-4517-8F63-774CDC357909}"/>
              </a:ext>
            </a:extLst>
          </p:cNvPr>
          <p:cNvSpPr>
            <a:spLocks xmlns:a="http://schemas.openxmlformats.org/drawingml/2006/main" noGrp="1"/>
          </p:cNvSpPr>
          <p:nvPr/>
        </p:nvSpPr>
        <p:spPr>
          <a:xfrm xmlns:a="http://schemas.openxmlformats.org/drawingml/2006/main">
            <a:off x="8229600" y="4991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The learner does not treat a score as certainty or eligibility.</a:t>
            </a:r>
          </a:p>
        </p:txBody>
      </p:sp>
      <p:sp>
        <p:nvSpPr>
          <p:cNvPr id="24" name="">
            <a:extLst xmlns:a="http://schemas.openxmlformats.org/drawingml/2006/main">
              <a:ext uri="{FF2B5EF4-FFF2-40B4-BE49-F238E27FC236}">
                <a16:creationId xmlns:a16="http://schemas.microsoft.com/office/drawing/2014/main" id="{7AA0524D-31D3-4EA5-A74E-DA6DD6D2A6D9}"/>
              </a:ext>
            </a:extLst>
          </p:cNvPr>
          <p:cNvSpPr>
            <a:spLocks xmlns:a="http://schemas.openxmlformats.org/drawingml/2006/main" noGrp="1"/>
          </p:cNvSpPr>
          <p:nvPr/>
        </p:nvSpPr>
        <p:spPr>
          <a:xfrm xmlns:a="http://schemas.openxmlformats.org/drawingml/2006/main">
            <a:off x="8229600" y="5372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Potential disparate effects and error costs are raised.</a:t>
            </a:r>
          </a:p>
        </p:txBody>
      </p:sp>
      <p:sp>
        <p:nvSpPr>
          <p:cNvPr id="25" name="">
            <a:extLst xmlns:a="http://schemas.openxmlformats.org/drawingml/2006/main">
              <a:ext uri="{FF2B5EF4-FFF2-40B4-BE49-F238E27FC236}">
                <a16:creationId xmlns:a16="http://schemas.microsoft.com/office/drawing/2014/main" id="{16BE49ED-2836-40E7-89C3-9DE919603B0C}"/>
              </a:ext>
            </a:extLst>
          </p:cNvPr>
          <p:cNvSpPr>
            <a:spLocks xmlns:a="http://schemas.openxmlformats.org/drawingml/2006/main" noGrp="1"/>
          </p:cNvSpPr>
          <p:nvPr/>
        </p:nvSpPr>
        <p:spPr>
          <a:xfrm xmlns:a="http://schemas.openxmlformats.org/drawingml/2006/main">
            <a:off x="8229600" y="5753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A human and an approved process own the next action.</a:t>
            </a:r>
          </a:p>
        </p:txBody>
      </p:sp>
    </p:spTree>
    <p:extLst>
      <p:ext uri="{BB962C8B-B14F-4D97-AF65-F5344CB8AC3E}">
        <p14:creationId xmlns:p14="http://schemas.microsoft.com/office/powerpoint/2010/main" val="1954266285"/>
      </p:ext>
    </p:extLst>
  </p:cSld>
</p:sld>
</file>

<file path=ppt/slides/slide50.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F83E0DF8-F70E-4624-86D3-BC106D702389}"/>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7 / MODULE 8</a:t>
            </a:r>
          </a:p>
        </p:txBody>
      </p:sp>
      <p:sp>
        <p:nvSpPr>
          <p:cNvPr id="2" name="">
            <a:extLst xmlns:a="http://schemas.openxmlformats.org/drawingml/2006/main">
              <a:ext uri="{FF2B5EF4-FFF2-40B4-BE49-F238E27FC236}">
                <a16:creationId xmlns:a16="http://schemas.microsoft.com/office/drawing/2014/main" id="{82CD6DCD-C798-41F4-9AF2-2E83CB32A1F3}"/>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S10  |  Q&amp;A and knowledge check</a:t>
            </a:r>
          </a:p>
        </p:txBody>
      </p:sp>
      <p:sp>
        <p:nvSpPr>
          <p:cNvPr id="3" name="">
            <a:extLst xmlns:a="http://schemas.openxmlformats.org/drawingml/2006/main">
              <a:ext uri="{FF2B5EF4-FFF2-40B4-BE49-F238E27FC236}">
                <a16:creationId xmlns:a16="http://schemas.microsoft.com/office/drawing/2014/main" id="{E40ED307-3DF8-4AC3-840C-C86BF207D3C8}"/>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6AD72BF-90F5-447E-ABBE-0B6FE1A923DD}"/>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44479F0-DF6E-4E90-AFBB-475A66D2C28B}"/>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42495373-A43C-4F3C-A584-DB8FED361A6E}"/>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50</a:t>
            </a:r>
          </a:p>
        </p:txBody>
      </p:sp>
      <p:sp>
        <p:nvSpPr>
          <p:cNvPr id="7" name="">
            <a:extLst xmlns:a="http://schemas.openxmlformats.org/drawingml/2006/main">
              <a:ext uri="{FF2B5EF4-FFF2-40B4-BE49-F238E27FC236}">
                <a16:creationId xmlns:a16="http://schemas.microsoft.com/office/drawing/2014/main" id="{B7B55F2E-6B61-489F-8DD0-B1E258BE93FB}"/>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8 topics 8.3–8.4 and proposal p. 9. Predictive use cases require DWIHN approval and evidence.</a:t>
            </a:r>
          </a:p>
        </p:txBody>
      </p:sp>
      <p:sp>
        <p:nvSpPr>
          <p:cNvPr id="8" name="">
            <a:extLst xmlns:a="http://schemas.openxmlformats.org/drawingml/2006/main">
              <a:ext uri="{FF2B5EF4-FFF2-40B4-BE49-F238E27FC236}">
                <a16:creationId xmlns:a16="http://schemas.microsoft.com/office/drawing/2014/main" id="{C24D9E74-462F-43B7-AAA6-D08C5E85A460}"/>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Objective Decisions with Data: Predict &amp; Act Carefully</a:t>
            </a:r>
          </a:p>
        </p:txBody>
      </p:sp>
      <p:sp>
        <p:nvSpPr>
          <p:cNvPr id="9" name="">
            <a:extLst xmlns:a="http://schemas.openxmlformats.org/drawingml/2006/main">
              <a:ext uri="{FF2B5EF4-FFF2-40B4-BE49-F238E27FC236}">
                <a16:creationId xmlns:a16="http://schemas.microsoft.com/office/drawing/2014/main" id="{74F3F247-8238-4B6C-ADD7-30B8B0A2E2DE}"/>
              </a:ext>
            </a:extLst>
          </p:cNvPr>
          <p:cNvSpPr>
            <a:spLocks xmlns:a="http://schemas.openxmlformats.org/drawingml/2006/main" noGrp="1"/>
          </p:cNvSpPr>
          <p:nvPr/>
        </p:nvSpPr>
        <p:spPr>
          <a:xfrm xmlns:a="http://schemas.openxmlformats.org/drawingml/2006/main">
            <a:off x="609600" y="19240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Invite questions first. Use the answer cues to clarify the principle; route local policy questions to the right DWIHN owner.</a:t>
            </a:r>
          </a:p>
        </p:txBody>
      </p:sp>
      <p:sp>
        <p:nvSpPr>
          <p:cNvPr id="10" name="">
            <a:extLst xmlns:a="http://schemas.openxmlformats.org/drawingml/2006/main">
              <a:ext uri="{FF2B5EF4-FFF2-40B4-BE49-F238E27FC236}">
                <a16:creationId xmlns:a16="http://schemas.microsoft.com/office/drawing/2014/main" id="{54C371CF-3686-4C54-BEA8-7108F349F89A}"/>
              </a:ext>
            </a:extLst>
          </p:cNvPr>
          <p:cNvSpPr>
            <a:spLocks xmlns:a="http://schemas.openxmlformats.org/drawingml/2006/main" noGrp="1"/>
          </p:cNvSpPr>
          <p:nvPr/>
        </p:nvSpPr>
        <p:spPr>
          <a:xfrm xmlns:a="http://schemas.openxmlformats.org/drawingml/2006/main">
            <a:off x="609600" y="26384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Q1</a:t>
            </a:r>
          </a:p>
        </p:txBody>
      </p:sp>
      <p:sp>
        <p:nvSpPr>
          <p:cNvPr id="11" name="">
            <a:extLst xmlns:a="http://schemas.openxmlformats.org/drawingml/2006/main">
              <a:ext uri="{FF2B5EF4-FFF2-40B4-BE49-F238E27FC236}">
                <a16:creationId xmlns:a16="http://schemas.microsoft.com/office/drawing/2014/main" id="{6A840C05-4976-4254-BE98-A4507B884720}"/>
              </a:ext>
            </a:extLst>
          </p:cNvPr>
          <p:cNvSpPr>
            <a:spLocks xmlns:a="http://schemas.openxmlformats.org/drawingml/2006/main" noGrp="1"/>
          </p:cNvSpPr>
          <p:nvPr/>
        </p:nvSpPr>
        <p:spPr>
          <a:xfrm xmlns:a="http://schemas.openxmlformats.org/drawingml/2006/main">
            <a:off x="1162050" y="26384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Should an AI prediction automatically trigger a service change?</a:t>
            </a:r>
          </a:p>
        </p:txBody>
      </p:sp>
      <p:sp>
        <p:nvSpPr>
          <p:cNvPr id="12" name="">
            <a:extLst xmlns:a="http://schemas.openxmlformats.org/drawingml/2006/main">
              <a:ext uri="{FF2B5EF4-FFF2-40B4-BE49-F238E27FC236}">
                <a16:creationId xmlns:a16="http://schemas.microsoft.com/office/drawing/2014/main" id="{6B4BB7FE-FC62-4C85-B437-5C4F0C23BB9F}"/>
              </a:ext>
            </a:extLst>
          </p:cNvPr>
          <p:cNvSpPr>
            <a:spLocks xmlns:a="http://schemas.openxmlformats.org/drawingml/2006/main" noGrp="1"/>
          </p:cNvSpPr>
          <p:nvPr/>
        </p:nvSpPr>
        <p:spPr>
          <a:xfrm xmlns:a="http://schemas.openxmlformats.org/drawingml/2006/main">
            <a:off x="6000750" y="26384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3" name="">
            <a:extLst xmlns:a="http://schemas.openxmlformats.org/drawingml/2006/main">
              <a:ext uri="{FF2B5EF4-FFF2-40B4-BE49-F238E27FC236}">
                <a16:creationId xmlns:a16="http://schemas.microsoft.com/office/drawing/2014/main" id="{095137B8-A6C3-40D9-9744-DCB830BE86A8}"/>
              </a:ext>
            </a:extLst>
          </p:cNvPr>
          <p:cNvSpPr>
            <a:spLocks xmlns:a="http://schemas.openxmlformats.org/drawingml/2006/main" noGrp="1"/>
          </p:cNvSpPr>
          <p:nvPr/>
        </p:nvSpPr>
        <p:spPr>
          <a:xfrm xmlns:a="http://schemas.openxmlformats.org/drawingml/2006/main">
            <a:off x="6000750" y="28765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No. Use only an approved workflow with human review and clear authority.</a:t>
            </a:r>
          </a:p>
        </p:txBody>
      </p:sp>
      <p:sp>
        <p:nvSpPr>
          <p:cNvPr id="14" name="">
            <a:extLst xmlns:a="http://schemas.openxmlformats.org/drawingml/2006/main">
              <a:ext uri="{FF2B5EF4-FFF2-40B4-BE49-F238E27FC236}">
                <a16:creationId xmlns:a16="http://schemas.microsoft.com/office/drawing/2014/main" id="{85826F22-4A9D-44B5-A38D-7149DFC67260}"/>
              </a:ext>
            </a:extLst>
          </p:cNvPr>
          <p:cNvSpPr>
            <a:spLocks xmlns:a="http://schemas.openxmlformats.org/drawingml/2006/main" noGrp="1"/>
          </p:cNvSpPr>
          <p:nvPr/>
        </p:nvSpPr>
        <p:spPr>
          <a:xfrm xmlns:a="http://schemas.openxmlformats.org/drawingml/2006/main">
            <a:off x="609600" y="343852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8D8316E-C85B-4002-81C7-F73913A8CC64}"/>
              </a:ext>
            </a:extLst>
          </p:cNvPr>
          <p:cNvSpPr>
            <a:spLocks xmlns:a="http://schemas.openxmlformats.org/drawingml/2006/main" noGrp="1"/>
          </p:cNvSpPr>
          <p:nvPr/>
        </p:nvSpPr>
        <p:spPr>
          <a:xfrm xmlns:a="http://schemas.openxmlformats.org/drawingml/2006/main">
            <a:off x="609600" y="35718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Q2</a:t>
            </a:r>
          </a:p>
        </p:txBody>
      </p:sp>
      <p:sp>
        <p:nvSpPr>
          <p:cNvPr id="16" name="">
            <a:extLst xmlns:a="http://schemas.openxmlformats.org/drawingml/2006/main">
              <a:ext uri="{FF2B5EF4-FFF2-40B4-BE49-F238E27FC236}">
                <a16:creationId xmlns:a16="http://schemas.microsoft.com/office/drawing/2014/main" id="{4DBE73ED-6B93-4238-8C77-1E4265A85F7C}"/>
              </a:ext>
            </a:extLst>
          </p:cNvPr>
          <p:cNvSpPr>
            <a:spLocks xmlns:a="http://schemas.openxmlformats.org/drawingml/2006/main" noGrp="1"/>
          </p:cNvSpPr>
          <p:nvPr/>
        </p:nvSpPr>
        <p:spPr>
          <a:xfrm xmlns:a="http://schemas.openxmlformats.org/drawingml/2006/main">
            <a:off x="1162050" y="357187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What is a false negative in a risk flag?</a:t>
            </a:r>
          </a:p>
        </p:txBody>
      </p:sp>
      <p:sp>
        <p:nvSpPr>
          <p:cNvPr id="17" name="">
            <a:extLst xmlns:a="http://schemas.openxmlformats.org/drawingml/2006/main">
              <a:ext uri="{FF2B5EF4-FFF2-40B4-BE49-F238E27FC236}">
                <a16:creationId xmlns:a16="http://schemas.microsoft.com/office/drawing/2014/main" id="{9EBB080F-C632-4398-AFB1-30C2AF4D464B}"/>
              </a:ext>
            </a:extLst>
          </p:cNvPr>
          <p:cNvSpPr>
            <a:spLocks xmlns:a="http://schemas.openxmlformats.org/drawingml/2006/main" noGrp="1"/>
          </p:cNvSpPr>
          <p:nvPr/>
        </p:nvSpPr>
        <p:spPr>
          <a:xfrm xmlns:a="http://schemas.openxmlformats.org/drawingml/2006/main">
            <a:off x="6000750" y="357187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8" name="">
            <a:extLst xmlns:a="http://schemas.openxmlformats.org/drawingml/2006/main">
              <a:ext uri="{FF2B5EF4-FFF2-40B4-BE49-F238E27FC236}">
                <a16:creationId xmlns:a16="http://schemas.microsoft.com/office/drawing/2014/main" id="{A8692CF2-0D21-4A57-927C-D04BFFB421D0}"/>
              </a:ext>
            </a:extLst>
          </p:cNvPr>
          <p:cNvSpPr>
            <a:spLocks xmlns:a="http://schemas.openxmlformats.org/drawingml/2006/main" noGrp="1"/>
          </p:cNvSpPr>
          <p:nvPr/>
        </p:nvSpPr>
        <p:spPr>
          <a:xfrm xmlns:a="http://schemas.openxmlformats.org/drawingml/2006/main">
            <a:off x="6000750" y="381000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A case that the model does not flag even though the concern is present.</a:t>
            </a:r>
          </a:p>
        </p:txBody>
      </p:sp>
      <p:sp>
        <p:nvSpPr>
          <p:cNvPr id="19" name="">
            <a:extLst xmlns:a="http://schemas.openxmlformats.org/drawingml/2006/main">
              <a:ext uri="{FF2B5EF4-FFF2-40B4-BE49-F238E27FC236}">
                <a16:creationId xmlns:a16="http://schemas.microsoft.com/office/drawing/2014/main" id="{5E43A879-23A9-4C7A-8484-D9A7B9AAB489}"/>
              </a:ext>
            </a:extLst>
          </p:cNvPr>
          <p:cNvSpPr>
            <a:spLocks xmlns:a="http://schemas.openxmlformats.org/drawingml/2006/main" noGrp="1"/>
          </p:cNvSpPr>
          <p:nvPr/>
        </p:nvSpPr>
        <p:spPr>
          <a:xfrm xmlns:a="http://schemas.openxmlformats.org/drawingml/2006/main">
            <a:off x="609600" y="437197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266323B-D3CF-43A8-8431-BD56B52C05FE}"/>
              </a:ext>
            </a:extLst>
          </p:cNvPr>
          <p:cNvSpPr>
            <a:spLocks xmlns:a="http://schemas.openxmlformats.org/drawingml/2006/main" noGrp="1"/>
          </p:cNvSpPr>
          <p:nvPr/>
        </p:nvSpPr>
        <p:spPr>
          <a:xfrm xmlns:a="http://schemas.openxmlformats.org/drawingml/2006/main">
            <a:off x="609600" y="45053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Q3</a:t>
            </a:r>
          </a:p>
        </p:txBody>
      </p:sp>
      <p:sp>
        <p:nvSpPr>
          <p:cNvPr id="21" name="">
            <a:extLst xmlns:a="http://schemas.openxmlformats.org/drawingml/2006/main">
              <a:ext uri="{FF2B5EF4-FFF2-40B4-BE49-F238E27FC236}">
                <a16:creationId xmlns:a16="http://schemas.microsoft.com/office/drawing/2014/main" id="{822A502E-146F-491E-A7AA-24832AC40F30}"/>
              </a:ext>
            </a:extLst>
          </p:cNvPr>
          <p:cNvSpPr>
            <a:spLocks xmlns:a="http://schemas.openxmlformats.org/drawingml/2006/main" noGrp="1"/>
          </p:cNvSpPr>
          <p:nvPr/>
        </p:nvSpPr>
        <p:spPr>
          <a:xfrm xmlns:a="http://schemas.openxmlformats.org/drawingml/2006/main">
            <a:off x="1162050" y="45053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When is a prediction too weak to use?</a:t>
            </a:r>
          </a:p>
        </p:txBody>
      </p:sp>
      <p:sp>
        <p:nvSpPr>
          <p:cNvPr id="22" name="">
            <a:extLst xmlns:a="http://schemas.openxmlformats.org/drawingml/2006/main">
              <a:ext uri="{FF2B5EF4-FFF2-40B4-BE49-F238E27FC236}">
                <a16:creationId xmlns:a16="http://schemas.microsoft.com/office/drawing/2014/main" id="{20D1C9B5-8D2B-4E22-A556-44DFB66BD805}"/>
              </a:ext>
            </a:extLst>
          </p:cNvPr>
          <p:cNvSpPr>
            <a:spLocks xmlns:a="http://schemas.openxmlformats.org/drawingml/2006/main" noGrp="1"/>
          </p:cNvSpPr>
          <p:nvPr/>
        </p:nvSpPr>
        <p:spPr>
          <a:xfrm xmlns:a="http://schemas.openxmlformats.org/drawingml/2006/main">
            <a:off x="6000750" y="45053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23" name="">
            <a:extLst xmlns:a="http://schemas.openxmlformats.org/drawingml/2006/main">
              <a:ext uri="{FF2B5EF4-FFF2-40B4-BE49-F238E27FC236}">
                <a16:creationId xmlns:a16="http://schemas.microsoft.com/office/drawing/2014/main" id="{51FDEEA1-C68F-4EF4-8602-732071D15009}"/>
              </a:ext>
            </a:extLst>
          </p:cNvPr>
          <p:cNvSpPr>
            <a:spLocks xmlns:a="http://schemas.openxmlformats.org/drawingml/2006/main" noGrp="1"/>
          </p:cNvSpPr>
          <p:nvPr/>
        </p:nvSpPr>
        <p:spPr>
          <a:xfrm xmlns:a="http://schemas.openxmlformats.org/drawingml/2006/main">
            <a:off x="6000750" y="47434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When its performance, population fit, purpose or governance cannot be established for the proposed use.</a:t>
            </a:r>
          </a:p>
        </p:txBody>
      </p:sp>
      <p:sp>
        <p:nvSpPr>
          <p:cNvPr id="24" name="">
            <a:extLst xmlns:a="http://schemas.openxmlformats.org/drawingml/2006/main">
              <a:ext uri="{FF2B5EF4-FFF2-40B4-BE49-F238E27FC236}">
                <a16:creationId xmlns:a16="http://schemas.microsoft.com/office/drawing/2014/main" id="{E7872BFB-DDD9-45D1-BA5B-E074779F70CA}"/>
              </a:ext>
            </a:extLst>
          </p:cNvPr>
          <p:cNvSpPr>
            <a:spLocks xmlns:a="http://schemas.openxmlformats.org/drawingml/2006/main" noGrp="1"/>
          </p:cNvSpPr>
          <p:nvPr/>
        </p:nvSpPr>
        <p:spPr>
          <a:xfrm xmlns:a="http://schemas.openxmlformats.org/drawingml/2006/main">
            <a:off x="609600" y="55435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5153F762-2770-4C5F-8B8A-7E8016863653}"/>
              </a:ext>
            </a:extLst>
          </p:cNvPr>
          <p:cNvSpPr>
            <a:spLocks xmlns:a="http://schemas.openxmlformats.org/drawingml/2006/main" noGrp="1"/>
          </p:cNvSpPr>
          <p:nvPr/>
        </p:nvSpPr>
        <p:spPr>
          <a:xfrm xmlns:a="http://schemas.openxmlformats.org/drawingml/2006/main">
            <a:off x="609600" y="57150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Remember</a:t>
            </a:r>
          </a:p>
        </p:txBody>
      </p:sp>
      <p:sp>
        <p:nvSpPr>
          <p:cNvPr id="26" name="">
            <a:extLst xmlns:a="http://schemas.openxmlformats.org/drawingml/2006/main">
              <a:ext uri="{FF2B5EF4-FFF2-40B4-BE49-F238E27FC236}">
                <a16:creationId xmlns:a16="http://schemas.microsoft.com/office/drawing/2014/main" id="{F7339D66-824A-4505-90F3-6032ADC9CFEE}"/>
              </a:ext>
            </a:extLst>
          </p:cNvPr>
          <p:cNvSpPr>
            <a:spLocks xmlns:a="http://schemas.openxmlformats.org/drawingml/2006/main" noGrp="1"/>
          </p:cNvSpPr>
          <p:nvPr/>
        </p:nvSpPr>
        <p:spPr>
          <a:xfrm xmlns:a="http://schemas.openxmlformats.org/drawingml/2006/main">
            <a:off x="1924050" y="5686425"/>
            <a:ext cx="9429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91"/>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Treat prediction as uncertain evidence.   •   Review error patterns and potential impact.   •   Record the human decision and follow-up.</a:t>
            </a:r>
          </a:p>
        </p:txBody>
      </p:sp>
    </p:spTree>
    <p:extLst>
      <p:ext uri="{BB962C8B-B14F-4D97-AF65-F5344CB8AC3E}">
        <p14:creationId xmlns:p14="http://schemas.microsoft.com/office/powerpoint/2010/main" val="140920441"/>
      </p:ext>
    </p:extLst>
  </p:cSld>
</p:sld>
</file>

<file path=ppt/slides/slide51.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DBBDC48-20EF-4B1F-A7F2-2ABD70BA29BE}"/>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8 / MODULE 9</a:t>
            </a:r>
          </a:p>
        </p:txBody>
      </p:sp>
      <p:sp>
        <p:nvSpPr>
          <p:cNvPr id="2" name="">
            <a:extLst xmlns:a="http://schemas.openxmlformats.org/drawingml/2006/main">
              <a:ext uri="{FF2B5EF4-FFF2-40B4-BE49-F238E27FC236}">
                <a16:creationId xmlns:a16="http://schemas.microsoft.com/office/drawing/2014/main" id="{0B30E570-0EB6-4DB2-8FC1-F3BCB7BECCA2}"/>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S11  |  Purpose &amp; outcomes</a:t>
            </a:r>
          </a:p>
        </p:txBody>
      </p:sp>
      <p:sp>
        <p:nvSpPr>
          <p:cNvPr id="3" name="">
            <a:extLst xmlns:a="http://schemas.openxmlformats.org/drawingml/2006/main">
              <a:ext uri="{FF2B5EF4-FFF2-40B4-BE49-F238E27FC236}">
                <a16:creationId xmlns:a16="http://schemas.microsoft.com/office/drawing/2014/main" id="{B2E534AE-BDD6-4306-8724-4D57D380D509}"/>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F6A24A0-6214-4E60-91D5-CF2B1358A715}"/>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5EBDD17-7CE6-4A1D-9C0F-1DFE31C764FC}"/>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83143E3D-5EFB-4416-BFB4-65860EE8A19B}"/>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51</a:t>
            </a:r>
          </a:p>
        </p:txBody>
      </p:sp>
      <p:sp>
        <p:nvSpPr>
          <p:cNvPr id="7" name="">
            <a:extLst xmlns:a="http://schemas.openxmlformats.org/drawingml/2006/main">
              <a:ext uri="{FF2B5EF4-FFF2-40B4-BE49-F238E27FC236}">
                <a16:creationId xmlns:a16="http://schemas.microsoft.com/office/drawing/2014/main" id="{58F0B8F9-467C-4CEA-8868-B32E4A0C98F6}"/>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9, incident practice and proposal p. 9. The proposal does not provide DWIHN’s exact process; validate before instruction.</a:t>
            </a:r>
          </a:p>
        </p:txBody>
      </p:sp>
      <p:sp>
        <p:nvSpPr>
          <p:cNvPr id="8" name="">
            <a:extLst xmlns:a="http://schemas.openxmlformats.org/drawingml/2006/main">
              <a:ext uri="{FF2B5EF4-FFF2-40B4-BE49-F238E27FC236}">
                <a16:creationId xmlns:a16="http://schemas.microsoft.com/office/drawing/2014/main" id="{BA37DABD-9932-4573-B4A2-CD45D26F8F3C}"/>
              </a:ext>
            </a:extLst>
          </p:cNvPr>
          <p:cNvSpPr>
            <a:spLocks xmlns:a="http://schemas.openxmlformats.org/drawingml/2006/main" noGrp="1"/>
          </p:cNvSpPr>
          <p:nvPr/>
        </p:nvSpPr>
        <p:spPr>
          <a:xfrm xmlns:a="http://schemas.openxmlformats.org/drawingml/2006/main">
            <a:off x="609600" y="1619250"/>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0A2438"/>
                </a:solidFill>
                <a:latin typeface="Arial"/>
                <a:ea typeface="Arial"/>
                <a:cs typeface="Arial"/>
              </a:defRPr>
            </a:pPr>
            <a:r>
              <a:rPr sz="1875" b="1">
                <a:solidFill>
                  <a:srgbClr val="0A2438"/>
                </a:solidFill>
                <a:latin typeface="Arial"/>
                <a:ea typeface="Arial"/>
                <a:cs typeface="Arial"/>
              </a:rPr>
              <a:t>Governance &amp; Incident Handling</a:t>
            </a:r>
          </a:p>
        </p:txBody>
      </p:sp>
      <p:sp>
        <p:nvSpPr>
          <p:cNvPr id="9" name="">
            <a:extLst xmlns:a="http://schemas.openxmlformats.org/drawingml/2006/main">
              <a:ext uri="{FF2B5EF4-FFF2-40B4-BE49-F238E27FC236}">
                <a16:creationId xmlns:a16="http://schemas.microsoft.com/office/drawing/2014/main" id="{7C960E78-6B10-4D2F-895F-A57C1C9CA400}"/>
              </a:ext>
            </a:extLst>
          </p:cNvPr>
          <p:cNvSpPr>
            <a:spLocks xmlns:a="http://schemas.openxmlformats.org/drawingml/2006/main" noGrp="1"/>
          </p:cNvSpPr>
          <p:nvPr/>
        </p:nvSpPr>
        <p:spPr>
          <a:xfrm xmlns:a="http://schemas.openxmlformats.org/drawingml/2006/main">
            <a:off x="609600" y="2057400"/>
            <a:ext cx="695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506473"/>
                </a:solidFill>
                <a:latin typeface="Arial"/>
                <a:ea typeface="Arial"/>
                <a:cs typeface="Arial"/>
              </a:defRPr>
            </a:pPr>
            <a:r>
              <a:rPr sz="1425" b="0">
                <a:solidFill>
                  <a:srgbClr val="506473"/>
                </a:solidFill>
                <a:latin typeface="Arial"/>
                <a:ea typeface="Arial"/>
                <a:cs typeface="Arial"/>
              </a:rPr>
              <a:t>Participants learn the purpose of governance roles, recognize possible AI incidents and rehearse a proposed reporting sequence that must be aligned with DWIHN procedure.</a:t>
            </a:r>
          </a:p>
        </p:txBody>
      </p:sp>
      <p:sp>
        <p:nvSpPr>
          <p:cNvPr id="10" name="">
            <a:extLst xmlns:a="http://schemas.openxmlformats.org/drawingml/2006/main">
              <a:ext uri="{FF2B5EF4-FFF2-40B4-BE49-F238E27FC236}">
                <a16:creationId xmlns:a16="http://schemas.microsoft.com/office/drawing/2014/main" id="{2FDDC214-31F7-4411-A4A4-F12325D41520}"/>
              </a:ext>
            </a:extLst>
          </p:cNvPr>
          <p:cNvSpPr>
            <a:spLocks xmlns:a="http://schemas.openxmlformats.org/drawingml/2006/main" noGrp="1"/>
          </p:cNvSpPr>
          <p:nvPr/>
        </p:nvSpPr>
        <p:spPr>
          <a:xfrm xmlns:a="http://schemas.openxmlformats.org/drawingml/2006/main">
            <a:off x="609600" y="30861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BY THE END, LEARNERS CAN</a:t>
            </a:r>
          </a:p>
        </p:txBody>
      </p:sp>
      <p:sp>
        <p:nvSpPr>
          <p:cNvPr id="11" name="">
            <a:extLst xmlns:a="http://schemas.openxmlformats.org/drawingml/2006/main">
              <a:ext uri="{FF2B5EF4-FFF2-40B4-BE49-F238E27FC236}">
                <a16:creationId xmlns:a16="http://schemas.microsoft.com/office/drawing/2014/main" id="{B55C74CE-8087-4B79-8F81-72A6B067B1FB}"/>
              </a:ext>
            </a:extLst>
          </p:cNvPr>
          <p:cNvSpPr>
            <a:spLocks xmlns:a="http://schemas.openxmlformats.org/drawingml/2006/main" noGrp="1"/>
          </p:cNvSpPr>
          <p:nvPr/>
        </p:nvSpPr>
        <p:spPr>
          <a:xfrm xmlns:a="http://schemas.openxmlformats.org/drawingml/2006/main">
            <a:off x="609600" y="3429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01</a:t>
            </a:r>
          </a:p>
        </p:txBody>
      </p:sp>
      <p:sp>
        <p:nvSpPr>
          <p:cNvPr id="12" name="">
            <a:extLst xmlns:a="http://schemas.openxmlformats.org/drawingml/2006/main">
              <a:ext uri="{FF2B5EF4-FFF2-40B4-BE49-F238E27FC236}">
                <a16:creationId xmlns:a16="http://schemas.microsoft.com/office/drawing/2014/main" id="{0F009B8E-AF73-4A25-829C-CE4A313A0C1A}"/>
              </a:ext>
            </a:extLst>
          </p:cNvPr>
          <p:cNvSpPr>
            <a:spLocks xmlns:a="http://schemas.openxmlformats.org/drawingml/2006/main" noGrp="1"/>
          </p:cNvSpPr>
          <p:nvPr/>
        </p:nvSpPr>
        <p:spPr>
          <a:xfrm xmlns:a="http://schemas.openxmlformats.org/drawingml/2006/main">
            <a:off x="1104900" y="34290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Route new or unclear use cases to an authorized governance owner.</a:t>
            </a:r>
          </a:p>
        </p:txBody>
      </p:sp>
      <p:sp>
        <p:nvSpPr>
          <p:cNvPr id="13" name="">
            <a:extLst xmlns:a="http://schemas.openxmlformats.org/drawingml/2006/main">
              <a:ext uri="{FF2B5EF4-FFF2-40B4-BE49-F238E27FC236}">
                <a16:creationId xmlns:a16="http://schemas.microsoft.com/office/drawing/2014/main" id="{335930A3-70C9-468B-9852-C890BF46C7C6}"/>
              </a:ext>
            </a:extLst>
          </p:cNvPr>
          <p:cNvSpPr>
            <a:spLocks xmlns:a="http://schemas.openxmlformats.org/drawingml/2006/main" noGrp="1"/>
          </p:cNvSpPr>
          <p:nvPr/>
        </p:nvSpPr>
        <p:spPr>
          <a:xfrm xmlns:a="http://schemas.openxmlformats.org/drawingml/2006/main">
            <a:off x="609600" y="40767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8B3C4104-9BF9-42EB-8CB1-CF5CE4275269}"/>
              </a:ext>
            </a:extLst>
          </p:cNvPr>
          <p:cNvSpPr>
            <a:spLocks xmlns:a="http://schemas.openxmlformats.org/drawingml/2006/main" noGrp="1"/>
          </p:cNvSpPr>
          <p:nvPr/>
        </p:nvSpPr>
        <p:spPr>
          <a:xfrm xmlns:a="http://schemas.openxmlformats.org/drawingml/2006/main">
            <a:off x="1104900" y="40767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Recognize privacy, security, accuracy and policy concerns.</a:t>
            </a:r>
          </a:p>
        </p:txBody>
      </p:sp>
      <p:sp>
        <p:nvSpPr>
          <p:cNvPr id="15" name="">
            <a:extLst xmlns:a="http://schemas.openxmlformats.org/drawingml/2006/main">
              <a:ext uri="{FF2B5EF4-FFF2-40B4-BE49-F238E27FC236}">
                <a16:creationId xmlns:a16="http://schemas.microsoft.com/office/drawing/2014/main" id="{7B2EB2A4-2FEE-4A94-85AB-38B3C4706AC3}"/>
              </a:ext>
            </a:extLst>
          </p:cNvPr>
          <p:cNvSpPr>
            <a:spLocks xmlns:a="http://schemas.openxmlformats.org/drawingml/2006/main" noGrp="1"/>
          </p:cNvSpPr>
          <p:nvPr/>
        </p:nvSpPr>
        <p:spPr>
          <a:xfrm xmlns:a="http://schemas.openxmlformats.org/drawingml/2006/main">
            <a:off x="609600" y="47244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DCAFB3BD-ED0F-4D3C-92B2-8038B24C6215}"/>
              </a:ext>
            </a:extLst>
          </p:cNvPr>
          <p:cNvSpPr>
            <a:spLocks xmlns:a="http://schemas.openxmlformats.org/drawingml/2006/main" noGrp="1"/>
          </p:cNvSpPr>
          <p:nvPr/>
        </p:nvSpPr>
        <p:spPr>
          <a:xfrm xmlns:a="http://schemas.openxmlformats.org/drawingml/2006/main">
            <a:off x="1104900" y="47244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Practice prompt factual reporting without deleting evidence or investigating beyond the role.</a:t>
            </a:r>
          </a:p>
        </p:txBody>
      </p:sp>
      <p:sp>
        <p:nvSpPr>
          <p:cNvPr id="17" name="">
            <a:extLst xmlns:a="http://schemas.openxmlformats.org/drawingml/2006/main">
              <a:ext uri="{FF2B5EF4-FFF2-40B4-BE49-F238E27FC236}">
                <a16:creationId xmlns:a16="http://schemas.microsoft.com/office/drawing/2014/main" id="{6549FF48-35F1-46E7-AEAF-05E4EF058D06}"/>
              </a:ext>
            </a:extLst>
          </p:cNvPr>
          <p:cNvSpPr>
            <a:spLocks xmlns:a="http://schemas.openxmlformats.org/drawingml/2006/main" noGrp="1"/>
          </p:cNvSpPr>
          <p:nvPr/>
        </p:nvSpPr>
        <p:spPr>
          <a:xfrm xmlns:a="http://schemas.openxmlformats.org/drawingml/2006/main">
            <a:off x="609600" y="5476875"/>
            <a:ext cx="6953250" cy="476250"/>
          </a:xfrm>
          <a:prstGeom xmlns:a="http://schemas.openxmlformats.org/drawingml/2006/main" prst="rect">
            <a:avLst/>
          </a:prstGeom>
          <a:noFill xmlns:a="http://schemas.openxmlformats.org/drawingml/2006/main"/>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4E793F6-3785-44AA-85F9-DA3FC5DF7865}"/>
              </a:ext>
            </a:extLst>
          </p:cNvPr>
          <p:cNvSpPr>
            <a:spLocks xmlns:a="http://schemas.openxmlformats.org/drawingml/2006/main" noGrp="1"/>
          </p:cNvSpPr>
          <p:nvPr/>
        </p:nvSpPr>
        <p:spPr>
          <a:xfrm xmlns:a="http://schemas.openxmlformats.org/drawingml/2006/main">
            <a:off x="781050" y="5591175"/>
            <a:ext cx="659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91"/>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Session length: at least 1 hour, including Q&amp;A. Guided practice and discussion can extend it.</a:t>
            </a:r>
          </a:p>
        </p:txBody>
      </p:sp>
      <p:sp>
        <p:nvSpPr>
          <p:cNvPr id="19" name="">
            <a:extLst xmlns:a="http://schemas.openxmlformats.org/drawingml/2006/main">
              <a:ext uri="{FF2B5EF4-FFF2-40B4-BE49-F238E27FC236}">
                <a16:creationId xmlns:a16="http://schemas.microsoft.com/office/drawing/2014/main" id="{2C752B61-893B-4423-80BE-E4D1E0AA538E}"/>
              </a:ext>
            </a:extLst>
          </p:cNvPr>
          <p:cNvSpPr>
            <a:spLocks xmlns:a="http://schemas.openxmlformats.org/drawingml/2006/main" noGrp="1"/>
          </p:cNvSpPr>
          <p:nvPr/>
        </p:nvSpPr>
        <p:spPr>
          <a:xfrm xmlns:a="http://schemas.openxmlformats.org/drawingml/2006/main">
            <a:off x="8096250" y="2266950"/>
            <a:ext cx="19050" cy="295275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F144688-B130-4A89-B7A7-47349660D588}"/>
              </a:ext>
            </a:extLst>
          </p:cNvPr>
          <p:cNvSpPr>
            <a:spLocks xmlns:a="http://schemas.openxmlformats.org/drawingml/2006/main" noGrp="1"/>
          </p:cNvSpPr>
          <p:nvPr/>
        </p:nvSpPr>
        <p:spPr>
          <a:xfrm xmlns:a="http://schemas.openxmlformats.org/drawingml/2006/main">
            <a:off x="8439150" y="23050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OPENING DISCUSSION</a:t>
            </a:r>
          </a:p>
        </p:txBody>
      </p:sp>
      <p:sp>
        <p:nvSpPr>
          <p:cNvPr id="21" name="">
            <a:extLst xmlns:a="http://schemas.openxmlformats.org/drawingml/2006/main">
              <a:ext uri="{FF2B5EF4-FFF2-40B4-BE49-F238E27FC236}">
                <a16:creationId xmlns:a16="http://schemas.microsoft.com/office/drawing/2014/main" id="{590DF73B-C3E1-4662-9B23-00AD499600A9}"/>
              </a:ext>
            </a:extLst>
          </p:cNvPr>
          <p:cNvSpPr>
            <a:spLocks xmlns:a="http://schemas.openxmlformats.org/drawingml/2006/main" noGrp="1"/>
          </p:cNvSpPr>
          <p:nvPr/>
        </p:nvSpPr>
        <p:spPr>
          <a:xfrm xmlns:a="http://schemas.openxmlformats.org/drawingml/2006/main">
            <a:off x="8439150" y="2647950"/>
            <a:ext cx="2857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145"/>
          </a:bodyPr>
          <a:lstStyle xmlns:a="http://schemas.openxmlformats.org/drawingml/2006/main"/>
          <a:p xmlns:a="http://schemas.openxmlformats.org/drawingml/2006/main">
            <a:pPr algn="l">
              <a:lnSpc>
                <a:spcPct val="112000"/>
              </a:lnSpc>
              <a:buNone/>
              <a:defRPr sz="1575" b="1">
                <a:solidFill>
                  <a:srgbClr val="142F42"/>
                </a:solidFill>
                <a:latin typeface="Arial"/>
                <a:ea typeface="Arial"/>
                <a:cs typeface="Arial"/>
              </a:defRPr>
            </a:pPr>
            <a:r>
              <a:rPr sz="1575" b="1">
                <a:solidFill>
                  <a:srgbClr val="142F42"/>
                </a:solidFill>
                <a:latin typeface="Arial"/>
                <a:ea typeface="Arial"/>
                <a:cs typeface="Arial"/>
              </a:rPr>
              <a:t>If you realize information may have gone into the wrong tool, what should happen first, and which details should not be guessed?</a:t>
            </a:r>
          </a:p>
        </p:txBody>
      </p:sp>
      <p:sp>
        <p:nvSpPr>
          <p:cNvPr id="22" name="">
            <a:extLst xmlns:a="http://schemas.openxmlformats.org/drawingml/2006/main">
              <a:ext uri="{FF2B5EF4-FFF2-40B4-BE49-F238E27FC236}">
                <a16:creationId xmlns:a16="http://schemas.microsoft.com/office/drawing/2014/main" id="{B38F6424-02AD-4636-8B8F-DB8C099365F3}"/>
              </a:ext>
            </a:extLst>
          </p:cNvPr>
          <p:cNvSpPr>
            <a:spLocks xmlns:a="http://schemas.openxmlformats.org/drawingml/2006/main" noGrp="1"/>
          </p:cNvSpPr>
          <p:nvPr/>
        </p:nvSpPr>
        <p:spPr>
          <a:xfrm xmlns:a="http://schemas.openxmlformats.org/drawingml/2006/main">
            <a:off x="8439150" y="39624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KEEP IN VIEW</a:t>
            </a:r>
          </a:p>
        </p:txBody>
      </p:sp>
      <p:sp>
        <p:nvSpPr>
          <p:cNvPr id="23" name="">
            <a:extLst xmlns:a="http://schemas.openxmlformats.org/drawingml/2006/main">
              <a:ext uri="{FF2B5EF4-FFF2-40B4-BE49-F238E27FC236}">
                <a16:creationId xmlns:a16="http://schemas.microsoft.com/office/drawing/2014/main" id="{94809785-7E23-4A2B-BBAA-BED4E0350413}"/>
              </a:ext>
            </a:extLst>
          </p:cNvPr>
          <p:cNvSpPr>
            <a:spLocks xmlns:a="http://schemas.openxmlformats.org/drawingml/2006/main" noGrp="1"/>
          </p:cNvSpPr>
          <p:nvPr/>
        </p:nvSpPr>
        <p:spPr>
          <a:xfrm xmlns:a="http://schemas.openxmlformats.org/drawingml/2006/main">
            <a:off x="8439150" y="4295775"/>
            <a:ext cx="285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Use the approved workflow, verify against a trusted source and keep human judgment visible.</a:t>
            </a:r>
          </a:p>
        </p:txBody>
      </p:sp>
    </p:spTree>
    <p:extLst>
      <p:ext uri="{BB962C8B-B14F-4D97-AF65-F5344CB8AC3E}">
        <p14:creationId xmlns:p14="http://schemas.microsoft.com/office/powerpoint/2010/main" val="466094799"/>
      </p:ext>
    </p:extLst>
  </p:cSld>
</p:sld>
</file>

<file path=ppt/slides/slide52.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B308477-6A1A-44E8-AC24-A7553C6D3411}"/>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8 / MODULE 9</a:t>
            </a:r>
          </a:p>
        </p:txBody>
      </p:sp>
      <p:sp>
        <p:nvSpPr>
          <p:cNvPr id="2" name="">
            <a:extLst xmlns:a="http://schemas.openxmlformats.org/drawingml/2006/main">
              <a:ext uri="{FF2B5EF4-FFF2-40B4-BE49-F238E27FC236}">
                <a16:creationId xmlns:a16="http://schemas.microsoft.com/office/drawing/2014/main" id="{26DD2CD3-1269-4E92-AD3F-3D2051576E96}"/>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S11  |  Core concepts</a:t>
            </a:r>
          </a:p>
        </p:txBody>
      </p:sp>
      <p:sp>
        <p:nvSpPr>
          <p:cNvPr id="3" name="">
            <a:extLst xmlns:a="http://schemas.openxmlformats.org/drawingml/2006/main">
              <a:ext uri="{FF2B5EF4-FFF2-40B4-BE49-F238E27FC236}">
                <a16:creationId xmlns:a16="http://schemas.microsoft.com/office/drawing/2014/main" id="{425EF697-7142-4188-A71D-AE0312B37E67}"/>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63FBB7C-9EC3-4734-A69B-6CE820F5ECDF}"/>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FFCC997-2D9A-4C66-A382-5E813A681B95}"/>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16EF219C-1059-46E6-8C65-AA32C7E7BA35}"/>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52</a:t>
            </a:r>
          </a:p>
        </p:txBody>
      </p:sp>
      <p:sp>
        <p:nvSpPr>
          <p:cNvPr id="7" name="">
            <a:extLst xmlns:a="http://schemas.openxmlformats.org/drawingml/2006/main">
              <a:ext uri="{FF2B5EF4-FFF2-40B4-BE49-F238E27FC236}">
                <a16:creationId xmlns:a16="http://schemas.microsoft.com/office/drawing/2014/main" id="{8AC82BCE-CB93-4491-82A4-1110A33A11D5}"/>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9, incident practice and proposal p. 9. The proposal does not provide DWIHN’s exact process; validate before instruction.</a:t>
            </a:r>
          </a:p>
        </p:txBody>
      </p:sp>
      <p:sp>
        <p:nvSpPr>
          <p:cNvPr id="8" name="">
            <a:extLst xmlns:a="http://schemas.openxmlformats.org/drawingml/2006/main">
              <a:ext uri="{FF2B5EF4-FFF2-40B4-BE49-F238E27FC236}">
                <a16:creationId xmlns:a16="http://schemas.microsoft.com/office/drawing/2014/main" id="{3385E5B6-AF17-47E4-99C5-62E8850160D4}"/>
              </a:ext>
            </a:extLst>
          </p:cNvPr>
          <p:cNvSpPr>
            <a:spLocks xmlns:a="http://schemas.openxmlformats.org/drawingml/2006/main" noGrp="1"/>
          </p:cNvSpPr>
          <p:nvPr/>
        </p:nvSpPr>
        <p:spPr>
          <a:xfrm xmlns:a="http://schemas.openxmlformats.org/drawingml/2006/main">
            <a:off x="609600" y="15811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Governance &amp; Incident Handling</a:t>
            </a:r>
          </a:p>
        </p:txBody>
      </p:sp>
      <p:sp>
        <p:nvSpPr>
          <p:cNvPr id="9" name="">
            <a:extLst xmlns:a="http://schemas.openxmlformats.org/drawingml/2006/main">
              <a:ext uri="{FF2B5EF4-FFF2-40B4-BE49-F238E27FC236}">
                <a16:creationId xmlns:a16="http://schemas.microsoft.com/office/drawing/2014/main" id="{3C521BEF-6C3B-4113-8B25-538214F079FE}"/>
              </a:ext>
            </a:extLst>
          </p:cNvPr>
          <p:cNvSpPr>
            <a:spLocks xmlns:a="http://schemas.openxmlformats.org/drawingml/2006/main" noGrp="1"/>
          </p:cNvSpPr>
          <p:nvPr/>
        </p:nvSpPr>
        <p:spPr>
          <a:xfrm xmlns:a="http://schemas.openxmlformats.org/drawingml/2006/main">
            <a:off x="609600" y="19716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304B7A59-362A-4602-A3AD-C0E1A289EB81}"/>
              </a:ext>
            </a:extLst>
          </p:cNvPr>
          <p:cNvSpPr>
            <a:spLocks xmlns:a="http://schemas.openxmlformats.org/drawingml/2006/main" noGrp="1"/>
          </p:cNvSpPr>
          <p:nvPr/>
        </p:nvSpPr>
        <p:spPr>
          <a:xfrm xmlns:a="http://schemas.openxmlformats.org/drawingml/2006/main">
            <a:off x="1143000" y="19716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145"/>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Governance assigns decision rights</a:t>
            </a:r>
          </a:p>
        </p:txBody>
      </p:sp>
      <p:sp>
        <p:nvSpPr>
          <p:cNvPr id="11" name="">
            <a:extLst xmlns:a="http://schemas.openxmlformats.org/drawingml/2006/main">
              <a:ext uri="{FF2B5EF4-FFF2-40B4-BE49-F238E27FC236}">
                <a16:creationId xmlns:a16="http://schemas.microsoft.com/office/drawing/2014/main" id="{A28F27ED-3323-4BAA-A5B4-1E131F650615}"/>
              </a:ext>
            </a:extLst>
          </p:cNvPr>
          <p:cNvSpPr>
            <a:spLocks xmlns:a="http://schemas.openxmlformats.org/drawingml/2006/main" noGrp="1"/>
          </p:cNvSpPr>
          <p:nvPr/>
        </p:nvSpPr>
        <p:spPr>
          <a:xfrm xmlns:a="http://schemas.openxmlformats.org/drawingml/2006/main">
            <a:off x="3857625" y="19716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 governance function sets policy, approves use cases, reviews risk and routes questions to the right owners. The proposal names a committee but does not identify its DWIHN members or charter.</a:t>
            </a:r>
          </a:p>
        </p:txBody>
      </p:sp>
      <p:sp>
        <p:nvSpPr>
          <p:cNvPr id="12" name="">
            <a:extLst xmlns:a="http://schemas.openxmlformats.org/drawingml/2006/main">
              <a:ext uri="{FF2B5EF4-FFF2-40B4-BE49-F238E27FC236}">
                <a16:creationId xmlns:a16="http://schemas.microsoft.com/office/drawing/2014/main" id="{CA58FB51-3DEA-4EF9-9EC7-B7D352BD4C02}"/>
              </a:ext>
            </a:extLst>
          </p:cNvPr>
          <p:cNvSpPr>
            <a:spLocks xmlns:a="http://schemas.openxmlformats.org/drawingml/2006/main" noGrp="1"/>
          </p:cNvSpPr>
          <p:nvPr/>
        </p:nvSpPr>
        <p:spPr>
          <a:xfrm xmlns:a="http://schemas.openxmlformats.org/drawingml/2006/main">
            <a:off x="1143000" y="28003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813671F-B35B-4B98-99B9-E63F5A050AD9}"/>
              </a:ext>
            </a:extLst>
          </p:cNvPr>
          <p:cNvSpPr>
            <a:spLocks xmlns:a="http://schemas.openxmlformats.org/drawingml/2006/main" noGrp="1"/>
          </p:cNvSpPr>
          <p:nvPr/>
        </p:nvSpPr>
        <p:spPr>
          <a:xfrm xmlns:a="http://schemas.openxmlformats.org/drawingml/2006/main">
            <a:off x="609600" y="29813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B2B3195B-BF1B-4FD5-9BA0-D0479B1833F7}"/>
              </a:ext>
            </a:extLst>
          </p:cNvPr>
          <p:cNvSpPr>
            <a:spLocks xmlns:a="http://schemas.openxmlformats.org/drawingml/2006/main" noGrp="1"/>
          </p:cNvSpPr>
          <p:nvPr/>
        </p:nvSpPr>
        <p:spPr>
          <a:xfrm xmlns:a="http://schemas.openxmlformats.org/drawingml/2006/main">
            <a:off x="1143000" y="29813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7697"/>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Incidents include more than breaches</a:t>
            </a:r>
          </a:p>
        </p:txBody>
      </p:sp>
      <p:sp>
        <p:nvSpPr>
          <p:cNvPr id="15" name="">
            <a:extLst xmlns:a="http://schemas.openxmlformats.org/drawingml/2006/main">
              <a:ext uri="{FF2B5EF4-FFF2-40B4-BE49-F238E27FC236}">
                <a16:creationId xmlns:a16="http://schemas.microsoft.com/office/drawing/2014/main" id="{188AB7FD-7998-421E-A71A-E6C2A7060C9F}"/>
              </a:ext>
            </a:extLst>
          </p:cNvPr>
          <p:cNvSpPr>
            <a:spLocks xmlns:a="http://schemas.openxmlformats.org/drawingml/2006/main" noGrp="1"/>
          </p:cNvSpPr>
          <p:nvPr/>
        </p:nvSpPr>
        <p:spPr>
          <a:xfrm xmlns:a="http://schemas.openxmlformats.org/drawingml/2006/main">
            <a:off x="3857625" y="29813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 concern may involve unintended exposure, unauthorized access, inaccurate output in a workflow, harmful reliance or a policy violation. Follow the official DWIHN definition and reporting process.</a:t>
            </a:r>
          </a:p>
        </p:txBody>
      </p:sp>
      <p:sp>
        <p:nvSpPr>
          <p:cNvPr id="16" name="">
            <a:extLst xmlns:a="http://schemas.openxmlformats.org/drawingml/2006/main">
              <a:ext uri="{FF2B5EF4-FFF2-40B4-BE49-F238E27FC236}">
                <a16:creationId xmlns:a16="http://schemas.microsoft.com/office/drawing/2014/main" id="{520886C4-117C-4035-99BE-0940087A7EBC}"/>
              </a:ext>
            </a:extLst>
          </p:cNvPr>
          <p:cNvSpPr>
            <a:spLocks xmlns:a="http://schemas.openxmlformats.org/drawingml/2006/main" noGrp="1"/>
          </p:cNvSpPr>
          <p:nvPr/>
        </p:nvSpPr>
        <p:spPr>
          <a:xfrm xmlns:a="http://schemas.openxmlformats.org/drawingml/2006/main">
            <a:off x="1143000" y="381000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BA6728E-E4A6-4C61-AC50-116AFC3BCDEA}"/>
              </a:ext>
            </a:extLst>
          </p:cNvPr>
          <p:cNvSpPr>
            <a:spLocks xmlns:a="http://schemas.openxmlformats.org/drawingml/2006/main" noGrp="1"/>
          </p:cNvSpPr>
          <p:nvPr/>
        </p:nvSpPr>
        <p:spPr>
          <a:xfrm xmlns:a="http://schemas.openxmlformats.org/drawingml/2006/main">
            <a:off x="609600" y="39909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AACC1BB9-DDF4-47D7-9E6F-E50E53181A0C}"/>
              </a:ext>
            </a:extLst>
          </p:cNvPr>
          <p:cNvSpPr>
            <a:spLocks xmlns:a="http://schemas.openxmlformats.org/drawingml/2006/main" noGrp="1"/>
          </p:cNvSpPr>
          <p:nvPr/>
        </p:nvSpPr>
        <p:spPr>
          <a:xfrm xmlns:a="http://schemas.openxmlformats.org/drawingml/2006/main">
            <a:off x="1143000" y="39909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Report facts promptly</a:t>
            </a:r>
          </a:p>
        </p:txBody>
      </p:sp>
      <p:sp>
        <p:nvSpPr>
          <p:cNvPr id="19" name="">
            <a:extLst xmlns:a="http://schemas.openxmlformats.org/drawingml/2006/main">
              <a:ext uri="{FF2B5EF4-FFF2-40B4-BE49-F238E27FC236}">
                <a16:creationId xmlns:a16="http://schemas.microsoft.com/office/drawing/2014/main" id="{C685C571-306E-48DD-B571-47AC263E529A}"/>
              </a:ext>
            </a:extLst>
          </p:cNvPr>
          <p:cNvSpPr>
            <a:spLocks xmlns:a="http://schemas.openxmlformats.org/drawingml/2006/main" noGrp="1"/>
          </p:cNvSpPr>
          <p:nvPr/>
        </p:nvSpPr>
        <p:spPr>
          <a:xfrm xmlns:a="http://schemas.openxmlformats.org/drawingml/2006/main">
            <a:off x="3857625" y="39909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Capture what happened, when, which tool or workflow, what information may be involved and what immediate actions were taken. Separate direct knowledge from assumptions.</a:t>
            </a:r>
          </a:p>
        </p:txBody>
      </p:sp>
      <p:sp>
        <p:nvSpPr>
          <p:cNvPr id="20" name="">
            <a:extLst xmlns:a="http://schemas.openxmlformats.org/drawingml/2006/main">
              <a:ext uri="{FF2B5EF4-FFF2-40B4-BE49-F238E27FC236}">
                <a16:creationId xmlns:a16="http://schemas.microsoft.com/office/drawing/2014/main" id="{06DF06D2-8797-4E4A-B342-561440B6382D}"/>
              </a:ext>
            </a:extLst>
          </p:cNvPr>
          <p:cNvSpPr>
            <a:spLocks xmlns:a="http://schemas.openxmlformats.org/drawingml/2006/main" noGrp="1"/>
          </p:cNvSpPr>
          <p:nvPr/>
        </p:nvSpPr>
        <p:spPr>
          <a:xfrm xmlns:a="http://schemas.openxmlformats.org/drawingml/2006/main">
            <a:off x="1143000" y="48196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65D78FC-CA18-4C67-A450-D1C4F2465412}"/>
              </a:ext>
            </a:extLst>
          </p:cNvPr>
          <p:cNvSpPr>
            <a:spLocks xmlns:a="http://schemas.openxmlformats.org/drawingml/2006/main" noGrp="1"/>
          </p:cNvSpPr>
          <p:nvPr/>
        </p:nvSpPr>
        <p:spPr>
          <a:xfrm xmlns:a="http://schemas.openxmlformats.org/drawingml/2006/main">
            <a:off x="609600" y="5000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6B2B2C90-6595-4120-A574-DE8CA42C4673}"/>
              </a:ext>
            </a:extLst>
          </p:cNvPr>
          <p:cNvSpPr>
            <a:spLocks xmlns:a="http://schemas.openxmlformats.org/drawingml/2006/main" noGrp="1"/>
          </p:cNvSpPr>
          <p:nvPr/>
        </p:nvSpPr>
        <p:spPr>
          <a:xfrm xmlns:a="http://schemas.openxmlformats.org/drawingml/2006/main">
            <a:off x="1143000" y="50006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Do not erase or overreach</a:t>
            </a:r>
          </a:p>
        </p:txBody>
      </p:sp>
      <p:sp>
        <p:nvSpPr>
          <p:cNvPr id="23" name="">
            <a:extLst xmlns:a="http://schemas.openxmlformats.org/drawingml/2006/main">
              <a:ext uri="{FF2B5EF4-FFF2-40B4-BE49-F238E27FC236}">
                <a16:creationId xmlns:a16="http://schemas.microsoft.com/office/drawing/2014/main" id="{CDB32CB9-FE02-4664-86E0-76AB8E2242E8}"/>
              </a:ext>
            </a:extLst>
          </p:cNvPr>
          <p:cNvSpPr>
            <a:spLocks xmlns:a="http://schemas.openxmlformats.org/drawingml/2006/main" noGrp="1"/>
          </p:cNvSpPr>
          <p:nvPr/>
        </p:nvSpPr>
        <p:spPr>
          <a:xfrm xmlns:a="http://schemas.openxmlformats.org/drawingml/2006/main">
            <a:off x="3857625" y="50006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Do not hide the event, delete records or conduct an independent investigation beyond your role. Preserve relevant information and follow directions from the designated responders.</a:t>
            </a:r>
          </a:p>
        </p:txBody>
      </p:sp>
    </p:spTree>
    <p:extLst>
      <p:ext uri="{BB962C8B-B14F-4D97-AF65-F5344CB8AC3E}">
        <p14:creationId xmlns:p14="http://schemas.microsoft.com/office/powerpoint/2010/main" val="1767232757"/>
      </p:ext>
    </p:extLst>
  </p:cSld>
</p:sld>
</file>

<file path=ppt/slides/slide53.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989FFF7E-CBF8-4094-BB47-0F513043E57D}"/>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8 / MODULE 9</a:t>
            </a:r>
          </a:p>
        </p:txBody>
      </p:sp>
      <p:sp>
        <p:nvSpPr>
          <p:cNvPr id="2" name="">
            <a:extLst xmlns:a="http://schemas.openxmlformats.org/drawingml/2006/main">
              <a:ext uri="{FF2B5EF4-FFF2-40B4-BE49-F238E27FC236}">
                <a16:creationId xmlns:a16="http://schemas.microsoft.com/office/drawing/2014/main" id="{F697C2B7-A2F9-49D6-9D3B-1F0A3C01735A}"/>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S11  |  Instructor walkthrough</a:t>
            </a:r>
          </a:p>
        </p:txBody>
      </p:sp>
      <p:sp>
        <p:nvSpPr>
          <p:cNvPr id="3" name="">
            <a:extLst xmlns:a="http://schemas.openxmlformats.org/drawingml/2006/main">
              <a:ext uri="{FF2B5EF4-FFF2-40B4-BE49-F238E27FC236}">
                <a16:creationId xmlns:a16="http://schemas.microsoft.com/office/drawing/2014/main" id="{A6A46587-2C30-4143-8350-8681CF6DBD1A}"/>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24F1D9C-4020-4801-9F25-D0C5743ED42B}"/>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12525B1-1986-48BC-8536-06591EBF6742}"/>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8141987A-4B94-437C-AFBE-00AA303B674C}"/>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53</a:t>
            </a:r>
          </a:p>
        </p:txBody>
      </p:sp>
      <p:sp>
        <p:nvSpPr>
          <p:cNvPr id="7" name="">
            <a:extLst xmlns:a="http://schemas.openxmlformats.org/drawingml/2006/main">
              <a:ext uri="{FF2B5EF4-FFF2-40B4-BE49-F238E27FC236}">
                <a16:creationId xmlns:a16="http://schemas.microsoft.com/office/drawing/2014/main" id="{718AB5C3-73F6-4CC8-95D3-E6622EAFA854}"/>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9, incident practice and proposal p. 9. The proposal does not provide DWIHN’s exact process; validate before instruction.</a:t>
            </a:r>
          </a:p>
        </p:txBody>
      </p:sp>
      <p:sp>
        <p:nvSpPr>
          <p:cNvPr id="8" name="">
            <a:extLst xmlns:a="http://schemas.openxmlformats.org/drawingml/2006/main">
              <a:ext uri="{FF2B5EF4-FFF2-40B4-BE49-F238E27FC236}">
                <a16:creationId xmlns:a16="http://schemas.microsoft.com/office/drawing/2014/main" id="{CCC5DAC8-7A14-46B7-BAD1-9855CA1198E8}"/>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Governance &amp; Incident Handling</a:t>
            </a:r>
          </a:p>
        </p:txBody>
      </p:sp>
      <p:sp>
        <p:nvSpPr>
          <p:cNvPr id="9" name="">
            <a:extLst xmlns:a="http://schemas.openxmlformats.org/drawingml/2006/main">
              <a:ext uri="{FF2B5EF4-FFF2-40B4-BE49-F238E27FC236}">
                <a16:creationId xmlns:a16="http://schemas.microsoft.com/office/drawing/2014/main" id="{9AD2712D-F834-4C10-925B-F9ADC3849754}"/>
              </a:ext>
            </a:extLst>
          </p:cNvPr>
          <p:cNvSpPr>
            <a:spLocks xmlns:a="http://schemas.openxmlformats.org/drawingml/2006/main" noGrp="1"/>
          </p:cNvSpPr>
          <p:nvPr/>
        </p:nvSpPr>
        <p:spPr>
          <a:xfrm xmlns:a="http://schemas.openxmlformats.org/drawingml/2006/main">
            <a:off x="60960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0" name="">
            <a:extLst xmlns:a="http://schemas.openxmlformats.org/drawingml/2006/main">
              <a:ext uri="{FF2B5EF4-FFF2-40B4-BE49-F238E27FC236}">
                <a16:creationId xmlns:a16="http://schemas.microsoft.com/office/drawing/2014/main" id="{72F29904-58FF-4F05-9CFE-AD8B734FFA50}"/>
              </a:ext>
            </a:extLst>
          </p:cNvPr>
          <p:cNvSpPr>
            <a:spLocks xmlns:a="http://schemas.openxmlformats.org/drawingml/2006/main" noGrp="1"/>
          </p:cNvSpPr>
          <p:nvPr/>
        </p:nvSpPr>
        <p:spPr>
          <a:xfrm xmlns:a="http://schemas.openxmlformats.org/drawingml/2006/main">
            <a:off x="74295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7AD19173-66C0-48C6-84FB-6B13333471CA}"/>
              </a:ext>
            </a:extLst>
          </p:cNvPr>
          <p:cNvSpPr>
            <a:spLocks xmlns:a="http://schemas.openxmlformats.org/drawingml/2006/main" noGrp="1"/>
          </p:cNvSpPr>
          <p:nvPr/>
        </p:nvSpPr>
        <p:spPr>
          <a:xfrm xmlns:a="http://schemas.openxmlformats.org/drawingml/2006/main">
            <a:off x="74295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Notice and pause</a:t>
            </a:r>
          </a:p>
        </p:txBody>
      </p:sp>
      <p:sp>
        <p:nvSpPr>
          <p:cNvPr id="12" name="">
            <a:extLst xmlns:a="http://schemas.openxmlformats.org/drawingml/2006/main">
              <a:ext uri="{FF2B5EF4-FFF2-40B4-BE49-F238E27FC236}">
                <a16:creationId xmlns:a16="http://schemas.microsoft.com/office/drawing/2014/main" id="{F905FFFC-354E-4209-85A9-A4BD12350F89}"/>
              </a:ext>
            </a:extLst>
          </p:cNvPr>
          <p:cNvSpPr>
            <a:spLocks xmlns:a="http://schemas.openxmlformats.org/drawingml/2006/main" noGrp="1"/>
          </p:cNvSpPr>
          <p:nvPr/>
        </p:nvSpPr>
        <p:spPr>
          <a:xfrm xmlns:a="http://schemas.openxmlformats.org/drawingml/2006/main">
            <a:off x="74295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Recognize the concern and stop further use or sharing when safe and directed.</a:t>
            </a:r>
          </a:p>
        </p:txBody>
      </p:sp>
      <p:sp>
        <p:nvSpPr>
          <p:cNvPr id="13" name="">
            <a:extLst xmlns:a="http://schemas.openxmlformats.org/drawingml/2006/main">
              <a:ext uri="{FF2B5EF4-FFF2-40B4-BE49-F238E27FC236}">
                <a16:creationId xmlns:a16="http://schemas.microsoft.com/office/drawing/2014/main" id="{B937372B-CD7F-466A-8793-B3A28F5C904F}"/>
              </a:ext>
            </a:extLst>
          </p:cNvPr>
          <p:cNvSpPr>
            <a:spLocks xmlns:a="http://schemas.openxmlformats.org/drawingml/2006/main" noGrp="1"/>
          </p:cNvSpPr>
          <p:nvPr/>
        </p:nvSpPr>
        <p:spPr>
          <a:xfrm xmlns:a="http://schemas.openxmlformats.org/drawingml/2006/main">
            <a:off x="303847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D0E4E54-EFEB-4E61-9842-4EBC8DEACCAC}"/>
              </a:ext>
            </a:extLst>
          </p:cNvPr>
          <p:cNvSpPr>
            <a:spLocks xmlns:a="http://schemas.openxmlformats.org/drawingml/2006/main" noGrp="1"/>
          </p:cNvSpPr>
          <p:nvPr/>
        </p:nvSpPr>
        <p:spPr>
          <a:xfrm xmlns:a="http://schemas.openxmlformats.org/drawingml/2006/main">
            <a:off x="338137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5" name="">
            <a:extLst xmlns:a="http://schemas.openxmlformats.org/drawingml/2006/main">
              <a:ext uri="{FF2B5EF4-FFF2-40B4-BE49-F238E27FC236}">
                <a16:creationId xmlns:a16="http://schemas.microsoft.com/office/drawing/2014/main" id="{2AC3B1B8-E3C5-4CA0-8C17-F3D454781BF7}"/>
              </a:ext>
            </a:extLst>
          </p:cNvPr>
          <p:cNvSpPr>
            <a:spLocks xmlns:a="http://schemas.openxmlformats.org/drawingml/2006/main" noGrp="1"/>
          </p:cNvSpPr>
          <p:nvPr/>
        </p:nvSpPr>
        <p:spPr>
          <a:xfrm xmlns:a="http://schemas.openxmlformats.org/drawingml/2006/main">
            <a:off x="351472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77266C19-D9D4-4B55-985F-ACF5F6C66E05}"/>
              </a:ext>
            </a:extLst>
          </p:cNvPr>
          <p:cNvSpPr>
            <a:spLocks xmlns:a="http://schemas.openxmlformats.org/drawingml/2006/main" noGrp="1"/>
          </p:cNvSpPr>
          <p:nvPr/>
        </p:nvSpPr>
        <p:spPr>
          <a:xfrm xmlns:a="http://schemas.openxmlformats.org/drawingml/2006/main">
            <a:off x="351472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Record what is known</a:t>
            </a:r>
          </a:p>
        </p:txBody>
      </p:sp>
      <p:sp>
        <p:nvSpPr>
          <p:cNvPr id="17" name="">
            <a:extLst xmlns:a="http://schemas.openxmlformats.org/drawingml/2006/main">
              <a:ext uri="{FF2B5EF4-FFF2-40B4-BE49-F238E27FC236}">
                <a16:creationId xmlns:a16="http://schemas.microsoft.com/office/drawing/2014/main" id="{99FD91A0-90C2-476C-8301-3B2FEA7E5AD4}"/>
              </a:ext>
            </a:extLst>
          </p:cNvPr>
          <p:cNvSpPr>
            <a:spLocks xmlns:a="http://schemas.openxmlformats.org/drawingml/2006/main" noGrp="1"/>
          </p:cNvSpPr>
          <p:nvPr/>
        </p:nvSpPr>
        <p:spPr>
          <a:xfrm xmlns:a="http://schemas.openxmlformats.org/drawingml/2006/main">
            <a:off x="351472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Note the tool, time, task, information type and people involved; mark unknowns as unknown.</a:t>
            </a:r>
          </a:p>
        </p:txBody>
      </p:sp>
      <p:sp>
        <p:nvSpPr>
          <p:cNvPr id="18" name="">
            <a:extLst xmlns:a="http://schemas.openxmlformats.org/drawingml/2006/main">
              <a:ext uri="{FF2B5EF4-FFF2-40B4-BE49-F238E27FC236}">
                <a16:creationId xmlns:a16="http://schemas.microsoft.com/office/drawing/2014/main" id="{BEE7B3D6-1633-44D5-BF1D-E463B07230CC}"/>
              </a:ext>
            </a:extLst>
          </p:cNvPr>
          <p:cNvSpPr>
            <a:spLocks xmlns:a="http://schemas.openxmlformats.org/drawingml/2006/main" noGrp="1"/>
          </p:cNvSpPr>
          <p:nvPr/>
        </p:nvSpPr>
        <p:spPr>
          <a:xfrm xmlns:a="http://schemas.openxmlformats.org/drawingml/2006/main">
            <a:off x="5810250"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8994350-0D53-4136-BEE6-DA9C3F7F4FDE}"/>
              </a:ext>
            </a:extLst>
          </p:cNvPr>
          <p:cNvSpPr>
            <a:spLocks xmlns:a="http://schemas.openxmlformats.org/drawingml/2006/main" noGrp="1"/>
          </p:cNvSpPr>
          <p:nvPr/>
        </p:nvSpPr>
        <p:spPr>
          <a:xfrm xmlns:a="http://schemas.openxmlformats.org/drawingml/2006/main">
            <a:off x="615315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0" name="">
            <a:extLst xmlns:a="http://schemas.openxmlformats.org/drawingml/2006/main">
              <a:ext uri="{FF2B5EF4-FFF2-40B4-BE49-F238E27FC236}">
                <a16:creationId xmlns:a16="http://schemas.microsoft.com/office/drawing/2014/main" id="{86E7E5D4-5EE7-455D-8041-5653F57DE8F4}"/>
              </a:ext>
            </a:extLst>
          </p:cNvPr>
          <p:cNvSpPr>
            <a:spLocks xmlns:a="http://schemas.openxmlformats.org/drawingml/2006/main" noGrp="1"/>
          </p:cNvSpPr>
          <p:nvPr/>
        </p:nvSpPr>
        <p:spPr>
          <a:xfrm xmlns:a="http://schemas.openxmlformats.org/drawingml/2006/main">
            <a:off x="628650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21" name="">
            <a:extLst xmlns:a="http://schemas.openxmlformats.org/drawingml/2006/main">
              <a:ext uri="{FF2B5EF4-FFF2-40B4-BE49-F238E27FC236}">
                <a16:creationId xmlns:a16="http://schemas.microsoft.com/office/drawing/2014/main" id="{4E51CBF1-18AA-4C2F-9E9E-1E4B9C1D050F}"/>
              </a:ext>
            </a:extLst>
          </p:cNvPr>
          <p:cNvSpPr>
            <a:spLocks xmlns:a="http://schemas.openxmlformats.org/drawingml/2006/main" noGrp="1"/>
          </p:cNvSpPr>
          <p:nvPr/>
        </p:nvSpPr>
        <p:spPr>
          <a:xfrm xmlns:a="http://schemas.openxmlformats.org/drawingml/2006/main">
            <a:off x="628650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Use the official route</a:t>
            </a:r>
          </a:p>
        </p:txBody>
      </p:sp>
      <p:sp>
        <p:nvSpPr>
          <p:cNvPr id="22" name="">
            <a:extLst xmlns:a="http://schemas.openxmlformats.org/drawingml/2006/main">
              <a:ext uri="{FF2B5EF4-FFF2-40B4-BE49-F238E27FC236}">
                <a16:creationId xmlns:a16="http://schemas.microsoft.com/office/drawing/2014/main" id="{49956257-95FC-4E90-A36C-DAA3F0ADDA9C}"/>
              </a:ext>
            </a:extLst>
          </p:cNvPr>
          <p:cNvSpPr>
            <a:spLocks xmlns:a="http://schemas.openxmlformats.org/drawingml/2006/main" noGrp="1"/>
          </p:cNvSpPr>
          <p:nvPr/>
        </p:nvSpPr>
        <p:spPr>
          <a:xfrm xmlns:a="http://schemas.openxmlformats.org/drawingml/2006/main">
            <a:off x="628650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61274"/>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Notify the DWIHN contact or incident channel required by policy. The proposal sets a training expectation for prompt reporting; local policy governs.</a:t>
            </a:r>
          </a:p>
        </p:txBody>
      </p:sp>
      <p:sp>
        <p:nvSpPr>
          <p:cNvPr id="23" name="">
            <a:extLst xmlns:a="http://schemas.openxmlformats.org/drawingml/2006/main">
              <a:ext uri="{FF2B5EF4-FFF2-40B4-BE49-F238E27FC236}">
                <a16:creationId xmlns:a16="http://schemas.microsoft.com/office/drawing/2014/main" id="{BF341E61-426C-4F9A-B761-D7ABF826A509}"/>
              </a:ext>
            </a:extLst>
          </p:cNvPr>
          <p:cNvSpPr>
            <a:spLocks xmlns:a="http://schemas.openxmlformats.org/drawingml/2006/main" noGrp="1"/>
          </p:cNvSpPr>
          <p:nvPr/>
        </p:nvSpPr>
        <p:spPr>
          <a:xfrm xmlns:a="http://schemas.openxmlformats.org/drawingml/2006/main">
            <a:off x="858202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7E38485-696E-4CE9-B7AB-C435BD40D92C}"/>
              </a:ext>
            </a:extLst>
          </p:cNvPr>
          <p:cNvSpPr>
            <a:spLocks xmlns:a="http://schemas.openxmlformats.org/drawingml/2006/main" noGrp="1"/>
          </p:cNvSpPr>
          <p:nvPr/>
        </p:nvSpPr>
        <p:spPr>
          <a:xfrm xmlns:a="http://schemas.openxmlformats.org/drawingml/2006/main">
            <a:off x="892492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5" name="">
            <a:extLst xmlns:a="http://schemas.openxmlformats.org/drawingml/2006/main">
              <a:ext uri="{FF2B5EF4-FFF2-40B4-BE49-F238E27FC236}">
                <a16:creationId xmlns:a16="http://schemas.microsoft.com/office/drawing/2014/main" id="{7970C70D-C7D8-48F1-AADF-25EBB17B8675}"/>
              </a:ext>
            </a:extLst>
          </p:cNvPr>
          <p:cNvSpPr>
            <a:spLocks xmlns:a="http://schemas.openxmlformats.org/drawingml/2006/main" noGrp="1"/>
          </p:cNvSpPr>
          <p:nvPr/>
        </p:nvSpPr>
        <p:spPr>
          <a:xfrm xmlns:a="http://schemas.openxmlformats.org/drawingml/2006/main">
            <a:off x="905827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04</a:t>
            </a:r>
          </a:p>
        </p:txBody>
      </p:sp>
      <p:sp>
        <p:nvSpPr>
          <p:cNvPr id="26" name="">
            <a:extLst xmlns:a="http://schemas.openxmlformats.org/drawingml/2006/main">
              <a:ext uri="{FF2B5EF4-FFF2-40B4-BE49-F238E27FC236}">
                <a16:creationId xmlns:a16="http://schemas.microsoft.com/office/drawing/2014/main" id="{9CCF988E-2ABB-417F-9B29-DBEAA989245E}"/>
              </a:ext>
            </a:extLst>
          </p:cNvPr>
          <p:cNvSpPr>
            <a:spLocks xmlns:a="http://schemas.openxmlformats.org/drawingml/2006/main" noGrp="1"/>
          </p:cNvSpPr>
          <p:nvPr/>
        </p:nvSpPr>
        <p:spPr>
          <a:xfrm xmlns:a="http://schemas.openxmlformats.org/drawingml/2006/main">
            <a:off x="905827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Follow response instructions</a:t>
            </a:r>
          </a:p>
        </p:txBody>
      </p:sp>
      <p:sp>
        <p:nvSpPr>
          <p:cNvPr id="27" name="">
            <a:extLst xmlns:a="http://schemas.openxmlformats.org/drawingml/2006/main">
              <a:ext uri="{FF2B5EF4-FFF2-40B4-BE49-F238E27FC236}">
                <a16:creationId xmlns:a16="http://schemas.microsoft.com/office/drawing/2014/main" id="{6AC6CF14-7DA7-4A04-8D45-8C0B18DB82AA}"/>
              </a:ext>
            </a:extLst>
          </p:cNvPr>
          <p:cNvSpPr>
            <a:spLocks xmlns:a="http://schemas.openxmlformats.org/drawingml/2006/main" noGrp="1"/>
          </p:cNvSpPr>
          <p:nvPr/>
        </p:nvSpPr>
        <p:spPr>
          <a:xfrm xmlns:a="http://schemas.openxmlformats.org/drawingml/2006/main">
            <a:off x="905827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Preserve relevant evidence, cooperate with review and correct downstream material as authorized.</a:t>
            </a:r>
          </a:p>
        </p:txBody>
      </p:sp>
      <p:sp>
        <p:nvSpPr>
          <p:cNvPr id="28" name="">
            <a:extLst xmlns:a="http://schemas.openxmlformats.org/drawingml/2006/main">
              <a:ext uri="{FF2B5EF4-FFF2-40B4-BE49-F238E27FC236}">
                <a16:creationId xmlns:a16="http://schemas.microsoft.com/office/drawing/2014/main" id="{F117BFA1-E1EF-427A-BFBF-33166ED59BCF}"/>
              </a:ext>
            </a:extLst>
          </p:cNvPr>
          <p:cNvSpPr>
            <a:spLocks xmlns:a="http://schemas.openxmlformats.org/drawingml/2006/main" noGrp="1"/>
          </p:cNvSpPr>
          <p:nvPr/>
        </p:nvSpPr>
        <p:spPr>
          <a:xfrm xmlns:a="http://schemas.openxmlformats.org/drawingml/2006/main">
            <a:off x="609600" y="364807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WORKED EXAMPLE</a:t>
            </a:r>
          </a:p>
        </p:txBody>
      </p:sp>
      <p:sp>
        <p:nvSpPr>
          <p:cNvPr id="29" name="">
            <a:extLst xmlns:a="http://schemas.openxmlformats.org/drawingml/2006/main">
              <a:ext uri="{FF2B5EF4-FFF2-40B4-BE49-F238E27FC236}">
                <a16:creationId xmlns:a16="http://schemas.microsoft.com/office/drawing/2014/main" id="{AE951E54-B03E-4911-B74A-4B393CA0B6DD}"/>
              </a:ext>
            </a:extLst>
          </p:cNvPr>
          <p:cNvSpPr>
            <a:spLocks xmlns:a="http://schemas.openxmlformats.org/drawingml/2006/main" noGrp="1"/>
          </p:cNvSpPr>
          <p:nvPr/>
        </p:nvSpPr>
        <p:spPr>
          <a:xfrm xmlns:a="http://schemas.openxmlformats.org/drawingml/2006/main">
            <a:off x="609600" y="3943350"/>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00" b="0">
                <a:solidFill>
                  <a:srgbClr val="142F42"/>
                </a:solidFill>
                <a:latin typeface="Arial"/>
                <a:ea typeface="Arial"/>
                <a:cs typeface="Arial"/>
              </a:defRPr>
            </a:pPr>
            <a:r>
              <a:rPr sz="1500" b="0">
                <a:solidFill>
                  <a:srgbClr val="142F42"/>
                </a:solidFill>
                <a:latin typeface="Arial"/>
                <a:ea typeface="Arial"/>
                <a:cs typeface="Arial"/>
              </a:rPr>
              <a:t>Hypothetical example: a staff member discovers that a prompt may have been pasted into an unapproved environment. The employee stops the workflow, records factual details, follows the designated reporting process and waits for the response team’s instructions rather than trying to conceal or clean up the event.</a:t>
            </a:r>
          </a:p>
        </p:txBody>
      </p:sp>
    </p:spTree>
    <p:extLst>
      <p:ext uri="{BB962C8B-B14F-4D97-AF65-F5344CB8AC3E}">
        <p14:creationId xmlns:p14="http://schemas.microsoft.com/office/powerpoint/2010/main" val="383646152"/>
      </p:ext>
    </p:extLst>
  </p:cSld>
</p:sld>
</file>

<file path=ppt/slides/slide54.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0C4245E9-AD38-4D04-9AC5-96C8D02C9335}"/>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8 / MODULE 9</a:t>
            </a:r>
          </a:p>
        </p:txBody>
      </p:sp>
      <p:sp>
        <p:nvSpPr>
          <p:cNvPr id="2" name="">
            <a:extLst xmlns:a="http://schemas.openxmlformats.org/drawingml/2006/main">
              <a:ext uri="{FF2B5EF4-FFF2-40B4-BE49-F238E27FC236}">
                <a16:creationId xmlns:a16="http://schemas.microsoft.com/office/drawing/2014/main" id="{38627D12-67E3-4D35-8C65-4D1FCF9AD311}"/>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S11  |  Practical scenario &amp; exercise</a:t>
            </a:r>
          </a:p>
        </p:txBody>
      </p:sp>
      <p:sp>
        <p:nvSpPr>
          <p:cNvPr id="3" name="">
            <a:extLst xmlns:a="http://schemas.openxmlformats.org/drawingml/2006/main">
              <a:ext uri="{FF2B5EF4-FFF2-40B4-BE49-F238E27FC236}">
                <a16:creationId xmlns:a16="http://schemas.microsoft.com/office/drawing/2014/main" id="{0614712B-B86E-4D19-A8AA-14B4AA0288CA}"/>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CA3CF08-2C0E-4918-81DC-39B884447A93}"/>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231B10C-0F54-47C8-92B6-57187B0E2921}"/>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588FE02F-19FA-4B79-AD91-C5BE5BCADF74}"/>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54</a:t>
            </a:r>
          </a:p>
        </p:txBody>
      </p:sp>
      <p:sp>
        <p:nvSpPr>
          <p:cNvPr id="7" name="">
            <a:extLst xmlns:a="http://schemas.openxmlformats.org/drawingml/2006/main">
              <a:ext uri="{FF2B5EF4-FFF2-40B4-BE49-F238E27FC236}">
                <a16:creationId xmlns:a16="http://schemas.microsoft.com/office/drawing/2014/main" id="{14A3CA58-D9AF-455A-9EBD-250B177375E9}"/>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9, incident practice and proposal p. 9. The proposal does not provide DWIHN’s exact process; validate before instruction.</a:t>
            </a:r>
          </a:p>
        </p:txBody>
      </p:sp>
      <p:sp>
        <p:nvSpPr>
          <p:cNvPr id="8" name="">
            <a:extLst xmlns:a="http://schemas.openxmlformats.org/drawingml/2006/main">
              <a:ext uri="{FF2B5EF4-FFF2-40B4-BE49-F238E27FC236}">
                <a16:creationId xmlns:a16="http://schemas.microsoft.com/office/drawing/2014/main" id="{F0644F4B-5CF3-48A6-98F1-1E0DB39DD044}"/>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Governance &amp; Incident Handling</a:t>
            </a:r>
          </a:p>
        </p:txBody>
      </p:sp>
      <p:sp>
        <p:nvSpPr>
          <p:cNvPr id="9" name="">
            <a:extLst xmlns:a="http://schemas.openxmlformats.org/drawingml/2006/main">
              <a:ext uri="{FF2B5EF4-FFF2-40B4-BE49-F238E27FC236}">
                <a16:creationId xmlns:a16="http://schemas.microsoft.com/office/drawing/2014/main" id="{CC9B98E1-8B9F-40C5-8FB3-81AA85C4C3A3}"/>
              </a:ext>
            </a:extLst>
          </p:cNvPr>
          <p:cNvSpPr>
            <a:spLocks xmlns:a="http://schemas.openxmlformats.org/drawingml/2006/main" noGrp="1"/>
          </p:cNvSpPr>
          <p:nvPr/>
        </p:nvSpPr>
        <p:spPr>
          <a:xfrm xmlns:a="http://schemas.openxmlformats.org/drawingml/2006/main">
            <a:off x="609600" y="1981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SCENARIO</a:t>
            </a:r>
          </a:p>
        </p:txBody>
      </p:sp>
      <p:sp>
        <p:nvSpPr>
          <p:cNvPr id="10" name="">
            <a:extLst xmlns:a="http://schemas.openxmlformats.org/drawingml/2006/main">
              <a:ext uri="{FF2B5EF4-FFF2-40B4-BE49-F238E27FC236}">
                <a16:creationId xmlns:a16="http://schemas.microsoft.com/office/drawing/2014/main" id="{330E29A8-FDE0-4A2D-AC91-DE9DC3EB17BD}"/>
              </a:ext>
            </a:extLst>
          </p:cNvPr>
          <p:cNvSpPr>
            <a:spLocks xmlns:a="http://schemas.openxmlformats.org/drawingml/2006/main" noGrp="1"/>
          </p:cNvSpPr>
          <p:nvPr/>
        </p:nvSpPr>
        <p:spPr>
          <a:xfrm xmlns:a="http://schemas.openxmlformats.org/drawingml/2006/main">
            <a:off x="609600" y="2266950"/>
            <a:ext cx="109728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D4DFE3"/>
            </a:solidFill>
          </a:ln>
        </p:spPr>
      </p:sp>
      <p:sp>
        <p:nvSpPr>
          <p:cNvPr id="11" name="">
            <a:extLst xmlns:a="http://schemas.openxmlformats.org/drawingml/2006/main">
              <a:ext uri="{FF2B5EF4-FFF2-40B4-BE49-F238E27FC236}">
                <a16:creationId xmlns:a16="http://schemas.microsoft.com/office/drawing/2014/main" id="{DEB9984C-5597-4A72-B8B4-BBD4593615E8}"/>
              </a:ext>
            </a:extLst>
          </p:cNvPr>
          <p:cNvSpPr>
            <a:spLocks xmlns:a="http://schemas.openxmlformats.org/drawingml/2006/main" noGrp="1"/>
          </p:cNvSpPr>
          <p:nvPr/>
        </p:nvSpPr>
        <p:spPr>
          <a:xfrm xmlns:a="http://schemas.openxmlformats.org/drawingml/2006/main">
            <a:off x="819150" y="2447925"/>
            <a:ext cx="10525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142F42"/>
                </a:solidFill>
                <a:latin typeface="Arial"/>
                <a:ea typeface="Arial"/>
                <a:cs typeface="Arial"/>
              </a:defRPr>
            </a:pPr>
            <a:r>
              <a:rPr sz="1425" b="0">
                <a:solidFill>
                  <a:srgbClr val="142F42"/>
                </a:solidFill>
                <a:latin typeface="Arial"/>
                <a:ea typeface="Arial"/>
                <a:cs typeface="Arial"/>
              </a:rPr>
              <a:t>A learner sees an AI-generated paragraph in a draft record that contains a made-up service detail. The draft has not yet been sent. The learner is unsure whether this is a reportable incident or a normal correction.</a:t>
            </a:r>
          </a:p>
        </p:txBody>
      </p:sp>
      <p:sp>
        <p:nvSpPr>
          <p:cNvPr id="12" name="">
            <a:extLst xmlns:a="http://schemas.openxmlformats.org/drawingml/2006/main">
              <a:ext uri="{FF2B5EF4-FFF2-40B4-BE49-F238E27FC236}">
                <a16:creationId xmlns:a16="http://schemas.microsoft.com/office/drawing/2014/main" id="{EAFCE600-5E06-4E8B-A886-A4A96E4E4A2C}"/>
              </a:ext>
            </a:extLst>
          </p:cNvPr>
          <p:cNvSpPr>
            <a:spLocks xmlns:a="http://schemas.openxmlformats.org/drawingml/2006/main" noGrp="1"/>
          </p:cNvSpPr>
          <p:nvPr/>
        </p:nvSpPr>
        <p:spPr>
          <a:xfrm xmlns:a="http://schemas.openxmlformats.org/drawingml/2006/main">
            <a:off x="609600" y="34861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 THE CASE</a:t>
            </a:r>
          </a:p>
        </p:txBody>
      </p:sp>
      <p:sp>
        <p:nvSpPr>
          <p:cNvPr id="13" name="">
            <a:extLst xmlns:a="http://schemas.openxmlformats.org/drawingml/2006/main">
              <a:ext uri="{FF2B5EF4-FFF2-40B4-BE49-F238E27FC236}">
                <a16:creationId xmlns:a16="http://schemas.microsoft.com/office/drawing/2014/main" id="{A1B56743-8898-4D88-968E-34095AF03A13}"/>
              </a:ext>
            </a:extLst>
          </p:cNvPr>
          <p:cNvSpPr>
            <a:spLocks xmlns:a="http://schemas.openxmlformats.org/drawingml/2006/main" noGrp="1"/>
          </p:cNvSpPr>
          <p:nvPr/>
        </p:nvSpPr>
        <p:spPr>
          <a:xfrm xmlns:a="http://schemas.openxmlformats.org/drawingml/2006/main">
            <a:off x="609600" y="38195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4" name="">
            <a:extLst xmlns:a="http://schemas.openxmlformats.org/drawingml/2006/main">
              <a:ext uri="{FF2B5EF4-FFF2-40B4-BE49-F238E27FC236}">
                <a16:creationId xmlns:a16="http://schemas.microsoft.com/office/drawing/2014/main" id="{E2642366-4407-458D-81AE-F6B8565186F0}"/>
              </a:ext>
            </a:extLst>
          </p:cNvPr>
          <p:cNvSpPr>
            <a:spLocks xmlns:a="http://schemas.openxmlformats.org/drawingml/2006/main" noGrp="1"/>
          </p:cNvSpPr>
          <p:nvPr/>
        </p:nvSpPr>
        <p:spPr>
          <a:xfrm xmlns:a="http://schemas.openxmlformats.org/drawingml/2006/main">
            <a:off x="1066800" y="38195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State what is known and what remains unknown.</a:t>
            </a:r>
          </a:p>
        </p:txBody>
      </p:sp>
      <p:sp>
        <p:nvSpPr>
          <p:cNvPr id="15" name="">
            <a:extLst xmlns:a="http://schemas.openxmlformats.org/drawingml/2006/main">
              <a:ext uri="{FF2B5EF4-FFF2-40B4-BE49-F238E27FC236}">
                <a16:creationId xmlns:a16="http://schemas.microsoft.com/office/drawing/2014/main" id="{400C97C3-AE3D-4B95-9B87-20E6C6C1CA6D}"/>
              </a:ext>
            </a:extLst>
          </p:cNvPr>
          <p:cNvSpPr>
            <a:spLocks xmlns:a="http://schemas.openxmlformats.org/drawingml/2006/main" noGrp="1"/>
          </p:cNvSpPr>
          <p:nvPr/>
        </p:nvSpPr>
        <p:spPr>
          <a:xfrm xmlns:a="http://schemas.openxmlformats.org/drawingml/2006/main">
            <a:off x="609600" y="43338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1199ACE0-E2D2-4A22-A75B-C3CC301BC46D}"/>
              </a:ext>
            </a:extLst>
          </p:cNvPr>
          <p:cNvSpPr>
            <a:spLocks xmlns:a="http://schemas.openxmlformats.org/drawingml/2006/main" noGrp="1"/>
          </p:cNvSpPr>
          <p:nvPr/>
        </p:nvSpPr>
        <p:spPr>
          <a:xfrm xmlns:a="http://schemas.openxmlformats.org/drawingml/2006/main">
            <a:off x="1066800" y="433387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Identify the immediate safe action and the DWIHN route to check.</a:t>
            </a:r>
          </a:p>
        </p:txBody>
      </p:sp>
      <p:sp>
        <p:nvSpPr>
          <p:cNvPr id="17" name="">
            <a:extLst xmlns:a="http://schemas.openxmlformats.org/drawingml/2006/main">
              <a:ext uri="{FF2B5EF4-FFF2-40B4-BE49-F238E27FC236}">
                <a16:creationId xmlns:a16="http://schemas.microsoft.com/office/drawing/2014/main" id="{B4A9FA0A-7D06-4879-B2AC-51222F839FE3}"/>
              </a:ext>
            </a:extLst>
          </p:cNvPr>
          <p:cNvSpPr>
            <a:spLocks xmlns:a="http://schemas.openxmlformats.org/drawingml/2006/main" noGrp="1"/>
          </p:cNvSpPr>
          <p:nvPr/>
        </p:nvSpPr>
        <p:spPr>
          <a:xfrm xmlns:a="http://schemas.openxmlformats.org/drawingml/2006/main">
            <a:off x="609600" y="4848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B2FC14F2-5ED6-4BBF-A905-D2A7BBF21641}"/>
              </a:ext>
            </a:extLst>
          </p:cNvPr>
          <p:cNvSpPr>
            <a:spLocks xmlns:a="http://schemas.openxmlformats.org/drawingml/2006/main" noGrp="1"/>
          </p:cNvSpPr>
          <p:nvPr/>
        </p:nvSpPr>
        <p:spPr>
          <a:xfrm xmlns:a="http://schemas.openxmlformats.org/drawingml/2006/main">
            <a:off x="1066800" y="48482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Practice a neutral report that avoids speculation or blame.</a:t>
            </a:r>
          </a:p>
        </p:txBody>
      </p:sp>
      <p:sp>
        <p:nvSpPr>
          <p:cNvPr id="19" name="">
            <a:extLst xmlns:a="http://schemas.openxmlformats.org/drawingml/2006/main">
              <a:ext uri="{FF2B5EF4-FFF2-40B4-BE49-F238E27FC236}">
                <a16:creationId xmlns:a16="http://schemas.microsoft.com/office/drawing/2014/main" id="{F945371E-E38D-4256-B06E-26DAEBFF8ECC}"/>
              </a:ext>
            </a:extLst>
          </p:cNvPr>
          <p:cNvSpPr>
            <a:spLocks xmlns:a="http://schemas.openxmlformats.org/drawingml/2006/main" noGrp="1"/>
          </p:cNvSpPr>
          <p:nvPr/>
        </p:nvSpPr>
        <p:spPr>
          <a:xfrm xmlns:a="http://schemas.openxmlformats.org/drawingml/2006/main">
            <a:off x="7886700" y="3486150"/>
            <a:ext cx="19050" cy="219075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7ED3489-FB4B-469A-AA5A-EBD63F9D9BD4}"/>
              </a:ext>
            </a:extLst>
          </p:cNvPr>
          <p:cNvSpPr>
            <a:spLocks xmlns:a="http://schemas.openxmlformats.org/drawingml/2006/main" noGrp="1"/>
          </p:cNvSpPr>
          <p:nvPr/>
        </p:nvSpPr>
        <p:spPr>
          <a:xfrm xmlns:a="http://schemas.openxmlformats.org/drawingml/2006/main">
            <a:off x="8229600" y="3505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EXPECTED DELIVERABLE</a:t>
            </a:r>
          </a:p>
        </p:txBody>
      </p:sp>
      <p:sp>
        <p:nvSpPr>
          <p:cNvPr id="21" name="">
            <a:extLst xmlns:a="http://schemas.openxmlformats.org/drawingml/2006/main">
              <a:ext uri="{FF2B5EF4-FFF2-40B4-BE49-F238E27FC236}">
                <a16:creationId xmlns:a16="http://schemas.microsoft.com/office/drawing/2014/main" id="{5CD5E919-9E94-4594-AF88-7D070E54A4C8}"/>
              </a:ext>
            </a:extLst>
          </p:cNvPr>
          <p:cNvSpPr>
            <a:spLocks xmlns:a="http://schemas.openxmlformats.org/drawingml/2006/main" noGrp="1"/>
          </p:cNvSpPr>
          <p:nvPr/>
        </p:nvSpPr>
        <p:spPr>
          <a:xfrm xmlns:a="http://schemas.openxmlformats.org/drawingml/2006/main">
            <a:off x="8229600" y="3819525"/>
            <a:ext cx="3086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A draft incident report with facts, unknowns, containment action and the requested guidance.</a:t>
            </a:r>
          </a:p>
        </p:txBody>
      </p:sp>
      <p:sp>
        <p:nvSpPr>
          <p:cNvPr id="22" name="">
            <a:extLst xmlns:a="http://schemas.openxmlformats.org/drawingml/2006/main">
              <a:ext uri="{FF2B5EF4-FFF2-40B4-BE49-F238E27FC236}">
                <a16:creationId xmlns:a16="http://schemas.microsoft.com/office/drawing/2014/main" id="{0FA1EC94-62C0-4D73-A542-15EEC8044DE5}"/>
              </a:ext>
            </a:extLst>
          </p:cNvPr>
          <p:cNvSpPr>
            <a:spLocks xmlns:a="http://schemas.openxmlformats.org/drawingml/2006/main" noGrp="1"/>
          </p:cNvSpPr>
          <p:nvPr/>
        </p:nvSpPr>
        <p:spPr>
          <a:xfrm xmlns:a="http://schemas.openxmlformats.org/drawingml/2006/main">
            <a:off x="8229600" y="469582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REVIEW CRITERIA</a:t>
            </a:r>
          </a:p>
        </p:txBody>
      </p:sp>
      <p:sp>
        <p:nvSpPr>
          <p:cNvPr id="23" name="">
            <a:extLst xmlns:a="http://schemas.openxmlformats.org/drawingml/2006/main">
              <a:ext uri="{FF2B5EF4-FFF2-40B4-BE49-F238E27FC236}">
                <a16:creationId xmlns:a16="http://schemas.microsoft.com/office/drawing/2014/main" id="{72A99B0A-9C37-4944-AE75-EC0239E54F27}"/>
              </a:ext>
            </a:extLst>
          </p:cNvPr>
          <p:cNvSpPr>
            <a:spLocks xmlns:a="http://schemas.openxmlformats.org/drawingml/2006/main" noGrp="1"/>
          </p:cNvSpPr>
          <p:nvPr/>
        </p:nvSpPr>
        <p:spPr>
          <a:xfrm xmlns:a="http://schemas.openxmlformats.org/drawingml/2006/main">
            <a:off x="8229600" y="4991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The report is timely, factual and complete enough to route.</a:t>
            </a:r>
          </a:p>
        </p:txBody>
      </p:sp>
      <p:sp>
        <p:nvSpPr>
          <p:cNvPr id="24" name="">
            <a:extLst xmlns:a="http://schemas.openxmlformats.org/drawingml/2006/main">
              <a:ext uri="{FF2B5EF4-FFF2-40B4-BE49-F238E27FC236}">
                <a16:creationId xmlns:a16="http://schemas.microsoft.com/office/drawing/2014/main" id="{BB5E46B5-98A7-4BF9-8807-DA66C076901D}"/>
              </a:ext>
            </a:extLst>
          </p:cNvPr>
          <p:cNvSpPr>
            <a:spLocks xmlns:a="http://schemas.openxmlformats.org/drawingml/2006/main" noGrp="1"/>
          </p:cNvSpPr>
          <p:nvPr/>
        </p:nvSpPr>
        <p:spPr>
          <a:xfrm xmlns:a="http://schemas.openxmlformats.org/drawingml/2006/main">
            <a:off x="8229600" y="5372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The learner uses the official procedure rather than a guessed channel.</a:t>
            </a:r>
          </a:p>
        </p:txBody>
      </p:sp>
      <p:sp>
        <p:nvSpPr>
          <p:cNvPr id="25" name="">
            <a:extLst xmlns:a="http://schemas.openxmlformats.org/drawingml/2006/main">
              <a:ext uri="{FF2B5EF4-FFF2-40B4-BE49-F238E27FC236}">
                <a16:creationId xmlns:a16="http://schemas.microsoft.com/office/drawing/2014/main" id="{05EDC599-963A-4734-B810-89F2EF0011EB}"/>
              </a:ext>
            </a:extLst>
          </p:cNvPr>
          <p:cNvSpPr>
            <a:spLocks xmlns:a="http://schemas.openxmlformats.org/drawingml/2006/main" noGrp="1"/>
          </p:cNvSpPr>
          <p:nvPr/>
        </p:nvSpPr>
        <p:spPr>
          <a:xfrm xmlns:a="http://schemas.openxmlformats.org/drawingml/2006/main">
            <a:off x="8229600" y="5753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No evidence is deleted and no unsupported conclusion is added.</a:t>
            </a:r>
          </a:p>
        </p:txBody>
      </p:sp>
    </p:spTree>
    <p:extLst>
      <p:ext uri="{BB962C8B-B14F-4D97-AF65-F5344CB8AC3E}">
        <p14:creationId xmlns:p14="http://schemas.microsoft.com/office/powerpoint/2010/main" val="507805123"/>
      </p:ext>
    </p:extLst>
  </p:cSld>
</p:sld>
</file>

<file path=ppt/slides/slide55.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3135976D-AF0C-46B5-AB61-AB1139C8F1B3}"/>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8 / MODULE 9</a:t>
            </a:r>
          </a:p>
        </p:txBody>
      </p:sp>
      <p:sp>
        <p:nvSpPr>
          <p:cNvPr id="2" name="">
            <a:extLst xmlns:a="http://schemas.openxmlformats.org/drawingml/2006/main">
              <a:ext uri="{FF2B5EF4-FFF2-40B4-BE49-F238E27FC236}">
                <a16:creationId xmlns:a16="http://schemas.microsoft.com/office/drawing/2014/main" id="{4827E459-69F1-495A-BB8F-E51BF5E4EE08}"/>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S11  |  Q&amp;A and knowledge check</a:t>
            </a:r>
          </a:p>
        </p:txBody>
      </p:sp>
      <p:sp>
        <p:nvSpPr>
          <p:cNvPr id="3" name="">
            <a:extLst xmlns:a="http://schemas.openxmlformats.org/drawingml/2006/main">
              <a:ext uri="{FF2B5EF4-FFF2-40B4-BE49-F238E27FC236}">
                <a16:creationId xmlns:a16="http://schemas.microsoft.com/office/drawing/2014/main" id="{F65D9BDA-0FF2-4728-81A4-16219E07D59E}"/>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3BBC043-037C-4D15-80C0-52DF34BC9731}"/>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A5A46A9-C908-4EAB-8A49-BA56411BE3BA}"/>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34FC5ABE-70A3-42AA-A91E-DCDC0F823A22}"/>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55</a:t>
            </a:r>
          </a:p>
        </p:txBody>
      </p:sp>
      <p:sp>
        <p:nvSpPr>
          <p:cNvPr id="7" name="">
            <a:extLst xmlns:a="http://schemas.openxmlformats.org/drawingml/2006/main">
              <a:ext uri="{FF2B5EF4-FFF2-40B4-BE49-F238E27FC236}">
                <a16:creationId xmlns:a16="http://schemas.microsoft.com/office/drawing/2014/main" id="{19462A7F-2176-40C7-99A1-C2B90FFD3F86}"/>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9, incident practice and proposal p. 9. The proposal does not provide DWIHN’s exact process; validate before instruction.</a:t>
            </a:r>
          </a:p>
        </p:txBody>
      </p:sp>
      <p:sp>
        <p:nvSpPr>
          <p:cNvPr id="8" name="">
            <a:extLst xmlns:a="http://schemas.openxmlformats.org/drawingml/2006/main">
              <a:ext uri="{FF2B5EF4-FFF2-40B4-BE49-F238E27FC236}">
                <a16:creationId xmlns:a16="http://schemas.microsoft.com/office/drawing/2014/main" id="{9FBBA26D-D912-4F31-A049-D0248EA146B8}"/>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Governance &amp; Incident Handling</a:t>
            </a:r>
          </a:p>
        </p:txBody>
      </p:sp>
      <p:sp>
        <p:nvSpPr>
          <p:cNvPr id="9" name="">
            <a:extLst xmlns:a="http://schemas.openxmlformats.org/drawingml/2006/main">
              <a:ext uri="{FF2B5EF4-FFF2-40B4-BE49-F238E27FC236}">
                <a16:creationId xmlns:a16="http://schemas.microsoft.com/office/drawing/2014/main" id="{3AC7EBCD-6B12-4070-9F86-A701AD291230}"/>
              </a:ext>
            </a:extLst>
          </p:cNvPr>
          <p:cNvSpPr>
            <a:spLocks xmlns:a="http://schemas.openxmlformats.org/drawingml/2006/main" noGrp="1"/>
          </p:cNvSpPr>
          <p:nvPr/>
        </p:nvSpPr>
        <p:spPr>
          <a:xfrm xmlns:a="http://schemas.openxmlformats.org/drawingml/2006/main">
            <a:off x="609600" y="19240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Invite questions first. Use the answer cues to clarify the principle; route local policy questions to the right DWIHN owner.</a:t>
            </a:r>
          </a:p>
        </p:txBody>
      </p:sp>
      <p:sp>
        <p:nvSpPr>
          <p:cNvPr id="10" name="">
            <a:extLst xmlns:a="http://schemas.openxmlformats.org/drawingml/2006/main">
              <a:ext uri="{FF2B5EF4-FFF2-40B4-BE49-F238E27FC236}">
                <a16:creationId xmlns:a16="http://schemas.microsoft.com/office/drawing/2014/main" id="{A87284A0-9C8A-4EA0-BE30-2A452B6BAC26}"/>
              </a:ext>
            </a:extLst>
          </p:cNvPr>
          <p:cNvSpPr>
            <a:spLocks xmlns:a="http://schemas.openxmlformats.org/drawingml/2006/main" noGrp="1"/>
          </p:cNvSpPr>
          <p:nvPr/>
        </p:nvSpPr>
        <p:spPr>
          <a:xfrm xmlns:a="http://schemas.openxmlformats.org/drawingml/2006/main">
            <a:off x="609600" y="26384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Q1</a:t>
            </a:r>
          </a:p>
        </p:txBody>
      </p:sp>
      <p:sp>
        <p:nvSpPr>
          <p:cNvPr id="11" name="">
            <a:extLst xmlns:a="http://schemas.openxmlformats.org/drawingml/2006/main">
              <a:ext uri="{FF2B5EF4-FFF2-40B4-BE49-F238E27FC236}">
                <a16:creationId xmlns:a16="http://schemas.microsoft.com/office/drawing/2014/main" id="{DAF28297-6B55-4B02-A48F-CE28F0605D79}"/>
              </a:ext>
            </a:extLst>
          </p:cNvPr>
          <p:cNvSpPr>
            <a:spLocks xmlns:a="http://schemas.openxmlformats.org/drawingml/2006/main" noGrp="1"/>
          </p:cNvSpPr>
          <p:nvPr/>
        </p:nvSpPr>
        <p:spPr>
          <a:xfrm xmlns:a="http://schemas.openxmlformats.org/drawingml/2006/main">
            <a:off x="1162050" y="26384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Does every incorrect AI draft count as an incident?</a:t>
            </a:r>
          </a:p>
        </p:txBody>
      </p:sp>
      <p:sp>
        <p:nvSpPr>
          <p:cNvPr id="12" name="">
            <a:extLst xmlns:a="http://schemas.openxmlformats.org/drawingml/2006/main">
              <a:ext uri="{FF2B5EF4-FFF2-40B4-BE49-F238E27FC236}">
                <a16:creationId xmlns:a16="http://schemas.microsoft.com/office/drawing/2014/main" id="{D05911D8-3496-4E70-BC48-124F1018D289}"/>
              </a:ext>
            </a:extLst>
          </p:cNvPr>
          <p:cNvSpPr>
            <a:spLocks xmlns:a="http://schemas.openxmlformats.org/drawingml/2006/main" noGrp="1"/>
          </p:cNvSpPr>
          <p:nvPr/>
        </p:nvSpPr>
        <p:spPr>
          <a:xfrm xmlns:a="http://schemas.openxmlformats.org/drawingml/2006/main">
            <a:off x="6000750" y="26384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3" name="">
            <a:extLst xmlns:a="http://schemas.openxmlformats.org/drawingml/2006/main">
              <a:ext uri="{FF2B5EF4-FFF2-40B4-BE49-F238E27FC236}">
                <a16:creationId xmlns:a16="http://schemas.microsoft.com/office/drawing/2014/main" id="{0DEF1DA0-1B1A-46C7-BC3B-68803B5351B3}"/>
              </a:ext>
            </a:extLst>
          </p:cNvPr>
          <p:cNvSpPr>
            <a:spLocks xmlns:a="http://schemas.openxmlformats.org/drawingml/2006/main" noGrp="1"/>
          </p:cNvSpPr>
          <p:nvPr/>
        </p:nvSpPr>
        <p:spPr>
          <a:xfrm xmlns:a="http://schemas.openxmlformats.org/drawingml/2006/main">
            <a:off x="6000750" y="28765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Use DWIHN’s definition. Correct the draft, and report when the policy or risk threshold requires it.</a:t>
            </a:r>
          </a:p>
        </p:txBody>
      </p:sp>
      <p:sp>
        <p:nvSpPr>
          <p:cNvPr id="14" name="">
            <a:extLst xmlns:a="http://schemas.openxmlformats.org/drawingml/2006/main">
              <a:ext uri="{FF2B5EF4-FFF2-40B4-BE49-F238E27FC236}">
                <a16:creationId xmlns:a16="http://schemas.microsoft.com/office/drawing/2014/main" id="{CA061266-B13A-4E99-978E-46898FCE4479}"/>
              </a:ext>
            </a:extLst>
          </p:cNvPr>
          <p:cNvSpPr>
            <a:spLocks xmlns:a="http://schemas.openxmlformats.org/drawingml/2006/main" noGrp="1"/>
          </p:cNvSpPr>
          <p:nvPr/>
        </p:nvSpPr>
        <p:spPr>
          <a:xfrm xmlns:a="http://schemas.openxmlformats.org/drawingml/2006/main">
            <a:off x="609600" y="343852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561047E-2E57-4342-BE46-A29690889760}"/>
              </a:ext>
            </a:extLst>
          </p:cNvPr>
          <p:cNvSpPr>
            <a:spLocks xmlns:a="http://schemas.openxmlformats.org/drawingml/2006/main" noGrp="1"/>
          </p:cNvSpPr>
          <p:nvPr/>
        </p:nvSpPr>
        <p:spPr>
          <a:xfrm xmlns:a="http://schemas.openxmlformats.org/drawingml/2006/main">
            <a:off x="609600" y="35718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Q2</a:t>
            </a:r>
          </a:p>
        </p:txBody>
      </p:sp>
      <p:sp>
        <p:nvSpPr>
          <p:cNvPr id="16" name="">
            <a:extLst xmlns:a="http://schemas.openxmlformats.org/drawingml/2006/main">
              <a:ext uri="{FF2B5EF4-FFF2-40B4-BE49-F238E27FC236}">
                <a16:creationId xmlns:a16="http://schemas.microsoft.com/office/drawing/2014/main" id="{D75FDAD7-C827-4DEC-9A2C-6812B9450CF3}"/>
              </a:ext>
            </a:extLst>
          </p:cNvPr>
          <p:cNvSpPr>
            <a:spLocks xmlns:a="http://schemas.openxmlformats.org/drawingml/2006/main" noGrp="1"/>
          </p:cNvSpPr>
          <p:nvPr/>
        </p:nvSpPr>
        <p:spPr>
          <a:xfrm xmlns:a="http://schemas.openxmlformats.org/drawingml/2006/main">
            <a:off x="1162050" y="357187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What response time applies?</a:t>
            </a:r>
          </a:p>
        </p:txBody>
      </p:sp>
      <p:sp>
        <p:nvSpPr>
          <p:cNvPr id="17" name="">
            <a:extLst xmlns:a="http://schemas.openxmlformats.org/drawingml/2006/main">
              <a:ext uri="{FF2B5EF4-FFF2-40B4-BE49-F238E27FC236}">
                <a16:creationId xmlns:a16="http://schemas.microsoft.com/office/drawing/2014/main" id="{7E6DD91E-331D-4939-8AA9-F6D47E52C322}"/>
              </a:ext>
            </a:extLst>
          </p:cNvPr>
          <p:cNvSpPr>
            <a:spLocks xmlns:a="http://schemas.openxmlformats.org/drawingml/2006/main" noGrp="1"/>
          </p:cNvSpPr>
          <p:nvPr/>
        </p:nvSpPr>
        <p:spPr>
          <a:xfrm xmlns:a="http://schemas.openxmlformats.org/drawingml/2006/main">
            <a:off x="6000750" y="357187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8" name="">
            <a:extLst xmlns:a="http://schemas.openxmlformats.org/drawingml/2006/main">
              <a:ext uri="{FF2B5EF4-FFF2-40B4-BE49-F238E27FC236}">
                <a16:creationId xmlns:a16="http://schemas.microsoft.com/office/drawing/2014/main" id="{F275D8BF-752E-47BB-B85D-8E6D395EAAC2}"/>
              </a:ext>
            </a:extLst>
          </p:cNvPr>
          <p:cNvSpPr>
            <a:spLocks xmlns:a="http://schemas.openxmlformats.org/drawingml/2006/main" noGrp="1"/>
          </p:cNvSpPr>
          <p:nvPr/>
        </p:nvSpPr>
        <p:spPr>
          <a:xfrm xmlns:a="http://schemas.openxmlformats.org/drawingml/2006/main">
            <a:off x="6000750" y="381000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The proposal references a 24-hour expectation for its training content; DWIHN’s official policy determines the binding timing and channel.</a:t>
            </a:r>
          </a:p>
        </p:txBody>
      </p:sp>
      <p:sp>
        <p:nvSpPr>
          <p:cNvPr id="19" name="">
            <a:extLst xmlns:a="http://schemas.openxmlformats.org/drawingml/2006/main">
              <a:ext uri="{FF2B5EF4-FFF2-40B4-BE49-F238E27FC236}">
                <a16:creationId xmlns:a16="http://schemas.microsoft.com/office/drawing/2014/main" id="{AD24E0ED-722B-4849-900A-E472C66DFB06}"/>
              </a:ext>
            </a:extLst>
          </p:cNvPr>
          <p:cNvSpPr>
            <a:spLocks xmlns:a="http://schemas.openxmlformats.org/drawingml/2006/main" noGrp="1"/>
          </p:cNvSpPr>
          <p:nvPr/>
        </p:nvSpPr>
        <p:spPr>
          <a:xfrm xmlns:a="http://schemas.openxmlformats.org/drawingml/2006/main">
            <a:off x="609600" y="437197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F199713-111A-485C-8772-DA6238968F51}"/>
              </a:ext>
            </a:extLst>
          </p:cNvPr>
          <p:cNvSpPr>
            <a:spLocks xmlns:a="http://schemas.openxmlformats.org/drawingml/2006/main" noGrp="1"/>
          </p:cNvSpPr>
          <p:nvPr/>
        </p:nvSpPr>
        <p:spPr>
          <a:xfrm xmlns:a="http://schemas.openxmlformats.org/drawingml/2006/main">
            <a:off x="609600" y="45053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Q3</a:t>
            </a:r>
          </a:p>
        </p:txBody>
      </p:sp>
      <p:sp>
        <p:nvSpPr>
          <p:cNvPr id="21" name="">
            <a:extLst xmlns:a="http://schemas.openxmlformats.org/drawingml/2006/main">
              <a:ext uri="{FF2B5EF4-FFF2-40B4-BE49-F238E27FC236}">
                <a16:creationId xmlns:a16="http://schemas.microsoft.com/office/drawing/2014/main" id="{80E4A09B-3563-4A44-ACDD-7102BB9B4C32}"/>
              </a:ext>
            </a:extLst>
          </p:cNvPr>
          <p:cNvSpPr>
            <a:spLocks xmlns:a="http://schemas.openxmlformats.org/drawingml/2006/main" noGrp="1"/>
          </p:cNvSpPr>
          <p:nvPr/>
        </p:nvSpPr>
        <p:spPr>
          <a:xfrm xmlns:a="http://schemas.openxmlformats.org/drawingml/2006/main">
            <a:off x="1162050" y="45053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Can a manager decide a concern is too small to report?</a:t>
            </a:r>
          </a:p>
        </p:txBody>
      </p:sp>
      <p:sp>
        <p:nvSpPr>
          <p:cNvPr id="22" name="">
            <a:extLst xmlns:a="http://schemas.openxmlformats.org/drawingml/2006/main">
              <a:ext uri="{FF2B5EF4-FFF2-40B4-BE49-F238E27FC236}">
                <a16:creationId xmlns:a16="http://schemas.microsoft.com/office/drawing/2014/main" id="{19F67416-8EF5-4902-9002-6AB6B1DBD060}"/>
              </a:ext>
            </a:extLst>
          </p:cNvPr>
          <p:cNvSpPr>
            <a:spLocks xmlns:a="http://schemas.openxmlformats.org/drawingml/2006/main" noGrp="1"/>
          </p:cNvSpPr>
          <p:nvPr/>
        </p:nvSpPr>
        <p:spPr>
          <a:xfrm xmlns:a="http://schemas.openxmlformats.org/drawingml/2006/main">
            <a:off x="6000750" y="45053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23" name="">
            <a:extLst xmlns:a="http://schemas.openxmlformats.org/drawingml/2006/main">
              <a:ext uri="{FF2B5EF4-FFF2-40B4-BE49-F238E27FC236}">
                <a16:creationId xmlns:a16="http://schemas.microsoft.com/office/drawing/2014/main" id="{DAB5E971-1BB1-48B0-9714-B8A67E69964F}"/>
              </a:ext>
            </a:extLst>
          </p:cNvPr>
          <p:cNvSpPr>
            <a:spLocks xmlns:a="http://schemas.openxmlformats.org/drawingml/2006/main" noGrp="1"/>
          </p:cNvSpPr>
          <p:nvPr/>
        </p:nvSpPr>
        <p:spPr>
          <a:xfrm xmlns:a="http://schemas.openxmlformats.org/drawingml/2006/main">
            <a:off x="6000750" y="47434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Managers should support staff in following the approved process and route uncertainty to the responsible owner.</a:t>
            </a:r>
          </a:p>
        </p:txBody>
      </p:sp>
      <p:sp>
        <p:nvSpPr>
          <p:cNvPr id="24" name="">
            <a:extLst xmlns:a="http://schemas.openxmlformats.org/drawingml/2006/main">
              <a:ext uri="{FF2B5EF4-FFF2-40B4-BE49-F238E27FC236}">
                <a16:creationId xmlns:a16="http://schemas.microsoft.com/office/drawing/2014/main" id="{1DC0D3B3-9092-47AC-B330-0BC4EFE7F666}"/>
              </a:ext>
            </a:extLst>
          </p:cNvPr>
          <p:cNvSpPr>
            <a:spLocks xmlns:a="http://schemas.openxmlformats.org/drawingml/2006/main" noGrp="1"/>
          </p:cNvSpPr>
          <p:nvPr/>
        </p:nvSpPr>
        <p:spPr>
          <a:xfrm xmlns:a="http://schemas.openxmlformats.org/drawingml/2006/main">
            <a:off x="609600" y="55435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CE9B64B0-D0C2-41C5-BCCF-37E105CBC0D8}"/>
              </a:ext>
            </a:extLst>
          </p:cNvPr>
          <p:cNvSpPr>
            <a:spLocks xmlns:a="http://schemas.openxmlformats.org/drawingml/2006/main" noGrp="1"/>
          </p:cNvSpPr>
          <p:nvPr/>
        </p:nvSpPr>
        <p:spPr>
          <a:xfrm xmlns:a="http://schemas.openxmlformats.org/drawingml/2006/main">
            <a:off x="609600" y="57150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Remember</a:t>
            </a:r>
          </a:p>
        </p:txBody>
      </p:sp>
      <p:sp>
        <p:nvSpPr>
          <p:cNvPr id="26" name="">
            <a:extLst xmlns:a="http://schemas.openxmlformats.org/drawingml/2006/main">
              <a:ext uri="{FF2B5EF4-FFF2-40B4-BE49-F238E27FC236}">
                <a16:creationId xmlns:a16="http://schemas.microsoft.com/office/drawing/2014/main" id="{77800FC6-5DF7-4128-8636-CB62B16CFC9F}"/>
              </a:ext>
            </a:extLst>
          </p:cNvPr>
          <p:cNvSpPr>
            <a:spLocks xmlns:a="http://schemas.openxmlformats.org/drawingml/2006/main" noGrp="1"/>
          </p:cNvSpPr>
          <p:nvPr/>
        </p:nvSpPr>
        <p:spPr>
          <a:xfrm xmlns:a="http://schemas.openxmlformats.org/drawingml/2006/main">
            <a:off x="1924050" y="5686425"/>
            <a:ext cx="9429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Know where governance questions go.   •   Report concerns factually and promptly.   •   Follow DWIHN’s official incident process.</a:t>
            </a:r>
          </a:p>
        </p:txBody>
      </p:sp>
    </p:spTree>
    <p:extLst>
      <p:ext uri="{BB962C8B-B14F-4D97-AF65-F5344CB8AC3E}">
        <p14:creationId xmlns:p14="http://schemas.microsoft.com/office/powerpoint/2010/main" val="824880755"/>
      </p:ext>
    </p:extLst>
  </p:cSld>
</p:sld>
</file>

<file path=ppt/slides/slide56.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911BE25-6C5B-43C9-AB84-04C9A135A80A}"/>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9 / MODULE 10</a:t>
            </a:r>
          </a:p>
        </p:txBody>
      </p:sp>
      <p:sp>
        <p:nvSpPr>
          <p:cNvPr id="2" name="">
            <a:extLst xmlns:a="http://schemas.openxmlformats.org/drawingml/2006/main">
              <a:ext uri="{FF2B5EF4-FFF2-40B4-BE49-F238E27FC236}">
                <a16:creationId xmlns:a16="http://schemas.microsoft.com/office/drawing/2014/main" id="{790932DC-F244-49BE-A6D1-C84D8FA5E397}"/>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S12  |  Purpose &amp; outcomes</a:t>
            </a:r>
          </a:p>
        </p:txBody>
      </p:sp>
      <p:sp>
        <p:nvSpPr>
          <p:cNvPr id="3" name="">
            <a:extLst xmlns:a="http://schemas.openxmlformats.org/drawingml/2006/main">
              <a:ext uri="{FF2B5EF4-FFF2-40B4-BE49-F238E27FC236}">
                <a16:creationId xmlns:a16="http://schemas.microsoft.com/office/drawing/2014/main" id="{718995A5-F952-4CF2-98D1-8CB808895057}"/>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E123C43-BCBC-433C-9483-CE0EB1EC773F}"/>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27DEDEB-EA78-4C3C-8B6C-29DD9F974E21}"/>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C4B098B3-83BE-4CC6-B6E3-F8AD56B7C7BF}"/>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56</a:t>
            </a:r>
          </a:p>
        </p:txBody>
      </p:sp>
      <p:sp>
        <p:nvSpPr>
          <p:cNvPr id="7" name="">
            <a:extLst xmlns:a="http://schemas.openxmlformats.org/drawingml/2006/main">
              <a:ext uri="{FF2B5EF4-FFF2-40B4-BE49-F238E27FC236}">
                <a16:creationId xmlns:a16="http://schemas.microsoft.com/office/drawing/2014/main" id="{A5E593B1-DB25-4B30-BEB4-A732A423B8F9}"/>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10 and Final Program Review; proposal p. 9. Assessment conditions must be confirmed with DWIHN and Netlink.</a:t>
            </a:r>
          </a:p>
        </p:txBody>
      </p:sp>
      <p:sp>
        <p:nvSpPr>
          <p:cNvPr id="8" name="">
            <a:extLst xmlns:a="http://schemas.openxmlformats.org/drawingml/2006/main">
              <a:ext uri="{FF2B5EF4-FFF2-40B4-BE49-F238E27FC236}">
                <a16:creationId xmlns:a16="http://schemas.microsoft.com/office/drawing/2014/main" id="{4531CB2E-B791-4261-B1C0-558D624DCBD5}"/>
              </a:ext>
            </a:extLst>
          </p:cNvPr>
          <p:cNvSpPr>
            <a:spLocks xmlns:a="http://schemas.openxmlformats.org/drawingml/2006/main" noGrp="1"/>
          </p:cNvSpPr>
          <p:nvPr/>
        </p:nvSpPr>
        <p:spPr>
          <a:xfrm xmlns:a="http://schemas.openxmlformats.org/drawingml/2006/main">
            <a:off x="609600" y="1619250"/>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0A2438"/>
                </a:solidFill>
                <a:latin typeface="Arial"/>
                <a:ea typeface="Arial"/>
                <a:cs typeface="Arial"/>
              </a:defRPr>
            </a:pPr>
            <a:r>
              <a:rPr sz="1875" b="1">
                <a:solidFill>
                  <a:srgbClr val="0A2438"/>
                </a:solidFill>
                <a:latin typeface="Arial"/>
                <a:ea typeface="Arial"/>
                <a:cs typeface="Arial"/>
              </a:rPr>
              <a:t>Assessment &amp; Certification</a:t>
            </a:r>
          </a:p>
        </p:txBody>
      </p:sp>
      <p:sp>
        <p:nvSpPr>
          <p:cNvPr id="9" name="">
            <a:extLst xmlns:a="http://schemas.openxmlformats.org/drawingml/2006/main">
              <a:ext uri="{FF2B5EF4-FFF2-40B4-BE49-F238E27FC236}">
                <a16:creationId xmlns:a16="http://schemas.microsoft.com/office/drawing/2014/main" id="{C9E4C7BA-EF79-4786-81E3-5BBEBFCCAA14}"/>
              </a:ext>
            </a:extLst>
          </p:cNvPr>
          <p:cNvSpPr>
            <a:spLocks xmlns:a="http://schemas.openxmlformats.org/drawingml/2006/main" noGrp="1"/>
          </p:cNvSpPr>
          <p:nvPr/>
        </p:nvSpPr>
        <p:spPr>
          <a:xfrm xmlns:a="http://schemas.openxmlformats.org/drawingml/2006/main">
            <a:off x="609600" y="2057400"/>
            <a:ext cx="695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506473"/>
                </a:solidFill>
                <a:latin typeface="Arial"/>
                <a:ea typeface="Arial"/>
                <a:cs typeface="Arial"/>
              </a:defRPr>
            </a:pPr>
            <a:r>
              <a:rPr sz="1425" b="0">
                <a:solidFill>
                  <a:srgbClr val="506473"/>
                </a:solidFill>
                <a:latin typeface="Arial"/>
                <a:ea typeface="Arial"/>
                <a:cs typeface="Arial"/>
              </a:rPr>
              <a:t>Participants review the full course, resolve remaining questions, complete the proposed knowledge check and understand what the readiness certificate represents.</a:t>
            </a:r>
          </a:p>
        </p:txBody>
      </p:sp>
      <p:sp>
        <p:nvSpPr>
          <p:cNvPr id="10" name="">
            <a:extLst xmlns:a="http://schemas.openxmlformats.org/drawingml/2006/main">
              <a:ext uri="{FF2B5EF4-FFF2-40B4-BE49-F238E27FC236}">
                <a16:creationId xmlns:a16="http://schemas.microsoft.com/office/drawing/2014/main" id="{EB6CDFC7-C89C-4A87-BF24-7F6607C360CE}"/>
              </a:ext>
            </a:extLst>
          </p:cNvPr>
          <p:cNvSpPr>
            <a:spLocks xmlns:a="http://schemas.openxmlformats.org/drawingml/2006/main" noGrp="1"/>
          </p:cNvSpPr>
          <p:nvPr/>
        </p:nvSpPr>
        <p:spPr>
          <a:xfrm xmlns:a="http://schemas.openxmlformats.org/drawingml/2006/main">
            <a:off x="609600" y="30861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BY THE END, LEARNERS CAN</a:t>
            </a:r>
          </a:p>
        </p:txBody>
      </p:sp>
      <p:sp>
        <p:nvSpPr>
          <p:cNvPr id="11" name="">
            <a:extLst xmlns:a="http://schemas.openxmlformats.org/drawingml/2006/main">
              <a:ext uri="{FF2B5EF4-FFF2-40B4-BE49-F238E27FC236}">
                <a16:creationId xmlns:a16="http://schemas.microsoft.com/office/drawing/2014/main" id="{0E0870ED-59C9-43BC-B87D-27EB54ECA037}"/>
              </a:ext>
            </a:extLst>
          </p:cNvPr>
          <p:cNvSpPr>
            <a:spLocks xmlns:a="http://schemas.openxmlformats.org/drawingml/2006/main" noGrp="1"/>
          </p:cNvSpPr>
          <p:nvPr/>
        </p:nvSpPr>
        <p:spPr>
          <a:xfrm xmlns:a="http://schemas.openxmlformats.org/drawingml/2006/main">
            <a:off x="609600" y="3429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01</a:t>
            </a:r>
          </a:p>
        </p:txBody>
      </p:sp>
      <p:sp>
        <p:nvSpPr>
          <p:cNvPr id="12" name="">
            <a:extLst xmlns:a="http://schemas.openxmlformats.org/drawingml/2006/main">
              <a:ext uri="{FF2B5EF4-FFF2-40B4-BE49-F238E27FC236}">
                <a16:creationId xmlns:a16="http://schemas.microsoft.com/office/drawing/2014/main" id="{BCCAB286-604E-4006-8997-68256E546D91}"/>
              </a:ext>
            </a:extLst>
          </p:cNvPr>
          <p:cNvSpPr>
            <a:spLocks xmlns:a="http://schemas.openxmlformats.org/drawingml/2006/main" noGrp="1"/>
          </p:cNvSpPr>
          <p:nvPr/>
        </p:nvSpPr>
        <p:spPr>
          <a:xfrm xmlns:a="http://schemas.openxmlformats.org/drawingml/2006/main">
            <a:off x="1104900" y="34290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Apply the course decision sequence to an unfamiliar work scenario.</a:t>
            </a:r>
          </a:p>
        </p:txBody>
      </p:sp>
      <p:sp>
        <p:nvSpPr>
          <p:cNvPr id="13" name="">
            <a:extLst xmlns:a="http://schemas.openxmlformats.org/drawingml/2006/main">
              <a:ext uri="{FF2B5EF4-FFF2-40B4-BE49-F238E27FC236}">
                <a16:creationId xmlns:a16="http://schemas.microsoft.com/office/drawing/2014/main" id="{1A510A18-FEC0-4401-BE1C-D1B56D5A990C}"/>
              </a:ext>
            </a:extLst>
          </p:cNvPr>
          <p:cNvSpPr>
            <a:spLocks xmlns:a="http://schemas.openxmlformats.org/drawingml/2006/main" noGrp="1"/>
          </p:cNvSpPr>
          <p:nvPr/>
        </p:nvSpPr>
        <p:spPr>
          <a:xfrm xmlns:a="http://schemas.openxmlformats.org/drawingml/2006/main">
            <a:off x="609600" y="40767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BDF8EB89-8413-4E12-8E00-FA73ABBCC869}"/>
              </a:ext>
            </a:extLst>
          </p:cNvPr>
          <p:cNvSpPr>
            <a:spLocks xmlns:a="http://schemas.openxmlformats.org/drawingml/2006/main" noGrp="1"/>
          </p:cNvSpPr>
          <p:nvPr/>
        </p:nvSpPr>
        <p:spPr>
          <a:xfrm xmlns:a="http://schemas.openxmlformats.org/drawingml/2006/main">
            <a:off x="1104900" y="40767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Demonstrate safe tool selection, prompt design and output verification.</a:t>
            </a:r>
          </a:p>
        </p:txBody>
      </p:sp>
      <p:sp>
        <p:nvSpPr>
          <p:cNvPr id="15" name="">
            <a:extLst xmlns:a="http://schemas.openxmlformats.org/drawingml/2006/main">
              <a:ext uri="{FF2B5EF4-FFF2-40B4-BE49-F238E27FC236}">
                <a16:creationId xmlns:a16="http://schemas.microsoft.com/office/drawing/2014/main" id="{CE254D29-CEEB-4AF0-8AC1-6A7904E55DFD}"/>
              </a:ext>
            </a:extLst>
          </p:cNvPr>
          <p:cNvSpPr>
            <a:spLocks xmlns:a="http://schemas.openxmlformats.org/drawingml/2006/main" noGrp="1"/>
          </p:cNvSpPr>
          <p:nvPr/>
        </p:nvSpPr>
        <p:spPr>
          <a:xfrm xmlns:a="http://schemas.openxmlformats.org/drawingml/2006/main">
            <a:off x="609600" y="47244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5F35DC2F-79EB-4946-B2E2-EB71CCAB9C54}"/>
              </a:ext>
            </a:extLst>
          </p:cNvPr>
          <p:cNvSpPr>
            <a:spLocks xmlns:a="http://schemas.openxmlformats.org/drawingml/2006/main" noGrp="1"/>
          </p:cNvSpPr>
          <p:nvPr/>
        </p:nvSpPr>
        <p:spPr>
          <a:xfrm xmlns:a="http://schemas.openxmlformats.org/drawingml/2006/main">
            <a:off x="1104900" y="47244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Explain what completion certification confirms and what it does not replace.</a:t>
            </a:r>
          </a:p>
        </p:txBody>
      </p:sp>
      <p:sp>
        <p:nvSpPr>
          <p:cNvPr id="17" name="">
            <a:extLst xmlns:a="http://schemas.openxmlformats.org/drawingml/2006/main">
              <a:ext uri="{FF2B5EF4-FFF2-40B4-BE49-F238E27FC236}">
                <a16:creationId xmlns:a16="http://schemas.microsoft.com/office/drawing/2014/main" id="{4968FF07-D046-450C-8045-3767BB9FE9A0}"/>
              </a:ext>
            </a:extLst>
          </p:cNvPr>
          <p:cNvSpPr>
            <a:spLocks xmlns:a="http://schemas.openxmlformats.org/drawingml/2006/main" noGrp="1"/>
          </p:cNvSpPr>
          <p:nvPr/>
        </p:nvSpPr>
        <p:spPr>
          <a:xfrm xmlns:a="http://schemas.openxmlformats.org/drawingml/2006/main">
            <a:off x="609600" y="5476875"/>
            <a:ext cx="6953250" cy="476250"/>
          </a:xfrm>
          <a:prstGeom xmlns:a="http://schemas.openxmlformats.org/drawingml/2006/main" prst="rect">
            <a:avLst/>
          </a:prstGeom>
          <a:noFill xmlns:a="http://schemas.openxmlformats.org/drawingml/2006/main"/>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1277839-2D96-46C7-B874-38807D2EA957}"/>
              </a:ext>
            </a:extLst>
          </p:cNvPr>
          <p:cNvSpPr>
            <a:spLocks xmlns:a="http://schemas.openxmlformats.org/drawingml/2006/main" noGrp="1"/>
          </p:cNvSpPr>
          <p:nvPr/>
        </p:nvSpPr>
        <p:spPr>
          <a:xfrm xmlns:a="http://schemas.openxmlformats.org/drawingml/2006/main">
            <a:off x="781050" y="5591175"/>
            <a:ext cx="659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91"/>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Session length: at least 1 hour, including Q&amp;A. Guided practice and discussion can extend it.</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ca3057216b0f4b82"/>
          <a:srcRect xmlns:a="http://schemas.openxmlformats.org/drawingml/2006/main" l="0" t="4080" r="0" b="4080"/>
          <a:stretch xmlns:a="http://schemas.openxmlformats.org/drawingml/2006/main">
            <a:fillRect l="0" t="0" r="0" b="0"/>
          </a:stretch>
        </p:blipFill>
        <p:spPr>
          <a:xfrm xmlns:a="http://schemas.openxmlformats.org/drawingml/2006/main">
            <a:off x="7981950" y="2247900"/>
            <a:ext cx="3429000" cy="219075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9331A160-CDA2-4A5F-A47F-0FB9F2AF5347}"/>
              </a:ext>
            </a:extLst>
          </p:cNvPr>
          <p:cNvSpPr>
            <a:spLocks xmlns:a="http://schemas.openxmlformats.org/drawingml/2006/main" noGrp="1"/>
          </p:cNvSpPr>
          <p:nvPr/>
        </p:nvSpPr>
        <p:spPr>
          <a:xfrm xmlns:a="http://schemas.openxmlformats.org/drawingml/2006/main">
            <a:off x="7981950" y="4524375"/>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0">
                <a:solidFill>
                  <a:srgbClr val="6D7E89"/>
                </a:solidFill>
                <a:latin typeface="Arial"/>
                <a:ea typeface="Arial"/>
                <a:cs typeface="Arial"/>
              </a:defRPr>
            </a:pPr>
            <a:r>
              <a:rPr sz="900" b="0">
                <a:solidFill>
                  <a:srgbClr val="6D7E89"/>
                </a:solidFill>
                <a:latin typeface="Arial"/>
                <a:ea typeface="Arial"/>
                <a:cs typeface="Arial"/>
              </a:rPr>
              <a:t>Illustrative certificate artwork from the proposal; not the final DWIHN certificate.</a:t>
            </a:r>
          </a:p>
        </p:txBody>
      </p:sp>
    </p:spTree>
    <p:extLst>
      <p:ext uri="{BB962C8B-B14F-4D97-AF65-F5344CB8AC3E}">
        <p14:creationId xmlns:p14="http://schemas.microsoft.com/office/powerpoint/2010/main" val="826872379"/>
      </p:ext>
    </p:extLst>
  </p:cSld>
</p:sld>
</file>

<file path=ppt/slides/slide57.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35C6EB96-FF32-4621-AD13-86AAC2C5080E}"/>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9 / MODULE 10</a:t>
            </a:r>
          </a:p>
        </p:txBody>
      </p:sp>
      <p:sp>
        <p:nvSpPr>
          <p:cNvPr id="2" name="">
            <a:extLst xmlns:a="http://schemas.openxmlformats.org/drawingml/2006/main">
              <a:ext uri="{FF2B5EF4-FFF2-40B4-BE49-F238E27FC236}">
                <a16:creationId xmlns:a16="http://schemas.microsoft.com/office/drawing/2014/main" id="{A9873811-7263-4E5B-934F-F94CFF88ED70}"/>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S12  |  Core concepts</a:t>
            </a:r>
          </a:p>
        </p:txBody>
      </p:sp>
      <p:sp>
        <p:nvSpPr>
          <p:cNvPr id="3" name="">
            <a:extLst xmlns:a="http://schemas.openxmlformats.org/drawingml/2006/main">
              <a:ext uri="{FF2B5EF4-FFF2-40B4-BE49-F238E27FC236}">
                <a16:creationId xmlns:a16="http://schemas.microsoft.com/office/drawing/2014/main" id="{45F8C6B3-4E8B-4078-A850-B2A8034CB5CD}"/>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87C6E63-8052-4B34-AF28-762F901E9178}"/>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059BC10-3A9F-4DD2-A3EF-7C606728BF09}"/>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D08DB810-67D4-4747-B046-0AE0A775EA03}"/>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57</a:t>
            </a:r>
          </a:p>
        </p:txBody>
      </p:sp>
      <p:sp>
        <p:nvSpPr>
          <p:cNvPr id="7" name="">
            <a:extLst xmlns:a="http://schemas.openxmlformats.org/drawingml/2006/main">
              <a:ext uri="{FF2B5EF4-FFF2-40B4-BE49-F238E27FC236}">
                <a16:creationId xmlns:a16="http://schemas.microsoft.com/office/drawing/2014/main" id="{93CA0D25-3963-4ED1-BCDF-955E047FEEFC}"/>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10 and Final Program Review; proposal p. 9. Assessment conditions must be confirmed with DWIHN and Netlink.</a:t>
            </a:r>
          </a:p>
        </p:txBody>
      </p:sp>
      <p:sp>
        <p:nvSpPr>
          <p:cNvPr id="8" name="">
            <a:extLst xmlns:a="http://schemas.openxmlformats.org/drawingml/2006/main">
              <a:ext uri="{FF2B5EF4-FFF2-40B4-BE49-F238E27FC236}">
                <a16:creationId xmlns:a16="http://schemas.microsoft.com/office/drawing/2014/main" id="{0241E8B1-10D4-425B-AE6B-9E9F48B1C4A1}"/>
              </a:ext>
            </a:extLst>
          </p:cNvPr>
          <p:cNvSpPr>
            <a:spLocks xmlns:a="http://schemas.openxmlformats.org/drawingml/2006/main" noGrp="1"/>
          </p:cNvSpPr>
          <p:nvPr/>
        </p:nvSpPr>
        <p:spPr>
          <a:xfrm xmlns:a="http://schemas.openxmlformats.org/drawingml/2006/main">
            <a:off x="609600" y="15811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Assessment &amp; Certification</a:t>
            </a:r>
          </a:p>
        </p:txBody>
      </p:sp>
      <p:sp>
        <p:nvSpPr>
          <p:cNvPr id="9" name="">
            <a:extLst xmlns:a="http://schemas.openxmlformats.org/drawingml/2006/main">
              <a:ext uri="{FF2B5EF4-FFF2-40B4-BE49-F238E27FC236}">
                <a16:creationId xmlns:a16="http://schemas.microsoft.com/office/drawing/2014/main" id="{F48294B9-49B4-4C8A-8209-F4E2842A0665}"/>
              </a:ext>
            </a:extLst>
          </p:cNvPr>
          <p:cNvSpPr>
            <a:spLocks xmlns:a="http://schemas.openxmlformats.org/drawingml/2006/main" noGrp="1"/>
          </p:cNvSpPr>
          <p:nvPr/>
        </p:nvSpPr>
        <p:spPr>
          <a:xfrm xmlns:a="http://schemas.openxmlformats.org/drawingml/2006/main">
            <a:off x="609600" y="19716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3B9EF432-D62B-409A-9C2E-52508214ED6C}"/>
              </a:ext>
            </a:extLst>
          </p:cNvPr>
          <p:cNvSpPr>
            <a:spLocks xmlns:a="http://schemas.openxmlformats.org/drawingml/2006/main" noGrp="1"/>
          </p:cNvSpPr>
          <p:nvPr/>
        </p:nvSpPr>
        <p:spPr>
          <a:xfrm xmlns:a="http://schemas.openxmlformats.org/drawingml/2006/main">
            <a:off x="1143000" y="19716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9613"/>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The final assessment tests decisions</a:t>
            </a:r>
          </a:p>
        </p:txBody>
      </p:sp>
      <p:sp>
        <p:nvSpPr>
          <p:cNvPr id="11" name="">
            <a:extLst xmlns:a="http://schemas.openxmlformats.org/drawingml/2006/main">
              <a:ext uri="{FF2B5EF4-FFF2-40B4-BE49-F238E27FC236}">
                <a16:creationId xmlns:a16="http://schemas.microsoft.com/office/drawing/2014/main" id="{C219C646-4F9C-4412-ACF4-47B406C40F1C}"/>
              </a:ext>
            </a:extLst>
          </p:cNvPr>
          <p:cNvSpPr>
            <a:spLocks xmlns:a="http://schemas.openxmlformats.org/drawingml/2006/main" noGrp="1"/>
          </p:cNvSpPr>
          <p:nvPr/>
        </p:nvSpPr>
        <p:spPr>
          <a:xfrm xmlns:a="http://schemas.openxmlformats.org/drawingml/2006/main">
            <a:off x="3857625" y="19716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The proposal specifies a 20-question online assessment. Strong questions ask learners to classify information, choose the approved route, review generated output and recognize when to escalate.</a:t>
            </a:r>
          </a:p>
        </p:txBody>
      </p:sp>
      <p:sp>
        <p:nvSpPr>
          <p:cNvPr id="12" name="">
            <a:extLst xmlns:a="http://schemas.openxmlformats.org/drawingml/2006/main">
              <a:ext uri="{FF2B5EF4-FFF2-40B4-BE49-F238E27FC236}">
                <a16:creationId xmlns:a16="http://schemas.microsoft.com/office/drawing/2014/main" id="{6983AAED-1965-4BAF-9DFC-3778C7CBB11D}"/>
              </a:ext>
            </a:extLst>
          </p:cNvPr>
          <p:cNvSpPr>
            <a:spLocks xmlns:a="http://schemas.openxmlformats.org/drawingml/2006/main" noGrp="1"/>
          </p:cNvSpPr>
          <p:nvPr/>
        </p:nvSpPr>
        <p:spPr>
          <a:xfrm xmlns:a="http://schemas.openxmlformats.org/drawingml/2006/main">
            <a:off x="1143000" y="28003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51545C9-76FD-4E09-ABB0-D6D0DA71FA6A}"/>
              </a:ext>
            </a:extLst>
          </p:cNvPr>
          <p:cNvSpPr>
            <a:spLocks xmlns:a="http://schemas.openxmlformats.org/drawingml/2006/main" noGrp="1"/>
          </p:cNvSpPr>
          <p:nvPr/>
        </p:nvSpPr>
        <p:spPr>
          <a:xfrm xmlns:a="http://schemas.openxmlformats.org/drawingml/2006/main">
            <a:off x="609600" y="29813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E9925495-29B7-4E15-B661-968BB51F3DB1}"/>
              </a:ext>
            </a:extLst>
          </p:cNvPr>
          <p:cNvSpPr>
            <a:spLocks xmlns:a="http://schemas.openxmlformats.org/drawingml/2006/main" noGrp="1"/>
          </p:cNvSpPr>
          <p:nvPr/>
        </p:nvSpPr>
        <p:spPr>
          <a:xfrm xmlns:a="http://schemas.openxmlformats.org/drawingml/2006/main">
            <a:off x="1143000" y="29813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Combine skills in a capstone</a:t>
            </a:r>
          </a:p>
        </p:txBody>
      </p:sp>
      <p:sp>
        <p:nvSpPr>
          <p:cNvPr id="15" name="">
            <a:extLst xmlns:a="http://schemas.openxmlformats.org/drawingml/2006/main">
              <a:ext uri="{FF2B5EF4-FFF2-40B4-BE49-F238E27FC236}">
                <a16:creationId xmlns:a16="http://schemas.microsoft.com/office/drawing/2014/main" id="{2E3D82ED-9FCD-47FD-B544-2026F6A16702}"/>
              </a:ext>
            </a:extLst>
          </p:cNvPr>
          <p:cNvSpPr>
            <a:spLocks xmlns:a="http://schemas.openxmlformats.org/drawingml/2006/main" noGrp="1"/>
          </p:cNvSpPr>
          <p:nvPr/>
        </p:nvSpPr>
        <p:spPr>
          <a:xfrm xmlns:a="http://schemas.openxmlformats.org/drawingml/2006/main">
            <a:off x="3857625" y="29813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 realistic capstone connects the task, data tier, approved tool, prompt, verification and human decision. It tests whether the steps work together rather than in isolation.</a:t>
            </a:r>
          </a:p>
        </p:txBody>
      </p:sp>
      <p:sp>
        <p:nvSpPr>
          <p:cNvPr id="16" name="">
            <a:extLst xmlns:a="http://schemas.openxmlformats.org/drawingml/2006/main">
              <a:ext uri="{FF2B5EF4-FFF2-40B4-BE49-F238E27FC236}">
                <a16:creationId xmlns:a16="http://schemas.microsoft.com/office/drawing/2014/main" id="{4FEC54A9-AFCC-4BDD-88EC-1131D091AA6B}"/>
              </a:ext>
            </a:extLst>
          </p:cNvPr>
          <p:cNvSpPr>
            <a:spLocks xmlns:a="http://schemas.openxmlformats.org/drawingml/2006/main" noGrp="1"/>
          </p:cNvSpPr>
          <p:nvPr/>
        </p:nvSpPr>
        <p:spPr>
          <a:xfrm xmlns:a="http://schemas.openxmlformats.org/drawingml/2006/main">
            <a:off x="1143000" y="381000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58CEC1A-366D-4DB4-98EB-61D08A87B79A}"/>
              </a:ext>
            </a:extLst>
          </p:cNvPr>
          <p:cNvSpPr>
            <a:spLocks xmlns:a="http://schemas.openxmlformats.org/drawingml/2006/main" noGrp="1"/>
          </p:cNvSpPr>
          <p:nvPr/>
        </p:nvSpPr>
        <p:spPr>
          <a:xfrm xmlns:a="http://schemas.openxmlformats.org/drawingml/2006/main">
            <a:off x="609600" y="39909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4FA88C22-CDD8-4679-93D6-2C699FDBA88A}"/>
              </a:ext>
            </a:extLst>
          </p:cNvPr>
          <p:cNvSpPr>
            <a:spLocks xmlns:a="http://schemas.openxmlformats.org/drawingml/2006/main" noGrp="1"/>
          </p:cNvSpPr>
          <p:nvPr/>
        </p:nvSpPr>
        <p:spPr>
          <a:xfrm xmlns:a="http://schemas.openxmlformats.org/drawingml/2006/main">
            <a:off x="1143000" y="39909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Criteria must be agreed</a:t>
            </a:r>
          </a:p>
        </p:txBody>
      </p:sp>
      <p:sp>
        <p:nvSpPr>
          <p:cNvPr id="19" name="">
            <a:extLst xmlns:a="http://schemas.openxmlformats.org/drawingml/2006/main">
              <a:ext uri="{FF2B5EF4-FFF2-40B4-BE49-F238E27FC236}">
                <a16:creationId xmlns:a16="http://schemas.microsoft.com/office/drawing/2014/main" id="{197EEF95-4537-457E-AB9E-D90710266186}"/>
              </a:ext>
            </a:extLst>
          </p:cNvPr>
          <p:cNvSpPr>
            <a:spLocks xmlns:a="http://schemas.openxmlformats.org/drawingml/2006/main" noGrp="1"/>
          </p:cNvSpPr>
          <p:nvPr/>
        </p:nvSpPr>
        <p:spPr>
          <a:xfrm xmlns:a="http://schemas.openxmlformats.org/drawingml/2006/main">
            <a:off x="3857625" y="39909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Passing score, retake path, accommodations, completion requirements and certificate issuance need confirmation before launch. Do not invent these terms in class.</a:t>
            </a:r>
          </a:p>
        </p:txBody>
      </p:sp>
      <p:sp>
        <p:nvSpPr>
          <p:cNvPr id="20" name="">
            <a:extLst xmlns:a="http://schemas.openxmlformats.org/drawingml/2006/main">
              <a:ext uri="{FF2B5EF4-FFF2-40B4-BE49-F238E27FC236}">
                <a16:creationId xmlns:a16="http://schemas.microsoft.com/office/drawing/2014/main" id="{4D944F2B-D5B4-45CE-B1F0-E7AD5F1DDDD4}"/>
              </a:ext>
            </a:extLst>
          </p:cNvPr>
          <p:cNvSpPr>
            <a:spLocks xmlns:a="http://schemas.openxmlformats.org/drawingml/2006/main" noGrp="1"/>
          </p:cNvSpPr>
          <p:nvPr/>
        </p:nvSpPr>
        <p:spPr>
          <a:xfrm xmlns:a="http://schemas.openxmlformats.org/drawingml/2006/main">
            <a:off x="1143000" y="48196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FD5BBF8-8FDE-4987-8013-183E47C6C510}"/>
              </a:ext>
            </a:extLst>
          </p:cNvPr>
          <p:cNvSpPr>
            <a:spLocks xmlns:a="http://schemas.openxmlformats.org/drawingml/2006/main" noGrp="1"/>
          </p:cNvSpPr>
          <p:nvPr/>
        </p:nvSpPr>
        <p:spPr>
          <a:xfrm xmlns:a="http://schemas.openxmlformats.org/drawingml/2006/main">
            <a:off x="609600" y="5000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7156675C-0B84-49E5-941F-362D2C332701}"/>
              </a:ext>
            </a:extLst>
          </p:cNvPr>
          <p:cNvSpPr>
            <a:spLocks xmlns:a="http://schemas.openxmlformats.org/drawingml/2006/main" noGrp="1"/>
          </p:cNvSpPr>
          <p:nvPr/>
        </p:nvSpPr>
        <p:spPr>
          <a:xfrm xmlns:a="http://schemas.openxmlformats.org/drawingml/2006/main">
            <a:off x="1143000" y="50006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3497"/>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Readiness is not permanent permission</a:t>
            </a:r>
          </a:p>
        </p:txBody>
      </p:sp>
      <p:sp>
        <p:nvSpPr>
          <p:cNvPr id="23" name="">
            <a:extLst xmlns:a="http://schemas.openxmlformats.org/drawingml/2006/main">
              <a:ext uri="{FF2B5EF4-FFF2-40B4-BE49-F238E27FC236}">
                <a16:creationId xmlns:a16="http://schemas.microsoft.com/office/drawing/2014/main" id="{C3E52791-6B4F-43F6-9BFD-21C27805112D}"/>
              </a:ext>
            </a:extLst>
          </p:cNvPr>
          <p:cNvSpPr>
            <a:spLocks xmlns:a="http://schemas.openxmlformats.org/drawingml/2006/main" noGrp="1"/>
          </p:cNvSpPr>
          <p:nvPr/>
        </p:nvSpPr>
        <p:spPr>
          <a:xfrm xmlns:a="http://schemas.openxmlformats.org/drawingml/2006/main">
            <a:off x="3857625" y="50006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 certificate records completion of the agreed training. It does not create a license, approve every future tool or replace updated policy, supervision or professional judgment.</a:t>
            </a:r>
          </a:p>
        </p:txBody>
      </p:sp>
    </p:spTree>
    <p:extLst>
      <p:ext uri="{BB962C8B-B14F-4D97-AF65-F5344CB8AC3E}">
        <p14:creationId xmlns:p14="http://schemas.microsoft.com/office/powerpoint/2010/main" val="1277115032"/>
      </p:ext>
    </p:extLst>
  </p:cSld>
</p:sld>
</file>

<file path=ppt/slides/slide58.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FA955139-34C9-4687-8A43-90940BB43F4E}"/>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9 / MODULE 10</a:t>
            </a:r>
          </a:p>
        </p:txBody>
      </p:sp>
      <p:sp>
        <p:nvSpPr>
          <p:cNvPr id="2" name="">
            <a:extLst xmlns:a="http://schemas.openxmlformats.org/drawingml/2006/main">
              <a:ext uri="{FF2B5EF4-FFF2-40B4-BE49-F238E27FC236}">
                <a16:creationId xmlns:a16="http://schemas.microsoft.com/office/drawing/2014/main" id="{ACB66CA7-C3D4-494B-BEA5-98E1A521C575}"/>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S12  |  Instructor walkthrough</a:t>
            </a:r>
          </a:p>
        </p:txBody>
      </p:sp>
      <p:sp>
        <p:nvSpPr>
          <p:cNvPr id="3" name="">
            <a:extLst xmlns:a="http://schemas.openxmlformats.org/drawingml/2006/main">
              <a:ext uri="{FF2B5EF4-FFF2-40B4-BE49-F238E27FC236}">
                <a16:creationId xmlns:a16="http://schemas.microsoft.com/office/drawing/2014/main" id="{A0C8B25F-CF6E-49D0-8A30-448BD5C32F6C}"/>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901BDAD-3360-4DD2-839E-C0FAD51A3FAF}"/>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0E36765-6F12-4219-8B38-76650482F7E3}"/>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EC897EF8-AC24-4786-8D50-70184417B396}"/>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58</a:t>
            </a:r>
          </a:p>
        </p:txBody>
      </p:sp>
      <p:sp>
        <p:nvSpPr>
          <p:cNvPr id="7" name="">
            <a:extLst xmlns:a="http://schemas.openxmlformats.org/drawingml/2006/main">
              <a:ext uri="{FF2B5EF4-FFF2-40B4-BE49-F238E27FC236}">
                <a16:creationId xmlns:a16="http://schemas.microsoft.com/office/drawing/2014/main" id="{FFA8D680-9297-4AD1-B60A-50A87420651A}"/>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10 and Final Program Review; proposal p. 9. Assessment conditions must be confirmed with DWIHN and Netlink.</a:t>
            </a:r>
          </a:p>
        </p:txBody>
      </p:sp>
      <p:sp>
        <p:nvSpPr>
          <p:cNvPr id="8" name="">
            <a:extLst xmlns:a="http://schemas.openxmlformats.org/drawingml/2006/main">
              <a:ext uri="{FF2B5EF4-FFF2-40B4-BE49-F238E27FC236}">
                <a16:creationId xmlns:a16="http://schemas.microsoft.com/office/drawing/2014/main" id="{A993CDD1-06E2-4794-ABCD-8F158BD9F2C7}"/>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Assessment &amp; Certification</a:t>
            </a:r>
          </a:p>
        </p:txBody>
      </p:sp>
      <p:sp>
        <p:nvSpPr>
          <p:cNvPr id="9" name="">
            <a:extLst xmlns:a="http://schemas.openxmlformats.org/drawingml/2006/main">
              <a:ext uri="{FF2B5EF4-FFF2-40B4-BE49-F238E27FC236}">
                <a16:creationId xmlns:a16="http://schemas.microsoft.com/office/drawing/2014/main" id="{CF2AE2C2-41D3-455C-840D-44601DF6FAB4}"/>
              </a:ext>
            </a:extLst>
          </p:cNvPr>
          <p:cNvSpPr>
            <a:spLocks xmlns:a="http://schemas.openxmlformats.org/drawingml/2006/main" noGrp="1"/>
          </p:cNvSpPr>
          <p:nvPr/>
        </p:nvSpPr>
        <p:spPr>
          <a:xfrm xmlns:a="http://schemas.openxmlformats.org/drawingml/2006/main">
            <a:off x="60960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0" name="">
            <a:extLst xmlns:a="http://schemas.openxmlformats.org/drawingml/2006/main">
              <a:ext uri="{FF2B5EF4-FFF2-40B4-BE49-F238E27FC236}">
                <a16:creationId xmlns:a16="http://schemas.microsoft.com/office/drawing/2014/main" id="{366D7054-633B-4FE6-980B-2370C41867B2}"/>
              </a:ext>
            </a:extLst>
          </p:cNvPr>
          <p:cNvSpPr>
            <a:spLocks xmlns:a="http://schemas.openxmlformats.org/drawingml/2006/main" noGrp="1"/>
          </p:cNvSpPr>
          <p:nvPr/>
        </p:nvSpPr>
        <p:spPr>
          <a:xfrm xmlns:a="http://schemas.openxmlformats.org/drawingml/2006/main">
            <a:off x="74295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5498ACB9-F37F-4690-9ED5-D266A65C0F05}"/>
              </a:ext>
            </a:extLst>
          </p:cNvPr>
          <p:cNvSpPr>
            <a:spLocks xmlns:a="http://schemas.openxmlformats.org/drawingml/2006/main" noGrp="1"/>
          </p:cNvSpPr>
          <p:nvPr/>
        </p:nvSpPr>
        <p:spPr>
          <a:xfrm xmlns:a="http://schemas.openxmlformats.org/drawingml/2006/main">
            <a:off x="74295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Read the case</a:t>
            </a:r>
          </a:p>
        </p:txBody>
      </p:sp>
      <p:sp>
        <p:nvSpPr>
          <p:cNvPr id="12" name="">
            <a:extLst xmlns:a="http://schemas.openxmlformats.org/drawingml/2006/main">
              <a:ext uri="{FF2B5EF4-FFF2-40B4-BE49-F238E27FC236}">
                <a16:creationId xmlns:a16="http://schemas.microsoft.com/office/drawing/2014/main" id="{CE0DA427-E15D-42A8-B026-B4C25F6FD494}"/>
              </a:ext>
            </a:extLst>
          </p:cNvPr>
          <p:cNvSpPr>
            <a:spLocks xmlns:a="http://schemas.openxmlformats.org/drawingml/2006/main" noGrp="1"/>
          </p:cNvSpPr>
          <p:nvPr/>
        </p:nvSpPr>
        <p:spPr>
          <a:xfrm xmlns:a="http://schemas.openxmlformats.org/drawingml/2006/main">
            <a:off x="74295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0647"/>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A fictional staff update uses an approved source but includes one restricted detail and an unclear statistic.</a:t>
            </a:r>
          </a:p>
        </p:txBody>
      </p:sp>
      <p:sp>
        <p:nvSpPr>
          <p:cNvPr id="13" name="">
            <a:extLst xmlns:a="http://schemas.openxmlformats.org/drawingml/2006/main">
              <a:ext uri="{FF2B5EF4-FFF2-40B4-BE49-F238E27FC236}">
                <a16:creationId xmlns:a16="http://schemas.microsoft.com/office/drawing/2014/main" id="{77338D46-1A81-42BC-ABDC-996276F2BC85}"/>
              </a:ext>
            </a:extLst>
          </p:cNvPr>
          <p:cNvSpPr>
            <a:spLocks xmlns:a="http://schemas.openxmlformats.org/drawingml/2006/main" noGrp="1"/>
          </p:cNvSpPr>
          <p:nvPr/>
        </p:nvSpPr>
        <p:spPr>
          <a:xfrm xmlns:a="http://schemas.openxmlformats.org/drawingml/2006/main">
            <a:off x="303847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4A142DA-F075-4A4A-812E-09D514BC64F0}"/>
              </a:ext>
            </a:extLst>
          </p:cNvPr>
          <p:cNvSpPr>
            <a:spLocks xmlns:a="http://schemas.openxmlformats.org/drawingml/2006/main" noGrp="1"/>
          </p:cNvSpPr>
          <p:nvPr/>
        </p:nvSpPr>
        <p:spPr>
          <a:xfrm xmlns:a="http://schemas.openxmlformats.org/drawingml/2006/main">
            <a:off x="338137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5" name="">
            <a:extLst xmlns:a="http://schemas.openxmlformats.org/drawingml/2006/main">
              <a:ext uri="{FF2B5EF4-FFF2-40B4-BE49-F238E27FC236}">
                <a16:creationId xmlns:a16="http://schemas.microsoft.com/office/drawing/2014/main" id="{2B668611-8DAC-4DD0-937B-138FA2E4664F}"/>
              </a:ext>
            </a:extLst>
          </p:cNvPr>
          <p:cNvSpPr>
            <a:spLocks xmlns:a="http://schemas.openxmlformats.org/drawingml/2006/main" noGrp="1"/>
          </p:cNvSpPr>
          <p:nvPr/>
        </p:nvSpPr>
        <p:spPr>
          <a:xfrm xmlns:a="http://schemas.openxmlformats.org/drawingml/2006/main">
            <a:off x="351472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2140CE90-8741-4AC3-BAB4-06312ABF7D43}"/>
              </a:ext>
            </a:extLst>
          </p:cNvPr>
          <p:cNvSpPr>
            <a:spLocks xmlns:a="http://schemas.openxmlformats.org/drawingml/2006/main" noGrp="1"/>
          </p:cNvSpPr>
          <p:nvPr/>
        </p:nvSpPr>
        <p:spPr>
          <a:xfrm xmlns:a="http://schemas.openxmlformats.org/drawingml/2006/main">
            <a:off x="351472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Make the safe-use decision</a:t>
            </a:r>
          </a:p>
        </p:txBody>
      </p:sp>
      <p:sp>
        <p:nvSpPr>
          <p:cNvPr id="17" name="">
            <a:extLst xmlns:a="http://schemas.openxmlformats.org/drawingml/2006/main">
              <a:ext uri="{FF2B5EF4-FFF2-40B4-BE49-F238E27FC236}">
                <a16:creationId xmlns:a16="http://schemas.microsoft.com/office/drawing/2014/main" id="{C2ED7B71-7224-4DA3-9A0F-168A846AE78B}"/>
              </a:ext>
            </a:extLst>
          </p:cNvPr>
          <p:cNvSpPr>
            <a:spLocks xmlns:a="http://schemas.openxmlformats.org/drawingml/2006/main" noGrp="1"/>
          </p:cNvSpPr>
          <p:nvPr/>
        </p:nvSpPr>
        <p:spPr>
          <a:xfrm xmlns:a="http://schemas.openxmlformats.org/drawingml/2006/main">
            <a:off x="351472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Classify the information and select the permitted tool path.</a:t>
            </a:r>
          </a:p>
        </p:txBody>
      </p:sp>
      <p:sp>
        <p:nvSpPr>
          <p:cNvPr id="18" name="">
            <a:extLst xmlns:a="http://schemas.openxmlformats.org/drawingml/2006/main">
              <a:ext uri="{FF2B5EF4-FFF2-40B4-BE49-F238E27FC236}">
                <a16:creationId xmlns:a16="http://schemas.microsoft.com/office/drawing/2014/main" id="{EB796256-10BF-4D77-A515-6847037C036C}"/>
              </a:ext>
            </a:extLst>
          </p:cNvPr>
          <p:cNvSpPr>
            <a:spLocks xmlns:a="http://schemas.openxmlformats.org/drawingml/2006/main" noGrp="1"/>
          </p:cNvSpPr>
          <p:nvPr/>
        </p:nvSpPr>
        <p:spPr>
          <a:xfrm xmlns:a="http://schemas.openxmlformats.org/drawingml/2006/main">
            <a:off x="5810250"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20F71BF-8A67-42F9-8606-09E8BE603F58}"/>
              </a:ext>
            </a:extLst>
          </p:cNvPr>
          <p:cNvSpPr>
            <a:spLocks xmlns:a="http://schemas.openxmlformats.org/drawingml/2006/main" noGrp="1"/>
          </p:cNvSpPr>
          <p:nvPr/>
        </p:nvSpPr>
        <p:spPr>
          <a:xfrm xmlns:a="http://schemas.openxmlformats.org/drawingml/2006/main">
            <a:off x="615315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0" name="">
            <a:extLst xmlns:a="http://schemas.openxmlformats.org/drawingml/2006/main">
              <a:ext uri="{FF2B5EF4-FFF2-40B4-BE49-F238E27FC236}">
                <a16:creationId xmlns:a16="http://schemas.microsoft.com/office/drawing/2014/main" id="{20229505-89A2-4BB4-894F-3F116B669695}"/>
              </a:ext>
            </a:extLst>
          </p:cNvPr>
          <p:cNvSpPr>
            <a:spLocks xmlns:a="http://schemas.openxmlformats.org/drawingml/2006/main" noGrp="1"/>
          </p:cNvSpPr>
          <p:nvPr/>
        </p:nvSpPr>
        <p:spPr>
          <a:xfrm xmlns:a="http://schemas.openxmlformats.org/drawingml/2006/main">
            <a:off x="628650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21" name="">
            <a:extLst xmlns:a="http://schemas.openxmlformats.org/drawingml/2006/main">
              <a:ext uri="{FF2B5EF4-FFF2-40B4-BE49-F238E27FC236}">
                <a16:creationId xmlns:a16="http://schemas.microsoft.com/office/drawing/2014/main" id="{1D03C512-D100-4CF1-8EB1-42C8B8E2D677}"/>
              </a:ext>
            </a:extLst>
          </p:cNvPr>
          <p:cNvSpPr>
            <a:spLocks xmlns:a="http://schemas.openxmlformats.org/drawingml/2006/main" noGrp="1"/>
          </p:cNvSpPr>
          <p:nvPr/>
        </p:nvSpPr>
        <p:spPr>
          <a:xfrm xmlns:a="http://schemas.openxmlformats.org/drawingml/2006/main">
            <a:off x="628650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491"/>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Improve and review the prompt</a:t>
            </a:r>
          </a:p>
        </p:txBody>
      </p:sp>
      <p:sp>
        <p:nvSpPr>
          <p:cNvPr id="22" name="">
            <a:extLst xmlns:a="http://schemas.openxmlformats.org/drawingml/2006/main">
              <a:ext uri="{FF2B5EF4-FFF2-40B4-BE49-F238E27FC236}">
                <a16:creationId xmlns:a16="http://schemas.microsoft.com/office/drawing/2014/main" id="{C636EB29-D72E-4664-87A0-857603E493EF}"/>
              </a:ext>
            </a:extLst>
          </p:cNvPr>
          <p:cNvSpPr>
            <a:spLocks xmlns:a="http://schemas.openxmlformats.org/drawingml/2006/main" noGrp="1"/>
          </p:cNvSpPr>
          <p:nvPr/>
        </p:nvSpPr>
        <p:spPr>
          <a:xfrm xmlns:a="http://schemas.openxmlformats.org/drawingml/2006/main">
            <a:off x="628650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Give clear role, task, context, format and constraints, then compare output with source facts.</a:t>
            </a:r>
          </a:p>
        </p:txBody>
      </p:sp>
      <p:sp>
        <p:nvSpPr>
          <p:cNvPr id="23" name="">
            <a:extLst xmlns:a="http://schemas.openxmlformats.org/drawingml/2006/main">
              <a:ext uri="{FF2B5EF4-FFF2-40B4-BE49-F238E27FC236}">
                <a16:creationId xmlns:a16="http://schemas.microsoft.com/office/drawing/2014/main" id="{70367214-090C-4FA6-8DCC-22BDC6B2B6C8}"/>
              </a:ext>
            </a:extLst>
          </p:cNvPr>
          <p:cNvSpPr>
            <a:spLocks xmlns:a="http://schemas.openxmlformats.org/drawingml/2006/main" noGrp="1"/>
          </p:cNvSpPr>
          <p:nvPr/>
        </p:nvSpPr>
        <p:spPr>
          <a:xfrm xmlns:a="http://schemas.openxmlformats.org/drawingml/2006/main">
            <a:off x="858202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2680DCFC-F0A7-4928-8C08-F5BC0013A751}"/>
              </a:ext>
            </a:extLst>
          </p:cNvPr>
          <p:cNvSpPr>
            <a:spLocks xmlns:a="http://schemas.openxmlformats.org/drawingml/2006/main" noGrp="1"/>
          </p:cNvSpPr>
          <p:nvPr/>
        </p:nvSpPr>
        <p:spPr>
          <a:xfrm xmlns:a="http://schemas.openxmlformats.org/drawingml/2006/main">
            <a:off x="892492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5" name="">
            <a:extLst xmlns:a="http://schemas.openxmlformats.org/drawingml/2006/main">
              <a:ext uri="{FF2B5EF4-FFF2-40B4-BE49-F238E27FC236}">
                <a16:creationId xmlns:a16="http://schemas.microsoft.com/office/drawing/2014/main" id="{6E5B8214-5BCF-4186-AE3B-1FF5684C8DB0}"/>
              </a:ext>
            </a:extLst>
          </p:cNvPr>
          <p:cNvSpPr>
            <a:spLocks xmlns:a="http://schemas.openxmlformats.org/drawingml/2006/main" noGrp="1"/>
          </p:cNvSpPr>
          <p:nvPr/>
        </p:nvSpPr>
        <p:spPr>
          <a:xfrm xmlns:a="http://schemas.openxmlformats.org/drawingml/2006/main">
            <a:off x="905827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04</a:t>
            </a:r>
          </a:p>
        </p:txBody>
      </p:sp>
      <p:sp>
        <p:nvSpPr>
          <p:cNvPr id="26" name="">
            <a:extLst xmlns:a="http://schemas.openxmlformats.org/drawingml/2006/main">
              <a:ext uri="{FF2B5EF4-FFF2-40B4-BE49-F238E27FC236}">
                <a16:creationId xmlns:a16="http://schemas.microsoft.com/office/drawing/2014/main" id="{FA092312-D2FE-4C96-835B-76A44E6FF2CA}"/>
              </a:ext>
            </a:extLst>
          </p:cNvPr>
          <p:cNvSpPr>
            <a:spLocks xmlns:a="http://schemas.openxmlformats.org/drawingml/2006/main" noGrp="1"/>
          </p:cNvSpPr>
          <p:nvPr/>
        </p:nvSpPr>
        <p:spPr>
          <a:xfrm xmlns:a="http://schemas.openxmlformats.org/drawingml/2006/main">
            <a:off x="905827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Close with a human decision</a:t>
            </a:r>
          </a:p>
        </p:txBody>
      </p:sp>
      <p:sp>
        <p:nvSpPr>
          <p:cNvPr id="27" name="">
            <a:extLst xmlns:a="http://schemas.openxmlformats.org/drawingml/2006/main">
              <a:ext uri="{FF2B5EF4-FFF2-40B4-BE49-F238E27FC236}">
                <a16:creationId xmlns:a16="http://schemas.microsoft.com/office/drawing/2014/main" id="{A2283DCD-A33C-405E-A673-4ABDE7D78BDC}"/>
              </a:ext>
            </a:extLst>
          </p:cNvPr>
          <p:cNvSpPr>
            <a:spLocks xmlns:a="http://schemas.openxmlformats.org/drawingml/2006/main" noGrp="1"/>
          </p:cNvSpPr>
          <p:nvPr/>
        </p:nvSpPr>
        <p:spPr>
          <a:xfrm xmlns:a="http://schemas.openxmlformats.org/drawingml/2006/main">
            <a:off x="905827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State what is ready to use, what needs approval and how a concern should be routed.</a:t>
            </a:r>
          </a:p>
        </p:txBody>
      </p:sp>
      <p:sp>
        <p:nvSpPr>
          <p:cNvPr id="28" name="">
            <a:extLst xmlns:a="http://schemas.openxmlformats.org/drawingml/2006/main">
              <a:ext uri="{FF2B5EF4-FFF2-40B4-BE49-F238E27FC236}">
                <a16:creationId xmlns:a16="http://schemas.microsoft.com/office/drawing/2014/main" id="{14C6BA98-B06C-4FFF-BF1D-E3A9803A262B}"/>
              </a:ext>
            </a:extLst>
          </p:cNvPr>
          <p:cNvSpPr>
            <a:spLocks xmlns:a="http://schemas.openxmlformats.org/drawingml/2006/main" noGrp="1"/>
          </p:cNvSpPr>
          <p:nvPr/>
        </p:nvSpPr>
        <p:spPr>
          <a:xfrm xmlns:a="http://schemas.openxmlformats.org/drawingml/2006/main">
            <a:off x="609600" y="364807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WORKED EXAMPLE</a:t>
            </a:r>
          </a:p>
        </p:txBody>
      </p:sp>
      <p:sp>
        <p:nvSpPr>
          <p:cNvPr id="29" name="">
            <a:extLst xmlns:a="http://schemas.openxmlformats.org/drawingml/2006/main">
              <a:ext uri="{FF2B5EF4-FFF2-40B4-BE49-F238E27FC236}">
                <a16:creationId xmlns:a16="http://schemas.microsoft.com/office/drawing/2014/main" id="{0FA8B247-AA72-478A-B5E1-01FF9530C315}"/>
              </a:ext>
            </a:extLst>
          </p:cNvPr>
          <p:cNvSpPr>
            <a:spLocks xmlns:a="http://schemas.openxmlformats.org/drawingml/2006/main" noGrp="1"/>
          </p:cNvSpPr>
          <p:nvPr/>
        </p:nvSpPr>
        <p:spPr>
          <a:xfrm xmlns:a="http://schemas.openxmlformats.org/drawingml/2006/main">
            <a:off x="609600" y="3943350"/>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00" b="0">
                <a:solidFill>
                  <a:srgbClr val="142F42"/>
                </a:solidFill>
                <a:latin typeface="Arial"/>
                <a:ea typeface="Arial"/>
                <a:cs typeface="Arial"/>
              </a:defRPr>
            </a:pPr>
            <a:r>
              <a:rPr sz="1500" b="0">
                <a:solidFill>
                  <a:srgbClr val="142F42"/>
                </a:solidFill>
                <a:latin typeface="Arial"/>
                <a:ea typeface="Arial"/>
                <a:cs typeface="Arial"/>
              </a:rPr>
              <a:t>Capstone example: a manager wants an internal update based on an approved aggregate dashboard and meeting notes. The learner verifies the data period, avoids including row-level details, asks AI for a source-bounded draft, corrects an unsupported conclusion and routes an unresolved policy question to governance.</a:t>
            </a:r>
          </a:p>
        </p:txBody>
      </p:sp>
    </p:spTree>
    <p:extLst>
      <p:ext uri="{BB962C8B-B14F-4D97-AF65-F5344CB8AC3E}">
        <p14:creationId xmlns:p14="http://schemas.microsoft.com/office/powerpoint/2010/main" val="589956796"/>
      </p:ext>
    </p:extLst>
  </p:cSld>
</p:sld>
</file>

<file path=ppt/slides/slide59.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C1D496BC-208F-4F34-84F6-B5DF74B54755}"/>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9 / MODULE 10</a:t>
            </a:r>
          </a:p>
        </p:txBody>
      </p:sp>
      <p:sp>
        <p:nvSpPr>
          <p:cNvPr id="2" name="">
            <a:extLst xmlns:a="http://schemas.openxmlformats.org/drawingml/2006/main">
              <a:ext uri="{FF2B5EF4-FFF2-40B4-BE49-F238E27FC236}">
                <a16:creationId xmlns:a16="http://schemas.microsoft.com/office/drawing/2014/main" id="{3A0B74B8-F480-4C49-9331-B83F78A47B1D}"/>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S12  |  Practical scenario &amp; exercise</a:t>
            </a:r>
          </a:p>
        </p:txBody>
      </p:sp>
      <p:sp>
        <p:nvSpPr>
          <p:cNvPr id="3" name="">
            <a:extLst xmlns:a="http://schemas.openxmlformats.org/drawingml/2006/main">
              <a:ext uri="{FF2B5EF4-FFF2-40B4-BE49-F238E27FC236}">
                <a16:creationId xmlns:a16="http://schemas.microsoft.com/office/drawing/2014/main" id="{A9691B64-3BC6-441E-B8B3-3D95C11FB77A}"/>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88B9644-3C2F-4475-9B81-5C692CB305D3}"/>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34E1E6D-6093-4B9F-8A03-A97F8586E60F}"/>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58CBEE5A-5886-4634-81C0-54E8C39F4E40}"/>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59</a:t>
            </a:r>
          </a:p>
        </p:txBody>
      </p:sp>
      <p:sp>
        <p:nvSpPr>
          <p:cNvPr id="7" name="">
            <a:extLst xmlns:a="http://schemas.openxmlformats.org/drawingml/2006/main">
              <a:ext uri="{FF2B5EF4-FFF2-40B4-BE49-F238E27FC236}">
                <a16:creationId xmlns:a16="http://schemas.microsoft.com/office/drawing/2014/main" id="{EB54DD15-50CF-4CCE-8A49-95E3C9AF3487}"/>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10 and Final Program Review; proposal p. 9. Assessment conditions must be confirmed with DWIHN and Netlink.</a:t>
            </a:r>
          </a:p>
        </p:txBody>
      </p:sp>
      <p:sp>
        <p:nvSpPr>
          <p:cNvPr id="8" name="">
            <a:extLst xmlns:a="http://schemas.openxmlformats.org/drawingml/2006/main">
              <a:ext uri="{FF2B5EF4-FFF2-40B4-BE49-F238E27FC236}">
                <a16:creationId xmlns:a16="http://schemas.microsoft.com/office/drawing/2014/main" id="{2D808465-6C1C-41AA-945C-77B07C3D8951}"/>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Assessment &amp; Certification</a:t>
            </a:r>
          </a:p>
        </p:txBody>
      </p:sp>
      <p:sp>
        <p:nvSpPr>
          <p:cNvPr id="9" name="">
            <a:extLst xmlns:a="http://schemas.openxmlformats.org/drawingml/2006/main">
              <a:ext uri="{FF2B5EF4-FFF2-40B4-BE49-F238E27FC236}">
                <a16:creationId xmlns:a16="http://schemas.microsoft.com/office/drawing/2014/main" id="{5FB8EDD3-F96C-48EF-B5E3-EFF60C453F93}"/>
              </a:ext>
            </a:extLst>
          </p:cNvPr>
          <p:cNvSpPr>
            <a:spLocks xmlns:a="http://schemas.openxmlformats.org/drawingml/2006/main" noGrp="1"/>
          </p:cNvSpPr>
          <p:nvPr/>
        </p:nvSpPr>
        <p:spPr>
          <a:xfrm xmlns:a="http://schemas.openxmlformats.org/drawingml/2006/main">
            <a:off x="609600" y="1981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SCENARIO</a:t>
            </a:r>
          </a:p>
        </p:txBody>
      </p:sp>
      <p:sp>
        <p:nvSpPr>
          <p:cNvPr id="10" name="">
            <a:extLst xmlns:a="http://schemas.openxmlformats.org/drawingml/2006/main">
              <a:ext uri="{FF2B5EF4-FFF2-40B4-BE49-F238E27FC236}">
                <a16:creationId xmlns:a16="http://schemas.microsoft.com/office/drawing/2014/main" id="{4BDDE869-6994-4E7D-A929-8967FFB59A16}"/>
              </a:ext>
            </a:extLst>
          </p:cNvPr>
          <p:cNvSpPr>
            <a:spLocks xmlns:a="http://schemas.openxmlformats.org/drawingml/2006/main" noGrp="1"/>
          </p:cNvSpPr>
          <p:nvPr/>
        </p:nvSpPr>
        <p:spPr>
          <a:xfrm xmlns:a="http://schemas.openxmlformats.org/drawingml/2006/main">
            <a:off x="609600" y="2266950"/>
            <a:ext cx="109728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D4DFE3"/>
            </a:solidFill>
          </a:ln>
        </p:spPr>
      </p:sp>
      <p:sp>
        <p:nvSpPr>
          <p:cNvPr id="11" name="">
            <a:extLst xmlns:a="http://schemas.openxmlformats.org/drawingml/2006/main">
              <a:ext uri="{FF2B5EF4-FFF2-40B4-BE49-F238E27FC236}">
                <a16:creationId xmlns:a16="http://schemas.microsoft.com/office/drawing/2014/main" id="{5E77E6F8-AF59-450B-A048-61CE6752153B}"/>
              </a:ext>
            </a:extLst>
          </p:cNvPr>
          <p:cNvSpPr>
            <a:spLocks xmlns:a="http://schemas.openxmlformats.org/drawingml/2006/main" noGrp="1"/>
          </p:cNvSpPr>
          <p:nvPr/>
        </p:nvSpPr>
        <p:spPr>
          <a:xfrm xmlns:a="http://schemas.openxmlformats.org/drawingml/2006/main">
            <a:off x="819150" y="2447925"/>
            <a:ext cx="10525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142F42"/>
                </a:solidFill>
                <a:latin typeface="Arial"/>
                <a:ea typeface="Arial"/>
                <a:cs typeface="Arial"/>
              </a:defRPr>
            </a:pPr>
            <a:r>
              <a:rPr sz="1425" b="0">
                <a:solidFill>
                  <a:srgbClr val="142F42"/>
                </a:solidFill>
                <a:latin typeface="Arial"/>
                <a:ea typeface="Arial"/>
                <a:cs typeface="Arial"/>
              </a:rPr>
              <a:t>A final case combines a dashboard trend, an AI-generated draft and a question about sharing the result with a wider audience. Learners must explain the safe path and the checks that support it.</a:t>
            </a:r>
          </a:p>
        </p:txBody>
      </p:sp>
      <p:sp>
        <p:nvSpPr>
          <p:cNvPr id="12" name="">
            <a:extLst xmlns:a="http://schemas.openxmlformats.org/drawingml/2006/main">
              <a:ext uri="{FF2B5EF4-FFF2-40B4-BE49-F238E27FC236}">
                <a16:creationId xmlns:a16="http://schemas.microsoft.com/office/drawing/2014/main" id="{A54D8FE6-3E50-4501-A7C7-C6B62E4F0476}"/>
              </a:ext>
            </a:extLst>
          </p:cNvPr>
          <p:cNvSpPr>
            <a:spLocks xmlns:a="http://schemas.openxmlformats.org/drawingml/2006/main" noGrp="1"/>
          </p:cNvSpPr>
          <p:nvPr/>
        </p:nvSpPr>
        <p:spPr>
          <a:xfrm xmlns:a="http://schemas.openxmlformats.org/drawingml/2006/main">
            <a:off x="609600" y="34861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 THE CASE</a:t>
            </a:r>
          </a:p>
        </p:txBody>
      </p:sp>
      <p:sp>
        <p:nvSpPr>
          <p:cNvPr id="13" name="">
            <a:extLst xmlns:a="http://schemas.openxmlformats.org/drawingml/2006/main">
              <a:ext uri="{FF2B5EF4-FFF2-40B4-BE49-F238E27FC236}">
                <a16:creationId xmlns:a16="http://schemas.microsoft.com/office/drawing/2014/main" id="{1B21C31A-AB7A-4ABA-A5CE-A409AB60FC49}"/>
              </a:ext>
            </a:extLst>
          </p:cNvPr>
          <p:cNvSpPr>
            <a:spLocks xmlns:a="http://schemas.openxmlformats.org/drawingml/2006/main" noGrp="1"/>
          </p:cNvSpPr>
          <p:nvPr/>
        </p:nvSpPr>
        <p:spPr>
          <a:xfrm xmlns:a="http://schemas.openxmlformats.org/drawingml/2006/main">
            <a:off x="609600" y="38195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4" name="">
            <a:extLst xmlns:a="http://schemas.openxmlformats.org/drawingml/2006/main">
              <a:ext uri="{FF2B5EF4-FFF2-40B4-BE49-F238E27FC236}">
                <a16:creationId xmlns:a16="http://schemas.microsoft.com/office/drawing/2014/main" id="{B5DFB080-964F-4DA6-AAD9-F97E50F17CDF}"/>
              </a:ext>
            </a:extLst>
          </p:cNvPr>
          <p:cNvSpPr>
            <a:spLocks xmlns:a="http://schemas.openxmlformats.org/drawingml/2006/main" noGrp="1"/>
          </p:cNvSpPr>
          <p:nvPr/>
        </p:nvSpPr>
        <p:spPr>
          <a:xfrm xmlns:a="http://schemas.openxmlformats.org/drawingml/2006/main">
            <a:off x="1066800" y="38195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Complete the scenario independently, then compare reasoning with a partner.</a:t>
            </a:r>
          </a:p>
        </p:txBody>
      </p:sp>
      <p:sp>
        <p:nvSpPr>
          <p:cNvPr id="15" name="">
            <a:extLst xmlns:a="http://schemas.openxmlformats.org/drawingml/2006/main">
              <a:ext uri="{FF2B5EF4-FFF2-40B4-BE49-F238E27FC236}">
                <a16:creationId xmlns:a16="http://schemas.microsoft.com/office/drawing/2014/main" id="{FC2091BF-C6EA-4208-861F-8BC364CFDCB8}"/>
              </a:ext>
            </a:extLst>
          </p:cNvPr>
          <p:cNvSpPr>
            <a:spLocks xmlns:a="http://schemas.openxmlformats.org/drawingml/2006/main" noGrp="1"/>
          </p:cNvSpPr>
          <p:nvPr/>
        </p:nvSpPr>
        <p:spPr>
          <a:xfrm xmlns:a="http://schemas.openxmlformats.org/drawingml/2006/main">
            <a:off x="609600" y="43338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F677F7D1-F432-46C2-BE56-1A39F8207800}"/>
              </a:ext>
            </a:extLst>
          </p:cNvPr>
          <p:cNvSpPr>
            <a:spLocks xmlns:a="http://schemas.openxmlformats.org/drawingml/2006/main" noGrp="1"/>
          </p:cNvSpPr>
          <p:nvPr/>
        </p:nvSpPr>
        <p:spPr>
          <a:xfrm xmlns:a="http://schemas.openxmlformats.org/drawingml/2006/main">
            <a:off x="1066800" y="433387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Answer the online knowledge assessment under the agreed program rules.</a:t>
            </a:r>
          </a:p>
        </p:txBody>
      </p:sp>
      <p:sp>
        <p:nvSpPr>
          <p:cNvPr id="17" name="">
            <a:extLst xmlns:a="http://schemas.openxmlformats.org/drawingml/2006/main">
              <a:ext uri="{FF2B5EF4-FFF2-40B4-BE49-F238E27FC236}">
                <a16:creationId xmlns:a16="http://schemas.microsoft.com/office/drawing/2014/main" id="{FF46B773-FA11-4602-9EF9-A345EEE7AE52}"/>
              </a:ext>
            </a:extLst>
          </p:cNvPr>
          <p:cNvSpPr>
            <a:spLocks xmlns:a="http://schemas.openxmlformats.org/drawingml/2006/main" noGrp="1"/>
          </p:cNvSpPr>
          <p:nvPr/>
        </p:nvSpPr>
        <p:spPr>
          <a:xfrm xmlns:a="http://schemas.openxmlformats.org/drawingml/2006/main">
            <a:off x="609600" y="4848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3DCF00C0-8D39-4F62-90D4-5E37589E5BE4}"/>
              </a:ext>
            </a:extLst>
          </p:cNvPr>
          <p:cNvSpPr>
            <a:spLocks xmlns:a="http://schemas.openxmlformats.org/drawingml/2006/main" noGrp="1"/>
          </p:cNvSpPr>
          <p:nvPr/>
        </p:nvSpPr>
        <p:spPr>
          <a:xfrm xmlns:a="http://schemas.openxmlformats.org/drawingml/2006/main">
            <a:off x="1066800" y="48482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Write one work action, one safety habit and one question for follow-up.</a:t>
            </a:r>
          </a:p>
        </p:txBody>
      </p:sp>
      <p:sp>
        <p:nvSpPr>
          <p:cNvPr id="19" name="">
            <a:extLst xmlns:a="http://schemas.openxmlformats.org/drawingml/2006/main">
              <a:ext uri="{FF2B5EF4-FFF2-40B4-BE49-F238E27FC236}">
                <a16:creationId xmlns:a16="http://schemas.microsoft.com/office/drawing/2014/main" id="{B7BB7F5E-D008-4244-89BB-042B5E69D61E}"/>
              </a:ext>
            </a:extLst>
          </p:cNvPr>
          <p:cNvSpPr>
            <a:spLocks xmlns:a="http://schemas.openxmlformats.org/drawingml/2006/main" noGrp="1"/>
          </p:cNvSpPr>
          <p:nvPr/>
        </p:nvSpPr>
        <p:spPr>
          <a:xfrm xmlns:a="http://schemas.openxmlformats.org/drawingml/2006/main">
            <a:off x="7886700" y="3486150"/>
            <a:ext cx="19050" cy="219075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549C163-2DA4-4DD4-A6A2-4EFD1A0876A3}"/>
              </a:ext>
            </a:extLst>
          </p:cNvPr>
          <p:cNvSpPr>
            <a:spLocks xmlns:a="http://schemas.openxmlformats.org/drawingml/2006/main" noGrp="1"/>
          </p:cNvSpPr>
          <p:nvPr/>
        </p:nvSpPr>
        <p:spPr>
          <a:xfrm xmlns:a="http://schemas.openxmlformats.org/drawingml/2006/main">
            <a:off x="8229600" y="3505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EXPECTED DELIVERABLE</a:t>
            </a:r>
          </a:p>
        </p:txBody>
      </p:sp>
      <p:sp>
        <p:nvSpPr>
          <p:cNvPr id="21" name="">
            <a:extLst xmlns:a="http://schemas.openxmlformats.org/drawingml/2006/main">
              <a:ext uri="{FF2B5EF4-FFF2-40B4-BE49-F238E27FC236}">
                <a16:creationId xmlns:a16="http://schemas.microsoft.com/office/drawing/2014/main" id="{A33252B3-9224-41CD-A84B-D2284C039B08}"/>
              </a:ext>
            </a:extLst>
          </p:cNvPr>
          <p:cNvSpPr>
            <a:spLocks xmlns:a="http://schemas.openxmlformats.org/drawingml/2006/main" noGrp="1"/>
          </p:cNvSpPr>
          <p:nvPr/>
        </p:nvSpPr>
        <p:spPr>
          <a:xfrm xmlns:a="http://schemas.openxmlformats.org/drawingml/2006/main">
            <a:off x="8229600" y="3819525"/>
            <a:ext cx="3086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308"/>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Assessment completion, a short action plan and a list of unresolved policy or tool questions routed to owners.</a:t>
            </a:r>
          </a:p>
        </p:txBody>
      </p:sp>
      <p:sp>
        <p:nvSpPr>
          <p:cNvPr id="22" name="">
            <a:extLst xmlns:a="http://schemas.openxmlformats.org/drawingml/2006/main">
              <a:ext uri="{FF2B5EF4-FFF2-40B4-BE49-F238E27FC236}">
                <a16:creationId xmlns:a16="http://schemas.microsoft.com/office/drawing/2014/main" id="{27AAAAFF-8414-477B-88EC-FB4BE8D78B7D}"/>
              </a:ext>
            </a:extLst>
          </p:cNvPr>
          <p:cNvSpPr>
            <a:spLocks xmlns:a="http://schemas.openxmlformats.org/drawingml/2006/main" noGrp="1"/>
          </p:cNvSpPr>
          <p:nvPr/>
        </p:nvSpPr>
        <p:spPr>
          <a:xfrm xmlns:a="http://schemas.openxmlformats.org/drawingml/2006/main">
            <a:off x="8229600" y="469582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REVIEW CRITERIA</a:t>
            </a:r>
          </a:p>
        </p:txBody>
      </p:sp>
      <p:sp>
        <p:nvSpPr>
          <p:cNvPr id="23" name="">
            <a:extLst xmlns:a="http://schemas.openxmlformats.org/drawingml/2006/main">
              <a:ext uri="{FF2B5EF4-FFF2-40B4-BE49-F238E27FC236}">
                <a16:creationId xmlns:a16="http://schemas.microsoft.com/office/drawing/2014/main" id="{7816D911-5BF8-406F-9978-A2580BA41157}"/>
              </a:ext>
            </a:extLst>
          </p:cNvPr>
          <p:cNvSpPr>
            <a:spLocks xmlns:a="http://schemas.openxmlformats.org/drawingml/2006/main" noGrp="1"/>
          </p:cNvSpPr>
          <p:nvPr/>
        </p:nvSpPr>
        <p:spPr>
          <a:xfrm xmlns:a="http://schemas.openxmlformats.org/drawingml/2006/main">
            <a:off x="8229600" y="4991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Correctly applies classification and tool approval.</a:t>
            </a:r>
          </a:p>
        </p:txBody>
      </p:sp>
      <p:sp>
        <p:nvSpPr>
          <p:cNvPr id="24" name="">
            <a:extLst xmlns:a="http://schemas.openxmlformats.org/drawingml/2006/main">
              <a:ext uri="{FF2B5EF4-FFF2-40B4-BE49-F238E27FC236}">
                <a16:creationId xmlns:a16="http://schemas.microsoft.com/office/drawing/2014/main" id="{4739ABB5-0FE9-4BE5-83E0-83EFCD02BBAE}"/>
              </a:ext>
            </a:extLst>
          </p:cNvPr>
          <p:cNvSpPr>
            <a:spLocks xmlns:a="http://schemas.openxmlformats.org/drawingml/2006/main" noGrp="1"/>
          </p:cNvSpPr>
          <p:nvPr/>
        </p:nvSpPr>
        <p:spPr>
          <a:xfrm xmlns:a="http://schemas.openxmlformats.org/drawingml/2006/main">
            <a:off x="8229600" y="5372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491"/>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Verifies output and avoids unsupported claims.</a:t>
            </a:r>
          </a:p>
        </p:txBody>
      </p:sp>
      <p:sp>
        <p:nvSpPr>
          <p:cNvPr id="25" name="">
            <a:extLst xmlns:a="http://schemas.openxmlformats.org/drawingml/2006/main">
              <a:ext uri="{FF2B5EF4-FFF2-40B4-BE49-F238E27FC236}">
                <a16:creationId xmlns:a16="http://schemas.microsoft.com/office/drawing/2014/main" id="{4B1D46F2-1729-4F63-B37A-B6DE7116E164}"/>
              </a:ext>
            </a:extLst>
          </p:cNvPr>
          <p:cNvSpPr>
            <a:spLocks xmlns:a="http://schemas.openxmlformats.org/drawingml/2006/main" noGrp="1"/>
          </p:cNvSpPr>
          <p:nvPr/>
        </p:nvSpPr>
        <p:spPr>
          <a:xfrm xmlns:a="http://schemas.openxmlformats.org/drawingml/2006/main">
            <a:off x="8229600" y="5753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Identifies when a human decision or escalation is required.</a:t>
            </a:r>
          </a:p>
        </p:txBody>
      </p:sp>
    </p:spTree>
    <p:extLst>
      <p:ext uri="{BB962C8B-B14F-4D97-AF65-F5344CB8AC3E}">
        <p14:creationId xmlns:p14="http://schemas.microsoft.com/office/powerpoint/2010/main" val="857477303"/>
      </p:ext>
    </p:extLst>
  </p:cSld>
</p:sld>
</file>

<file path=ppt/slides/slide60.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1ED7E660-DDBD-4BA5-9CAD-E33A08DBBDE8}"/>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9 / MODULE 10</a:t>
            </a:r>
          </a:p>
        </p:txBody>
      </p:sp>
      <p:sp>
        <p:nvSpPr>
          <p:cNvPr id="2" name="">
            <a:extLst xmlns:a="http://schemas.openxmlformats.org/drawingml/2006/main">
              <a:ext uri="{FF2B5EF4-FFF2-40B4-BE49-F238E27FC236}">
                <a16:creationId xmlns:a16="http://schemas.microsoft.com/office/drawing/2014/main" id="{682A3F06-221F-4922-83B5-0BBB43FD95E9}"/>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S12  |  Q&amp;A and knowledge check</a:t>
            </a:r>
          </a:p>
        </p:txBody>
      </p:sp>
      <p:sp>
        <p:nvSpPr>
          <p:cNvPr id="3" name="">
            <a:extLst xmlns:a="http://schemas.openxmlformats.org/drawingml/2006/main">
              <a:ext uri="{FF2B5EF4-FFF2-40B4-BE49-F238E27FC236}">
                <a16:creationId xmlns:a16="http://schemas.microsoft.com/office/drawing/2014/main" id="{963F80DD-A03D-499B-95DE-7FC5DD6432B0}"/>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A82380E-5ADA-406A-AAB4-89B74E3DB87E}"/>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800D031-1C04-4880-93B7-1A3F53F8E328}"/>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D18FE4E5-DE85-488F-869F-1B776E4BB6B6}"/>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60</a:t>
            </a:r>
          </a:p>
        </p:txBody>
      </p:sp>
      <p:sp>
        <p:nvSpPr>
          <p:cNvPr id="7" name="">
            <a:extLst xmlns:a="http://schemas.openxmlformats.org/drawingml/2006/main">
              <a:ext uri="{FF2B5EF4-FFF2-40B4-BE49-F238E27FC236}">
                <a16:creationId xmlns:a16="http://schemas.microsoft.com/office/drawing/2014/main" id="{20CD409F-8131-406F-94DF-9CD13468A52F}"/>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10 and Final Program Review; proposal p. 9. Assessment conditions must be confirmed with DWIHN and Netlink.</a:t>
            </a:r>
          </a:p>
        </p:txBody>
      </p:sp>
      <p:sp>
        <p:nvSpPr>
          <p:cNvPr id="8" name="">
            <a:extLst xmlns:a="http://schemas.openxmlformats.org/drawingml/2006/main">
              <a:ext uri="{FF2B5EF4-FFF2-40B4-BE49-F238E27FC236}">
                <a16:creationId xmlns:a16="http://schemas.microsoft.com/office/drawing/2014/main" id="{3F59D00C-374E-4F4F-8662-60D8A0C14667}"/>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Assessment &amp; Certification</a:t>
            </a:r>
          </a:p>
        </p:txBody>
      </p:sp>
      <p:sp>
        <p:nvSpPr>
          <p:cNvPr id="9" name="">
            <a:extLst xmlns:a="http://schemas.openxmlformats.org/drawingml/2006/main">
              <a:ext uri="{FF2B5EF4-FFF2-40B4-BE49-F238E27FC236}">
                <a16:creationId xmlns:a16="http://schemas.microsoft.com/office/drawing/2014/main" id="{7EE9A372-150E-42D0-8A45-49DCC1BE3C3F}"/>
              </a:ext>
            </a:extLst>
          </p:cNvPr>
          <p:cNvSpPr>
            <a:spLocks xmlns:a="http://schemas.openxmlformats.org/drawingml/2006/main" noGrp="1"/>
          </p:cNvSpPr>
          <p:nvPr/>
        </p:nvSpPr>
        <p:spPr>
          <a:xfrm xmlns:a="http://schemas.openxmlformats.org/drawingml/2006/main">
            <a:off x="609600" y="19240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Invite questions first. Use the answer cues to clarify the principle; route local policy questions to the right DWIHN owner.</a:t>
            </a:r>
          </a:p>
        </p:txBody>
      </p:sp>
      <p:sp>
        <p:nvSpPr>
          <p:cNvPr id="10" name="">
            <a:extLst xmlns:a="http://schemas.openxmlformats.org/drawingml/2006/main">
              <a:ext uri="{FF2B5EF4-FFF2-40B4-BE49-F238E27FC236}">
                <a16:creationId xmlns:a16="http://schemas.microsoft.com/office/drawing/2014/main" id="{5E7AC274-D9FE-4A51-B0F3-07BE5FA02448}"/>
              </a:ext>
            </a:extLst>
          </p:cNvPr>
          <p:cNvSpPr>
            <a:spLocks xmlns:a="http://schemas.openxmlformats.org/drawingml/2006/main" noGrp="1"/>
          </p:cNvSpPr>
          <p:nvPr/>
        </p:nvSpPr>
        <p:spPr>
          <a:xfrm xmlns:a="http://schemas.openxmlformats.org/drawingml/2006/main">
            <a:off x="609600" y="26384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Q1</a:t>
            </a:r>
          </a:p>
        </p:txBody>
      </p:sp>
      <p:sp>
        <p:nvSpPr>
          <p:cNvPr id="11" name="">
            <a:extLst xmlns:a="http://schemas.openxmlformats.org/drawingml/2006/main">
              <a:ext uri="{FF2B5EF4-FFF2-40B4-BE49-F238E27FC236}">
                <a16:creationId xmlns:a16="http://schemas.microsoft.com/office/drawing/2014/main" id="{B1DD6B62-2C40-4EEE-B2DB-A44E33E7C29F}"/>
              </a:ext>
            </a:extLst>
          </p:cNvPr>
          <p:cNvSpPr>
            <a:spLocks xmlns:a="http://schemas.openxmlformats.org/drawingml/2006/main" noGrp="1"/>
          </p:cNvSpPr>
          <p:nvPr/>
        </p:nvSpPr>
        <p:spPr>
          <a:xfrm xmlns:a="http://schemas.openxmlformats.org/drawingml/2006/main">
            <a:off x="1162050" y="26384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What does the readiness certificate confirm?</a:t>
            </a:r>
          </a:p>
        </p:txBody>
      </p:sp>
      <p:sp>
        <p:nvSpPr>
          <p:cNvPr id="12" name="">
            <a:extLst xmlns:a="http://schemas.openxmlformats.org/drawingml/2006/main">
              <a:ext uri="{FF2B5EF4-FFF2-40B4-BE49-F238E27FC236}">
                <a16:creationId xmlns:a16="http://schemas.microsoft.com/office/drawing/2014/main" id="{EE9F7059-C545-4937-B4E0-AF47B4E46434}"/>
              </a:ext>
            </a:extLst>
          </p:cNvPr>
          <p:cNvSpPr>
            <a:spLocks xmlns:a="http://schemas.openxmlformats.org/drawingml/2006/main" noGrp="1"/>
          </p:cNvSpPr>
          <p:nvPr/>
        </p:nvSpPr>
        <p:spPr>
          <a:xfrm xmlns:a="http://schemas.openxmlformats.org/drawingml/2006/main">
            <a:off x="6000750" y="26384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3" name="">
            <a:extLst xmlns:a="http://schemas.openxmlformats.org/drawingml/2006/main">
              <a:ext uri="{FF2B5EF4-FFF2-40B4-BE49-F238E27FC236}">
                <a16:creationId xmlns:a16="http://schemas.microsoft.com/office/drawing/2014/main" id="{ECB0F88E-CB2F-4D11-9CC9-62E067C7962D}"/>
              </a:ext>
            </a:extLst>
          </p:cNvPr>
          <p:cNvSpPr>
            <a:spLocks xmlns:a="http://schemas.openxmlformats.org/drawingml/2006/main" noGrp="1"/>
          </p:cNvSpPr>
          <p:nvPr/>
        </p:nvSpPr>
        <p:spPr>
          <a:xfrm xmlns:a="http://schemas.openxmlformats.org/drawingml/2006/main">
            <a:off x="6000750" y="28765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Completion of the agreed program and assessment criteria, subject to the final program rules.</a:t>
            </a:r>
          </a:p>
        </p:txBody>
      </p:sp>
      <p:sp>
        <p:nvSpPr>
          <p:cNvPr id="14" name="">
            <a:extLst xmlns:a="http://schemas.openxmlformats.org/drawingml/2006/main">
              <a:ext uri="{FF2B5EF4-FFF2-40B4-BE49-F238E27FC236}">
                <a16:creationId xmlns:a16="http://schemas.microsoft.com/office/drawing/2014/main" id="{88C92D88-2963-47DA-A8B8-F6BE353774F4}"/>
              </a:ext>
            </a:extLst>
          </p:cNvPr>
          <p:cNvSpPr>
            <a:spLocks xmlns:a="http://schemas.openxmlformats.org/drawingml/2006/main" noGrp="1"/>
          </p:cNvSpPr>
          <p:nvPr/>
        </p:nvSpPr>
        <p:spPr>
          <a:xfrm xmlns:a="http://schemas.openxmlformats.org/drawingml/2006/main">
            <a:off x="609600" y="343852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91AE732-4EDB-4701-9417-532729FFAE8D}"/>
              </a:ext>
            </a:extLst>
          </p:cNvPr>
          <p:cNvSpPr>
            <a:spLocks xmlns:a="http://schemas.openxmlformats.org/drawingml/2006/main" noGrp="1"/>
          </p:cNvSpPr>
          <p:nvPr/>
        </p:nvSpPr>
        <p:spPr>
          <a:xfrm xmlns:a="http://schemas.openxmlformats.org/drawingml/2006/main">
            <a:off x="609600" y="35718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Q2</a:t>
            </a:r>
          </a:p>
        </p:txBody>
      </p:sp>
      <p:sp>
        <p:nvSpPr>
          <p:cNvPr id="16" name="">
            <a:extLst xmlns:a="http://schemas.openxmlformats.org/drawingml/2006/main">
              <a:ext uri="{FF2B5EF4-FFF2-40B4-BE49-F238E27FC236}">
                <a16:creationId xmlns:a16="http://schemas.microsoft.com/office/drawing/2014/main" id="{571A7AA7-BF0B-44D5-A954-F1328DEB43B8}"/>
              </a:ext>
            </a:extLst>
          </p:cNvPr>
          <p:cNvSpPr>
            <a:spLocks xmlns:a="http://schemas.openxmlformats.org/drawingml/2006/main" noGrp="1"/>
          </p:cNvSpPr>
          <p:nvPr/>
        </p:nvSpPr>
        <p:spPr>
          <a:xfrm xmlns:a="http://schemas.openxmlformats.org/drawingml/2006/main">
            <a:off x="1162050" y="357187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Does it certify HIPAA compliance?</a:t>
            </a:r>
          </a:p>
        </p:txBody>
      </p:sp>
      <p:sp>
        <p:nvSpPr>
          <p:cNvPr id="17" name="">
            <a:extLst xmlns:a="http://schemas.openxmlformats.org/drawingml/2006/main">
              <a:ext uri="{FF2B5EF4-FFF2-40B4-BE49-F238E27FC236}">
                <a16:creationId xmlns:a16="http://schemas.microsoft.com/office/drawing/2014/main" id="{1AEB670B-04E0-49B7-96BF-7C2526338883}"/>
              </a:ext>
            </a:extLst>
          </p:cNvPr>
          <p:cNvSpPr>
            <a:spLocks xmlns:a="http://schemas.openxmlformats.org/drawingml/2006/main" noGrp="1"/>
          </p:cNvSpPr>
          <p:nvPr/>
        </p:nvSpPr>
        <p:spPr>
          <a:xfrm xmlns:a="http://schemas.openxmlformats.org/drawingml/2006/main">
            <a:off x="6000750" y="357187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8" name="">
            <a:extLst xmlns:a="http://schemas.openxmlformats.org/drawingml/2006/main">
              <a:ext uri="{FF2B5EF4-FFF2-40B4-BE49-F238E27FC236}">
                <a16:creationId xmlns:a16="http://schemas.microsoft.com/office/drawing/2014/main" id="{D6F12096-82EA-4254-86A2-2E4FC1C60995}"/>
              </a:ext>
            </a:extLst>
          </p:cNvPr>
          <p:cNvSpPr>
            <a:spLocks xmlns:a="http://schemas.openxmlformats.org/drawingml/2006/main" noGrp="1"/>
          </p:cNvSpPr>
          <p:nvPr/>
        </p:nvSpPr>
        <p:spPr>
          <a:xfrm xmlns:a="http://schemas.openxmlformats.org/drawingml/2006/main">
            <a:off x="6000750" y="381000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No. The proposal describes a DWIHN AI Readiness Certificate, not a HIPAA credential or professional license.</a:t>
            </a:r>
          </a:p>
        </p:txBody>
      </p:sp>
      <p:sp>
        <p:nvSpPr>
          <p:cNvPr id="19" name="">
            <a:extLst xmlns:a="http://schemas.openxmlformats.org/drawingml/2006/main">
              <a:ext uri="{FF2B5EF4-FFF2-40B4-BE49-F238E27FC236}">
                <a16:creationId xmlns:a16="http://schemas.microsoft.com/office/drawing/2014/main" id="{56C4EDC2-E2E7-443A-9CEC-E38BBD63B691}"/>
              </a:ext>
            </a:extLst>
          </p:cNvPr>
          <p:cNvSpPr>
            <a:spLocks xmlns:a="http://schemas.openxmlformats.org/drawingml/2006/main" noGrp="1"/>
          </p:cNvSpPr>
          <p:nvPr/>
        </p:nvSpPr>
        <p:spPr>
          <a:xfrm xmlns:a="http://schemas.openxmlformats.org/drawingml/2006/main">
            <a:off x="609600" y="437197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A463924-ED59-4794-B971-3E7A32D38122}"/>
              </a:ext>
            </a:extLst>
          </p:cNvPr>
          <p:cNvSpPr>
            <a:spLocks xmlns:a="http://schemas.openxmlformats.org/drawingml/2006/main" noGrp="1"/>
          </p:cNvSpPr>
          <p:nvPr/>
        </p:nvSpPr>
        <p:spPr>
          <a:xfrm xmlns:a="http://schemas.openxmlformats.org/drawingml/2006/main">
            <a:off x="609600" y="45053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Q3</a:t>
            </a:r>
          </a:p>
        </p:txBody>
      </p:sp>
      <p:sp>
        <p:nvSpPr>
          <p:cNvPr id="21" name="">
            <a:extLst xmlns:a="http://schemas.openxmlformats.org/drawingml/2006/main">
              <a:ext uri="{FF2B5EF4-FFF2-40B4-BE49-F238E27FC236}">
                <a16:creationId xmlns:a16="http://schemas.microsoft.com/office/drawing/2014/main" id="{3EA8949E-F254-434F-AB93-890A06EF396C}"/>
              </a:ext>
            </a:extLst>
          </p:cNvPr>
          <p:cNvSpPr>
            <a:spLocks xmlns:a="http://schemas.openxmlformats.org/drawingml/2006/main" noGrp="1"/>
          </p:cNvSpPr>
          <p:nvPr/>
        </p:nvSpPr>
        <p:spPr>
          <a:xfrm xmlns:a="http://schemas.openxmlformats.org/drawingml/2006/main">
            <a:off x="1162050" y="45053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What happens when an important question remains unresolved?</a:t>
            </a:r>
          </a:p>
        </p:txBody>
      </p:sp>
      <p:sp>
        <p:nvSpPr>
          <p:cNvPr id="22" name="">
            <a:extLst xmlns:a="http://schemas.openxmlformats.org/drawingml/2006/main">
              <a:ext uri="{FF2B5EF4-FFF2-40B4-BE49-F238E27FC236}">
                <a16:creationId xmlns:a16="http://schemas.microsoft.com/office/drawing/2014/main" id="{42F799A9-84C2-4BA4-8F19-189946B023A1}"/>
              </a:ext>
            </a:extLst>
          </p:cNvPr>
          <p:cNvSpPr>
            <a:spLocks xmlns:a="http://schemas.openxmlformats.org/drawingml/2006/main" noGrp="1"/>
          </p:cNvSpPr>
          <p:nvPr/>
        </p:nvSpPr>
        <p:spPr>
          <a:xfrm xmlns:a="http://schemas.openxmlformats.org/drawingml/2006/main">
            <a:off x="6000750" y="45053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23" name="">
            <a:extLst xmlns:a="http://schemas.openxmlformats.org/drawingml/2006/main">
              <a:ext uri="{FF2B5EF4-FFF2-40B4-BE49-F238E27FC236}">
                <a16:creationId xmlns:a16="http://schemas.microsoft.com/office/drawing/2014/main" id="{8411A0B5-B06B-45D0-B1DC-47FF8DAD27F0}"/>
              </a:ext>
            </a:extLst>
          </p:cNvPr>
          <p:cNvSpPr>
            <a:spLocks xmlns:a="http://schemas.openxmlformats.org/drawingml/2006/main" noGrp="1"/>
          </p:cNvSpPr>
          <p:nvPr/>
        </p:nvSpPr>
        <p:spPr>
          <a:xfrm xmlns:a="http://schemas.openxmlformats.org/drawingml/2006/main">
            <a:off x="6000750" y="47434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Record it and route it to the authorized policy, platform or governance owner instead of guessing.</a:t>
            </a:r>
          </a:p>
        </p:txBody>
      </p:sp>
      <p:sp>
        <p:nvSpPr>
          <p:cNvPr id="24" name="">
            <a:extLst xmlns:a="http://schemas.openxmlformats.org/drawingml/2006/main">
              <a:ext uri="{FF2B5EF4-FFF2-40B4-BE49-F238E27FC236}">
                <a16:creationId xmlns:a16="http://schemas.microsoft.com/office/drawing/2014/main" id="{5996A472-AACE-4E5C-9F3B-3FF89C9F1475}"/>
              </a:ext>
            </a:extLst>
          </p:cNvPr>
          <p:cNvSpPr>
            <a:spLocks xmlns:a="http://schemas.openxmlformats.org/drawingml/2006/main" noGrp="1"/>
          </p:cNvSpPr>
          <p:nvPr/>
        </p:nvSpPr>
        <p:spPr>
          <a:xfrm xmlns:a="http://schemas.openxmlformats.org/drawingml/2006/main">
            <a:off x="609600" y="55435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D958C436-AB70-4E2E-BB7A-9C0B52DEBC7A}"/>
              </a:ext>
            </a:extLst>
          </p:cNvPr>
          <p:cNvSpPr>
            <a:spLocks xmlns:a="http://schemas.openxmlformats.org/drawingml/2006/main" noGrp="1"/>
          </p:cNvSpPr>
          <p:nvPr/>
        </p:nvSpPr>
        <p:spPr>
          <a:xfrm xmlns:a="http://schemas.openxmlformats.org/drawingml/2006/main">
            <a:off x="609600" y="57150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Remember</a:t>
            </a:r>
          </a:p>
        </p:txBody>
      </p:sp>
      <p:sp>
        <p:nvSpPr>
          <p:cNvPr id="26" name="">
            <a:extLst xmlns:a="http://schemas.openxmlformats.org/drawingml/2006/main">
              <a:ext uri="{FF2B5EF4-FFF2-40B4-BE49-F238E27FC236}">
                <a16:creationId xmlns:a16="http://schemas.microsoft.com/office/drawing/2014/main" id="{45D2CCF4-938B-414E-99B2-B3BBB31A5EC2}"/>
              </a:ext>
            </a:extLst>
          </p:cNvPr>
          <p:cNvSpPr>
            <a:spLocks xmlns:a="http://schemas.openxmlformats.org/drawingml/2006/main" noGrp="1"/>
          </p:cNvSpPr>
          <p:nvPr/>
        </p:nvSpPr>
        <p:spPr>
          <a:xfrm xmlns:a="http://schemas.openxmlformats.org/drawingml/2006/main">
            <a:off x="1924050" y="5686425"/>
            <a:ext cx="9429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039"/>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Use the same safe decision sequence across roles.   •   Certification records learning completion, not permanent approval.   •   Keep asking questions as tools and policies change.</a:t>
            </a:r>
          </a:p>
        </p:txBody>
      </p:sp>
    </p:spTree>
    <p:extLst>
      <p:ext uri="{BB962C8B-B14F-4D97-AF65-F5344CB8AC3E}">
        <p14:creationId xmlns:p14="http://schemas.microsoft.com/office/powerpoint/2010/main" val="6951043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2026-10-06T10:50:32.9190000Z</dcterms:created>
  <dcterms:modified xsi:type="dcterms:W3CDTF">2026-10-06T10:50:32.9190000Z</dcterms:modified>
</coreProperties>
</file>