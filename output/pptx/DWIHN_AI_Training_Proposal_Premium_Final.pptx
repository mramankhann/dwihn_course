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bb1572669d482c" /><Relationship Type="http://schemas.openxmlformats.org/officeDocument/2006/relationships/extended-properties" Target="/docProps/app.xml" Id="Reb02b312629b4935" /><Relationship Type="http://schemas.openxmlformats.org/officeDocument/2006/relationships/officeDocument" Target="/ppt/presentation.xml" Id="R74899ebdbd504a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590c5a50fe4cb1"/>
  </p:sldMasterIdLst>
  <p:notesMasterIdLst>
    <p:notesMasterId xmlns:r="http://schemas.openxmlformats.org/officeDocument/2006/relationships" r:id="R7dcc6d9eedfc45aa"/>
  </p:notesMasterIdLst>
  <p:sldIdLst>
    <p:sldId xmlns:r="http://schemas.openxmlformats.org/officeDocument/2006/relationships" id="256" r:id="Reb4b521bf6244b05"/>
    <p:sldId xmlns:r="http://schemas.openxmlformats.org/officeDocument/2006/relationships" id="257" r:id="Rcb73b7b12e8a44e9"/>
    <p:sldId xmlns:r="http://schemas.openxmlformats.org/officeDocument/2006/relationships" id="258" r:id="Rcf9da3c940d34d8f"/>
    <p:sldId xmlns:r="http://schemas.openxmlformats.org/officeDocument/2006/relationships" id="259" r:id="R84d40126261d47e2"/>
    <p:sldId xmlns:r="http://schemas.openxmlformats.org/officeDocument/2006/relationships" id="260" r:id="Rfcea22731c3b4757"/>
    <p:sldId xmlns:r="http://schemas.openxmlformats.org/officeDocument/2006/relationships" id="261" r:id="R4fcd8f5077d54d3d"/>
    <p:sldId xmlns:r="http://schemas.openxmlformats.org/officeDocument/2006/relationships" id="262" r:id="R0a986e91219748ab"/>
    <p:sldId xmlns:r="http://schemas.openxmlformats.org/officeDocument/2006/relationships" id="263" r:id="Rcf54c9857bcd4548"/>
    <p:sldId xmlns:r="http://schemas.openxmlformats.org/officeDocument/2006/relationships" id="264" r:id="R4f696f3397594857"/>
    <p:sldId xmlns:r="http://schemas.openxmlformats.org/officeDocument/2006/relationships" id="265" r:id="R9bb6596890734682"/>
    <p:sldId xmlns:r="http://schemas.openxmlformats.org/officeDocument/2006/relationships" id="266" r:id="Rd04a952914cd4eba"/>
    <p:sldId xmlns:r="http://schemas.openxmlformats.org/officeDocument/2006/relationships" id="267" r:id="R45257ebae4684ad1"/>
    <p:sldId xmlns:r="http://schemas.openxmlformats.org/officeDocument/2006/relationships" id="268" r:id="Rf2144f69b85b4eeb"/>
    <p:sldId xmlns:r="http://schemas.openxmlformats.org/officeDocument/2006/relationships" id="269" r:id="Rb1bc5a53fe4a47cb"/>
    <p:sldId xmlns:r="http://schemas.openxmlformats.org/officeDocument/2006/relationships" id="270" r:id="R45d40ce0545d4f15"/>
    <p:sldId xmlns:r="http://schemas.openxmlformats.org/officeDocument/2006/relationships" id="271" r:id="Rf1d6fa2f76664ba6"/>
    <p:sldId xmlns:r="http://schemas.openxmlformats.org/officeDocument/2006/relationships" id="272" r:id="R84161e0b684549a4"/>
    <p:sldId xmlns:r="http://schemas.openxmlformats.org/officeDocument/2006/relationships" id="273" r:id="R5f2465e1ef5f404c"/>
    <p:sldId xmlns:r="http://schemas.openxmlformats.org/officeDocument/2006/relationships" id="274" r:id="Rb261706d42564d07"/>
    <p:sldId xmlns:r="http://schemas.openxmlformats.org/officeDocument/2006/relationships" id="275" r:id="R8e160cac1640472c"/>
    <p:sldId xmlns:r="http://schemas.openxmlformats.org/officeDocument/2006/relationships" id="276" r:id="R170e0adcbda44dbc"/>
    <p:sldId xmlns:r="http://schemas.openxmlformats.org/officeDocument/2006/relationships" id="277" r:id="R800c60adf6bb4187"/>
    <p:sldId xmlns:r="http://schemas.openxmlformats.org/officeDocument/2006/relationships" id="278" r:id="R72fe1c8674ab41d6"/>
    <p:sldId xmlns:r="http://schemas.openxmlformats.org/officeDocument/2006/relationships" id="279" r:id="R5b877dbbd21948aa"/>
    <p:sldId xmlns:r="http://schemas.openxmlformats.org/officeDocument/2006/relationships" id="280" r:id="R80b7c447920d42f9"/>
    <p:sldId xmlns:r="http://schemas.openxmlformats.org/officeDocument/2006/relationships" id="281" r:id="R0ce649b12bfc42c0"/>
    <p:sldId xmlns:r="http://schemas.openxmlformats.org/officeDocument/2006/relationships" id="282" r:id="R46f208955ff140fa"/>
    <p:sldId xmlns:r="http://schemas.openxmlformats.org/officeDocument/2006/relationships" id="283" r:id="R5dfae31291b04a08"/>
    <p:sldId xmlns:r="http://schemas.openxmlformats.org/officeDocument/2006/relationships" id="284" r:id="R2f9703a9402f4a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a7206160174f4d" /><Relationship Type="http://schemas.openxmlformats.org/officeDocument/2006/relationships/slideMaster" Target="/ppt/slideMasters/slideMaster1.xml" Id="Rc2590c5a50fe4cb1" /><Relationship Type="http://schemas.openxmlformats.org/officeDocument/2006/relationships/notesMaster" Target="/ppt/notesMasters/notesMaster1.xml" Id="R7dcc6d9eedfc45aa" /><Relationship Type="http://schemas.openxmlformats.org/officeDocument/2006/relationships/presProps" Target="/ppt/presProps.xml" Id="R77aca0e728ba490d" /><Relationship Type="http://schemas.openxmlformats.org/officeDocument/2006/relationships/tableStyles" Target="/ppt/tableStyles.xml" Id="R6f09cbeab0054775" /><Relationship Type="http://schemas.openxmlformats.org/officeDocument/2006/relationships/slide" Target="/ppt/slides/slide1.xml" Id="Reb4b521bf6244b05" /><Relationship Type="http://schemas.openxmlformats.org/officeDocument/2006/relationships/slide" Target="/ppt/slides/slide2.xml" Id="Rcb73b7b12e8a44e9" /><Relationship Type="http://schemas.openxmlformats.org/officeDocument/2006/relationships/slide" Target="/ppt/slides/slide3.xml" Id="Rcf9da3c940d34d8f" /><Relationship Type="http://schemas.openxmlformats.org/officeDocument/2006/relationships/slide" Target="/ppt/slides/slide4.xml" Id="R84d40126261d47e2" /><Relationship Type="http://schemas.openxmlformats.org/officeDocument/2006/relationships/slide" Target="/ppt/slides/slide5.xml" Id="Rfcea22731c3b4757" /><Relationship Type="http://schemas.openxmlformats.org/officeDocument/2006/relationships/slide" Target="/ppt/slides/slide6.xml" Id="R4fcd8f5077d54d3d" /><Relationship Type="http://schemas.openxmlformats.org/officeDocument/2006/relationships/slide" Target="/ppt/slides/slide7.xml" Id="R0a986e91219748ab" /><Relationship Type="http://schemas.openxmlformats.org/officeDocument/2006/relationships/slide" Target="/ppt/slides/slide8.xml" Id="Rcf54c9857bcd4548" /><Relationship Type="http://schemas.openxmlformats.org/officeDocument/2006/relationships/slide" Target="/ppt/slides/slide9.xml" Id="R4f696f3397594857" /><Relationship Type="http://schemas.openxmlformats.org/officeDocument/2006/relationships/slide" Target="/ppt/slides/slide10.xml" Id="R9bb6596890734682" /><Relationship Type="http://schemas.openxmlformats.org/officeDocument/2006/relationships/slide" Target="/ppt/slides/slide11.xml" Id="Rd04a952914cd4eba" /><Relationship Type="http://schemas.openxmlformats.org/officeDocument/2006/relationships/slide" Target="/ppt/slides/slide12.xml" Id="R45257ebae4684ad1" /><Relationship Type="http://schemas.openxmlformats.org/officeDocument/2006/relationships/slide" Target="/ppt/slides/slide13.xml" Id="Rf2144f69b85b4eeb" /><Relationship Type="http://schemas.openxmlformats.org/officeDocument/2006/relationships/slide" Target="/ppt/slides/slide14.xml" Id="Rb1bc5a53fe4a47cb" /><Relationship Type="http://schemas.openxmlformats.org/officeDocument/2006/relationships/slide" Target="/ppt/slides/slide15.xml" Id="R45d40ce0545d4f15" /><Relationship Type="http://schemas.openxmlformats.org/officeDocument/2006/relationships/slide" Target="/ppt/slides/slide16.xml" Id="Rf1d6fa2f76664ba6" /><Relationship Type="http://schemas.openxmlformats.org/officeDocument/2006/relationships/slide" Target="/ppt/slides/slide17.xml" Id="R84161e0b684549a4" /><Relationship Type="http://schemas.openxmlformats.org/officeDocument/2006/relationships/slide" Target="/ppt/slides/slide18.xml" Id="R5f2465e1ef5f404c" /><Relationship Type="http://schemas.openxmlformats.org/officeDocument/2006/relationships/slide" Target="/ppt/slides/slide19.xml" Id="Rb261706d42564d07" /><Relationship Type="http://schemas.openxmlformats.org/officeDocument/2006/relationships/slide" Target="/ppt/slides/slide20.xml" Id="R8e160cac1640472c" /><Relationship Type="http://schemas.openxmlformats.org/officeDocument/2006/relationships/slide" Target="/ppt/slides/slide21.xml" Id="R170e0adcbda44dbc" /><Relationship Type="http://schemas.openxmlformats.org/officeDocument/2006/relationships/slide" Target="/ppt/slides/slide22.xml" Id="R800c60adf6bb4187" /><Relationship Type="http://schemas.openxmlformats.org/officeDocument/2006/relationships/slide" Target="/ppt/slides/slide23.xml" Id="R72fe1c8674ab41d6" /><Relationship Type="http://schemas.openxmlformats.org/officeDocument/2006/relationships/slide" Target="/ppt/slides/slide24.xml" Id="R5b877dbbd21948aa" /><Relationship Type="http://schemas.openxmlformats.org/officeDocument/2006/relationships/slide" Target="/ppt/slides/slide25.xml" Id="R80b7c447920d42f9" /><Relationship Type="http://schemas.openxmlformats.org/officeDocument/2006/relationships/slide" Target="/ppt/slides/slide26.xml" Id="R0ce649b12bfc42c0" /><Relationship Type="http://schemas.openxmlformats.org/officeDocument/2006/relationships/slide" Target="/ppt/slides/slide27.xml" Id="R46f208955ff140fa" /><Relationship Type="http://schemas.openxmlformats.org/officeDocument/2006/relationships/slide" Target="/ppt/slides/slide28.xml" Id="R5dfae31291b04a08" /><Relationship Type="http://schemas.openxmlformats.org/officeDocument/2006/relationships/slide" Target="/ppt/slides/slide29.xml" Id="R2f9703a9402f4a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9df5c4bd5f4a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8ca54af421465d" /><Relationship Type="http://schemas.openxmlformats.org/officeDocument/2006/relationships/notesMaster" Target="/ppt/notesMasters/notesMaster1.xml" Id="Rdbaf136043e746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f1ec0a0a034694" /><Relationship Type="http://schemas.openxmlformats.org/officeDocument/2006/relationships/notesMaster" Target="/ppt/notesMasters/notesMaster1.xml" Id="R9334b1ef703342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b411f056634b58" /><Relationship Type="http://schemas.openxmlformats.org/officeDocument/2006/relationships/notesMaster" Target="/ppt/notesMasters/notesMaster1.xml" Id="Rfd2348530f6946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f7352b18894ba3" /><Relationship Type="http://schemas.openxmlformats.org/officeDocument/2006/relationships/notesMaster" Target="/ppt/notesMasters/notesMaster1.xml" Id="R76220c187ba54a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9808538fbd406d" /><Relationship Type="http://schemas.openxmlformats.org/officeDocument/2006/relationships/notesMaster" Target="/ppt/notesMasters/notesMaster1.xml" Id="R47623f4a32514b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dedfed6d0b46f0" /><Relationship Type="http://schemas.openxmlformats.org/officeDocument/2006/relationships/notesMaster" Target="/ppt/notesMasters/notesMaster1.xml" Id="Rd7348f5abdbc4a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f4b4ccf9a84f6d" /><Relationship Type="http://schemas.openxmlformats.org/officeDocument/2006/relationships/notesMaster" Target="/ppt/notesMasters/notesMaster1.xml" Id="Rdd6ae697a69b46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f2c84b15db4a53" /><Relationship Type="http://schemas.openxmlformats.org/officeDocument/2006/relationships/notesMaster" Target="/ppt/notesMasters/notesMaster1.xml" Id="Rfb286b9c182b41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c3ca7c20484326" /><Relationship Type="http://schemas.openxmlformats.org/officeDocument/2006/relationships/notesMaster" Target="/ppt/notesMasters/notesMaster1.xml" Id="R51d8f8b88c6a49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9f7802b353491c" /><Relationship Type="http://schemas.openxmlformats.org/officeDocument/2006/relationships/notesMaster" Target="/ppt/notesMasters/notesMaster1.xml" Id="Rb27e30241de24d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4da656a50d4f00" /><Relationship Type="http://schemas.openxmlformats.org/officeDocument/2006/relationships/notesMaster" Target="/ppt/notesMasters/notesMaster1.xml" Id="R295b6a4a5afe4b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8a99a6d28044c9" /><Relationship Type="http://schemas.openxmlformats.org/officeDocument/2006/relationships/notesMaster" Target="/ppt/notesMasters/notesMaster1.xml" Id="Rd1be8db57cbf40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d3780541cc4d0e" /><Relationship Type="http://schemas.openxmlformats.org/officeDocument/2006/relationships/notesMaster" Target="/ppt/notesMasters/notesMaster1.xml" Id="R6684f54408c54a2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d533ec463a4fd4" /><Relationship Type="http://schemas.openxmlformats.org/officeDocument/2006/relationships/notesMaster" Target="/ppt/notesMasters/notesMaster1.xml" Id="R65bda09a6f8542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f085a78846b4b90" /><Relationship Type="http://schemas.openxmlformats.org/officeDocument/2006/relationships/notesMaster" Target="/ppt/notesMasters/notesMaster1.xml" Id="Rc1ce4ad1fc8f4b6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f91e95db25f4209" /><Relationship Type="http://schemas.openxmlformats.org/officeDocument/2006/relationships/notesMaster" Target="/ppt/notesMasters/notesMaster1.xml" Id="R846fd83b1d35490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baeb446aab5449b" /><Relationship Type="http://schemas.openxmlformats.org/officeDocument/2006/relationships/notesMaster" Target="/ppt/notesMasters/notesMaster1.xml" Id="R8f92cc593eeb4b8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dbb0f849d9e4437" /><Relationship Type="http://schemas.openxmlformats.org/officeDocument/2006/relationships/notesMaster" Target="/ppt/notesMasters/notesMaster1.xml" Id="R01561df2ead748a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5b158796a5040aa" /><Relationship Type="http://schemas.openxmlformats.org/officeDocument/2006/relationships/notesMaster" Target="/ppt/notesMasters/notesMaster1.xml" Id="R93e597890089443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e23b48ce584e39" /><Relationship Type="http://schemas.openxmlformats.org/officeDocument/2006/relationships/notesMaster" Target="/ppt/notesMasters/notesMaster1.xml" Id="R4d5205c4e93741c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273f73b341e4de5" /><Relationship Type="http://schemas.openxmlformats.org/officeDocument/2006/relationships/notesMaster" Target="/ppt/notesMasters/notesMaster1.xml" Id="R5f1827ab8102415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86a850ea91b4b1e" /><Relationship Type="http://schemas.openxmlformats.org/officeDocument/2006/relationships/notesMaster" Target="/ppt/notesMasters/notesMaster1.xml" Id="R737d2f2e3f54462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7ca7c12d7764f9b" /><Relationship Type="http://schemas.openxmlformats.org/officeDocument/2006/relationships/notesMaster" Target="/ppt/notesMasters/notesMaster1.xml" Id="R4600c3df89eb407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6ac5baf595e41c3" /><Relationship Type="http://schemas.openxmlformats.org/officeDocument/2006/relationships/notesMaster" Target="/ppt/notesMasters/notesMaster1.xml" Id="R431ab1dfa871431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db2c6fe0e954dc2" /><Relationship Type="http://schemas.openxmlformats.org/officeDocument/2006/relationships/notesMaster" Target="/ppt/notesMasters/notesMaster1.xml" Id="Ra3be19ef1eaa4ee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ec61478d2d04c56" /><Relationship Type="http://schemas.openxmlformats.org/officeDocument/2006/relationships/notesMaster" Target="/ppt/notesMasters/notesMaster1.xml" Id="Rdf9c3f212c54435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e0ea57316c34292" /><Relationship Type="http://schemas.openxmlformats.org/officeDocument/2006/relationships/notesMaster" Target="/ppt/notesMasters/notesMaster1.xml" Id="R956eedd5dcf74f3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b38f7b8dba14e8f" /><Relationship Type="http://schemas.openxmlformats.org/officeDocument/2006/relationships/notesMaster" Target="/ppt/notesMasters/notesMaster1.xml" Id="Rf39f4ae4886748f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1d9a74ff2a54acc" /><Relationship Type="http://schemas.openxmlformats.org/officeDocument/2006/relationships/notesMaster" Target="/ppt/notesMasters/notesMaster1.xml" Id="Rc87cceadc7e746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This proposal presents a practical learning path for DWIHN teams. It starts with shared understanding and safe habits, then moves into tools, role-based practice, analytics and governance. Commercial value and program details shown here come from the supplied Netlink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proposal describes two months of dedicated AI learning at no cost as a CSR contribution. The session schedule spans Weeks 1–9. Source: proposal pp. 3–5, 10,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proposal values the listed components at $48,200 in total and describes the program as a pro bono CSR contribution. The amount is proposal-reported, not an independent valuation. Source: proposal p.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module introduces a concept, makes the safe boundary explicit and asks participants to use the idea in a scenario. The proposal includes live demos, hands-on practice, recordings, quizzes, reference cards and job aids.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proposal overview says eight weeks, while its detailed week rows extend through Week 9. The supplied user course sequence also uses Weeks 1–9. This deck follows the nine-week plan. Confirm the calendar before registration. Source: proposal pp. 5,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Facilitator: Q&amp;A is included within the minimum one-hour session length. Allow the session to run longer when questions or practice call for it.</a:t>
            </a:r>
          </a:p>
          <a:p xmlns:a="http://schemas.openxmlformats.org/drawingml/2006/main">
            <a:r>
              <a:t>S1 What AI Is — and Isn’t: Explain AI capabilities, limits and human review.</a:t>
            </a:r>
          </a:p>
          <a:p xmlns:a="http://schemas.openxmlformats.org/drawingml/2006/main">
            <a:r>
              <a:t>S2 Approved Tools &amp; HIPAA Safety: Also practices data classification before choosing a tool.</a:t>
            </a:r>
          </a:p>
          <a:p xmlns:a="http://schemas.openxmlformats.org/drawingml/2006/main">
            <a:r>
              <a:t>S3 Prompting Skills for DWIHN Roles: Build prompts with role, task, context, format and constraints.</a:t>
            </a:r>
          </a:p>
          <a:p xmlns:a="http://schemas.openxmlformats.org/drawingml/2006/main">
            <a:r>
              <a:t>S4 AI in Your Daily DWIHN Work: Select suitable tasks and review AI output.</a:t>
            </a:r>
          </a:p>
          <a:p xmlns:a="http://schemas.openxmlformats.org/drawingml/2006/main">
            <a:r>
              <a:t>Source: Netlink proposal, pp. 6–10.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Facilitator: Q&amp;A is included within the minimum one-hour session length. Allow the session to run longer when questions or practice call for it.</a:t>
            </a:r>
          </a:p>
          <a:p xmlns:a="http://schemas.openxmlformats.org/drawingml/2006/main">
            <a:r>
              <a:t>S5 Lumenore Impact — Deep Dive: Navigate dashboards and frame useful data questions.</a:t>
            </a:r>
          </a:p>
          <a:p xmlns:a="http://schemas.openxmlformats.org/drawingml/2006/main">
            <a:r>
              <a:t>S6 Lumenore Impact — Guided Practice: Interpret visualizations and verify the story in data.</a:t>
            </a:r>
          </a:p>
          <a:p xmlns:a="http://schemas.openxmlformats.org/drawingml/2006/main">
            <a:r>
              <a:t>S7 Lumenore Impact — Applied Review: Explain what dashboard evidence supports and what needs checking.</a:t>
            </a:r>
          </a:p>
          <a:p xmlns:a="http://schemas.openxmlformats.org/drawingml/2006/main">
            <a:r>
              <a:t>S8 Genesys AI — Call Center: Understand configured features and human oversight.</a:t>
            </a:r>
          </a:p>
          <a:p xmlns:a="http://schemas.openxmlformats.org/drawingml/2006/main">
            <a:r>
              <a:t>Source: Netlink proposal, pp. 6–10.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Facilitator: Q&amp;A is included within the minimum one-hour session length. Allow the session to run longer when questions or practice call for it.</a:t>
            </a:r>
          </a:p>
          <a:p xmlns:a="http://schemas.openxmlformats.org/drawingml/2006/main">
            <a:r>
              <a:t>S9 Objective Decisions with Data: Use consistent measures and explain what evidence supports.</a:t>
            </a:r>
          </a:p>
          <a:p xmlns:a="http://schemas.openxmlformats.org/drawingml/2006/main">
            <a:r>
              <a:t>S10 Objective Decisions with Data: Practice explaining findings with context and limitations.</a:t>
            </a:r>
          </a:p>
          <a:p xmlns:a="http://schemas.openxmlformats.org/drawingml/2006/main">
            <a:r>
              <a:t>S11 Governance &amp; Incident Handling: Recognize concerns and follow DWIHN reporting procedures.</a:t>
            </a:r>
          </a:p>
          <a:p xmlns:a="http://schemas.openxmlformats.org/drawingml/2006/main">
            <a:r>
              <a:t>S12 Assessment &amp; Certification: Complete the proposed online knowledge assessment.</a:t>
            </a:r>
          </a:p>
          <a:p xmlns:a="http://schemas.openxmlformats.org/drawingml/2006/main">
            <a:r>
              <a:t>Source: Netlink proposal, pp. 6–10.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Instructor: Explain that generative systems predict likely continuations. Compare useful structure with claims needing verification. Use a fictional agenda summary. Human review remains essential. Source: proposal p.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proposal, p. 6. Use fictional or approved sample information in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proposal does not identify the final tool catalog. DWIHN policy controls. Avoid claiming that a named tool is approved until confirmed. Discuss minimum-necessary handling and review. Source: proposal p.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proposal, p. 6. Use fictional or approved sample information in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four tiers follow the proposal framework. DWIHN must validate precise definitions and examples against its policy. Ask why a single file may contain information at multiple tiers. Source: proposal p.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proposal, p. 6. Use fictional or approved sample information in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a vague and a specific prompt with fictional text. Constraints reduce ambiguity but cannot guarantee correctness. Validate against the source and policy. Source: proposal p. 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proposal, p. 7. Use fictional or approved sample information in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teams to assess candidate tasks for sensitivity, repeatability, consequences and reviewability. Do not promise unquantified productivity gains. Source: proposal p. 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proposal, p. 7. Use fictional or approved sample information in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proposal assigns three sessions with demo and practice. Netlink lists Ask Me, dashboard and predictive capabilities. Availability depends on DWIHN license/configuration. https://netlink.com/lumenore/ Source: proposal p. 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proposal, p. 8. Use fictional or approved sample information in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proposal says Genesys features are active but lists no exact capabilities. Confirm before training; do not imply unverified transcription, sentiment or agent-assist features. Source: proposal p. 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proposal, p. 8. Use fictional or approved sample information in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fictional example. Distinguish descriptive trends from causal claims. Discuss denominator, time window and population. Source: proposal p. 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proposal, p. 9. Use fictional or approved sample information in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proposal names incident handling but not DWIHN channels or exact steps. Replace generic references with the approved client procedure. Source: proposal p. 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proposal, p. 9. Use fictional or approved sample information in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Proposal p. 9 specifies a 20-question exam and ceremony, but refers to “final two sessions” while only S12 is assigned. Confirm duration, threshold, retakes and ceremony placement.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proposal, p. 9. Use fictional or approved sample information in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role discussions to distinguish shared safeguards from workflow-specific needs. Tailor examples while keeping privacy and policy controls consistent. Source: proposal p.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Labels/examples follow proposal framework; confirm exact definitions, retention rules and approved-tool mappings with DWIHN governance.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 example is for teaching only. Use content approved for the demonstration tool. Prompt detail cannot guarantee factual accuracy, privacy or policy compliance.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proposal budgets three Lumenore sessions. Netlink public product page describes its analytics features including Ask Me, dashboards and predictive intelligence. Verify DWIHN configuration and licensing before demonstration. https://netlink.com/lumenore/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proposal says Genesys features are active but lists no exact capability. Confirm enabled features, approved cases and escalation steps. Do not present this generic flow as product-specific functionality.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an observed association from a causal explanation. Ask what context, comparison or data quality checks are needed before changing a program. Use fictional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Proposal names governance and incident handling but gives no exact channel or response steps. This is a proposed learning flow; obtain and insert client-approved procedure before training.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Proposal describes Teams, SharePoint recordings, LMS modules, quizzes, job aids and support channel. Confirm access, retention, LMS location and support coverage. Source: proposal p.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NetSeed metrics are reported in proposal p. 15 and not independently verified here. Official pages confirm program and product context: https://netlink.com/netseed/ and https://netlink.com/lumenore/. The proposal describes healthcare and HIPAA expertise; no specific certification is independently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Proposal pp. 19–20 gives the four startup steps. It refers to a 24-session calendar while the overview says 12 live sessions; the week map spans 9 rather than 8 weeks; Module 10 says “final two sessions” though schedule allocates S12. Confirm before invitations. This deck uses the supplied 12-session, nine-week 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proposal review and confirmation of calendar and operating details. Contact routes shown in proposal p.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5624cf99b74c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78622628f84635" /><Relationship Type="http://schemas.openxmlformats.org/officeDocument/2006/relationships/slideLayout" Target="/ppt/slideLayouts/slideLayout1.xml" Id="R5c4624be19f24e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4624be19f24e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451eec5824d66" /><Relationship Type="http://schemas.openxmlformats.org/officeDocument/2006/relationships/notesSlide" Target="/ppt/notesSlides/notesSlide1.xml" Id="R6e67f72d873e4e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7d1f8432549e1" /><Relationship Type="http://schemas.openxmlformats.org/officeDocument/2006/relationships/notesSlide" Target="/ppt/notesSlides/notesSlide2.xml" Id="R1ed45ecf1f9b4f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30e2fc8904ae0" /><Relationship Type="http://schemas.openxmlformats.org/officeDocument/2006/relationships/notesSlide" Target="/ppt/notesSlides/notesSlide3.xml" Id="Rc993860a97da43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6212bb5f441df" /><Relationship Type="http://schemas.openxmlformats.org/officeDocument/2006/relationships/notesSlide" Target="/ppt/notesSlides/notesSlide4.xml" Id="R57087d34ac114b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3bfedd42342c9" /><Relationship Type="http://schemas.openxmlformats.org/officeDocument/2006/relationships/notesSlide" Target="/ppt/notesSlides/notesSlide5.xml" Id="R645123a9b0d944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3407da93742b7" /><Relationship Type="http://schemas.openxmlformats.org/officeDocument/2006/relationships/notesSlide" Target="/ppt/notesSlides/notesSlide6.xml" Id="R9579867f41e94f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60b53759e4ab5" /><Relationship Type="http://schemas.openxmlformats.org/officeDocument/2006/relationships/notesSlide" Target="/ppt/notesSlides/notesSlide7.xml" Id="R84d1937a6ea540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e2e7a3da7484a" /><Relationship Type="http://schemas.openxmlformats.org/officeDocument/2006/relationships/notesSlide" Target="/ppt/notesSlides/notesSlide8.xml" Id="Rcbd010f5ca954c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936e98a004988" /><Relationship Type="http://schemas.openxmlformats.org/officeDocument/2006/relationships/notesSlide" Target="/ppt/notesSlides/notesSlide9.xml" Id="R6be662c0dd1945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43e284d0847c9" /><Relationship Type="http://schemas.openxmlformats.org/officeDocument/2006/relationships/notesSlide" Target="/ppt/notesSlides/notesSlide10.xml" Id="R8880e93f9eef46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08ebe148a4f23" /><Relationship Type="http://schemas.openxmlformats.org/officeDocument/2006/relationships/notesSlide" Target="/ppt/notesSlides/notesSlide11.xml" Id="R7d57ff3bbeba46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d802f0d8f445d" /><Relationship Type="http://schemas.openxmlformats.org/officeDocument/2006/relationships/notesSlide" Target="/ppt/notesSlides/notesSlide12.xml" Id="Rd1277f2430b849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3d66a6d904b88" /><Relationship Type="http://schemas.openxmlformats.org/officeDocument/2006/relationships/notesSlide" Target="/ppt/notesSlides/notesSlide13.xml" Id="Rf6b8b836829d49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dd0dfbb724a49" /><Relationship Type="http://schemas.openxmlformats.org/officeDocument/2006/relationships/notesSlide" Target="/ppt/notesSlides/notesSlide14.xml" Id="Rdc9aa64958f74f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c3e2af92a47dd" /><Relationship Type="http://schemas.openxmlformats.org/officeDocument/2006/relationships/notesSlide" Target="/ppt/notesSlides/notesSlide15.xml" Id="R229bc5e4c68a418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8181a76154645" /><Relationship Type="http://schemas.openxmlformats.org/officeDocument/2006/relationships/notesSlide" Target="/ppt/notesSlides/notesSlide16.xml" Id="Rdd8bf6790d9546e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d8a970d11495d" /><Relationship Type="http://schemas.openxmlformats.org/officeDocument/2006/relationships/notesSlide" Target="/ppt/notesSlides/notesSlide17.xml" Id="Ra617a3cc2712472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d8bd379f04e18" /><Relationship Type="http://schemas.openxmlformats.org/officeDocument/2006/relationships/notesSlide" Target="/ppt/notesSlides/notesSlide18.xml" Id="Rbfe63b238ab24e6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800b084d0456f" /><Relationship Type="http://schemas.openxmlformats.org/officeDocument/2006/relationships/notesSlide" Target="/ppt/notesSlides/notesSlide19.xml" Id="R8414d6289fec4a2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7b1f8a9a74702" /><Relationship Type="http://schemas.openxmlformats.org/officeDocument/2006/relationships/notesSlide" Target="/ppt/notesSlides/notesSlide20.xml" Id="Ra7348c9d159b4a7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f77e914cd4d4b" /><Relationship Type="http://schemas.openxmlformats.org/officeDocument/2006/relationships/notesSlide" Target="/ppt/notesSlides/notesSlide21.xml" Id="Rfbfcc30df9bc4ad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a7109c77c4a08" /><Relationship Type="http://schemas.openxmlformats.org/officeDocument/2006/relationships/notesSlide" Target="/ppt/notesSlides/notesSlide22.xml" Id="Refb31d615a9b4e4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50a6731164ddd" /><Relationship Type="http://schemas.openxmlformats.org/officeDocument/2006/relationships/notesSlide" Target="/ppt/notesSlides/notesSlide23.xml" Id="R3a17675016a4439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2ff57bdd5401a" /><Relationship Type="http://schemas.openxmlformats.org/officeDocument/2006/relationships/notesSlide" Target="/ppt/notesSlides/notesSlide24.xml" Id="Redabd17f4853486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de43805d14f32" /><Relationship Type="http://schemas.openxmlformats.org/officeDocument/2006/relationships/notesSlide" Target="/ppt/notesSlides/notesSlide25.xml" Id="R98b6d930850e4db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c5cb6869441fc" /><Relationship Type="http://schemas.openxmlformats.org/officeDocument/2006/relationships/notesSlide" Target="/ppt/notesSlides/notesSlide26.xml" Id="R21f8ce92e247417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4eb36280f4e67" /><Relationship Type="http://schemas.openxmlformats.org/officeDocument/2006/relationships/notesSlide" Target="/ppt/notesSlides/notesSlide27.xml" Id="Rba421033acae4a4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5c2c6215d46ea" /><Relationship Type="http://schemas.openxmlformats.org/officeDocument/2006/relationships/notesSlide" Target="/ppt/notesSlides/notesSlide28.xml" Id="R1a3c158668d7493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a3cd6c94b402c" /><Relationship Type="http://schemas.openxmlformats.org/officeDocument/2006/relationships/notesSlide" Target="/ppt/notesSlides/notesSlide29.xml" Id="R51a38350541e4d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4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B09EF5-0759-42CC-9F69-09CF8852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FA25C-8542-4434-83ED-E6B86EAB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BFE4D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FE4DC"/>
                </a:solidFill>
                <a:latin typeface="Arial"/>
                <a:ea typeface="Arial"/>
                <a:cs typeface="Arial"/>
              </a:rPr>
              <a:t>DWIHN  /  NETLINK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ACF8E-4F25-486B-B5CC-77D95736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2866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training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confident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daily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35D59-5A0E-44BC-A07F-DC063F8B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289D8-8450-476D-852A-0BEAC743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695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7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DDE8E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DE8ED"/>
                </a:solidFill>
                <a:latin typeface="Arial"/>
                <a:ea typeface="Arial"/>
                <a:cs typeface="Arial"/>
              </a:rPr>
              <a:t>A nine-week learning journey across 10 modules and 12 live sessions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FC7BF-35AC-4027-A342-81405DA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BFE4D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FE4DC"/>
                </a:solidFill>
                <a:latin typeface="Arial"/>
                <a:ea typeface="Arial"/>
                <a:cs typeface="Arial"/>
              </a:rPr>
              <a:t>Pro bono CSR contribution  •  2026 proposal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7EE9D-6306-4699-8155-0F965E04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57175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6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563E4-B752-4C24-AE1B-4FFD7A03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143000"/>
            <a:ext cx="184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10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C726E-0964-4207-8A4D-E0E2C89F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52650"/>
            <a:ext cx="194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UNDERSTAND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4803F-FFFD-40FE-BA7A-D75D0359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384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4D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87D71-7B34-43A6-B309-9EABEFF2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33750"/>
            <a:ext cx="184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10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48A7A-89C7-4B5B-8C9D-F43F429F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62450"/>
            <a:ext cx="194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IT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RESPONSIBLY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1B56A-687C-4E0F-919A-85FF3905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A8BEC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8BEC9"/>
                </a:solidFill>
                <a:latin typeface="Arial"/>
                <a:ea typeface="Arial"/>
                <a:cs typeface="Arial"/>
              </a:rPr>
              <a:t>Prepared from the Netlink DWIHN AI Training Proposal</a:t>
            </a:r>
          </a:p>
        </p:txBody>
      </p:sp>
    </p:spTree>
    <p:extLst>
      <p:ext uri="{BB962C8B-B14F-4D97-AF65-F5344CB8AC3E}">
        <p14:creationId xmlns:p14="http://schemas.microsoft.com/office/powerpoint/2010/main" val="7354109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98243E-9FD4-4A6A-BFF8-44678EEA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PROGRAM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EE00C-1403-4A00-810C-82888E66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A practical path from AI awareness to safe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953AE-B23B-4EDF-87B5-5B6DE532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BA36D-9C1D-45DA-B138-81AE8E21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ED6B5-4116-4417-B46E-185C50AF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AB2C8-ED0D-45DD-8F79-073F99D1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66E51-14D6-48DB-9F2E-61A507F9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Source: proposal, pp. 3–5.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D149D-03D5-4D8C-A0F3-3D93E8F4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76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F42"/>
                </a:solidFill>
                <a:latin typeface="Arial"/>
                <a:ea typeface="Arial"/>
                <a:cs typeface="Arial"/>
              </a:rPr>
              <a:t>The program helps staff understand where AI fits in DWIHN work, use approved tools carefully and practice with examples tied to their roles.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F7981-E5A8-4804-B28D-F7E88465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67640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84530-40B3-4389-B25D-BDCE9700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049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PROGRAM AT A GLANCE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5F83D-2295-4D22-A1BC-DEF0AC98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57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2 months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47C0D-C03A-4B4B-8FF6-5BA9072B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050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9-week proposed sequence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AED8F-B78D-4AF1-A5EA-B0DAAB4A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10 modules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19293-0C2F-4C81-B8E2-49135540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29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12 live sessions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5E9376-FA2B-45A2-AA5E-71803C2E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657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Every session includes Q&amp;A and runs at least 1 hour.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CE9A80-25B9-4A23-AF4B-047DCCC3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666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Participants move from AI basics to data classification, prompting, everyday work, Lumenore, Genesys AI, objective data use, governance and assessment.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FD119A-8E61-4179-ADBE-4176FA2A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Microsoft Teams  •  recordings and job aids  •  online certification assessment</a:t>
            </a:r>
          </a:p>
        </p:txBody>
      </p:sp>
    </p:spTree>
    <p:extLst>
      <p:ext uri="{BB962C8B-B14F-4D97-AF65-F5344CB8AC3E}">
        <p14:creationId xmlns:p14="http://schemas.microsoft.com/office/powerpoint/2010/main" val="17479631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01B6AC-068B-4D69-AEF1-B698BD20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PROGRAM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7F76E-B7B6-4D5D-85AC-56487E55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A $48,200 program value is proposed at no charge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671EE-1132-4CC2-962F-F6A29EAE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E7244-16AC-4F98-99FF-DF2F2343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226FF-3342-48A7-8408-5B7679C9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28E13-0740-4931-A520-C00BD8FA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FC2FF-C420-4F76-8103-39424279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Source: proposal, p. 13.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6EC26-2D4F-45B5-B09E-8568F5C2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42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70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$48,200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34C1D-1273-4E12-9547-3EA2279D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commercial value listed in the proposal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62ABB-6B34-4D37-B361-0E12BBC6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$0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A71D5-3F9F-4B7B-AC5B-0CBE6767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proposed cost to DWIHN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A8ADD-4F44-43BA-A908-CADCEE44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52600"/>
            <a:ext cx="190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C348A-F706-44BA-A8C5-CE3B8E39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VALUE COMPONENTS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002EAC-EA51-4872-9A02-5251586C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240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12 live sessions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62985-B5D6-4968-81B7-3076BF83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$22,800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D1109-F0EF-4395-A2D9-CCC90F00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0D9F3D-C116-47C3-A6A3-5FAE50CE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90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Course development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BC1AD-E645-421C-8DA0-717C5561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90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$8,500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E13F45-7573-48CF-BE61-4811DDC2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2417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E8A4E3-C54A-45B9-BA4E-3DA0ECE4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575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Trainer preparation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8BEA1C-75F3-49CB-9555-C83BC6B6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575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$6,400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CE2A57-F752-4A07-8675-76827301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F4037F-6CDB-486E-A538-997C1F44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LMS and quizzes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94E4FD-5884-4986-80D6-ED438D0E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24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$4,200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CFE263-9E40-4A95-98DE-207514AE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B6254D-22DF-44AC-B888-C6423E81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909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Session recordings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DEB505-9D16-4DC3-9547-27EF8D93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909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$3,600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2E2553-D8AA-4FD1-8D0D-D03F3431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8A3074-8CB8-4CC9-B2B4-B59FD61C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7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Dedicated support channel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2CAB1-577F-4F70-ABA2-5AB994D4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57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$1,800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C6CD38-BBDB-4246-A644-D16395D6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9107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64B2F6-C0D5-4727-A729-8C186A51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244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Certificates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DF2B0F-55E1-4D16-948E-B6F75C63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244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$900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1F9059-5133-420A-90C9-85DE53C5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CSR contribution described by Netlink</a:t>
            </a:r>
          </a:p>
        </p:txBody>
      </p:sp>
    </p:spTree>
    <p:extLst>
      <p:ext uri="{BB962C8B-B14F-4D97-AF65-F5344CB8AC3E}">
        <p14:creationId xmlns:p14="http://schemas.microsoft.com/office/powerpoint/2010/main" val="7297471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49B642-66C6-4F80-B776-78590667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PROGRAM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09848-715E-4FC7-A289-E31B2034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Learning design connects each concept to a DWIHN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EA4F2-8675-4FB9-A20E-FE16CB25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239D3-0FF1-465A-A5E9-C379674C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A7173-EFBF-443C-8E29-E2B65C0D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2EF26-2A03-42FA-999C-8A44FAA1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688B0-2717-41CC-89FE-5B942D63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Source: proposal, pp. 6–12.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99316-89AA-4E4A-BD93-D6E7473A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E804F-5557-4756-B333-D3938E3F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954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Build shared understanding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5E159-E04A-4D87-B76A-880B9179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954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Clarify what AI can do, where it can fail, and why human review remains part of the work.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25678-E878-4CB9-82DA-D2BE90E7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86025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27C26-EAE4-48D4-864D-09780B87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A94787-6472-4E27-930A-48DE78B0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Practice safe decisions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D8BA3-8FED-4FA9-BE48-4EEF0559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622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Use data classification and approved-tool guidance before entering information into an AI system.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A9D77-8F5D-48EF-B77B-5E21258D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52825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139A8-9F6E-4FB0-A616-C6729042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3862C4-565E-4F59-9289-E5C748DD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Work with relevant 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10B24-A24E-44C5-9207-23694762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290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Explore Lumenore and Genesys AI through guided demonstration and practice.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97E5B8-38E0-4906-837B-C9F86558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19625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D045C7-A8E5-463D-B2A5-4A65C1E5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D92146-8893-48CC-9D7B-E0863732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95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Apply role-based judgment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49171A-C2FB-46BA-8D40-7F8AF63F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958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Use examples for care coordination, operations, call-center work, administration and leadership.</a:t>
            </a:r>
          </a:p>
        </p:txBody>
      </p:sp>
    </p:spTree>
    <p:extLst>
      <p:ext uri="{BB962C8B-B14F-4D97-AF65-F5344CB8AC3E}">
        <p14:creationId xmlns:p14="http://schemas.microsoft.com/office/powerpoint/2010/main" val="18917428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8C6399-AD3F-4454-9444-9686949C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PROGRAM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75F50-10C0-4F54-A3A0-7657F289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Nine-week sequence and module progression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0D63F-ED4D-4FA6-9AE0-04486EE3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37004-9369-4749-AC66-91721CBA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5F111-9052-4B77-8A81-A4B4897F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74FBF-72E9-495F-995F-AC466EFC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9BCD5-D496-4079-BB7A-44451AD9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Follows the supplied week map and proposal schedule.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4EDC8-F4DA-4865-A6D1-EF630C5D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28950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B03E7-9D72-47E7-A672-2C9E4AB6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CDF30-4033-4B04-B129-8835D4F7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050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W1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5751D-500A-42D0-B450-20864A21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352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86275-EE1F-460B-B47E-F613B352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6861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M1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41BA6-6061-4D36-82E1-F1289882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14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646FF-0C88-4CE4-84BB-124B401E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050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W2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B954A-B1CB-4728-9439-6271B4DF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352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S2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59695-AA03-4909-A3A8-C59047D7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6861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M2–3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4CD89C-21B4-4A7D-A6D5-22A1591C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14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C4EBA7-FC16-4CE3-9362-274442F8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050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W3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3ADA97-EC44-41DA-9CB2-7748BF8F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52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S3–4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9982D1-E27D-41DC-8819-CB45F304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861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M4–5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F31DD6-28AE-49AF-8209-F38BCC3A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14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8E5600-DD4F-446B-81FF-BAE9F950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050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W4–5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8D8366-337E-4B78-A83D-6F987384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352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S5–7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325678-1D57-40ED-BC6A-CDC19C1E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861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M6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0E58D2-BFAA-45CD-9680-FED95F24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14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D24416-22EF-42C3-A571-03BAFEA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050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W6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2CBC28-7406-4BD2-8148-2DC4D113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352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S8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4EF687-EFB8-47AE-8079-239CDFC9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6861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M7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538B56-B86B-40F4-9216-93E5D220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14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884769-B9EF-413E-88A3-097893D1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050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W7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6B321D-594B-482F-BB8C-47E66501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352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S9–10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469C3D-27A0-4DD4-B6CE-B7FAA13B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6861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M8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0252B0-CB4B-4173-B6A2-F08E3FBE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14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2A6866-F7C6-463A-97D6-426C6FB7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050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W8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D7D211-9DA1-48F8-ACFC-84EE7A90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352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S11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DE4127-69EB-485B-B0DC-FB1DAD64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6861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M9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4DCAFA-2C76-44AB-8CD3-D44A0ED4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14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2F200E-0064-42A4-9AB8-3F96F945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050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W9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BCA859-3DE4-4CE8-9120-43CBDF65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52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S12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3A2A64-6B63-45B8-AE35-3812FF17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6861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M10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CEE368-8C1B-4CFB-AAA0-C1B6E26A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Foundations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80D9A0-B4EE-450C-B000-B521C125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3238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AI literacy, safety, data and prompting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CBC441-48EF-4044-92D0-7FB8AC3B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52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Applied work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37E8DE-6FE2-4A81-A101-0B34F31F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95850"/>
            <a:ext cx="3238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Lumenore, Genesys and data-informed decisions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9F48D1-D13F-4E22-AAF7-AE60FEC0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52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189440-F339-43C1-903C-6537C4A8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95850"/>
            <a:ext cx="3238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Governance, incident practice and assessment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D448EA-3516-41B8-93F4-D5C3C321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245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12 sessions  •  1 hour minimum each, Q&amp;A included</a:t>
            </a:r>
          </a:p>
        </p:txBody>
      </p:sp>
    </p:spTree>
    <p:extLst>
      <p:ext uri="{BB962C8B-B14F-4D97-AF65-F5344CB8AC3E}">
        <p14:creationId xmlns:p14="http://schemas.microsoft.com/office/powerpoint/2010/main" val="18124847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79F583-0383-4920-AEE1-8239E80C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DELIVERY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16F48-3B1E-4D9B-9E29-4618ACC8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Sessions 1–4  |  AI foundations and safe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F586C-B39C-491C-9AFA-247ED57B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9E1CD-7363-49F2-AAF0-13072FD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3A0AA-B6C4-4F8A-A44D-A431C44E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8928D-30BB-4503-936B-3CD73147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FBDFC-8A5A-4C47-BD1C-19A7861E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Source: Netlink proposal, pp. 6–10.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FFD5F-5F27-478A-853A-ADAE4F7B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Every live session includes Q&amp;A and runs for at least 1 hour. Longer sessions may be used when questions or guided practice need more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164FB-1EB6-438E-B357-064C4FA1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83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B9557B-F652-4DB9-8BA3-CB709ED3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83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E88CF-13BD-4F9C-9C5C-7295B53F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19325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What AI Is — and Isn’t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9B678-1282-4A9A-B09D-133055AF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90800"/>
            <a:ext cx="433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Live session + Q&amp;A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1904C-45FC-4084-8530-DEB06ADF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383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1 hour minimum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C2986-4C2E-477D-A464-0FD38837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622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Explain AI capabilities, limits and human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94316E-40DB-4847-A04C-2A75828E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E6E52-3657-42F1-9B93-F631D512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83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S2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B98D3-0D6C-4D85-AA3E-71197906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81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WEEK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8B225B-CC22-4F1E-8077-3EABE193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62300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Approved Tools &amp; HIPAA Safety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36F330-BDA6-452A-AF72-20405CAF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33775"/>
            <a:ext cx="433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Live session + Q&amp;A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115712-9D24-44F5-8D7E-1E5C64C4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1 hour minimum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2DD127-113E-4913-BFD1-00BBA137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052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Also practices data classification before choosing a tool.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AF175C-70A4-4D70-BF84-F357A894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A545B8-F31D-4B48-9810-1CAB87E6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83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S3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7A0A5D-BC17-4DC9-8B4A-C794B4BD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243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WEEK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B731C4-06A3-4713-9F84-A194836F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05275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Prompting Skills for DWIHN Roles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872160-A1F1-4D75-AF9B-AA6AA35F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76750"/>
            <a:ext cx="433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Live session + Q&amp;A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FC7355-FC6F-46DD-A782-D39DBE09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243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1 hour minimum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5CC9E1-ED5D-4125-BF9D-82CD118F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481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Build prompts with role, task, context, format and constraints.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F6E00F-A661-4B29-8302-3B46D933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B7837C-9B02-4FDF-853D-EEE68E22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83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S4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08819B-000A-4177-9D98-9B73BB22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WEEK 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5F628F-39B6-41A3-849B-9BA58104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AI in Your Daily DWIHN Work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D8F0CB-CCB0-407A-9D38-F94F2989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19725"/>
            <a:ext cx="433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Live session + Q&amp;A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736C3B-3F74-44F3-972E-A53A2768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673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1 hour minimum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CB88FE-1733-4F14-A8F2-D09E80F9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911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Select suitable tasks and review AI output.</a:t>
            </a:r>
          </a:p>
        </p:txBody>
      </p:sp>
    </p:spTree>
    <p:extLst>
      <p:ext uri="{BB962C8B-B14F-4D97-AF65-F5344CB8AC3E}">
        <p14:creationId xmlns:p14="http://schemas.microsoft.com/office/powerpoint/2010/main" val="5050155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EABA4B-13DE-4685-A93E-FFCE923D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DELIVERY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0C139-5C3C-4FF3-ACEB-95B7198F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Sessions 5–8  |  Tools in everyday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AFADE-405E-4BB4-97D6-BDDE1B08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68AF2-6082-4F15-A5A6-11CF544E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267D2-43B2-45BA-BD3C-66EBBE92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992FE-90C3-4856-BEED-B5D869C3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256BA-CD13-4409-87A6-10E24013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Source: Netlink proposal, pp. 6–10.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71EE8-7B8D-42F0-A110-18110B4B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Every live session includes Q&amp;A and runs for at least 1 hour. Longer sessions may be used when questions or guided practice need more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781EE-C896-46BE-BF32-78CDE4E9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83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S5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D0AE5-B7A6-4E60-A067-66086D03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83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WEEK 4–5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BC7D8-65FC-4536-867C-822839AE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19325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Lumenore Impact — Deep Dive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7C57D-D5B9-4E27-A6D6-03C6B039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90800"/>
            <a:ext cx="433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Live demo + practice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6726F-CEDE-4F07-9E12-18C677AD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383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1 hour minimum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6600E-ACF3-47DA-ACF1-CA6D07C6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622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Navigate dashboards and frame useful data questions.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73D53-D541-44F2-A7AA-65A4974C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F332B-000F-41FE-8EAC-14B9988E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83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S6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83A67-6B56-40C9-A59B-44ED60C1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81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WEEK 4–5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7738EF-B8FB-45DD-92EE-0459FAC6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62300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Lumenore Impact — Guided Practice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89AC24-4428-470D-9D01-3C6D9185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33775"/>
            <a:ext cx="433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Live demo + practice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159B2-D409-4FA1-9D4F-2AD055D0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1 hour minimum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3255D4-CA56-41DB-8F6E-E8CC57F3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052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Interpret visualizations and verify the story in data.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34713C-6EA1-491C-B05F-1A7752C8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8574B4-7F36-4ACE-BA22-1C001C9E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83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S7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AD737D-27D8-4C61-BEA9-FFA5EAB2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243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WEEK 4–5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0C8453-D4E4-41C7-86EE-EEAE569B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05275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Lumenore Impact — Applied 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AAE6D1-1BF7-4160-A34C-C0FC4B4A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76750"/>
            <a:ext cx="433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Live demo + practice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C1EF1A-252D-40FC-A386-86797F11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243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1 hour minimum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F5EA06-B7DF-4512-84D9-23EED2E5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481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Explain what dashboard evidence supports and what needs checking.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4FAB06-D1E0-44EA-A836-5823585F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E9D38E-07D5-4C88-AC89-3D3C8A04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83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S8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458D15-302E-48CD-A5EA-E78C2BD6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WEEK 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A8F37B-99D9-4847-AF2A-BD849381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Genesys AI — Call Center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5B4069-C789-4B45-AEF6-3F9730BB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19725"/>
            <a:ext cx="433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Live session + Q&amp;A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A02A97-2823-4C32-A266-6A88219A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673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1 hour minimum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C1E1C4-839D-4C7F-ABD4-B4EC43A1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911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Understand configured features and human oversight.</a:t>
            </a:r>
          </a:p>
        </p:txBody>
      </p:sp>
    </p:spTree>
    <p:extLst>
      <p:ext uri="{BB962C8B-B14F-4D97-AF65-F5344CB8AC3E}">
        <p14:creationId xmlns:p14="http://schemas.microsoft.com/office/powerpoint/2010/main" val="3610795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84C26E-0119-4A62-856E-06CABC2D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DELIVERY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181D0-2971-4A9E-A414-97622438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Sessions 9–12  |  Decisions and accountability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38927-C845-4227-ADCA-905D364C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78079-CAE4-459F-B295-A185752E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2845B-B4EA-465B-A3ED-D65C3598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4A524-12C1-41FD-AF09-900852DE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C3F1F-D82A-4536-9912-DDDD575D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Source: Netlink proposal, pp. 6–10.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8C25E-AFA2-42DF-A6FA-DBDEF5A3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Every live session includes Q&amp;A and runs for at least 1 hour. Longer sessions may be used when questions or guided practice need more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9C5199-C9CA-454E-B57E-DAA4C064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83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S9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34000-DB51-449B-8A38-D60A45A5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83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WEEK 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757B4-BE90-4C64-8877-F7F18647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19325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Objective Decisions with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524FA-35BB-4C51-B33B-FCD41B03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90800"/>
            <a:ext cx="433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Live session + Q&amp;A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7243C-7D1B-41F9-813B-27B18FC9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383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1 hour minimum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17E73C-7FDD-4198-844A-E0AD0EEC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622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Use consistent measures and explain what evidence supports.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0B8BDC-E151-4784-BB61-568E2F03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FF1E0-CB37-4EDB-8B61-C013CF1F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83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S10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39A8A5-6856-4D31-88A4-0D52163E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81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WEEK 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C31C1-0F45-4E83-8930-072348D1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62300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Objective Decisions with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91EBE6-D720-4358-B91F-235560EE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33775"/>
            <a:ext cx="433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Live session + Q&amp;A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ED8AD-1234-42B9-BCB3-1A0D00F6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1 hour minimum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64798-8E82-4367-807A-45575BFD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052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Practice explaining findings with context and limitations.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3F2980-2ED4-45AD-BF04-EDECED46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BEC2EE-1631-484C-8DEA-DA3C2BB0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83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S11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CC1025-A1FB-4507-AB94-73E72695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243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WEEK 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16E266-3115-4D56-B250-7B6F53C2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05275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Governance &amp; Incident Handling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C2F282-2C98-4775-A9F4-3DA8A5BC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76750"/>
            <a:ext cx="433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Live session + Q&amp;A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234973-DB36-4739-AE11-53AA2C92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243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1 hour minimum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E63D58-BC7B-4188-8466-8027D387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481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Recognize concerns and follow DWIHN reporting procedures.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48C8D8-8DCA-4A7D-8239-67E36A82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8BC863-29E8-4857-99F8-D9D6E45A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83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S12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404B3A-A5E6-41F2-BC63-D3039829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WEEK 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DF398E-E1A6-4AF5-8A95-260D8071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Assessment &amp; Certification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FF3A6A-2D98-4A82-8686-B086BD1C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19725"/>
            <a:ext cx="433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Assessment + ceremony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A11894-69A5-4519-B40D-9E8EEC99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673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1 hour minimum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837A2A-68CA-47A2-A1CE-9FACB088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911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Complete the proposed online knowledge assessment.</a:t>
            </a:r>
          </a:p>
        </p:txBody>
      </p:sp>
    </p:spTree>
    <p:extLst>
      <p:ext uri="{BB962C8B-B14F-4D97-AF65-F5344CB8AC3E}">
        <p14:creationId xmlns:p14="http://schemas.microsoft.com/office/powerpoint/2010/main" val="19179437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3AF937-BC78-40EF-B4D0-35000FE4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CURRICULUM /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B4F48-0ADC-40E0-851E-1DA69B0C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Module 1  |  What AI Is — and Isn’t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FDA33-7AD5-4110-9210-CC7560FC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FDFB9-D7D0-4C84-AFC5-6D4660B5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64744-06DE-44F4-8289-24E29261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CB0AF-94A7-45A8-8558-790F063E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62756-D8F8-4BF7-BA05-4C8B20D5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Source: proposal, p. 6.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47B7B-F627-4ADE-B28E-C1909435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AI systems perform tasks associated with reasoning, language or pattern recognition. The useful question is what a system is designed to do and what evidence is needed before acting on its output.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1B2614-47AE-47E7-8C58-049299A9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KEY TEACHING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C4B41-1153-4990-9BD4-2B13913C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01547-F742-4DA5-88A9-720AC24E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Separate rule-based automation from generative systems that create text or suggestions.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81741-B008-4F13-8B3D-E2F69A74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68A6B1-1B3E-4671-90FC-B7DE3CAB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Treat fluent responses as generated output, not verified fact or professional judgment.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EB814-4466-4309-8B78-E3BC5EB7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B0EED-8908-4C26-9849-287179B7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Check source, date and scope before using an answer in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B0111-9B89-4849-ACD6-9CAA98AA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B2B0BB-AFED-4746-9805-81E66A43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Keep a person accountable for decisions affecting services, staff or the public.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B30D75-7E23-4CB9-9467-66575238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81250"/>
            <a:ext cx="190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6798B-9051-4679-9BBB-568EBE3C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KEY TAKEAWAYS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8CFF60-77DA-4B07-A816-D28ACA95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3333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AI can assist with bounded tasks. It can also be incomplete, outdated or confidently wrong.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0C7C35-8129-47E5-A817-3F9F5663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755053-4108-4711-A28A-1C5BFE92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Compare two fictional AI summaries of a policy excerpt. Mark claims that need verification and rewrite using confirmed details.</a:t>
            </a:r>
          </a:p>
        </p:txBody>
      </p:sp>
    </p:spTree>
    <p:extLst>
      <p:ext uri="{BB962C8B-B14F-4D97-AF65-F5344CB8AC3E}">
        <p14:creationId xmlns:p14="http://schemas.microsoft.com/office/powerpoint/2010/main" val="4633157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901A24-0DAA-4C56-AB0C-580282FB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CURRICULUM /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F3FCB-3B5B-498B-AFE7-24AC948C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Module 2  |  Approved Tools &amp; HIPAA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46DAC-7E09-4351-BE40-C7A12B3C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DC0C0-F981-4794-86C6-C95CF228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94931-ACD1-41E8-B45D-D5FC1A06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4BD76-2504-4DD0-BFFC-62345114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DAED0-CD91-4CA8-9553-E85C05EB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Source: proposal, p. 6.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AA1BE-6F66-45DA-A998-443CB01B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Safe use begins with knowing which tools DWIHN approved, what information they may handle and which uses need review. HIPAA and DWIHN policy apply to the entire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D5282-DF3C-4F9B-9C79-654234C3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KEY TEACHING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9D285-65BF-4554-932D-33E7702D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103EE-30CC-4303-A7C1-B72FD56B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Use only tools and accounts approved for the work purpose.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D9400-DC1A-4A74-BD14-F7EC439C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2EABAC-8377-4C2C-A3AA-68FBAA34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Confirm privacy, security and contracting controls before sharing protected information.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A4DC84-6379-482E-AF85-3DD6BC63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4284C3-2B44-47D1-A3A8-B5F31440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Keep PHI, credentials and sensitive case details out of public or unapproved systems.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7F4496-D893-4ECB-904D-3761B16B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87EA10-C3B0-4385-ABA3-28CE09F3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Review generated content before saving, sending or adding it to an official record.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20889D-348B-47E2-A6F5-856B2875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81250"/>
            <a:ext cx="190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86C82B-638C-4843-AEFA-E3291A64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KEY TAKEAWAYS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125C88-D8EF-4B44-A5B8-8C92F615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3333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Approval depends on tool, account, data and purpose. Pause and ask when the boundary is unclear.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E6775B-E206-4B3A-9CA5-97D7C688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EDD8EE-6E0A-4F3B-8DAD-2FE37AE6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A draft client letter includes names and appointment details. Identify what must happen before any AI assistance is used.</a:t>
            </a:r>
          </a:p>
        </p:txBody>
      </p:sp>
    </p:spTree>
    <p:extLst>
      <p:ext uri="{BB962C8B-B14F-4D97-AF65-F5344CB8AC3E}">
        <p14:creationId xmlns:p14="http://schemas.microsoft.com/office/powerpoint/2010/main" val="5483639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BB52FD-D0A6-4D33-B985-EAAAA591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CURRICULUM /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30057-6731-485F-BAB0-33229D4A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Module 3  |  Data Classification in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D1116-8F4F-437E-BDC0-C3CC784F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66D88-3156-4910-B455-BF93A445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AE744-ED6A-4F6B-B4AB-7DC3456C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FC11D-7A1E-462B-A378-2D715F90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B30A6-52E2-4962-8743-FA9680D4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Source: proposal, p. 6.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55746-AB81-460A-87E6-BA923C7B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Classification gives staff a consistent way to decide how information may be stored, shared and used with technology. A label matters when its handling rule is clear.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192F1-3E43-4CC1-BD7B-22F9375B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KEY TEACHING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E443B-B56D-46B3-9DC6-F25EB430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913EA-A89E-4FC0-B677-E02415A7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Public: cleared for broad release, such as published material.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259DA-730F-42C5-9781-A3432963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39775-4212-4E9A-9410-711A1BA6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Internal: for DWIHN work and approved organizational systems.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2ECA6A-F847-4BEF-BE66-C94C4926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68A97-4862-4F63-B97E-A57E85EA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Confidential: sensitive personal, operational, personnel or partner details.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5F8DFF-A2C0-4929-8F18-5EF674BA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06448-0C60-4218-81B0-5E1CD5FD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Restricted: highly sensitive records such as PHI, credentials or protected case information.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E385FE-65A8-426F-B82D-649F3056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81250"/>
            <a:ext cx="190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1F24A6-8C9A-4125-89BA-074FE64C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KEY TAKEAWAYS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E98BFD-A54D-480B-9BF5-6F640D92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3333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Apply the most protective tier when information is mixed. Mask details only when policy allows and the remainder is safe.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77C48F-0CC2-4E78-8065-8A7B436B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B519F4-B3A6-4E8D-9DEE-FC3C53AB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Sort a brochure, staff guide, named referral list and login credential. Explain the appropriate tool and sharing route.</a:t>
            </a:r>
          </a:p>
        </p:txBody>
      </p:sp>
    </p:spTree>
    <p:extLst>
      <p:ext uri="{BB962C8B-B14F-4D97-AF65-F5344CB8AC3E}">
        <p14:creationId xmlns:p14="http://schemas.microsoft.com/office/powerpoint/2010/main" val="18044476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A1894-92B1-4F5A-BA30-158D3156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CURRICULUM /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877DD-0CE1-4DD2-8619-09686B1C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Module 4  |  Prompting Skills for DWIHN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F0343-C3DB-4DF1-8E37-5081294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532AA-1A30-4215-B6FA-332FFA8A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26C9C-5C69-46D8-8BA6-9289AFD3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BB07E-A6E3-4ADC-9664-BD131BE4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7F3D4-4851-4F80-82D0-BA5F8812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Source: proposal, p. 7.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0720D-98AD-4851-A474-4DD40278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A prompt is a work instruction to an AI system. Specific direction helps it return a useful draft, but does not make the result authoritative.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8289A-34C9-407B-B496-00AC6285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KEY TEACHING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F6767-84B7-4C81-A1D9-B50C5C8B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C2377-E6D7-449C-9CA8-BFAAAFB4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Role: describe the perspective the system should support.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AB92B-AF9F-4DCA-B6C4-E10BD510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9DDAF-A4A3-4790-8413-2BF7C4E3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Task: name the action and intended outcome.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AC8E14-D14B-4895-B6D7-9AA130A3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D8EC4-80EF-404E-B65E-E1FEB237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Context: provide relevant approved background and audience.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265FB-8243-4232-9945-BA0B8215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8716D1-5983-434A-B317-BE5EC920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Format and constraint: specify structure, tone, exclusions and facts to preserve.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8EBCCD-1696-4E38-80F5-18DF0228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81250"/>
            <a:ext cx="190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FE5CCC-6FE3-4FFC-9F57-7B2C4A42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KEY TAKEAWAYS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AF1A76-B076-4347-813B-7BC0835F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3333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Use the five-part anatomy: Role, Task, Context, Format and Constraint. Add review for accuracy, policy, privacy and tone.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9EEA66-C6A8-4BEE-BA5F-0C93C9C5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5D7BBD-A927-4A7A-A3D0-73A3CF9D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Turn “write an update” into a prompt for a fictional staff notice. Specify audience, facts, format and a constraint against new commitments.</a:t>
            </a:r>
          </a:p>
        </p:txBody>
      </p:sp>
    </p:spTree>
    <p:extLst>
      <p:ext uri="{BB962C8B-B14F-4D97-AF65-F5344CB8AC3E}">
        <p14:creationId xmlns:p14="http://schemas.microsoft.com/office/powerpoint/2010/main" val="20575576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7CA71D-2B1F-49AF-8459-43A87F52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CURRICULUM /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5C370-B708-424A-8044-3632A4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Module 5  |  AI in Your Daily DWIHN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03B93-0D27-41FC-98B0-A2C7A2B1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D8169-A70C-4BC1-AD5B-AE3F8D39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29B67-244F-41EC-9C0E-B6AD2229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7034D-9C93-4CD8-8447-F4BC40BF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52BB8-3116-4525-AFF2-F98A78BB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Source: proposal, p. 7.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D30F0-B840-4F1C-B241-EAF1620D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Early uses should support routine work while leaving decisions and sensitive communication with the responsible employee. Choose tasks by fit, risk and cost of error.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4586B-7ABA-450E-9CDE-C1090334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KEY TEACHING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119A4-046E-404D-ACBC-6059CC39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2B31D-351D-465D-9E5B-CDEB2405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Consider low-risk drafting, outlining and meeting preparation.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FFBDF-73D2-4BBB-9E8C-D92319F4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2AE6B-88E0-4929-90A2-73663868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Keep confidential records and individual case decisions in approved workflows.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FF3DF-46D7-4311-A4D1-277347CA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00B1E-46ED-48B2-B657-D6EBD7D2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Compare output with source facts and remove unsupported details.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7B1DB-709C-4616-9623-8C504B80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493086-342C-4470-9C47-B0EC2F49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Disclose AI assistance when policy or the work product requires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8EA28C-AFE4-468B-9183-F36E3616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81250"/>
            <a:ext cx="190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7434D6-DB0C-40FE-B803-029ACEF1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KEY TAKEAWAYS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657CB-4225-45AE-A7BE-8477EB2D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3333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Start with a bounded task, approved information, source review and human ownership.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D0CA57-B209-4B15-A2D5-716EEC71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B5AB89-16F8-4F98-AB54-9D1CBE2D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Map a fictional routine task: input, tool, reviewer and destination. Identify information that must not be entered.</a:t>
            </a:r>
          </a:p>
        </p:txBody>
      </p:sp>
    </p:spTree>
    <p:extLst>
      <p:ext uri="{BB962C8B-B14F-4D97-AF65-F5344CB8AC3E}">
        <p14:creationId xmlns:p14="http://schemas.microsoft.com/office/powerpoint/2010/main" val="18759244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693738-E9C0-49DD-9654-EAE9B52F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CURRICULUM / MODULE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8EE24-AB37-4BD8-9F2F-1F1896C1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Module 6  |  Lumenore Impact — Deep Dive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651CE-0A17-4F00-BCB6-E0B2EE78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B73C9-6ADC-42B6-910A-A55F0FCB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7F573-44C8-4884-840D-6DC3B092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D5C36-4F56-4F4E-B3FD-3DA6D48E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7BE11-EB0B-4C32-AB4F-C637D823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Source: proposal, p. 8.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0842A-2102-47D3-B0C4-C4C053FC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The proposal makes Lumenore its analytics focus. Learners move from a business question to a dashboard and then assess what the data can establish.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7AA7A-9F33-4052-8A54-97D3FA7D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KEY TEACHING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CF054-7FC1-4EB5-8F2A-B09B6224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CF43C-106B-4E4A-802E-17D6A86B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Locate dashboards and learn key measure definitions.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E40F0-0FFF-44ED-9761-F1C23120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C3036-2D63-4040-95E0-D9ABE364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Use guided natural-language questions where configured.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FA7BE-4A0F-4562-9F43-13E3EF3A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A4009-8404-4435-8923-E61C9B42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Check filters, periods, definitions and missing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22FB77-0052-4560-978F-00AE7166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ECA1B0-95F8-4B7D-84C0-09369D48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Separate observed patterns from explanations or predictions.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3BB863-7476-425F-97BE-44FA2858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81250"/>
            <a:ext cx="190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EE263E-6D79-4C16-AF63-50B23EE6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KEY TAKEAWAYS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4E14A8-841B-451E-A660-7B499A6C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3333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A dashboard is a view of defined data, not a complete account of a service. Interpretation depends on data quality and context.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8A61DF-56EE-4575-BBF2-2270F5E4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CDF6A8-0446-4EA1-A1B6-725A79C1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On a sample dashboard, identify population, period and filter. State one supported observation and one open question.</a:t>
            </a:r>
          </a:p>
        </p:txBody>
      </p:sp>
    </p:spTree>
    <p:extLst>
      <p:ext uri="{BB962C8B-B14F-4D97-AF65-F5344CB8AC3E}">
        <p14:creationId xmlns:p14="http://schemas.microsoft.com/office/powerpoint/2010/main" val="20721773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4055D6-538E-4840-B733-520016BB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CURRICULUM / MODULE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AA600-1C39-4B6F-9274-EC79DFC2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Module 7  |  Genesys AI — Call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A2FB8-6BEE-43BD-8C3F-96406068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CAB53-F744-48B5-B274-4083A79D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A5A02-7118-4CC0-BCD0-1267A5A9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B4536-D85C-43B9-A1C9-13E1CC70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747D1-6CDC-45A2-8218-CBAFDA1D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Source: proposal, p. 8.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A62B8-1422-4961-A0F8-72C9E3EC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Contact-center AI may assist agent workflow, interaction review or service analytics. Availability depends on Genesys configuration, licensing and DWIHN policy.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A2541-746A-4FD3-AAF5-C7756EB1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KEY TEACHING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85B22-FD1D-4B88-A9CB-14B673F8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FC4B6-1920-43C4-96DB-E788AB63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Map the workflow and verify which features DWIHN enabled.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476B1-A339-4319-939D-679F6758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F0AEA-63EA-4AA7-B948-8F746E6F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Explain what the feature contributes and what remains the agent’s responsibility.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57B05-18EB-41DE-926A-F1A25536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4622D-9107-4897-B2D5-8AAD4CDA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Review generated summaries against the actual interaction.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EF8FB-5BEB-4E5D-BC2F-4E58BBBF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87DD8A-5E87-4DCB-9640-DB421774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Escalate inaccurate or sensitive output through approved channels.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39B83-0B45-4D95-9C8F-12DC6A9D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81250"/>
            <a:ext cx="190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A8D0C-5347-4307-8A4C-04DE438F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KEY TAKEAWAYS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364B54-1707-416F-B98A-B9FE9E2D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3333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Use the configured system and approved workflow. Generated content does not replace the source interaction or policy.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C184AC-1C7D-4601-A716-700AA666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4360D-43C1-4AEF-9483-40649062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Compare a fictional call summary with its transcript. Mark an omission, an error and a follow-up requiring judgment.</a:t>
            </a:r>
          </a:p>
        </p:txBody>
      </p:sp>
    </p:spTree>
    <p:extLst>
      <p:ext uri="{BB962C8B-B14F-4D97-AF65-F5344CB8AC3E}">
        <p14:creationId xmlns:p14="http://schemas.microsoft.com/office/powerpoint/2010/main" val="18344455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EF960E-BE8D-4E4C-8A48-365D1187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CURRICULUM / MODULE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3268C-850E-419F-9524-3D79D4F7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Module 8  |  Objective Decisions with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D1BBA-108B-4FCD-BA39-393D574D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5FD2B-E108-4489-B9D2-D8026526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2DA2F-44A5-492F-8BF1-CA5B5A86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79519-26B1-4062-99AA-4EB53101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A5828-6443-4214-A247-415225BE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Source: proposal, p. 9.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4A5E3-7518-436F-99BD-65CFAA45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Objective analysis begins with a clear question and fair measure. AI cannot repair unclear definitions, incomplete data or an unfair decision rule.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2150B-E328-46BC-AC69-1DD588B6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KEY TEACHING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835BC-59DC-430F-8982-FB1FF674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3701C-7F76-4EEF-B3E7-8A1828E6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Define the decision and outcome before selecting a metric.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B08AE-8787-4D30-8178-A99FEE99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B4B55-4289-42F2-880D-F2522D69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Check population, timeframe, completeness and comparison group.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A0AD0-B1A5-456C-80D5-899DCF48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1AA84-F296-4CDB-BD46-AFB67E86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Consider whether differences reflect access, process or collection.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AB2A5-0504-4474-8807-BD812672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51850-B82F-4191-AB88-D1CED707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Explain uncertainty and limitations to decision-makers.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BE23B-98C0-454A-B301-AAACB69F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81250"/>
            <a:ext cx="190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5D98C-2A22-4CF9-873B-795708B2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KEY TAKEAWAYS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686260-F3E2-48AC-A929-085BA2F4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3333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Evidence informs decisions. People remain responsible for interpreting context, equity and consequences.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A4B80E-E464-4143-B582-D6422C7C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979436-F409-47D5-B475-FE9EDFAA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Compare two fictional service groups with different volumes and missing data. Decide what more is needed before changing a process.</a:t>
            </a:r>
          </a:p>
        </p:txBody>
      </p:sp>
    </p:spTree>
    <p:extLst>
      <p:ext uri="{BB962C8B-B14F-4D97-AF65-F5344CB8AC3E}">
        <p14:creationId xmlns:p14="http://schemas.microsoft.com/office/powerpoint/2010/main" val="1637926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80E8B4-9DDE-41FD-B863-77BAEEA7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CURRICULUM / MODULE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B0DF2-4343-493B-AED0-ECFFA92A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Module 9  |  Governance &amp; Incident Handling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F9E26-383E-4668-9E4F-F98B4A7E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FDE86-E91A-40F9-B72A-AF184E5C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0AE0F-1D0E-4819-8379-8446B1A3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1880E-805E-40C7-BFE9-6FFFFBD7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0A812-6A10-4AC6-9825-554A2E57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Source: proposal, p. 9.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4531A-261E-4E40-AE51-B8450C59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Governance clarifies ownership, approval and escalation. A prompt factual report helps the right team contain risk and preserve a reliable record.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64813-4CDD-4B42-ADCF-FE3EB717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KEY TEACHING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94967-39B3-4711-AC57-92DFC673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2559A-A0C7-4AF6-B69F-39AC0E1F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Recognize exposure, inaccurate output, unauthorized access or policy breach.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0B950-EE89-4AA0-A1A2-13CD1E19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3FB23-06B4-4403-9E2E-A1E0FBF4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Stop further sharing or use when safe and follow procedure.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D8837-E2CA-4268-BA44-0AFBCF79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69755-61A5-4700-A8C4-B0D8E949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Preserve basic facts and report via the designated channel.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E55147-9D33-4E27-A390-DF5D6BD4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33056C-5846-42EB-825F-E954C224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Cooperate with review and correction; do not conceal or investigate beyond your role.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CCD16-F917-44E8-B0F1-86323123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81250"/>
            <a:ext cx="190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5DDFB7-0FDF-4A21-88E0-3940E57A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KEY TAKEAWAYS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EFCF1-A911-4CA6-8A30-49FEC962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3333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DWIHN procedure determines the reporting route and timing. A training scenario must use the approved process.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FC4297-7F27-4FD0-AC64-D33A6FC8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833B53-F9F8-4EA7-A1B7-7A947BA2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Identifying details go into an unapproved tool. Practice identifying what is known, who must be notified and what should stop.</a:t>
            </a:r>
          </a:p>
        </p:txBody>
      </p:sp>
    </p:spTree>
    <p:extLst>
      <p:ext uri="{BB962C8B-B14F-4D97-AF65-F5344CB8AC3E}">
        <p14:creationId xmlns:p14="http://schemas.microsoft.com/office/powerpoint/2010/main" val="19646569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B8BC43-BBC8-41B8-8D20-1A29BE1E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CURRICULUM / MODULE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5E478-970E-4DD7-8310-7597F05E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Module 10  |  Assessment &amp; Certification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6B087-B165-4A15-827A-17DCC7DE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F4204-D8F5-427F-857C-1CCB502B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4B345-E1C2-43BC-A1DF-0A08033C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2ECB5-A008-480C-BA10-E176715F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4B88A-0B8F-4475-9749-AE97B5BF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Source: proposal, p. 9.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D7DDC-A912-42C5-B2C2-1DE91D93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The closing assessment checks whether participants can apply core course decisions. Certification follows the proposed online knowledge check and agreed completion rules.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49227-629D-4AA6-975E-0CD4ACA2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KEY TEACHING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288EC-5CC5-4852-9B38-44D847B1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28E97-6201-4AA3-B52B-C950B3E8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The proposal specifies a 20-question online assessment.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0B8A2-EC4F-4D3B-B03A-029B1449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DC82D-3A48-4AA2-ACC7-6BDFB467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Test safe use, classification, prompts, interpretation and escalation.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DB2610-E8ED-4428-B1D7-C40D81DE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3AA82-2A3F-4B24-A83C-EF904A79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Use realistic scenarios to test judgment, not memorization alone.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4005E2-76F5-4CEC-BE65-AC9E2805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6C205-F708-411D-85CA-1DB3DEFA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626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Confirm passing score, retakes, access and certificate criteria before launch.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C4063E-8E71-4DCF-AF5C-F1402912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81250"/>
            <a:ext cx="190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2D1972-A4EC-4AA9-9D3A-041F4220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KEY TAKEAWAYS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AE2235-8B4D-4C3A-A611-525694F1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3333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A course certificate is not a professional license or HIPAA certification.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C8A538-8E67-4D1A-9FC9-C200D46F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3F03CD-B6B2-436C-B283-AAE74A9A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Sample item: choose the safest next step when an AI summary contains identifying information and an unsupported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1141237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A90AB6-1B39-4E74-82C3-FCCA9A55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AUDIENCE AND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7F783-B640-4F9E-98B1-37924FA3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Outcomes are mapped to the work each group performs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D3454-C263-4F11-8D68-D9DA0752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4352F-B501-4748-AE16-87DBB30E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3F2D3-7ECE-453E-B1F4-11D17383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ACB67-E003-4410-AD00-8D03C9A3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5F712-1D89-46D2-9902-F817D54F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Source: proposal, p. 11.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6353B-18C3-414A-9F89-1D64E396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All staff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F7FD3-86ED-476D-B83D-22E41E1A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011CF-0307-40B2-A291-59229AE0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Recognize AI limits, protect information and check output before use.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17014-9419-4240-86E0-AD8AB1F5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954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Care coordinators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2624B-DB60-4292-8386-863C20EF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FCE59-C37D-4B06-8F11-D5B9A67D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57425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Draft and organize safely while protecting client context and retaining care judgment.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3D3C5-31B6-4E52-AB01-9B0ECAED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Program managers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3FF31B-BFE9-44DE-AB15-7B5F889F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4F540-FB62-4C98-BF82-75B3BF4B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Review service information with clear definitions and identify questions for analysis.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9AB8AE-0BEA-4F63-A63B-6B5B0827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76575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Call-center staff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16BFC5-AD8B-4154-949C-CF45B0F0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76625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56312A-56B8-4670-AB3F-959C92FA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38550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Understand configured Genesys AI and verify generated interaction content.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ABE17E-B4CF-40C1-B4DB-E3CECDA9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Administration &amp; operations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327C26-0F1A-4898-BCE8-2715D8DF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F60399-5459-4C03-B2AF-0648F771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Apply safe drafting habits and follow records practices.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87184C-C477-433E-B5C6-E56422E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577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Managers &amp; leaders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014314-63A6-45D8-885C-8DBCB5C3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5775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9EB495-E2E6-4B0B-8E41-2774F4B2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19675"/>
            <a:ext cx="489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Set approved-use expectations, review risk and ask for evidence before acting.</a:t>
            </a:r>
          </a:p>
        </p:txBody>
      </p:sp>
    </p:spTree>
    <p:extLst>
      <p:ext uri="{BB962C8B-B14F-4D97-AF65-F5344CB8AC3E}">
        <p14:creationId xmlns:p14="http://schemas.microsoft.com/office/powerpoint/2010/main" val="4092702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7BB9F9-4BCD-4880-B728-5584C2ED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CORE PRACTICE /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62244-83A3-413B-ADBC-144A5738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Four data tiers guide safe handling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0486F-49AE-4BBD-A1AA-62A367E0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A7591-544A-4252-874C-2A7A94E0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B8D5E-C7B1-404C-8D74-4C6A463A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5E92A-BD7E-4424-8CB9-E4CF3F8B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07ACC-1DBE-4E55-A032-40DB5744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Source: proposal, p. 6. Validate exact definitions with DWIHN.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12BA0-D07B-43E4-9645-C3C4DC66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80D0A-FC30-4223-ABC2-82EF0F42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PUBLIC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1136A-724A-4AAA-91B8-B8B548F9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52600"/>
            <a:ext cx="319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Approved for broad release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5F1A1-7BA9-4863-B0A1-CDCC2C90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52600"/>
            <a:ext cx="442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Published page or public brochure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0A47A-D1A1-48B1-8B5E-F1FDF058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60C4E-D005-47D7-88E7-FC656BBA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9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F9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7D74F1-51C1-450D-B9B8-83C5269F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INTERNAL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A5A00-9262-45D9-975E-09B41B2F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319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For DWIHN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C5F3B9-DD89-4750-A423-FF095210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442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Internal process guide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60B3D0-5092-4E96-B94C-CE04E7FD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EA6F7-7479-4B01-81FE-409206C6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9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CB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C6262-7DC9-4E44-ACA5-9F4B3473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22052D-2BE2-482A-A7FE-DE0C2E2A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10000"/>
            <a:ext cx="319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9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Sensitive business or personal details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D03A37-D07B-44F1-A78E-A0AF4C4C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0000"/>
            <a:ext cx="442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Named referral list or personnel details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CB6CDF-E55C-4E1F-A5E9-25E75DEA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B3215B-C81A-4CA1-B64E-F8816386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9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8D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19D069-4749-4F60-9B40-7B3D4765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RESTRICTED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53D3C4-E17F-4771-92C0-0EB16717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38700"/>
            <a:ext cx="319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7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Highly sensitive or regulated information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BFD676-3FE8-4F6C-ABDF-4FF17240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38700"/>
            <a:ext cx="442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PHI, credentials or protected case detail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930870-4CBE-4613-9215-BAB42CD4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245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When a document combines tiers, handle it at the highest applicable level.</a:t>
            </a:r>
          </a:p>
        </p:txBody>
      </p:sp>
    </p:spTree>
    <p:extLst>
      <p:ext uri="{BB962C8B-B14F-4D97-AF65-F5344CB8AC3E}">
        <p14:creationId xmlns:p14="http://schemas.microsoft.com/office/powerpoint/2010/main" val="11236102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DE2787-DBA2-4539-98D1-9B4D7ABC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CORE PRACTICE / PROMPTING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7E291-BAFF-4B8A-A824-5E68FAA1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A strong prompt sets five clear expectations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E2EC7-463D-4B3B-A8DF-0F27D2DB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42885-2E62-42B7-A1DA-FB6F8F9F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91716-13E4-458A-AD41-6555D715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6B492-0F01-4EA4-88F9-8161D9A2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2E8F3-5EDC-4642-A114-E5FE5FB4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Source: proposal, p. 7.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624D5-E298-4B7C-BF83-232FC89C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5A3B2-B8B4-484F-A044-B46AC684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764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CFB8C-4F51-4D7A-9664-6B04B350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764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F42"/>
                </a:solidFill>
                <a:latin typeface="Arial"/>
                <a:ea typeface="Arial"/>
                <a:cs typeface="Arial"/>
              </a:rPr>
              <a:t>Perspective to support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190100-1995-4E3A-AC70-942A037A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“Act as a plain-language editor for an internal staff notice.”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A4C59-2553-433E-929B-5EFD524B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57425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FDA427-9136-4309-BE6C-3549DF93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F94D5-3012-4A98-B61F-AE2C933A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146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7DFC9-6983-4DD8-8540-207A1423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146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F42"/>
                </a:solidFill>
                <a:latin typeface="Arial"/>
                <a:ea typeface="Arial"/>
                <a:cs typeface="Arial"/>
              </a:rPr>
              <a:t>Action and intended outcome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637D76-1E9D-4AA5-8B0F-04AFDF6C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“Rewrite the approved draft so steps are easier to follow.”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07AED-C2A4-4757-92FA-1FFE76D8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95625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8C3CE-039E-4F3D-8322-08306EF6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770237-22D6-4BF5-B45A-34B4DFA6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00DFD6-9B25-4E25-B852-278D3D0B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528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F42"/>
                </a:solidFill>
                <a:latin typeface="Arial"/>
                <a:ea typeface="Arial"/>
                <a:cs typeface="Arial"/>
              </a:rPr>
              <a:t>Audience and background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5002B7-3C25-46B2-B9A4-BC0F1B43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“Readers are DWIHN staff. Keep policy meaning unchanged.”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9111B9-0A97-4D1F-8D13-4CCB0A46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3691E8-78C6-4A3F-A89C-BFD08C02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DB372C-A25B-4EE4-A3EA-44F5BD71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FORMAT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CE6647-43E0-4923-A43E-2100DF2B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910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F42"/>
                </a:solidFill>
                <a:latin typeface="Arial"/>
                <a:ea typeface="Arial"/>
                <a:cs typeface="Arial"/>
              </a:rPr>
              <a:t>Structure and presentation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1A6BB9-3029-47F8-950B-CB5ED97B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“Return a short heading and numbered steps.”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571161-5740-4A8D-ADAE-7F351B4D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72025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3A253F-2A1E-4500-B853-03FDBE57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F0B5EB-46C2-4331-B69B-D35E1240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292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CONSTRAINT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883E8F-239E-4070-9753-8B019B50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292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F42"/>
                </a:solidFill>
                <a:latin typeface="Arial"/>
                <a:ea typeface="Arial"/>
                <a:cs typeface="Arial"/>
              </a:rPr>
              <a:t>Limits and required checks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FBD7D4-895F-4517-9322-381F7DAC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29200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“Use supplied text only. Flag gaps. Add no promises.”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BA72E5-0496-4935-A869-2157EC69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626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Review the result against its source and DWIHN policy before use.</a:t>
            </a:r>
          </a:p>
        </p:txBody>
      </p:sp>
    </p:spTree>
    <p:extLst>
      <p:ext uri="{BB962C8B-B14F-4D97-AF65-F5344CB8AC3E}">
        <p14:creationId xmlns:p14="http://schemas.microsoft.com/office/powerpoint/2010/main" val="3356792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1282E9-B553-4056-98C1-A0BF5D15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TOOL APPLICATION / LUMENORE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66411-1F4B-4425-9681-ECFA9D5B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Lumenore practice moves from question to 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9E57D-847A-48C7-B25D-22449EC7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296DF-B7C2-4B4E-A05A-83C2EFFB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F2E86-C004-4F44-A140-E6D5D6D7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ADF12-40AE-4C98-B376-E578528F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B4EB0-A2F2-4C83-90E9-093F7D93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Source: proposal, p. 8. Product context: https://netlink.com/lumenore/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B422B-FF4F-4794-BB63-ABF21F7D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8825"/>
            <a:ext cx="57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ECC76-1B10-4B06-AC96-ADDAF3B2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448C6-0FB5-41EC-B6CA-353FF6D4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48025"/>
            <a:ext cx="2305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Frame a question a defined measure can answer.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733A8-E2EC-44C2-AC35-1E6893CB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5742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70F83-2664-4216-A969-7C74107B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28825"/>
            <a:ext cx="57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B5591-9452-46CA-AA79-2EA635B5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813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Explore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983352-4EAB-40F9-861C-969F834D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48025"/>
            <a:ext cx="2305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Use dashboard, filters and available query features.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3E6271-F3DA-4B6E-9ED0-75C22B39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5742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63D20-2354-492E-8D3A-6F317DE2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28825"/>
            <a:ext cx="57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EADD7-588C-4B83-AF36-05FEC6AF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Interpret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D742ED-BCBE-4CF4-A038-E8D71EF0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48025"/>
            <a:ext cx="2305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Check period, population, definition and missing data.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99575F-E1BD-4DBD-B28D-EB1897CA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5742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C0F5E-30AA-4A29-AD51-9BFFBDAD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28825"/>
            <a:ext cx="57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1A1BCA-2226-4E65-A0D0-94C2DFBD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813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328852-9DCD-4C2A-8F48-3D090B2B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48025"/>
            <a:ext cx="2305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Say what the view shows and what remains unknown.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7F7EDA-3CE1-40E1-8B78-8843A2C2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C188BA-9CC7-43CA-BAE1-AEFBC309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PRACTICE PROMPT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EDD261-2406-43C9-803E-3E790C68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F42"/>
                </a:solidFill>
                <a:latin typeface="Arial"/>
                <a:ea typeface="Arial"/>
                <a:cs typeface="Arial"/>
              </a:rPr>
              <a:t>Which trend appears, and what definition or data gap should we check before explaining it?</a:t>
            </a:r>
          </a:p>
        </p:txBody>
      </p:sp>
    </p:spTree>
    <p:extLst>
      <p:ext uri="{BB962C8B-B14F-4D97-AF65-F5344CB8AC3E}">
        <p14:creationId xmlns:p14="http://schemas.microsoft.com/office/powerpoint/2010/main" val="9575600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049CDC-22D8-4620-B043-8DD62F87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TOOL APPLICATION / GENESYS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ED9C9-E01A-40E2-AC4B-7DB94032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Genesys AI and agent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859E3-57B2-4CBE-8AC0-252D1EF2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ACF8B-DCB7-4D56-B913-0A28B21A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90908-84C7-484E-A71C-7A9C7C60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F01BF-B368-4655-89D2-EC8569DF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C9F01-B3F7-43D2-BAA9-96E4F939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Source: proposal, p. 8. Confirm configuration with DWIHN.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29FD0-5D15-444C-8382-E107E7CB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43FF1-8E6C-406E-B901-AF182AA7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E49EE-72AD-4289-885C-5ED82DCA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90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The interaction is the source 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78659-4636-494A-9DE4-FB0153B9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14575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C7C90-59E3-41EE-820E-3ACD8CE9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8D3BE-7775-4FB7-90B2-7B9B7771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AI 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F542C0-25AE-4698-B2A8-2CD704B6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622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A configured feature assists the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447AC-4B1C-480D-BEC5-7F87D1B4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86125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435D2-8B75-4B45-9351-B4BC525E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8C6C90-9A36-4FF5-9DFE-0FD50F0E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338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AGENT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745393-B3FA-4B24-8431-32D224DD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Check generated content against the interaction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D8A59E-2FCF-451D-88EC-815E0F2D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57675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D39D98-5A98-4F22-B3FD-932311CA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3743D1-1011-4E31-B2E3-F5904926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F80EC0-6E90-44B7-8382-790A08C6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05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Use approved correction or escalation route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96CE03-DE99-4608-8BD4-C217935B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810250"/>
            <a:ext cx="1000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What did the system generate? What does the source say? Who owns the next action?</a:t>
            </a:r>
          </a:p>
        </p:txBody>
      </p:sp>
    </p:spTree>
    <p:extLst>
      <p:ext uri="{BB962C8B-B14F-4D97-AF65-F5344CB8AC3E}">
        <p14:creationId xmlns:p14="http://schemas.microsoft.com/office/powerpoint/2010/main" val="8303667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C4609-BFDA-4205-BF13-7C2FFE8E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CORE PRACTICE /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3FCF5-9C46-45BF-BE26-2A96D064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Objective analysis depends on question, measure and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31104-F2D5-4934-9D5A-6329EAD2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85764-AEB4-4BB9-B872-6FDB64D4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65CAC-4B91-42D4-8D5F-0F268A22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C7ADE-79E2-4331-AEE0-FE7D084C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42244-9A49-400F-ADC7-ECA94B74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Source: proposal, p. 9.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4B477-2054-4755-8C16-4B01B362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Before interpreting a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8AF49-F58B-4162-9D06-2A76E467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06DBF-3925-41A8-8A0E-02A5ABD3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717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What decision should this inform?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5CAA9-1341-4E03-AF0A-9C2B614C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A9FF1-03C1-4523-A2A2-E8C7AC54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Who and what period does the data include?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AC94D-67C4-4428-AAC6-08AA06F2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68D50-B3C8-4C61-96D6-D70E4F08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Are measure and denominator consistent?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766B0D-8852-4456-9CC6-B47F5000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D0982-BE95-4BB6-A5CB-21D65B60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434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What is missing, and who may be affected?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3542A9-4B65-4885-B2A6-5D5DF4CA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329D2-6854-4DA0-8620-9ACA0937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954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Report the finding with care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3E190-6178-4D9A-BB48-C69035C1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479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SUPPORTED OBSERVATION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B201F3-C734-4AA9-9C1E-07C8CE78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“The recorded rate rose in this period.”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049754-4467-4C2D-A6F2-7E545C27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718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WHAT STILL NEEDS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487516-1F3C-4744-9FF3-432E1306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766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“This change was caused by the new process.”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704DE2-B325-46B9-AF22-694C6EC3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24400"/>
            <a:ext cx="4238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06473"/>
                </a:solidFill>
                <a:latin typeface="Arial"/>
                <a:ea typeface="Arial"/>
                <a:cs typeface="Arial"/>
              </a:rPr>
              <a:t>Avoid causal or fairness claims unless analysis supports them.</a:t>
            </a:r>
          </a:p>
        </p:txBody>
      </p:sp>
    </p:spTree>
    <p:extLst>
      <p:ext uri="{BB962C8B-B14F-4D97-AF65-F5344CB8AC3E}">
        <p14:creationId xmlns:p14="http://schemas.microsoft.com/office/powerpoint/2010/main" val="86246002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3F9889-ABD4-4C2D-A310-FE078B56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GOVERNANCE / INCIDENT HANDLING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B8810-417A-43DC-83A7-109FD258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5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Incident response starts with a factual report and policy 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A4316-64D7-4445-B704-3237F991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ABE67-179F-4D0F-B818-258AC88C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C3846-ACF7-48CC-A2FD-2D49E6A0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8A520-9A17-45CD-832F-CAABAC81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5ADFA-801B-4EAE-9AD7-B921509E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Practice flow only; DWIHN incident policy takes precedence.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A1F37-24F8-4DF2-8349-8474A779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6CAE2-E562-4878-B1EE-5957BE20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859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NOTICE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C3CDA-ABAB-4984-895C-B63AF3EE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85925"/>
            <a:ext cx="776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Recognize possible exposure, misuse or unreliable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2404E-6D5E-4705-899D-4D06550F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574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3B3C2-35D2-4363-A37B-E0A6F58B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A2A36-6445-4C40-B918-C2710019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52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PAUSE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F37C1-AE85-4B96-938D-31FF3115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776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Stop further use or sharing when safe and appropriate.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CFA3A-0355-4E47-8493-04A484BA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242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7A734-DDB2-4F22-8836-5EA04FC6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B33549-9FC1-4B9B-BEA9-18F3FAFA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194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PRESERVE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2E0F6-D0CD-49BB-882E-F0D2F4E9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19475"/>
            <a:ext cx="776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Keep relevant facts and do not alter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1D56F6-40A9-42E3-9278-D06C44A9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909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B19BAD-DE16-4C7F-9163-DC2D5164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BA7B9B-22EF-4FB1-ACEA-32A28DB1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86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5E8B79-6121-47E0-9E61-9EBD740D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776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Use designated DWIHN reporting channel promptly.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714CBC-328C-42E8-80EB-1835F7AF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1EE784-4DDA-435F-A609-F23B7F60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64A4D9-4B36-45D2-991A-B308F055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530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FOLLOW 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2A1EFF-9377-4F3B-8C8F-A9EFA1B3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53025"/>
            <a:ext cx="776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Cooperate with the response team and apply corrections.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CAA39C-E352-4AD5-BF36-9983A764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531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Insert DWIHN’s approved contact, channel and response requirements before delivery.</a:t>
            </a:r>
          </a:p>
        </p:txBody>
      </p:sp>
    </p:spTree>
    <p:extLst>
      <p:ext uri="{BB962C8B-B14F-4D97-AF65-F5344CB8AC3E}">
        <p14:creationId xmlns:p14="http://schemas.microsoft.com/office/powerpoint/2010/main" val="74565692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AB0B5E-EF87-4959-ACF3-592CE30B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DELIVERY AND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DDB06-DFDC-47DB-83B7-98FC8D70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Teams delivery is supported by recordings and job aids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0D5BF-3888-4255-A888-E8970382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BB251-41BB-4DF1-A250-51B8A65E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74C4F-2362-4BA5-90AD-546F50B1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51C75-64E8-4BE8-AD4C-6C904002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25B9D-0BA5-4585-BC53-BB8380D7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Source: proposal, p. 12.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FBC54-7FC3-47B0-97D2-AEB8B395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34697-A248-476E-B7B9-CC41C3DA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95603-3976-448C-B2A9-ED37D57B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Microsoft Teams. Session link shared before the live session.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10A300-D84B-4810-8437-F39DA0EA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Learning materials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D74B50-06BF-44E9-A0FF-DE81F53B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E7DE3-0BDB-451D-8987-EFC8D8E4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57425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LMS modules, quizzes, reference cards and printable job aids.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BFD86-3895-493F-9DFA-9D87106E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Recordings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467695-70AD-4E56-AE02-0C748B94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B16E0D-9201-4568-B3A0-5DA7A473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Uploaded to SharePoint after each session.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3E3E20-0E65-4BC9-94DC-7EEEA8CC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4951DF-2C64-4688-840F-626B0EA3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242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18A467-523B-4D3D-BAC3-DEC07129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86175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Live demos and role-specific hands-on activities.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04C286-4588-43ED-BFEE-1942582A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6F2AD6-ECF4-429C-BC0A-D941D12E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3D44AB-552A-4DC8-8074-8A4C1748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Dedicated Teams channel; trainer response within one business day.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1C1B80-E052-439D-83D3-78A74015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720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561775-8AC9-49CD-AE30-F46ACB52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530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A43527-3FB5-4AE0-A83F-9B7CDEE1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14925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DWIHN feedback informs examples and course refinement.</a:t>
            </a:r>
          </a:p>
        </p:txBody>
      </p:sp>
    </p:spTree>
    <p:extLst>
      <p:ext uri="{BB962C8B-B14F-4D97-AF65-F5344CB8AC3E}">
        <p14:creationId xmlns:p14="http://schemas.microsoft.com/office/powerpoint/2010/main" val="357148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30D20A-80CD-4A70-BC37-B1E9B289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PROVIDER 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374C5-5C06-4660-9C4B-E7AFA184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Netlink and NetSeed bring a training and analytics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26DFE-B900-4E75-B054-027A1228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68282-3510-47BD-8A71-178F67D5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80B1F-707F-4EF8-B9E7-0EA517A2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AA503-054C-4918-B1A8-5C4A2293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E80E6-1728-4364-ABB8-EC532DA8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NetSeed figures are proposal-reported; product and program links below.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5BC88-5509-4AFA-B072-1822386E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NETSEED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ECFFA-0452-46D1-A887-19AA3701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The proposal reports: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9A39D-33C1-40D0-880A-BCFA72E8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50+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FDB74-E1E8-4284-8B21-D9C937D2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courses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C650D-E225-406F-83FA-5D17899D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8575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40,000+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9E3E7-96DA-4558-834F-78B2E238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3147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training hours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0E0623-BC60-4A81-A47B-0B4A4A72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3,000+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30FCB-C9C9-429A-8EA5-9F83E865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certifications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1C17F-5D26-4159-A3F0-8EEEEBB8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9052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2,000+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EE1F70-AC8E-427C-BAE8-F6CD1C0A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3624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placements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A91215-2967-45BB-B7A8-ED59E422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43075"/>
            <a:ext cx="190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020186-359B-4C94-9049-A419685F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430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LUMENORE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E156D-9816-48D3-9C6C-1E82591A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6950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Netlink describes Lumenore as its analytics platform. Its product page outlines dashboards, natural-language queries and predictive features.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B3525-77C1-4DD8-8575-D7189D43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09975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Healthcare and HIPAA expertise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38ECD0-8D61-4CA1-B913-6DBADC13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0025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The proposal describes this expertise. Confirm specific team credentials and references during diligence.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5F09B2-13E0-445D-95DF-2EE5A7B9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06473"/>
                </a:solidFill>
                <a:latin typeface="Arial"/>
                <a:ea typeface="Arial"/>
                <a:cs typeface="Arial"/>
              </a:rPr>
              <a:t>Proposal-reported figures are not independent verification of outcomes or compliance credentials.</a:t>
            </a:r>
          </a:p>
        </p:txBody>
      </p:sp>
    </p:spTree>
    <p:extLst>
      <p:ext uri="{BB962C8B-B14F-4D97-AF65-F5344CB8AC3E}">
        <p14:creationId xmlns:p14="http://schemas.microsoft.com/office/powerpoint/2010/main" val="202148317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D34BBA-EB1E-425D-9483-A7D469E2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5150A-13E6-48F1-9314-36DE0BEB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Four startup steps lead to a confirmed launch calendar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87A38-4DBA-4D87-83D1-09CDFE43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E37F9-4D45-4ECA-9BD3-2EB4A488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ED3A3-C6A7-42F8-99DD-8B22EAB4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D7E89"/>
                </a:solidFill>
                <a:latin typeface="Arial"/>
                <a:ea typeface="Arial"/>
                <a:cs typeface="Arial"/>
              </a:rPr>
              <a:t>DWIHN  /  AI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61FDF-9108-4AA8-9342-ABEEE5F0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796A5-1EFD-41F6-8AE7-8789710C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D7E8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D7E89"/>
                </a:solidFill>
                <a:latin typeface="Arial"/>
                <a:ea typeface="Arial"/>
                <a:cs typeface="Arial"/>
              </a:rPr>
              <a:t>Source: proposal, p. 19.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A3AB9-0853-422F-86CC-B1D4C6E7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5EF37-963E-49F1-8DE1-C60E273B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954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Proposal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C84EE-ABBC-4509-A398-2F7D120F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954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DWIHN leadership reviews scope and timing.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47682-03DE-4AA6-88FA-C45F42C0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57425"/>
            <a:ext cx="984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8E2C9-4BE0-4B4D-BEB3-3AAD7EB6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9D4AE-08F5-4C1B-9496-27148B7A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Confirmation letter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9286E0-AE33-4923-895A-B380DF1A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908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Confirm start date, contacts and access.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E55C55-8466-4D8E-B941-2967D1EE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52775"/>
            <a:ext cx="984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35901D-6D07-47E9-813A-D6013DFC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4AB3F0-7F8F-4191-816C-6C5017EA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861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Registration and LMS setup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0196AF-0A3F-459A-9CD7-846FFAEC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861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Confirm enrollment, learning access and support.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F2889-9D4C-44C4-91D1-21520D41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48125"/>
            <a:ext cx="984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E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DA293B-78CA-49BD-87F0-4310C88B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C7C7D-B5C8-4EFC-A315-091DAB21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A24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2438"/>
                </a:solidFill>
                <a:latin typeface="Arial"/>
                <a:ea typeface="Arial"/>
                <a:cs typeface="Arial"/>
              </a:rPr>
              <a:t>Kickoff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8B0F64-2FD8-4D3C-A1C4-6A883FFF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815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0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3"/>
                </a:solidFill>
                <a:latin typeface="Arial"/>
                <a:ea typeface="Arial"/>
                <a:cs typeface="Arial"/>
              </a:rPr>
              <a:t>Share the welcome pack and begin Session 1.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A0B0F7-B8FD-41CF-92C6-55C8399F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72100"/>
            <a:ext cx="428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8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8F8C"/>
                </a:solidFill>
                <a:latin typeface="Arial"/>
                <a:ea typeface="Arial"/>
                <a:cs typeface="Arial"/>
              </a:rPr>
              <a:t>Confirm before calendar lock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E00913-7189-467E-B786-AEFA4C6E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95950"/>
            <a:ext cx="9886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42F4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2F42"/>
                </a:solidFill>
                <a:latin typeface="Arial"/>
                <a:ea typeface="Arial"/>
                <a:cs typeface="Arial"/>
              </a:rPr>
              <a:t>The proposal overview says 8 weeks, its schedule spans 9 weeks, and startup mentions a 24-session calendar despite a 12-session program. Confirm the final schedule and Module 10 assessment/ceremony allocation.</a:t>
            </a:r>
          </a:p>
        </p:txBody>
      </p:sp>
    </p:spTree>
    <p:extLst>
      <p:ext uri="{BB962C8B-B14F-4D97-AF65-F5344CB8AC3E}">
        <p14:creationId xmlns:p14="http://schemas.microsoft.com/office/powerpoint/2010/main" val="169554310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A24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C23D8-9C16-4E79-A3A7-5E8A4490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CC95B-47BE-481F-8BC5-9CA17807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BFE4D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FE4DC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3915C-39EF-46F6-A8D8-4985FC51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7810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Confirm the calendar.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Prepare the learning space.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Begin with Session 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AF553-174B-4C3C-A6CB-B5AE96E1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C8566-5B05-4EEB-9C19-17648F17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DDE8E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8ED"/>
                </a:solidFill>
                <a:latin typeface="Arial"/>
                <a:ea typeface="Arial"/>
                <a:cs typeface="Arial"/>
              </a:rPr>
              <a:t>DWIHN and Netlink can finalize the launch date, approved tools, LMS access and session calendar together.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D7877-935A-4FD5-9C00-7B90F3B4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714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FE4D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FE4DC"/>
                </a:solidFill>
                <a:latin typeface="Arial"/>
                <a:ea typeface="Arial"/>
                <a:cs typeface="Arial"/>
              </a:rPr>
              <a:t>Proposal review and confirmation letter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4AC08-A9EC-4CEA-82D5-9D936613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8BEC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BEC9"/>
                </a:solidFill>
                <a:latin typeface="Arial"/>
                <a:ea typeface="Arial"/>
                <a:cs typeface="Arial"/>
              </a:rPr>
              <a:t>sales@netlink.com   •   www.netlink.com</a:t>
            </a:r>
          </a:p>
        </p:txBody>
      </p:sp>
    </p:spTree>
    <p:extLst>
      <p:ext uri="{BB962C8B-B14F-4D97-AF65-F5344CB8AC3E}">
        <p14:creationId xmlns:p14="http://schemas.microsoft.com/office/powerpoint/2010/main" val="360088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2026-10-06T09:03:34.7470000Z</dcterms:created>
  <dcterms:modified xsi:type="dcterms:W3CDTF">2026-10-06T09:03:34.7470000Z</dcterms:modified>
</coreProperties>
</file>